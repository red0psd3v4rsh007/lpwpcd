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NURhFS8cLZcl/7Ev35QW9dEkR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topic as the direct construction method. Emphasize that the goal is to obtain a DFA directly from the regular expression without first constructing an NFA. Tell students that the same running example will be used throughout the lecture.</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Preview the complete process before beginning the details. Keep returning to these five steps so students know where they are in the method. Point out that every calculation comes from the syntax tree, not from trial strings.</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augmentation before any tree construction. The end marker is unique and receives its own position. Clarify that # is not read from the input; it is a construction device used to recognize completion of the regex.</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Review operator precedence and make the hidden concatenation operators explicit. Number each symbol occurrence separately, even when the same symbol appears multiple times. The position number, not merely the symbol, will drive followpos and DFA states.</a:t>
            </a:r>
            <a:endParaRPr/>
          </a:p>
        </p:txBody>
      </p:sp>
      <p:sp>
        <p:nvSpPr>
          <p:cNvPr id="138" name="Google Shape;1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from the innermost parenthesized operation. Place the union operator as the parent of leaves a at position 1 and b at position 2. Ask students why the two leaves need different position numbers.</a:t>
            </a:r>
            <a:endParaRPr/>
          </a:p>
        </p:txBody>
      </p:sp>
      <p:sp>
        <p:nvSpPr>
          <p:cNvPr id="198" name="Google Shape;1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Place a unary star node above the union subtree. Emphasize that star is the only operator here that automatically makes a subtree nullable, because zero repetitions are allowed.</a:t>
            </a:r>
            <a:endParaRPr/>
          </a:p>
        </p:txBody>
      </p:sp>
      <p:sp>
        <p:nvSpPr>
          <p:cNvPr id="231" name="Google Shape;2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Create a concatenation node whose left child is the star subtree and whose right child is position 3. This is the first point where nullable of the left child will affect firstpos.</a:t>
            </a:r>
            <a:endParaRPr/>
          </a:p>
        </p:txBody>
      </p:sp>
      <p:sp>
        <p:nvSpPr>
          <p:cNvPr id="263" name="Google Shape;2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Continue building the tree from left to right. Mention the future followpos relationship: the fixed a at position 3 must be followed by b at position 4.</a:t>
            </a:r>
            <a:endParaRPr/>
          </a:p>
        </p:txBody>
      </p:sp>
      <p:sp>
        <p:nvSpPr>
          <p:cNvPr id="295" name="Google Shape;2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Complete the left-associative concatenation chain by adding position 5 and finally the end marker at position 6. The final root represents the entire augmented expression.</a:t>
            </a:r>
            <a:endParaRPr/>
          </a:p>
        </p:txBody>
      </p:sp>
      <p:sp>
        <p:nvSpPr>
          <p:cNvPr id="327" name="Google Shape;32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Pause here and ensure students can read the entire tree. Reinforce that each internal node corresponds to a subexpression and will receive nullable, firstpos, and lastpos values.</a:t>
            </a:r>
            <a:endParaRPr/>
          </a:p>
        </p:txBody>
      </p:sp>
      <p:sp>
        <p:nvSpPr>
          <p:cNvPr id="353" name="Google Shape;3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the four functions at a high level before showing their rules. Distinguish the first three, which are properties of tree nodes, from followpos, which is stored for individual leaf positions.</a:t>
            </a:r>
            <a:endParaRPr/>
          </a:p>
        </p:txBody>
      </p:sp>
      <p:sp>
        <p:nvSpPr>
          <p:cNvPr id="386" name="Google Shape;3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star subtree as the first nullable example. Then contrast it with a leaf. Ask students to predict whether the root can be nullable before applying the formal rules.</a:t>
            </a:r>
            <a:endParaRPr/>
          </a:p>
        </p:txBody>
      </p:sp>
      <p:sp>
        <p:nvSpPr>
          <p:cNvPr id="426" name="Google Shape;42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five rules. Stress the difference between OR at a union node and AND at a concatenation node. Apply each rule from leaves upward.</a:t>
            </a:r>
            <a:endParaRPr/>
          </a:p>
        </p:txBody>
      </p:sp>
      <p:sp>
        <p:nvSpPr>
          <p:cNvPr id="463" name="Google Shape;46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Calculate nullable in a strict bottom-up order. Point to the T at the star node and show that concatenating it with the non-nullable a at position 3 makes the new subtree non-nullable.</a:t>
            </a:r>
            <a:endParaRPr/>
          </a:p>
        </p:txBody>
      </p:sp>
      <p:sp>
        <p:nvSpPr>
          <p:cNvPr id="528" name="Google Shape;52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firstpos as possible starting positions. Use the concatenation of the star subtree with a3 because it clearly shows why nullable of the left child matters.</a:t>
            </a:r>
            <a:endParaRPr/>
          </a:p>
        </p:txBody>
      </p:sp>
      <p:sp>
        <p:nvSpPr>
          <p:cNvPr id="557" name="Google Shape;55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Focus on the concatenation rule. Students often include the right child unconditionally; remind them that it is included only when the left child is nullable.</a:t>
            </a:r>
            <a:endParaRPr/>
          </a:p>
        </p:txBody>
      </p:sp>
      <p:sp>
        <p:nvSpPr>
          <p:cNvPr id="589" name="Google Shape;58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1" name="Google Shape;64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Compute firstpos from the leaves upward. Show union and star first. At the first concatenation, explicitly use nullable(star)=true to include position 3.</a:t>
            </a:r>
            <a:endParaRPr/>
          </a:p>
        </p:txBody>
      </p:sp>
      <p:sp>
        <p:nvSpPr>
          <p:cNvPr id="642" name="Google Shape;64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that firstpos stabilizes at {1,2,3}. Once the accumulated left subtree becomes non-nullable, adding more right symbols does not change firstpos.</a:t>
            </a:r>
            <a:endParaRPr/>
          </a:p>
        </p:txBody>
      </p:sp>
      <p:sp>
        <p:nvSpPr>
          <p:cNvPr id="678" name="Google Shape;67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lastpos as possible ending positions. Contrast its concatenation rule with firstpos: lastpos checks whether the right child is nullable.</a:t>
            </a:r>
            <a:endParaRPr/>
          </a:p>
        </p:txBody>
      </p:sp>
      <p:sp>
        <p:nvSpPr>
          <p:cNvPr id="712" name="Google Shape;71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the symmetry: firstpos checks nullable of the left child, lastpos checks nullable of the right child. This is a common examination point.</a:t>
            </a:r>
            <a:endParaRPr/>
          </a:p>
        </p:txBody>
      </p:sp>
      <p:sp>
        <p:nvSpPr>
          <p:cNvPr id="744" name="Google Shape;74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 the chain of concatenations. Since every right child is a non-nullable symbol leaf, lastpos simply becomes that right child’s position at each level.</a:t>
            </a:r>
            <a:endParaRPr/>
          </a:p>
        </p:txBody>
      </p:sp>
      <p:sp>
        <p:nvSpPr>
          <p:cNvPr id="797" name="Google Shape;79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this table as the checkpoint before followpos. Verify that the start state is firstpos(root) and the accepting position is the position of #.</a:t>
            </a:r>
            <a:endParaRPr/>
          </a:p>
        </p:txBody>
      </p:sp>
      <p:sp>
        <p:nvSpPr>
          <p:cNvPr id="833" name="Google Shape;83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Define followpos operationally as the transition information. Stress that only concatenation and star nodes contribute entries. This simplification is useful for teaching and for examination solutions.</a:t>
            </a:r>
            <a:endParaRPr/>
          </a:p>
        </p:txBody>
      </p:sp>
      <p:sp>
        <p:nvSpPr>
          <p:cNvPr id="936" name="Google Shape;93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8" name="Google Shape;96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 the two rules side by side. Translate each formula into plain language. Emphasize that followpos sets accumulate by union; existing entries are never overwritten.</a:t>
            </a:r>
            <a:endParaRPr/>
          </a:p>
        </p:txBody>
      </p:sp>
      <p:sp>
        <p:nvSpPr>
          <p:cNvPr id="969" name="Google Shape;96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Apply the concatenation rule at the first cat node. The star subtree can end at positions 1 or 2, and the right child can begin only at position 3. Therefore, 3 follows both 1 and 2.</a:t>
            </a:r>
            <a:endParaRPr/>
          </a:p>
        </p:txBody>
      </p:sp>
      <p:sp>
        <p:nvSpPr>
          <p:cNvPr id="1001" name="Google Shape;100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0" name="Google Shape;104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Process each remaining cat node. The fixed suffix a3 b4 b5 #6 creates a simple chain of follow relationships. Point out that followpos(6) remains empty because nothing follows the end marker.</a:t>
            </a:r>
            <a:endParaRPr/>
          </a:p>
        </p:txBody>
      </p:sp>
      <p:sp>
        <p:nvSpPr>
          <p:cNvPr id="1041" name="Google Shape;104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Apply the star rule to the union subtree. Since one repetition may be followed by another, positions 1 and 2 can be followed by positions 1 or 2. Union these with the existing entry 3.</a:t>
            </a:r>
            <a:endParaRPr/>
          </a:p>
        </p:txBody>
      </p:sp>
      <p:sp>
        <p:nvSpPr>
          <p:cNvPr id="1082" name="Google Shape;108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8" name="Google Shape;111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Verify each row verbally. Students should be able to explain every entry from either a concatenation node or the star node. This table will now be used mechanically to construct the DFA.</a:t>
            </a:r>
            <a:endParaRPr/>
          </a:p>
        </p:txBody>
      </p:sp>
      <p:sp>
        <p:nvSpPr>
          <p:cNvPr id="1119" name="Google Shape;111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 the DFA construction as a mechanical worklist algorithm. Emphasize that the input symbols are only a and b. The # position is used only to identify accepting states.</a:t>
            </a:r>
            <a:endParaRPr/>
          </a:p>
        </p:txBody>
      </p:sp>
      <p:sp>
        <p:nvSpPr>
          <p:cNvPr id="1188" name="Google Shape;118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Compute both transitions from A. For input a, combine followpos of positions 1 and 3. For input b, use followpos of position 2. Name the new set {1,2,3,4} as state B.</a:t>
            </a:r>
            <a:endParaRPr/>
          </a:p>
        </p:txBody>
      </p:sp>
      <p:sp>
        <p:nvSpPr>
          <p:cNvPr id="1241" name="Google Shape;124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From B, input a returns to B because the same a-labeled positions 1 and 3 are present. Input b uses positions 2 and 4 and discovers state C.</a:t>
            </a:r>
            <a:endParaRPr/>
          </a:p>
        </p:txBody>
      </p:sp>
      <p:sp>
        <p:nvSpPr>
          <p:cNvPr id="1277" name="Google Shape;127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9" name="Google Shape;130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 C represents having matched the suffix ab. Reading another b reaches a set containing position 6, so the new state D is accepting.</a:t>
            </a:r>
            <a:endParaRPr/>
          </a:p>
        </p:txBody>
      </p:sp>
      <p:sp>
        <p:nvSpPr>
          <p:cNvPr id="1310" name="Google Shape;131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1" name="Google Shape;134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Complete the worklist by processing D. No new states are created. Present the final transition table and mark D as accepting because it contains the end-marker position.</a:t>
            </a:r>
            <a:endParaRPr/>
          </a:p>
        </p:txBody>
      </p:sp>
      <p:sp>
        <p:nvSpPr>
          <p:cNvPr id="1342" name="Google Shape;134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8" name="Google Shape;140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Trace the transitions on the final diagram. Interpret each state as the longest useful suffix of the input seen so far. This interpretation helps students connect the direct construction to the familiar minimal DFA for strings ending in abb.</a:t>
            </a:r>
            <a:endParaRPr/>
          </a:p>
        </p:txBody>
      </p:sp>
      <p:sp>
        <p:nvSpPr>
          <p:cNvPr id="1409" name="Google Shape;140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6" name="Google Shape;143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Validate the DFA with both accepted and rejected examples. Remind students that acceptance depends on the state after the entire input has been consumed, not on whether D was visited earlier.</a:t>
            </a:r>
            <a:endParaRPr/>
          </a:p>
        </p:txBody>
      </p:sp>
      <p:sp>
        <p:nvSpPr>
          <p:cNvPr id="1437" name="Google Shape;143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6" name="Google Shape;147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Place the direct method in context. The source material notes applications in lexical analysis, grep-like utilities, and regex libraries. Explain that the direct method and the NFA route are alternative construction paths.</a:t>
            </a:r>
            <a:endParaRPr/>
          </a:p>
        </p:txBody>
      </p:sp>
      <p:sp>
        <p:nvSpPr>
          <p:cNvPr id="1477" name="Google Shape;147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4" name="Google Shape;152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checklist as the final recap. Assign one trace question and one new regex construction. Ask students to state the one-line meaning of followpos before ending the class.</a:t>
            </a:r>
            <a:endParaRPr/>
          </a:p>
        </p:txBody>
      </p:sp>
      <p:sp>
        <p:nvSpPr>
          <p:cNvPr id="1525" name="Google Shape;152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AFC"/>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748"/>
        </a:solidFill>
      </p:bgPr>
    </p:bg>
    <p:spTree>
      <p:nvGrpSpPr>
        <p:cNvPr id="16" name="Shape 16"/>
        <p:cNvGrpSpPr/>
        <p:nvPr/>
      </p:nvGrpSpPr>
      <p:grpSpPr>
        <a:xfrm>
          <a:off x="0" y="0"/>
          <a:ext cx="0" cy="0"/>
          <a:chOff x="0" y="0"/>
          <a:chExt cx="0" cy="0"/>
        </a:xfrm>
      </p:grpSpPr>
      <p:sp>
        <p:nvSpPr>
          <p:cNvPr id="17" name="Google Shape;17;p1"/>
          <p:cNvSpPr/>
          <p:nvPr/>
        </p:nvSpPr>
        <p:spPr>
          <a:xfrm>
            <a:off x="0" y="21981"/>
            <a:ext cx="12191700" cy="6858000"/>
          </a:xfrm>
          <a:prstGeom prst="rect">
            <a:avLst/>
          </a:prstGeom>
          <a:solidFill>
            <a:srgbClr val="0E2748"/>
          </a:solidFill>
          <a:ln cap="flat" cmpd="sng" w="12700">
            <a:solidFill>
              <a:srgbClr val="0E274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641080" y="109728"/>
            <a:ext cx="3429000" cy="3429000"/>
          </a:xfrm>
          <a:prstGeom prst="ellipse">
            <a:avLst/>
          </a:prstGeom>
          <a:solidFill>
            <a:srgbClr val="1F75BB">
              <a:alpha val="58039"/>
            </a:srgbClr>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9784080" y="3886200"/>
            <a:ext cx="2194560" cy="2194560"/>
          </a:xfrm>
          <a:prstGeom prst="ellipse">
            <a:avLst/>
          </a:prstGeom>
          <a:solidFill>
            <a:srgbClr val="F4A261">
              <a:alpha val="74902"/>
            </a:srgbClr>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658368" y="658368"/>
            <a:ext cx="2423160" cy="310896"/>
          </a:xfrm>
          <a:prstGeom prst="roundRect">
            <a:avLst>
              <a:gd fmla="val 47059"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txBox="1"/>
          <p:nvPr/>
        </p:nvSpPr>
        <p:spPr>
          <a:xfrm>
            <a:off x="704088" y="667512"/>
            <a:ext cx="23317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E2748"/>
              </a:buClr>
              <a:buSzPts val="1300"/>
              <a:buFont typeface="Arial"/>
              <a:buNone/>
            </a:pPr>
            <a:r>
              <a:rPr b="1" i="0" lang="en-US" sz="1300" u="none" cap="none" strike="noStrike">
                <a:solidFill>
                  <a:srgbClr val="0E2748"/>
                </a:solidFill>
                <a:latin typeface="Arial"/>
                <a:ea typeface="Arial"/>
                <a:cs typeface="Arial"/>
                <a:sym typeface="Arial"/>
              </a:rPr>
              <a:t>DIRECT SYNTAX-TREE METHOD</a:t>
            </a:r>
            <a:endParaRPr b="0" i="0" sz="1300" u="none" cap="none" strike="noStrike">
              <a:solidFill>
                <a:schemeClr val="dk1"/>
              </a:solidFill>
              <a:latin typeface="Arial"/>
              <a:ea typeface="Arial"/>
              <a:cs typeface="Arial"/>
              <a:sym typeface="Arial"/>
            </a:endParaRPr>
          </a:p>
        </p:txBody>
      </p:sp>
      <p:sp>
        <p:nvSpPr>
          <p:cNvPr id="22" name="Google Shape;22;p1"/>
          <p:cNvSpPr txBox="1"/>
          <p:nvPr/>
        </p:nvSpPr>
        <p:spPr>
          <a:xfrm>
            <a:off x="658368" y="1234440"/>
            <a:ext cx="6766560" cy="155448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Regular Expression</a:t>
            </a:r>
            <a:endParaRPr b="0" i="0" sz="4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to DFA</a:t>
            </a:r>
            <a:endParaRPr b="0" i="0" sz="4800" u="none" cap="none" strike="noStrike">
              <a:solidFill>
                <a:schemeClr val="dk1"/>
              </a:solidFill>
              <a:latin typeface="Arial"/>
              <a:ea typeface="Arial"/>
              <a:cs typeface="Arial"/>
              <a:sym typeface="Arial"/>
            </a:endParaRPr>
          </a:p>
        </p:txBody>
      </p:sp>
      <p:sp>
        <p:nvSpPr>
          <p:cNvPr id="23" name="Google Shape;23;p1"/>
          <p:cNvSpPr txBox="1"/>
          <p:nvPr/>
        </p:nvSpPr>
        <p:spPr>
          <a:xfrm>
            <a:off x="694944" y="2980944"/>
            <a:ext cx="694944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DE0F0"/>
              </a:buClr>
              <a:buSzPts val="2400"/>
              <a:buFont typeface="Arial"/>
              <a:buNone/>
            </a:pPr>
            <a:r>
              <a:rPr b="0" i="0" lang="en-US" sz="2400" u="none" cap="none" strike="noStrike">
                <a:solidFill>
                  <a:srgbClr val="CDE0F0"/>
                </a:solidFill>
                <a:latin typeface="Arial"/>
                <a:ea typeface="Arial"/>
                <a:cs typeface="Arial"/>
                <a:sym typeface="Arial"/>
              </a:rPr>
              <a:t>Using nullable, firstpos, lastpos, and followpos</a:t>
            </a:r>
            <a:endParaRPr b="0" i="0" sz="2400" u="none" cap="none" strike="noStrike">
              <a:solidFill>
                <a:schemeClr val="dk1"/>
              </a:solidFill>
              <a:latin typeface="Arial"/>
              <a:ea typeface="Arial"/>
              <a:cs typeface="Arial"/>
              <a:sym typeface="Arial"/>
            </a:endParaRPr>
          </a:p>
        </p:txBody>
      </p:sp>
      <p:sp>
        <p:nvSpPr>
          <p:cNvPr id="24" name="Google Shape;24;p1"/>
          <p:cNvSpPr/>
          <p:nvPr/>
        </p:nvSpPr>
        <p:spPr>
          <a:xfrm>
            <a:off x="658368" y="3913632"/>
            <a:ext cx="6355080" cy="1078992"/>
          </a:xfrm>
          <a:prstGeom prst="roundRect">
            <a:avLst>
              <a:gd fmla="val 6780" name="adj"/>
            </a:avLst>
          </a:prstGeom>
          <a:solidFill>
            <a:srgbClr val="173657"/>
          </a:solidFill>
          <a:ln cap="flat" cmpd="sng" w="12700">
            <a:solidFill>
              <a:srgbClr val="2A4C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914400" y="4151376"/>
            <a:ext cx="57607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A261"/>
              </a:buClr>
              <a:buSzPts val="2500"/>
              <a:buFont typeface="Arial"/>
              <a:buNone/>
            </a:pPr>
            <a:r>
              <a:rPr b="1" i="0" lang="en-US" sz="2500" u="none" cap="none" strike="noStrike">
                <a:solidFill>
                  <a:srgbClr val="F4A261"/>
                </a:solidFill>
                <a:latin typeface="Arial"/>
                <a:ea typeface="Arial"/>
                <a:cs typeface="Arial"/>
                <a:sym typeface="Arial"/>
              </a:rPr>
              <a:t>Running example:  </a:t>
            </a:r>
            <a:r>
              <a:rPr b="1" i="0" lang="en-US" sz="2500" u="none" cap="none" strike="noStrike">
                <a:solidFill>
                  <a:srgbClr val="FFFFFF"/>
                </a:solidFill>
                <a:latin typeface="Arial"/>
                <a:ea typeface="Arial"/>
                <a:cs typeface="Arial"/>
                <a:sym typeface="Arial"/>
              </a:rPr>
              <a:t>(a|b)*abb#</a:t>
            </a:r>
            <a:endParaRPr b="0" i="0" sz="2500" u="none" cap="none" strike="noStrike">
              <a:solidFill>
                <a:schemeClr val="dk1"/>
              </a:solidFill>
              <a:latin typeface="Arial"/>
              <a:ea typeface="Arial"/>
              <a:cs typeface="Arial"/>
              <a:sym typeface="Arial"/>
            </a:endParaRPr>
          </a:p>
        </p:txBody>
      </p:sp>
      <p:sp>
        <p:nvSpPr>
          <p:cNvPr id="26" name="Google Shape;26;p1"/>
          <p:cNvSpPr txBox="1"/>
          <p:nvPr/>
        </p:nvSpPr>
        <p:spPr>
          <a:xfrm>
            <a:off x="914400" y="4535424"/>
            <a:ext cx="5760720" cy="2468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6CADD"/>
              </a:buClr>
              <a:buSzPts val="1550"/>
              <a:buFont typeface="Arial"/>
              <a:buNone/>
            </a:pPr>
            <a:r>
              <a:rPr b="0" i="0" lang="en-US" sz="1550" u="none" cap="none" strike="noStrike">
                <a:solidFill>
                  <a:srgbClr val="B6CADD"/>
                </a:solidFill>
                <a:latin typeface="Arial"/>
                <a:ea typeface="Arial"/>
                <a:cs typeface="Arial"/>
                <a:sym typeface="Arial"/>
              </a:rPr>
              <a:t>A step-by-step classroom-ready presentation</a:t>
            </a:r>
            <a:endParaRPr b="0" i="0" sz="1550" u="none" cap="none" strike="noStrike">
              <a:solidFill>
                <a:schemeClr val="dk1"/>
              </a:solidFill>
              <a:latin typeface="Arial"/>
              <a:ea typeface="Arial"/>
              <a:cs typeface="Arial"/>
              <a:sym typeface="Arial"/>
            </a:endParaRPr>
          </a:p>
        </p:txBody>
      </p:sp>
      <p:pic>
        <p:nvPicPr>
          <p:cNvPr descr="preencoded.png" id="27" name="Google Shape;27;p1"/>
          <p:cNvPicPr preferRelativeResize="0"/>
          <p:nvPr/>
        </p:nvPicPr>
        <p:blipFill rotWithShape="1">
          <a:blip r:embed="rId3">
            <a:alphaModFix/>
          </a:blip>
          <a:srcRect b="0" l="0" r="0" t="0"/>
          <a:stretch/>
        </p:blipFill>
        <p:spPr>
          <a:xfrm>
            <a:off x="7406640" y="1234440"/>
            <a:ext cx="3886200" cy="4251960"/>
          </a:xfrm>
          <a:prstGeom prst="rect">
            <a:avLst/>
          </a:prstGeom>
          <a:noFill/>
          <a:ln>
            <a:noFill/>
          </a:ln>
        </p:spPr>
      </p:pic>
      <p:sp>
        <p:nvSpPr>
          <p:cNvPr id="28" name="Google Shape;28;p1"/>
          <p:cNvSpPr txBox="1"/>
          <p:nvPr/>
        </p:nvSpPr>
        <p:spPr>
          <a:xfrm>
            <a:off x="685800" y="6172200"/>
            <a:ext cx="374904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FC4D7"/>
              </a:buClr>
              <a:buSzPts val="1400"/>
              <a:buFont typeface="Arial"/>
              <a:buNone/>
            </a:pPr>
            <a:r>
              <a:rPr b="0" i="0" lang="en-US" sz="1400" u="none" cap="none" strike="noStrike">
                <a:solidFill>
                  <a:srgbClr val="AFC4D7"/>
                </a:solidFill>
                <a:latin typeface="Arial"/>
                <a:ea typeface="Arial"/>
                <a:cs typeface="Arial"/>
                <a:sym typeface="Arial"/>
              </a:rPr>
              <a:t>Principles of Compiler Design</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3" name="Shape 33"/>
        <p:cNvGrpSpPr/>
        <p:nvPr/>
      </p:nvGrpSpPr>
      <p:grpSpPr>
        <a:xfrm>
          <a:off x="0" y="0"/>
          <a:ext cx="0" cy="0"/>
          <a:chOff x="0" y="0"/>
          <a:chExt cx="0" cy="0"/>
        </a:xfrm>
      </p:grpSpPr>
      <p:sp>
        <p:nvSpPr>
          <p:cNvPr id="34" name="Google Shape;34;p2"/>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Teaching roadmap and learning outcomes</a:t>
            </a:r>
            <a:endParaRPr b="0" i="0" sz="2800" u="none" cap="none" strike="noStrike">
              <a:solidFill>
                <a:schemeClr val="dk1"/>
              </a:solidFill>
              <a:latin typeface="Arial"/>
              <a:ea typeface="Arial"/>
              <a:cs typeface="Arial"/>
              <a:sym typeface="Arial"/>
            </a:endParaRPr>
          </a:p>
        </p:txBody>
      </p:sp>
      <p:sp>
        <p:nvSpPr>
          <p:cNvPr id="36" name="Google Shape;36;p2"/>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Overview</a:t>
            </a:r>
            <a:endParaRPr b="0" i="0" sz="1150" u="none" cap="none" strike="noStrike">
              <a:solidFill>
                <a:schemeClr val="dk1"/>
              </a:solidFill>
              <a:latin typeface="Arial"/>
              <a:ea typeface="Arial"/>
              <a:cs typeface="Arial"/>
              <a:sym typeface="Arial"/>
            </a:endParaRPr>
          </a:p>
        </p:txBody>
      </p:sp>
      <p:sp>
        <p:nvSpPr>
          <p:cNvPr id="38" name="Google Shape;38;p2"/>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39" name="Google Shape;39;p2"/>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a:t>
            </a:r>
            <a:endParaRPr b="0" i="0" sz="950" u="none" cap="none" strike="noStrike">
              <a:solidFill>
                <a:schemeClr val="dk1"/>
              </a:solidFill>
              <a:latin typeface="Arial"/>
              <a:ea typeface="Arial"/>
              <a:cs typeface="Arial"/>
              <a:sym typeface="Arial"/>
            </a:endParaRPr>
          </a:p>
        </p:txBody>
      </p:sp>
      <p:sp>
        <p:nvSpPr>
          <p:cNvPr id="40" name="Google Shape;40;p2"/>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42" name="Google Shape;42;p2"/>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44" name="Google Shape;44;p2"/>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46" name="Google Shape;46;p2"/>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48" name="Google Shape;48;p2"/>
          <p:cNvSpPr txBox="1"/>
          <p:nvPr/>
        </p:nvSpPr>
        <p:spPr>
          <a:xfrm>
            <a:off x="566928" y="859536"/>
            <a:ext cx="521208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By the end of this lesson, students should be able to:</a:t>
            </a:r>
            <a:endParaRPr b="0" i="0" sz="2000" u="none" cap="none" strike="noStrike">
              <a:solidFill>
                <a:schemeClr val="dk1"/>
              </a:solidFill>
              <a:latin typeface="Arial"/>
              <a:ea typeface="Arial"/>
              <a:cs typeface="Arial"/>
              <a:sym typeface="Arial"/>
            </a:endParaRPr>
          </a:p>
        </p:txBody>
      </p:sp>
      <p:sp>
        <p:nvSpPr>
          <p:cNvPr id="49" name="Google Shape;49;p2"/>
          <p:cNvSpPr/>
          <p:nvPr/>
        </p:nvSpPr>
        <p:spPr>
          <a:xfrm>
            <a:off x="621792" y="1399032"/>
            <a:ext cx="100584" cy="100584"/>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txBox="1"/>
          <p:nvPr/>
        </p:nvSpPr>
        <p:spPr>
          <a:xfrm>
            <a:off x="822960" y="1280160"/>
            <a:ext cx="4919472"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augment a regular expression with the end marker #</a:t>
            </a:r>
            <a:endParaRPr b="0" i="0" sz="1750" u="none" cap="none" strike="noStrike">
              <a:solidFill>
                <a:schemeClr val="dk1"/>
              </a:solidFill>
              <a:latin typeface="Arial"/>
              <a:ea typeface="Arial"/>
              <a:cs typeface="Arial"/>
              <a:sym typeface="Arial"/>
            </a:endParaRPr>
          </a:p>
        </p:txBody>
      </p:sp>
      <p:sp>
        <p:nvSpPr>
          <p:cNvPr id="51" name="Google Shape;51;p2"/>
          <p:cNvSpPr/>
          <p:nvPr/>
        </p:nvSpPr>
        <p:spPr>
          <a:xfrm>
            <a:off x="621792" y="1911096"/>
            <a:ext cx="100584" cy="100584"/>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txBox="1"/>
          <p:nvPr/>
        </p:nvSpPr>
        <p:spPr>
          <a:xfrm>
            <a:off x="822960" y="1792224"/>
            <a:ext cx="4919472"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construct and number its syntax tree</a:t>
            </a:r>
            <a:endParaRPr b="0" i="0" sz="1750" u="none" cap="none" strike="noStrike">
              <a:solidFill>
                <a:schemeClr val="dk1"/>
              </a:solidFill>
              <a:latin typeface="Arial"/>
              <a:ea typeface="Arial"/>
              <a:cs typeface="Arial"/>
              <a:sym typeface="Arial"/>
            </a:endParaRPr>
          </a:p>
        </p:txBody>
      </p:sp>
      <p:sp>
        <p:nvSpPr>
          <p:cNvPr id="53" name="Google Shape;53;p2"/>
          <p:cNvSpPr/>
          <p:nvPr/>
        </p:nvSpPr>
        <p:spPr>
          <a:xfrm>
            <a:off x="621792" y="2423160"/>
            <a:ext cx="100584" cy="100584"/>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txBox="1"/>
          <p:nvPr/>
        </p:nvSpPr>
        <p:spPr>
          <a:xfrm>
            <a:off x="822960" y="2304288"/>
            <a:ext cx="4919472"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compute nullable, firstpos, lastpos, and followpos</a:t>
            </a:r>
            <a:endParaRPr b="0" i="0" sz="1750" u="none" cap="none" strike="noStrike">
              <a:solidFill>
                <a:schemeClr val="dk1"/>
              </a:solidFill>
              <a:latin typeface="Arial"/>
              <a:ea typeface="Arial"/>
              <a:cs typeface="Arial"/>
              <a:sym typeface="Arial"/>
            </a:endParaRPr>
          </a:p>
        </p:txBody>
      </p:sp>
      <p:sp>
        <p:nvSpPr>
          <p:cNvPr id="55" name="Google Shape;55;p2"/>
          <p:cNvSpPr/>
          <p:nvPr/>
        </p:nvSpPr>
        <p:spPr>
          <a:xfrm>
            <a:off x="621792" y="2935224"/>
            <a:ext cx="100584" cy="100584"/>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txBox="1"/>
          <p:nvPr/>
        </p:nvSpPr>
        <p:spPr>
          <a:xfrm>
            <a:off x="822960" y="2816352"/>
            <a:ext cx="4919472"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generate DFA states and transitions from position sets</a:t>
            </a:r>
            <a:endParaRPr b="0" i="0" sz="1750" u="none" cap="none" strike="noStrike">
              <a:solidFill>
                <a:schemeClr val="dk1"/>
              </a:solidFill>
              <a:latin typeface="Arial"/>
              <a:ea typeface="Arial"/>
              <a:cs typeface="Arial"/>
              <a:sym typeface="Arial"/>
            </a:endParaRPr>
          </a:p>
        </p:txBody>
      </p:sp>
      <p:sp>
        <p:nvSpPr>
          <p:cNvPr id="57" name="Google Shape;57;p2"/>
          <p:cNvSpPr/>
          <p:nvPr/>
        </p:nvSpPr>
        <p:spPr>
          <a:xfrm>
            <a:off x="621792" y="3447288"/>
            <a:ext cx="100584" cy="100584"/>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txBox="1"/>
          <p:nvPr/>
        </p:nvSpPr>
        <p:spPr>
          <a:xfrm>
            <a:off x="822960" y="3328416"/>
            <a:ext cx="4919472" cy="512064"/>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identify the accepting state using the position of #</a:t>
            </a:r>
            <a:endParaRPr b="0" i="0" sz="1750" u="none" cap="none" strike="noStrike">
              <a:solidFill>
                <a:schemeClr val="dk1"/>
              </a:solidFill>
              <a:latin typeface="Arial"/>
              <a:ea typeface="Arial"/>
              <a:cs typeface="Arial"/>
              <a:sym typeface="Arial"/>
            </a:endParaRPr>
          </a:p>
        </p:txBody>
      </p:sp>
      <p:sp>
        <p:nvSpPr>
          <p:cNvPr id="59" name="Google Shape;59;p2"/>
          <p:cNvSpPr/>
          <p:nvPr/>
        </p:nvSpPr>
        <p:spPr>
          <a:xfrm>
            <a:off x="5989320" y="960120"/>
            <a:ext cx="5559552" cy="4526280"/>
          </a:xfrm>
          <a:prstGeom prst="roundRect">
            <a:avLst>
              <a:gd fmla="val 1616"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txBox="1"/>
          <p:nvPr/>
        </p:nvSpPr>
        <p:spPr>
          <a:xfrm>
            <a:off x="6309360" y="1188720"/>
            <a:ext cx="493776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100"/>
              <a:buFont typeface="Arial"/>
              <a:buNone/>
            </a:pPr>
            <a:r>
              <a:rPr b="1" i="0" lang="en-US" sz="2100" u="none" cap="none" strike="noStrike">
                <a:solidFill>
                  <a:srgbClr val="153A73"/>
                </a:solidFill>
                <a:latin typeface="Arial"/>
                <a:ea typeface="Arial"/>
                <a:cs typeface="Arial"/>
                <a:sym typeface="Arial"/>
              </a:rPr>
              <a:t>The five-step teaching path</a:t>
            </a:r>
            <a:endParaRPr b="0" i="0" sz="2100" u="none" cap="none" strike="noStrike">
              <a:solidFill>
                <a:schemeClr val="dk1"/>
              </a:solidFill>
              <a:latin typeface="Arial"/>
              <a:ea typeface="Arial"/>
              <a:cs typeface="Arial"/>
              <a:sym typeface="Arial"/>
            </a:endParaRPr>
          </a:p>
        </p:txBody>
      </p:sp>
      <p:sp>
        <p:nvSpPr>
          <p:cNvPr id="61" name="Google Shape;61;p2"/>
          <p:cNvSpPr/>
          <p:nvPr/>
        </p:nvSpPr>
        <p:spPr>
          <a:xfrm>
            <a:off x="6309360" y="1700784"/>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txBox="1"/>
          <p:nvPr/>
        </p:nvSpPr>
        <p:spPr>
          <a:xfrm>
            <a:off x="6309360" y="1700784"/>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63" name="Google Shape;63;p2"/>
          <p:cNvSpPr txBox="1"/>
          <p:nvPr/>
        </p:nvSpPr>
        <p:spPr>
          <a:xfrm>
            <a:off x="6839712" y="1691640"/>
            <a:ext cx="408736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Augment and number</a:t>
            </a:r>
            <a:endParaRPr b="0" i="0" sz="1800" u="none" cap="none" strike="noStrike">
              <a:solidFill>
                <a:schemeClr val="dk1"/>
              </a:solidFill>
              <a:latin typeface="Arial"/>
              <a:ea typeface="Arial"/>
              <a:cs typeface="Arial"/>
              <a:sym typeface="Arial"/>
            </a:endParaRPr>
          </a:p>
        </p:txBody>
      </p:sp>
      <p:sp>
        <p:nvSpPr>
          <p:cNvPr id="64" name="Google Shape;64;p2"/>
          <p:cNvSpPr txBox="1"/>
          <p:nvPr/>
        </p:nvSpPr>
        <p:spPr>
          <a:xfrm>
            <a:off x="6839712" y="1965960"/>
            <a:ext cx="408736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Append # and assign a unique position to every non-ε leaf.</a:t>
            </a:r>
            <a:endParaRPr b="0" i="0" sz="1500" u="none" cap="none" strike="noStrike">
              <a:solidFill>
                <a:schemeClr val="dk1"/>
              </a:solidFill>
              <a:latin typeface="Arial"/>
              <a:ea typeface="Arial"/>
              <a:cs typeface="Arial"/>
              <a:sym typeface="Arial"/>
            </a:endParaRPr>
          </a:p>
        </p:txBody>
      </p:sp>
      <p:sp>
        <p:nvSpPr>
          <p:cNvPr id="65" name="Google Shape;65;p2"/>
          <p:cNvSpPr/>
          <p:nvPr/>
        </p:nvSpPr>
        <p:spPr>
          <a:xfrm>
            <a:off x="6309360" y="2487168"/>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txBox="1"/>
          <p:nvPr/>
        </p:nvSpPr>
        <p:spPr>
          <a:xfrm>
            <a:off x="6309360" y="2487168"/>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2</a:t>
            </a:r>
            <a:endParaRPr b="0" i="0" sz="1700" u="none" cap="none" strike="noStrike">
              <a:solidFill>
                <a:schemeClr val="dk1"/>
              </a:solidFill>
              <a:latin typeface="Arial"/>
              <a:ea typeface="Arial"/>
              <a:cs typeface="Arial"/>
              <a:sym typeface="Arial"/>
            </a:endParaRPr>
          </a:p>
        </p:txBody>
      </p:sp>
      <p:sp>
        <p:nvSpPr>
          <p:cNvPr id="67" name="Google Shape;67;p2"/>
          <p:cNvSpPr txBox="1"/>
          <p:nvPr/>
        </p:nvSpPr>
        <p:spPr>
          <a:xfrm>
            <a:off x="6839712" y="2478024"/>
            <a:ext cx="408736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Build the syntax tree</a:t>
            </a:r>
            <a:endParaRPr b="0" i="0" sz="1800" u="none" cap="none" strike="noStrike">
              <a:solidFill>
                <a:schemeClr val="dk1"/>
              </a:solidFill>
              <a:latin typeface="Arial"/>
              <a:ea typeface="Arial"/>
              <a:cs typeface="Arial"/>
              <a:sym typeface="Arial"/>
            </a:endParaRPr>
          </a:p>
        </p:txBody>
      </p:sp>
      <p:sp>
        <p:nvSpPr>
          <p:cNvPr id="68" name="Google Shape;68;p2"/>
          <p:cNvSpPr txBox="1"/>
          <p:nvPr/>
        </p:nvSpPr>
        <p:spPr>
          <a:xfrm>
            <a:off x="6839712" y="2752344"/>
            <a:ext cx="408736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Leaves are operands; interior nodes are |, ·, and * operators.</a:t>
            </a:r>
            <a:endParaRPr b="0" i="0" sz="1500" u="none" cap="none" strike="noStrike">
              <a:solidFill>
                <a:schemeClr val="dk1"/>
              </a:solidFill>
              <a:latin typeface="Arial"/>
              <a:ea typeface="Arial"/>
              <a:cs typeface="Arial"/>
              <a:sym typeface="Arial"/>
            </a:endParaRPr>
          </a:p>
        </p:txBody>
      </p:sp>
      <p:sp>
        <p:nvSpPr>
          <p:cNvPr id="69" name="Google Shape;69;p2"/>
          <p:cNvSpPr/>
          <p:nvPr/>
        </p:nvSpPr>
        <p:spPr>
          <a:xfrm>
            <a:off x="6309360" y="3273552"/>
            <a:ext cx="384048" cy="384048"/>
          </a:xfrm>
          <a:prstGeom prst="ellipse">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txBox="1"/>
          <p:nvPr/>
        </p:nvSpPr>
        <p:spPr>
          <a:xfrm>
            <a:off x="6309360" y="3273552"/>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3</a:t>
            </a:r>
            <a:endParaRPr b="0" i="0" sz="1700" u="none" cap="none" strike="noStrike">
              <a:solidFill>
                <a:schemeClr val="dk1"/>
              </a:solidFill>
              <a:latin typeface="Arial"/>
              <a:ea typeface="Arial"/>
              <a:cs typeface="Arial"/>
              <a:sym typeface="Arial"/>
            </a:endParaRPr>
          </a:p>
        </p:txBody>
      </p:sp>
      <p:sp>
        <p:nvSpPr>
          <p:cNvPr id="71" name="Google Shape;71;p2"/>
          <p:cNvSpPr txBox="1"/>
          <p:nvPr/>
        </p:nvSpPr>
        <p:spPr>
          <a:xfrm>
            <a:off x="6839712" y="3264408"/>
            <a:ext cx="408736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Compute tree functions</a:t>
            </a:r>
            <a:endParaRPr b="0" i="0" sz="1800" u="none" cap="none" strike="noStrike">
              <a:solidFill>
                <a:schemeClr val="dk1"/>
              </a:solidFill>
              <a:latin typeface="Arial"/>
              <a:ea typeface="Arial"/>
              <a:cs typeface="Arial"/>
              <a:sym typeface="Arial"/>
            </a:endParaRPr>
          </a:p>
        </p:txBody>
      </p:sp>
      <p:sp>
        <p:nvSpPr>
          <p:cNvPr id="72" name="Google Shape;72;p2"/>
          <p:cNvSpPr txBox="1"/>
          <p:nvPr/>
        </p:nvSpPr>
        <p:spPr>
          <a:xfrm>
            <a:off x="6839712" y="3538728"/>
            <a:ext cx="408736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Evaluate nullable, firstpos, and lastpos bottom-up.</a:t>
            </a:r>
            <a:endParaRPr b="0" i="0" sz="1500" u="none" cap="none" strike="noStrike">
              <a:solidFill>
                <a:schemeClr val="dk1"/>
              </a:solidFill>
              <a:latin typeface="Arial"/>
              <a:ea typeface="Arial"/>
              <a:cs typeface="Arial"/>
              <a:sym typeface="Arial"/>
            </a:endParaRPr>
          </a:p>
        </p:txBody>
      </p:sp>
      <p:sp>
        <p:nvSpPr>
          <p:cNvPr id="73" name="Google Shape;73;p2"/>
          <p:cNvSpPr/>
          <p:nvPr/>
        </p:nvSpPr>
        <p:spPr>
          <a:xfrm>
            <a:off x="6309360" y="4059936"/>
            <a:ext cx="384048" cy="384048"/>
          </a:xfrm>
          <a:prstGeom prst="ellipse">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txBox="1"/>
          <p:nvPr/>
        </p:nvSpPr>
        <p:spPr>
          <a:xfrm>
            <a:off x="6309360" y="4059936"/>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4</a:t>
            </a:r>
            <a:endParaRPr b="0" i="0" sz="1700" u="none" cap="none" strike="noStrike">
              <a:solidFill>
                <a:schemeClr val="dk1"/>
              </a:solidFill>
              <a:latin typeface="Arial"/>
              <a:ea typeface="Arial"/>
              <a:cs typeface="Arial"/>
              <a:sym typeface="Arial"/>
            </a:endParaRPr>
          </a:p>
        </p:txBody>
      </p:sp>
      <p:sp>
        <p:nvSpPr>
          <p:cNvPr id="75" name="Google Shape;75;p2"/>
          <p:cNvSpPr txBox="1"/>
          <p:nvPr/>
        </p:nvSpPr>
        <p:spPr>
          <a:xfrm>
            <a:off x="6839712" y="4050792"/>
            <a:ext cx="408736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Compute followpos</a:t>
            </a:r>
            <a:endParaRPr b="0" i="0" sz="1800" u="none" cap="none" strike="noStrike">
              <a:solidFill>
                <a:schemeClr val="dk1"/>
              </a:solidFill>
              <a:latin typeface="Arial"/>
              <a:ea typeface="Arial"/>
              <a:cs typeface="Arial"/>
              <a:sym typeface="Arial"/>
            </a:endParaRPr>
          </a:p>
        </p:txBody>
      </p:sp>
      <p:sp>
        <p:nvSpPr>
          <p:cNvPr id="76" name="Google Shape;76;p2"/>
          <p:cNvSpPr txBox="1"/>
          <p:nvPr/>
        </p:nvSpPr>
        <p:spPr>
          <a:xfrm>
            <a:off x="6839712" y="4325112"/>
            <a:ext cx="408736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Use only concatenation and star rules.</a:t>
            </a:r>
            <a:endParaRPr b="0" i="0" sz="1500" u="none" cap="none" strike="noStrike">
              <a:solidFill>
                <a:schemeClr val="dk1"/>
              </a:solidFill>
              <a:latin typeface="Arial"/>
              <a:ea typeface="Arial"/>
              <a:cs typeface="Arial"/>
              <a:sym typeface="Arial"/>
            </a:endParaRPr>
          </a:p>
        </p:txBody>
      </p:sp>
      <p:sp>
        <p:nvSpPr>
          <p:cNvPr id="77" name="Google Shape;77;p2"/>
          <p:cNvSpPr/>
          <p:nvPr/>
        </p:nvSpPr>
        <p:spPr>
          <a:xfrm>
            <a:off x="6309360" y="4846320"/>
            <a:ext cx="384048" cy="384048"/>
          </a:xfrm>
          <a:prstGeom prst="ellipse">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txBox="1"/>
          <p:nvPr/>
        </p:nvSpPr>
        <p:spPr>
          <a:xfrm>
            <a:off x="6309360" y="4846320"/>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5</a:t>
            </a:r>
            <a:endParaRPr b="0" i="0" sz="1700" u="none" cap="none" strike="noStrike">
              <a:solidFill>
                <a:schemeClr val="dk1"/>
              </a:solidFill>
              <a:latin typeface="Arial"/>
              <a:ea typeface="Arial"/>
              <a:cs typeface="Arial"/>
              <a:sym typeface="Arial"/>
            </a:endParaRPr>
          </a:p>
        </p:txBody>
      </p:sp>
      <p:sp>
        <p:nvSpPr>
          <p:cNvPr id="79" name="Google Shape;79;p2"/>
          <p:cNvSpPr txBox="1"/>
          <p:nvPr/>
        </p:nvSpPr>
        <p:spPr>
          <a:xfrm>
            <a:off x="6839712" y="4837176"/>
            <a:ext cx="408736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Construct the DFA</a:t>
            </a:r>
            <a:endParaRPr b="0" i="0" sz="1800" u="none" cap="none" strike="noStrike">
              <a:solidFill>
                <a:schemeClr val="dk1"/>
              </a:solidFill>
              <a:latin typeface="Arial"/>
              <a:ea typeface="Arial"/>
              <a:cs typeface="Arial"/>
              <a:sym typeface="Arial"/>
            </a:endParaRPr>
          </a:p>
        </p:txBody>
      </p:sp>
      <p:sp>
        <p:nvSpPr>
          <p:cNvPr id="80" name="Google Shape;80;p2"/>
          <p:cNvSpPr txBox="1"/>
          <p:nvPr/>
        </p:nvSpPr>
        <p:spPr>
          <a:xfrm>
            <a:off x="6839712" y="5111496"/>
            <a:ext cx="408736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Each DFA state is a set of syntax-tree positions.</a:t>
            </a:r>
            <a:endParaRPr b="0" i="0" sz="1500" u="none" cap="none" strike="noStrike">
              <a:solidFill>
                <a:schemeClr val="dk1"/>
              </a:solidFill>
              <a:latin typeface="Arial"/>
              <a:ea typeface="Arial"/>
              <a:cs typeface="Arial"/>
              <a:sym typeface="Arial"/>
            </a:endParaRPr>
          </a:p>
        </p:txBody>
      </p:sp>
      <p:sp>
        <p:nvSpPr>
          <p:cNvPr id="81" name="Google Shape;81;p2"/>
          <p:cNvSpPr/>
          <p:nvPr/>
        </p:nvSpPr>
        <p:spPr>
          <a:xfrm>
            <a:off x="621792" y="4416552"/>
            <a:ext cx="5120640" cy="1097280"/>
          </a:xfrm>
          <a:prstGeom prst="roundRect">
            <a:avLst>
              <a:gd fmla="val 6667"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621792" y="4416552"/>
            <a:ext cx="73152" cy="109728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txBox="1"/>
          <p:nvPr/>
        </p:nvSpPr>
        <p:spPr>
          <a:xfrm>
            <a:off x="786384" y="4526280"/>
            <a:ext cx="48463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Core idea</a:t>
            </a:r>
            <a:endParaRPr b="0" i="0" sz="1600" u="none" cap="none" strike="noStrike">
              <a:solidFill>
                <a:schemeClr val="dk1"/>
              </a:solidFill>
              <a:latin typeface="Arial"/>
              <a:ea typeface="Arial"/>
              <a:cs typeface="Arial"/>
              <a:sym typeface="Arial"/>
            </a:endParaRPr>
          </a:p>
        </p:txBody>
      </p:sp>
      <p:sp>
        <p:nvSpPr>
          <p:cNvPr id="84" name="Google Shape;84;p2"/>
          <p:cNvSpPr txBox="1"/>
          <p:nvPr/>
        </p:nvSpPr>
        <p:spPr>
          <a:xfrm>
            <a:off x="786384" y="4901184"/>
            <a:ext cx="4846320" cy="5303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 numbered leaf represents one possible symbol occurrence. DFA states therefore become sets of possible positions.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89" name="Shape 89"/>
        <p:cNvGrpSpPr/>
        <p:nvPr/>
      </p:nvGrpSpPr>
      <p:grpSpPr>
        <a:xfrm>
          <a:off x="0" y="0"/>
          <a:ext cx="0" cy="0"/>
          <a:chOff x="0" y="0"/>
          <a:chExt cx="0" cy="0"/>
        </a:xfrm>
      </p:grpSpPr>
      <p:sp>
        <p:nvSpPr>
          <p:cNvPr id="90" name="Google Shape;90;p3"/>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Running example: augment the regular expression</a:t>
            </a:r>
            <a:endParaRPr b="0" i="0" sz="2800" u="none" cap="none" strike="noStrike">
              <a:solidFill>
                <a:schemeClr val="dk1"/>
              </a:solidFill>
              <a:latin typeface="Arial"/>
              <a:ea typeface="Arial"/>
              <a:cs typeface="Arial"/>
              <a:sym typeface="Arial"/>
            </a:endParaRPr>
          </a:p>
        </p:txBody>
      </p:sp>
      <p:sp>
        <p:nvSpPr>
          <p:cNvPr id="92" name="Google Shape;92;p3"/>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1</a:t>
            </a:r>
            <a:endParaRPr b="0" i="0" sz="1150" u="none" cap="none" strike="noStrike">
              <a:solidFill>
                <a:schemeClr val="dk1"/>
              </a:solidFill>
              <a:latin typeface="Arial"/>
              <a:ea typeface="Arial"/>
              <a:cs typeface="Arial"/>
              <a:sym typeface="Arial"/>
            </a:endParaRPr>
          </a:p>
        </p:txBody>
      </p:sp>
      <p:sp>
        <p:nvSpPr>
          <p:cNvPr id="94" name="Google Shape;94;p3"/>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95" name="Google Shape;95;p3"/>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a:t>
            </a:r>
            <a:endParaRPr b="0" i="0" sz="950" u="none" cap="none" strike="noStrike">
              <a:solidFill>
                <a:schemeClr val="dk1"/>
              </a:solidFill>
              <a:latin typeface="Arial"/>
              <a:ea typeface="Arial"/>
              <a:cs typeface="Arial"/>
              <a:sym typeface="Arial"/>
            </a:endParaRPr>
          </a:p>
        </p:txBody>
      </p:sp>
      <p:sp>
        <p:nvSpPr>
          <p:cNvPr id="96" name="Google Shape;96;p3"/>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98" name="Google Shape;98;p3"/>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00" name="Google Shape;100;p3"/>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02" name="Google Shape;102;p3"/>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04" name="Google Shape;104;p3"/>
          <p:cNvSpPr txBox="1"/>
          <p:nvPr/>
        </p:nvSpPr>
        <p:spPr>
          <a:xfrm>
            <a:off x="676656" y="932688"/>
            <a:ext cx="2560320" cy="29260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Original expression</a:t>
            </a:r>
            <a:endParaRPr b="0" i="0" sz="1800" u="none" cap="none" strike="noStrike">
              <a:solidFill>
                <a:schemeClr val="dk1"/>
              </a:solidFill>
              <a:latin typeface="Arial"/>
              <a:ea typeface="Arial"/>
              <a:cs typeface="Arial"/>
              <a:sym typeface="Arial"/>
            </a:endParaRPr>
          </a:p>
        </p:txBody>
      </p:sp>
      <p:sp>
        <p:nvSpPr>
          <p:cNvPr id="105" name="Google Shape;105;p3"/>
          <p:cNvSpPr/>
          <p:nvPr/>
        </p:nvSpPr>
        <p:spPr>
          <a:xfrm>
            <a:off x="658368" y="1298448"/>
            <a:ext cx="3017520" cy="1051560"/>
          </a:xfrm>
          <a:prstGeom prst="roundRect">
            <a:avLst>
              <a:gd fmla="val 6957"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txBox="1"/>
          <p:nvPr/>
        </p:nvSpPr>
        <p:spPr>
          <a:xfrm>
            <a:off x="886968" y="1572768"/>
            <a:ext cx="2560320"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800"/>
              <a:buFont typeface="Arial"/>
              <a:buNone/>
            </a:pPr>
            <a:r>
              <a:rPr b="1" i="0" lang="en-US" sz="2800" u="none" cap="none" strike="noStrike">
                <a:solidFill>
                  <a:srgbClr val="1F75BB"/>
                </a:solidFill>
                <a:latin typeface="Arial"/>
                <a:ea typeface="Arial"/>
                <a:cs typeface="Arial"/>
                <a:sym typeface="Arial"/>
              </a:rPr>
              <a:t>R = (a|b)*abb</a:t>
            </a:r>
            <a:endParaRPr b="0" i="0" sz="2800" u="none" cap="none" strike="noStrike">
              <a:solidFill>
                <a:schemeClr val="dk1"/>
              </a:solidFill>
              <a:latin typeface="Arial"/>
              <a:ea typeface="Arial"/>
              <a:cs typeface="Arial"/>
              <a:sym typeface="Arial"/>
            </a:endParaRPr>
          </a:p>
        </p:txBody>
      </p:sp>
      <p:sp>
        <p:nvSpPr>
          <p:cNvPr id="107" name="Google Shape;107;p3"/>
          <p:cNvSpPr/>
          <p:nvPr/>
        </p:nvSpPr>
        <p:spPr>
          <a:xfrm>
            <a:off x="3904488" y="1527048"/>
            <a:ext cx="960120" cy="493776"/>
          </a:xfrm>
          <a:prstGeom prst="rightArrow">
            <a:avLst>
              <a:gd fmla="val 50000" name="adj1"/>
              <a:gd fmla="val 50000" name="adj2"/>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txBox="1"/>
          <p:nvPr/>
        </p:nvSpPr>
        <p:spPr>
          <a:xfrm>
            <a:off x="3849624" y="2057400"/>
            <a:ext cx="109728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350"/>
              <a:buFont typeface="Arial"/>
              <a:buNone/>
            </a:pPr>
            <a:r>
              <a:rPr b="1" i="0" lang="en-US" sz="1350" u="none" cap="none" strike="noStrike">
                <a:solidFill>
                  <a:srgbClr val="F4A261"/>
                </a:solidFill>
                <a:latin typeface="Arial"/>
                <a:ea typeface="Arial"/>
                <a:cs typeface="Arial"/>
                <a:sym typeface="Arial"/>
              </a:rPr>
              <a:t>Append #</a:t>
            </a:r>
            <a:endParaRPr b="0" i="0" sz="1350" u="none" cap="none" strike="noStrike">
              <a:solidFill>
                <a:schemeClr val="dk1"/>
              </a:solidFill>
              <a:latin typeface="Arial"/>
              <a:ea typeface="Arial"/>
              <a:cs typeface="Arial"/>
              <a:sym typeface="Arial"/>
            </a:endParaRPr>
          </a:p>
        </p:txBody>
      </p:sp>
      <p:sp>
        <p:nvSpPr>
          <p:cNvPr id="109" name="Google Shape;109;p3"/>
          <p:cNvSpPr txBox="1"/>
          <p:nvPr/>
        </p:nvSpPr>
        <p:spPr>
          <a:xfrm>
            <a:off x="5138928" y="932688"/>
            <a:ext cx="2880360" cy="29260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Augmented expression</a:t>
            </a:r>
            <a:endParaRPr b="0" i="0" sz="1800" u="none" cap="none" strike="noStrike">
              <a:solidFill>
                <a:schemeClr val="dk1"/>
              </a:solidFill>
              <a:latin typeface="Arial"/>
              <a:ea typeface="Arial"/>
              <a:cs typeface="Arial"/>
              <a:sym typeface="Arial"/>
            </a:endParaRPr>
          </a:p>
        </p:txBody>
      </p:sp>
      <p:sp>
        <p:nvSpPr>
          <p:cNvPr id="110" name="Google Shape;110;p3"/>
          <p:cNvSpPr/>
          <p:nvPr/>
        </p:nvSpPr>
        <p:spPr>
          <a:xfrm>
            <a:off x="5102352" y="1298448"/>
            <a:ext cx="3337560" cy="1051560"/>
          </a:xfrm>
          <a:prstGeom prst="roundRect">
            <a:avLst>
              <a:gd fmla="val 6957" name="adj"/>
            </a:avLst>
          </a:prstGeom>
          <a:solidFill>
            <a:srgbClr val="FFF3E6"/>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txBox="1"/>
          <p:nvPr/>
        </p:nvSpPr>
        <p:spPr>
          <a:xfrm>
            <a:off x="5358384" y="1572768"/>
            <a:ext cx="2834640"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2800"/>
              <a:buFont typeface="Arial"/>
              <a:buNone/>
            </a:pPr>
            <a:r>
              <a:rPr b="1" i="0" lang="en-US" sz="2800" u="none" cap="none" strike="noStrike">
                <a:solidFill>
                  <a:srgbClr val="C94C4C"/>
                </a:solidFill>
                <a:latin typeface="Arial"/>
                <a:ea typeface="Arial"/>
                <a:cs typeface="Arial"/>
                <a:sym typeface="Arial"/>
              </a:rPr>
              <a:t>R' = (a|b)*abb#</a:t>
            </a:r>
            <a:endParaRPr b="0" i="0" sz="2800" u="none" cap="none" strike="noStrike">
              <a:solidFill>
                <a:schemeClr val="dk1"/>
              </a:solidFill>
              <a:latin typeface="Arial"/>
              <a:ea typeface="Arial"/>
              <a:cs typeface="Arial"/>
              <a:sym typeface="Arial"/>
            </a:endParaRPr>
          </a:p>
        </p:txBody>
      </p:sp>
      <p:sp>
        <p:nvSpPr>
          <p:cNvPr id="112" name="Google Shape;112;p3"/>
          <p:cNvSpPr/>
          <p:nvPr/>
        </p:nvSpPr>
        <p:spPr>
          <a:xfrm>
            <a:off x="8732520" y="1051560"/>
            <a:ext cx="2743200" cy="1417320"/>
          </a:xfrm>
          <a:prstGeom prst="roundRect">
            <a:avLst>
              <a:gd fmla="val 5161"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8732520" y="1051560"/>
            <a:ext cx="73152" cy="1417320"/>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txBox="1"/>
          <p:nvPr/>
        </p:nvSpPr>
        <p:spPr>
          <a:xfrm>
            <a:off x="8897112" y="1161288"/>
            <a:ext cx="24688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Why append #?</a:t>
            </a:r>
            <a:endParaRPr b="0" i="0" sz="1600" u="none" cap="none" strike="noStrike">
              <a:solidFill>
                <a:schemeClr val="dk1"/>
              </a:solidFill>
              <a:latin typeface="Arial"/>
              <a:ea typeface="Arial"/>
              <a:cs typeface="Arial"/>
              <a:sym typeface="Arial"/>
            </a:endParaRPr>
          </a:p>
        </p:txBody>
      </p:sp>
      <p:sp>
        <p:nvSpPr>
          <p:cNvPr id="115" name="Google Shape;115;p3"/>
          <p:cNvSpPr txBox="1"/>
          <p:nvPr/>
        </p:nvSpPr>
        <p:spPr>
          <a:xfrm>
            <a:off x="8897112" y="1536192"/>
            <a:ext cx="2468880" cy="8503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unique end marker tells us exactly when the entire input has been matched. Any DFA state containing its position becomes accepting.</a:t>
            </a:r>
            <a:endParaRPr b="0" i="0" sz="1600" u="none" cap="none" strike="noStrike">
              <a:solidFill>
                <a:schemeClr val="dk1"/>
              </a:solidFill>
              <a:latin typeface="Arial"/>
              <a:ea typeface="Arial"/>
              <a:cs typeface="Arial"/>
              <a:sym typeface="Arial"/>
            </a:endParaRPr>
          </a:p>
        </p:txBody>
      </p:sp>
      <p:sp>
        <p:nvSpPr>
          <p:cNvPr id="116" name="Google Shape;116;p3"/>
          <p:cNvSpPr/>
          <p:nvPr/>
        </p:nvSpPr>
        <p:spPr>
          <a:xfrm>
            <a:off x="658368" y="2816352"/>
            <a:ext cx="5413248" cy="2194560"/>
          </a:xfrm>
          <a:prstGeom prst="roundRect">
            <a:avLst>
              <a:gd fmla="val 3333"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txBox="1"/>
          <p:nvPr/>
        </p:nvSpPr>
        <p:spPr>
          <a:xfrm>
            <a:off x="932688" y="3072384"/>
            <a:ext cx="484632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Language described by the original regex</a:t>
            </a:r>
            <a:endParaRPr b="0" i="0" sz="2000" u="none" cap="none" strike="noStrike">
              <a:solidFill>
                <a:schemeClr val="dk1"/>
              </a:solidFill>
              <a:latin typeface="Arial"/>
              <a:ea typeface="Arial"/>
              <a:cs typeface="Arial"/>
              <a:sym typeface="Arial"/>
            </a:endParaRPr>
          </a:p>
        </p:txBody>
      </p:sp>
      <p:sp>
        <p:nvSpPr>
          <p:cNvPr id="118" name="Google Shape;118;p3"/>
          <p:cNvSpPr txBox="1"/>
          <p:nvPr/>
        </p:nvSpPr>
        <p:spPr>
          <a:xfrm>
            <a:off x="932688" y="3566160"/>
            <a:ext cx="470916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2500"/>
              <a:buFont typeface="Arial"/>
              <a:buNone/>
            </a:pPr>
            <a:r>
              <a:rPr b="1" i="0" lang="en-US" sz="2500" u="none" cap="none" strike="noStrike">
                <a:solidFill>
                  <a:srgbClr val="2A9D8F"/>
                </a:solidFill>
                <a:latin typeface="Arial"/>
                <a:ea typeface="Arial"/>
                <a:cs typeface="Arial"/>
                <a:sym typeface="Arial"/>
              </a:rPr>
              <a:t>All strings over {a,b} that end with abb</a:t>
            </a:r>
            <a:endParaRPr b="0" i="0" sz="2500" u="none" cap="none" strike="noStrike">
              <a:solidFill>
                <a:schemeClr val="dk1"/>
              </a:solidFill>
              <a:latin typeface="Arial"/>
              <a:ea typeface="Arial"/>
              <a:cs typeface="Arial"/>
              <a:sym typeface="Arial"/>
            </a:endParaRPr>
          </a:p>
        </p:txBody>
      </p:sp>
      <p:sp>
        <p:nvSpPr>
          <p:cNvPr id="119" name="Google Shape;119;p3"/>
          <p:cNvSpPr/>
          <p:nvPr/>
        </p:nvSpPr>
        <p:spPr>
          <a:xfrm>
            <a:off x="960120" y="4224528"/>
            <a:ext cx="786384"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txBox="1"/>
          <p:nvPr/>
        </p:nvSpPr>
        <p:spPr>
          <a:xfrm>
            <a:off x="1005840" y="4233672"/>
            <a:ext cx="694944"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400"/>
              <a:buFont typeface="Arial"/>
              <a:buNone/>
            </a:pPr>
            <a:r>
              <a:rPr b="1" i="0" lang="en-US" sz="1400" u="none" cap="none" strike="noStrike">
                <a:solidFill>
                  <a:srgbClr val="2A9D8F"/>
                </a:solidFill>
                <a:latin typeface="Arial"/>
                <a:ea typeface="Arial"/>
                <a:cs typeface="Arial"/>
                <a:sym typeface="Arial"/>
              </a:rPr>
              <a:t>abb</a:t>
            </a:r>
            <a:endParaRPr b="0" i="0" sz="1400" u="none" cap="none" strike="noStrike">
              <a:solidFill>
                <a:schemeClr val="dk1"/>
              </a:solidFill>
              <a:latin typeface="Arial"/>
              <a:ea typeface="Arial"/>
              <a:cs typeface="Arial"/>
              <a:sym typeface="Arial"/>
            </a:endParaRPr>
          </a:p>
        </p:txBody>
      </p:sp>
      <p:sp>
        <p:nvSpPr>
          <p:cNvPr id="121" name="Google Shape;121;p3"/>
          <p:cNvSpPr/>
          <p:nvPr/>
        </p:nvSpPr>
        <p:spPr>
          <a:xfrm>
            <a:off x="1865376" y="4224528"/>
            <a:ext cx="96012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1911096" y="4233672"/>
            <a:ext cx="8686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400"/>
              <a:buFont typeface="Arial"/>
              <a:buNone/>
            </a:pPr>
            <a:r>
              <a:rPr b="1" i="0" lang="en-US" sz="1400" u="none" cap="none" strike="noStrike">
                <a:solidFill>
                  <a:srgbClr val="2A9D8F"/>
                </a:solidFill>
                <a:latin typeface="Arial"/>
                <a:ea typeface="Arial"/>
                <a:cs typeface="Arial"/>
                <a:sym typeface="Arial"/>
              </a:rPr>
              <a:t>aabb</a:t>
            </a:r>
            <a:endParaRPr b="0" i="0" sz="1400" u="none" cap="none" strike="noStrike">
              <a:solidFill>
                <a:schemeClr val="dk1"/>
              </a:solidFill>
              <a:latin typeface="Arial"/>
              <a:ea typeface="Arial"/>
              <a:cs typeface="Arial"/>
              <a:sym typeface="Arial"/>
            </a:endParaRPr>
          </a:p>
        </p:txBody>
      </p:sp>
      <p:sp>
        <p:nvSpPr>
          <p:cNvPr id="123" name="Google Shape;123;p3"/>
          <p:cNvSpPr/>
          <p:nvPr/>
        </p:nvSpPr>
        <p:spPr>
          <a:xfrm>
            <a:off x="2953512" y="4224528"/>
            <a:ext cx="96012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txBox="1"/>
          <p:nvPr/>
        </p:nvSpPr>
        <p:spPr>
          <a:xfrm>
            <a:off x="2999232" y="4233672"/>
            <a:ext cx="8686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400"/>
              <a:buFont typeface="Arial"/>
              <a:buNone/>
            </a:pPr>
            <a:r>
              <a:rPr b="1" i="0" lang="en-US" sz="1400" u="none" cap="none" strike="noStrike">
                <a:solidFill>
                  <a:srgbClr val="2A9D8F"/>
                </a:solidFill>
                <a:latin typeface="Arial"/>
                <a:ea typeface="Arial"/>
                <a:cs typeface="Arial"/>
                <a:sym typeface="Arial"/>
              </a:rPr>
              <a:t>babb</a:t>
            </a:r>
            <a:endParaRPr b="0" i="0" sz="1400" u="none" cap="none" strike="noStrike">
              <a:solidFill>
                <a:schemeClr val="dk1"/>
              </a:solidFill>
              <a:latin typeface="Arial"/>
              <a:ea typeface="Arial"/>
              <a:cs typeface="Arial"/>
              <a:sym typeface="Arial"/>
            </a:endParaRPr>
          </a:p>
        </p:txBody>
      </p:sp>
      <p:sp>
        <p:nvSpPr>
          <p:cNvPr id="125" name="Google Shape;125;p3"/>
          <p:cNvSpPr/>
          <p:nvPr/>
        </p:nvSpPr>
        <p:spPr>
          <a:xfrm>
            <a:off x="4041648" y="4224528"/>
            <a:ext cx="123444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txBox="1"/>
          <p:nvPr/>
        </p:nvSpPr>
        <p:spPr>
          <a:xfrm>
            <a:off x="4087368" y="4233672"/>
            <a:ext cx="11430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400"/>
              <a:buFont typeface="Arial"/>
              <a:buNone/>
            </a:pPr>
            <a:r>
              <a:rPr b="1" i="0" lang="en-US" sz="1400" u="none" cap="none" strike="noStrike">
                <a:solidFill>
                  <a:srgbClr val="2A9D8F"/>
                </a:solidFill>
                <a:latin typeface="Arial"/>
                <a:ea typeface="Arial"/>
                <a:cs typeface="Arial"/>
                <a:sym typeface="Arial"/>
              </a:rPr>
              <a:t>abababb</a:t>
            </a:r>
            <a:endParaRPr b="0" i="0" sz="1400" u="none" cap="none" strike="noStrike">
              <a:solidFill>
                <a:schemeClr val="dk1"/>
              </a:solidFill>
              <a:latin typeface="Arial"/>
              <a:ea typeface="Arial"/>
              <a:cs typeface="Arial"/>
              <a:sym typeface="Arial"/>
            </a:endParaRPr>
          </a:p>
        </p:txBody>
      </p:sp>
      <p:sp>
        <p:nvSpPr>
          <p:cNvPr id="127" name="Google Shape;127;p3"/>
          <p:cNvSpPr/>
          <p:nvPr/>
        </p:nvSpPr>
        <p:spPr>
          <a:xfrm>
            <a:off x="6355080" y="2852928"/>
            <a:ext cx="5120640" cy="1188720"/>
          </a:xfrm>
          <a:prstGeom prst="roundRect">
            <a:avLst>
              <a:gd fmla="val 6154"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6355080" y="2852928"/>
            <a:ext cx="73152" cy="118872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txBox="1"/>
          <p:nvPr/>
        </p:nvSpPr>
        <p:spPr>
          <a:xfrm>
            <a:off x="6519672" y="2962656"/>
            <a:ext cx="48463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Important</a:t>
            </a:r>
            <a:endParaRPr b="0" i="0" sz="1600" u="none" cap="none" strike="noStrike">
              <a:solidFill>
                <a:schemeClr val="dk1"/>
              </a:solidFill>
              <a:latin typeface="Arial"/>
              <a:ea typeface="Arial"/>
              <a:cs typeface="Arial"/>
              <a:sym typeface="Arial"/>
            </a:endParaRPr>
          </a:p>
        </p:txBody>
      </p:sp>
      <p:sp>
        <p:nvSpPr>
          <p:cNvPr id="130" name="Google Shape;130;p3"/>
          <p:cNvSpPr txBox="1"/>
          <p:nvPr/>
        </p:nvSpPr>
        <p:spPr>
          <a:xfrm>
            <a:off x="6519672" y="3337560"/>
            <a:ext cx="4846320" cy="6217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 is used only for construction. It is not part of the input alphabet, so the DFA has transitions only on a and b.</a:t>
            </a:r>
            <a:endParaRPr b="0" i="0" sz="1600" u="none" cap="none" strike="noStrike">
              <a:solidFill>
                <a:schemeClr val="dk1"/>
              </a:solidFill>
              <a:latin typeface="Arial"/>
              <a:ea typeface="Arial"/>
              <a:cs typeface="Arial"/>
              <a:sym typeface="Arial"/>
            </a:endParaRPr>
          </a:p>
        </p:txBody>
      </p:sp>
      <p:sp>
        <p:nvSpPr>
          <p:cNvPr id="131" name="Google Shape;131;p3"/>
          <p:cNvSpPr/>
          <p:nvPr/>
        </p:nvSpPr>
        <p:spPr>
          <a:xfrm>
            <a:off x="6355080" y="4270248"/>
            <a:ext cx="5120640" cy="868680"/>
          </a:xfrm>
          <a:prstGeom prst="roundRect">
            <a:avLst>
              <a:gd fmla="val 8421"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6355080" y="4270248"/>
            <a:ext cx="73152" cy="86868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txBox="1"/>
          <p:nvPr/>
        </p:nvSpPr>
        <p:spPr>
          <a:xfrm>
            <a:off x="6519672" y="4379976"/>
            <a:ext cx="48463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Teaching check</a:t>
            </a:r>
            <a:endParaRPr b="0" i="0" sz="1600" u="none" cap="none" strike="noStrike">
              <a:solidFill>
                <a:schemeClr val="dk1"/>
              </a:solidFill>
              <a:latin typeface="Arial"/>
              <a:ea typeface="Arial"/>
              <a:cs typeface="Arial"/>
              <a:sym typeface="Arial"/>
            </a:endParaRPr>
          </a:p>
        </p:txBody>
      </p:sp>
      <p:sp>
        <p:nvSpPr>
          <p:cNvPr id="134" name="Google Shape;134;p3"/>
          <p:cNvSpPr txBox="1"/>
          <p:nvPr/>
        </p:nvSpPr>
        <p:spPr>
          <a:xfrm>
            <a:off x="6519672" y="4754880"/>
            <a:ext cx="484632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Ask: Which strings are in the input alphabet? Answer: a and b only.</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39" name="Shape 139"/>
        <p:cNvGrpSpPr/>
        <p:nvPr/>
      </p:nvGrpSpPr>
      <p:grpSpPr>
        <a:xfrm>
          <a:off x="0" y="0"/>
          <a:ext cx="0" cy="0"/>
          <a:chOff x="0" y="0"/>
          <a:chExt cx="0" cy="0"/>
        </a:xfrm>
      </p:grpSpPr>
      <p:sp>
        <p:nvSpPr>
          <p:cNvPr id="140" name="Google Shape;140;p4"/>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Parse the expression and number the leaves</a:t>
            </a:r>
            <a:endParaRPr b="0" i="0" sz="2800" u="none" cap="none" strike="noStrike">
              <a:solidFill>
                <a:schemeClr val="dk1"/>
              </a:solidFill>
              <a:latin typeface="Arial"/>
              <a:ea typeface="Arial"/>
              <a:cs typeface="Arial"/>
              <a:sym typeface="Arial"/>
            </a:endParaRPr>
          </a:p>
        </p:txBody>
      </p:sp>
      <p:sp>
        <p:nvSpPr>
          <p:cNvPr id="142" name="Google Shape;142;p4"/>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1</a:t>
            </a:r>
            <a:endParaRPr b="0" i="0" sz="1150" u="none" cap="none" strike="noStrike">
              <a:solidFill>
                <a:schemeClr val="dk1"/>
              </a:solidFill>
              <a:latin typeface="Arial"/>
              <a:ea typeface="Arial"/>
              <a:cs typeface="Arial"/>
              <a:sym typeface="Arial"/>
            </a:endParaRPr>
          </a:p>
        </p:txBody>
      </p:sp>
      <p:sp>
        <p:nvSpPr>
          <p:cNvPr id="144" name="Google Shape;144;p4"/>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45" name="Google Shape;145;p4"/>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4</a:t>
            </a:r>
            <a:endParaRPr b="0" i="0" sz="950" u="none" cap="none" strike="noStrike">
              <a:solidFill>
                <a:schemeClr val="dk1"/>
              </a:solidFill>
              <a:latin typeface="Arial"/>
              <a:ea typeface="Arial"/>
              <a:cs typeface="Arial"/>
              <a:sym typeface="Arial"/>
            </a:endParaRPr>
          </a:p>
        </p:txBody>
      </p:sp>
      <p:sp>
        <p:nvSpPr>
          <p:cNvPr id="146" name="Google Shape;146;p4"/>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48" name="Google Shape;148;p4"/>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50" name="Google Shape;150;p4"/>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52" name="Google Shape;152;p4"/>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54" name="Google Shape;154;p4"/>
          <p:cNvSpPr/>
          <p:nvPr/>
        </p:nvSpPr>
        <p:spPr>
          <a:xfrm>
            <a:off x="658368" y="932688"/>
            <a:ext cx="5120640" cy="2057400"/>
          </a:xfrm>
          <a:prstGeom prst="roundRect">
            <a:avLst>
              <a:gd fmla="val 3556"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txBox="1"/>
          <p:nvPr/>
        </p:nvSpPr>
        <p:spPr>
          <a:xfrm>
            <a:off x="896112" y="1170432"/>
            <a:ext cx="448056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Operator precedence</a:t>
            </a:r>
            <a:endParaRPr b="0" i="0" sz="2000" u="none" cap="none" strike="noStrike">
              <a:solidFill>
                <a:schemeClr val="dk1"/>
              </a:solidFill>
              <a:latin typeface="Arial"/>
              <a:ea typeface="Arial"/>
              <a:cs typeface="Arial"/>
              <a:sym typeface="Arial"/>
            </a:endParaRPr>
          </a:p>
        </p:txBody>
      </p:sp>
      <p:sp>
        <p:nvSpPr>
          <p:cNvPr id="156" name="Google Shape;156;p4"/>
          <p:cNvSpPr/>
          <p:nvPr/>
        </p:nvSpPr>
        <p:spPr>
          <a:xfrm>
            <a:off x="896112" y="1627632"/>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txBox="1"/>
          <p:nvPr/>
        </p:nvSpPr>
        <p:spPr>
          <a:xfrm>
            <a:off x="896112" y="1627632"/>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58" name="Google Shape;158;p4"/>
          <p:cNvSpPr txBox="1"/>
          <p:nvPr/>
        </p:nvSpPr>
        <p:spPr>
          <a:xfrm>
            <a:off x="1426464" y="1618488"/>
            <a:ext cx="376732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Parentheses</a:t>
            </a:r>
            <a:endParaRPr b="0" i="0" sz="1800" u="none" cap="none" strike="noStrike">
              <a:solidFill>
                <a:schemeClr val="dk1"/>
              </a:solidFill>
              <a:latin typeface="Arial"/>
              <a:ea typeface="Arial"/>
              <a:cs typeface="Arial"/>
              <a:sym typeface="Arial"/>
            </a:endParaRPr>
          </a:p>
        </p:txBody>
      </p:sp>
      <p:sp>
        <p:nvSpPr>
          <p:cNvPr id="159" name="Google Shape;159;p4"/>
          <p:cNvSpPr txBox="1"/>
          <p:nvPr/>
        </p:nvSpPr>
        <p:spPr>
          <a:xfrm>
            <a:off x="1426464" y="1892808"/>
            <a:ext cx="376732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Evaluate (a|b) first.</a:t>
            </a:r>
            <a:endParaRPr b="0" i="0" sz="1500" u="none" cap="none" strike="noStrike">
              <a:solidFill>
                <a:schemeClr val="dk1"/>
              </a:solidFill>
              <a:latin typeface="Arial"/>
              <a:ea typeface="Arial"/>
              <a:cs typeface="Arial"/>
              <a:sym typeface="Arial"/>
            </a:endParaRPr>
          </a:p>
        </p:txBody>
      </p:sp>
      <p:sp>
        <p:nvSpPr>
          <p:cNvPr id="160" name="Google Shape;160;p4"/>
          <p:cNvSpPr/>
          <p:nvPr/>
        </p:nvSpPr>
        <p:spPr>
          <a:xfrm>
            <a:off x="896112" y="2267712"/>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txBox="1"/>
          <p:nvPr/>
        </p:nvSpPr>
        <p:spPr>
          <a:xfrm>
            <a:off x="896112" y="2267712"/>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2</a:t>
            </a:r>
            <a:endParaRPr b="0" i="0" sz="1700" u="none" cap="none" strike="noStrike">
              <a:solidFill>
                <a:schemeClr val="dk1"/>
              </a:solidFill>
              <a:latin typeface="Arial"/>
              <a:ea typeface="Arial"/>
              <a:cs typeface="Arial"/>
              <a:sym typeface="Arial"/>
            </a:endParaRPr>
          </a:p>
        </p:txBody>
      </p:sp>
      <p:sp>
        <p:nvSpPr>
          <p:cNvPr id="162" name="Google Shape;162;p4"/>
          <p:cNvSpPr txBox="1"/>
          <p:nvPr/>
        </p:nvSpPr>
        <p:spPr>
          <a:xfrm>
            <a:off x="1426464" y="2258568"/>
            <a:ext cx="376732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Kleene star</a:t>
            </a:r>
            <a:endParaRPr b="0" i="0" sz="1800" u="none" cap="none" strike="noStrike">
              <a:solidFill>
                <a:schemeClr val="dk1"/>
              </a:solidFill>
              <a:latin typeface="Arial"/>
              <a:ea typeface="Arial"/>
              <a:cs typeface="Arial"/>
              <a:sym typeface="Arial"/>
            </a:endParaRPr>
          </a:p>
        </p:txBody>
      </p:sp>
      <p:sp>
        <p:nvSpPr>
          <p:cNvPr id="163" name="Google Shape;163;p4"/>
          <p:cNvSpPr txBox="1"/>
          <p:nvPr/>
        </p:nvSpPr>
        <p:spPr>
          <a:xfrm>
            <a:off x="1426464" y="2532888"/>
            <a:ext cx="376732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Apply * to the complete parenthesized expression.</a:t>
            </a:r>
            <a:endParaRPr b="0" i="0" sz="1500" u="none" cap="none" strike="noStrike">
              <a:solidFill>
                <a:schemeClr val="dk1"/>
              </a:solidFill>
              <a:latin typeface="Arial"/>
              <a:ea typeface="Arial"/>
              <a:cs typeface="Arial"/>
              <a:sym typeface="Arial"/>
            </a:endParaRPr>
          </a:p>
        </p:txBody>
      </p:sp>
      <p:sp>
        <p:nvSpPr>
          <p:cNvPr id="164" name="Google Shape;164;p4"/>
          <p:cNvSpPr/>
          <p:nvPr/>
        </p:nvSpPr>
        <p:spPr>
          <a:xfrm>
            <a:off x="896112" y="2907792"/>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txBox="1"/>
          <p:nvPr/>
        </p:nvSpPr>
        <p:spPr>
          <a:xfrm>
            <a:off x="896112" y="2907792"/>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3</a:t>
            </a:r>
            <a:endParaRPr b="0" i="0" sz="1700" u="none" cap="none" strike="noStrike">
              <a:solidFill>
                <a:schemeClr val="dk1"/>
              </a:solidFill>
              <a:latin typeface="Arial"/>
              <a:ea typeface="Arial"/>
              <a:cs typeface="Arial"/>
              <a:sym typeface="Arial"/>
            </a:endParaRPr>
          </a:p>
        </p:txBody>
      </p:sp>
      <p:sp>
        <p:nvSpPr>
          <p:cNvPr id="166" name="Google Shape;166;p4"/>
          <p:cNvSpPr txBox="1"/>
          <p:nvPr/>
        </p:nvSpPr>
        <p:spPr>
          <a:xfrm>
            <a:off x="1426464" y="2898648"/>
            <a:ext cx="376732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Concatenation</a:t>
            </a:r>
            <a:endParaRPr b="0" i="0" sz="1800" u="none" cap="none" strike="noStrike">
              <a:solidFill>
                <a:schemeClr val="dk1"/>
              </a:solidFill>
              <a:latin typeface="Arial"/>
              <a:ea typeface="Arial"/>
              <a:cs typeface="Arial"/>
              <a:sym typeface="Arial"/>
            </a:endParaRPr>
          </a:p>
        </p:txBody>
      </p:sp>
      <p:sp>
        <p:nvSpPr>
          <p:cNvPr id="167" name="Google Shape;167;p4"/>
          <p:cNvSpPr txBox="1"/>
          <p:nvPr/>
        </p:nvSpPr>
        <p:spPr>
          <a:xfrm>
            <a:off x="1426464" y="3172968"/>
            <a:ext cx="376732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Then concatenate a, b, b, and # from left to right.</a:t>
            </a:r>
            <a:endParaRPr b="0" i="0" sz="1500" u="none" cap="none" strike="noStrike">
              <a:solidFill>
                <a:schemeClr val="dk1"/>
              </a:solidFill>
              <a:latin typeface="Arial"/>
              <a:ea typeface="Arial"/>
              <a:cs typeface="Arial"/>
              <a:sym typeface="Arial"/>
            </a:endParaRPr>
          </a:p>
        </p:txBody>
      </p:sp>
      <p:sp>
        <p:nvSpPr>
          <p:cNvPr id="168" name="Google Shape;168;p4"/>
          <p:cNvSpPr/>
          <p:nvPr/>
        </p:nvSpPr>
        <p:spPr>
          <a:xfrm>
            <a:off x="658368" y="3794760"/>
            <a:ext cx="5120640" cy="1298448"/>
          </a:xfrm>
          <a:prstGeom prst="roundRect">
            <a:avLst>
              <a:gd fmla="val 5634" name="adj"/>
            </a:avLst>
          </a:prstGeom>
          <a:solidFill>
            <a:srgbClr val="EDF6FC"/>
          </a:solidFill>
          <a:ln cap="flat" cmpd="sng" w="12700">
            <a:solidFill>
              <a:srgbClr val="1F75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txBox="1"/>
          <p:nvPr/>
        </p:nvSpPr>
        <p:spPr>
          <a:xfrm>
            <a:off x="896112" y="4005072"/>
            <a:ext cx="17373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75BB"/>
              </a:buClr>
              <a:buSzPts val="1700"/>
              <a:buFont typeface="Arial"/>
              <a:buNone/>
            </a:pPr>
            <a:r>
              <a:rPr b="1" i="0" lang="en-US" sz="1700" u="none" cap="none" strike="noStrike">
                <a:solidFill>
                  <a:srgbClr val="1F75BB"/>
                </a:solidFill>
                <a:latin typeface="Arial"/>
                <a:ea typeface="Arial"/>
                <a:cs typeface="Arial"/>
                <a:sym typeface="Arial"/>
              </a:rPr>
              <a:t>Explicit structure</a:t>
            </a:r>
            <a:endParaRPr b="0" i="0" sz="1700" u="none" cap="none" strike="noStrike">
              <a:solidFill>
                <a:schemeClr val="dk1"/>
              </a:solidFill>
              <a:latin typeface="Arial"/>
              <a:ea typeface="Arial"/>
              <a:cs typeface="Arial"/>
              <a:sym typeface="Arial"/>
            </a:endParaRPr>
          </a:p>
        </p:txBody>
      </p:sp>
      <p:sp>
        <p:nvSpPr>
          <p:cNvPr id="170" name="Google Shape;170;p4"/>
          <p:cNvSpPr txBox="1"/>
          <p:nvPr/>
        </p:nvSpPr>
        <p:spPr>
          <a:xfrm>
            <a:off x="896112" y="4407408"/>
            <a:ext cx="452628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200"/>
              <a:buFont typeface="Arial"/>
              <a:buNone/>
            </a:pPr>
            <a:r>
              <a:rPr b="1" i="0" lang="en-US" sz="2200" u="none" cap="none" strike="noStrike">
                <a:solidFill>
                  <a:srgbClr val="153A73"/>
                </a:solidFill>
                <a:latin typeface="Arial"/>
                <a:ea typeface="Arial"/>
                <a:cs typeface="Arial"/>
                <a:sym typeface="Arial"/>
              </a:rPr>
              <a:t>(((((a|b)*)·a)·b)·b)·#)</a:t>
            </a:r>
            <a:endParaRPr b="0" i="0" sz="2200" u="none" cap="none" strike="noStrike">
              <a:solidFill>
                <a:schemeClr val="dk1"/>
              </a:solidFill>
              <a:latin typeface="Arial"/>
              <a:ea typeface="Arial"/>
              <a:cs typeface="Arial"/>
              <a:sym typeface="Arial"/>
            </a:endParaRPr>
          </a:p>
        </p:txBody>
      </p:sp>
      <p:sp>
        <p:nvSpPr>
          <p:cNvPr id="171" name="Google Shape;171;p4"/>
          <p:cNvSpPr/>
          <p:nvPr/>
        </p:nvSpPr>
        <p:spPr>
          <a:xfrm>
            <a:off x="6126480" y="932688"/>
            <a:ext cx="5394960" cy="4160520"/>
          </a:xfrm>
          <a:prstGeom prst="roundRect">
            <a:avLst>
              <a:gd fmla="val 1758"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txBox="1"/>
          <p:nvPr/>
        </p:nvSpPr>
        <p:spPr>
          <a:xfrm>
            <a:off x="6419088" y="1170432"/>
            <a:ext cx="470916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Number only the non-ε leaves</a:t>
            </a:r>
            <a:endParaRPr b="0" i="0" sz="2000" u="none" cap="none" strike="noStrike">
              <a:solidFill>
                <a:schemeClr val="dk1"/>
              </a:solidFill>
              <a:latin typeface="Arial"/>
              <a:ea typeface="Arial"/>
              <a:cs typeface="Arial"/>
              <a:sym typeface="Arial"/>
            </a:endParaRPr>
          </a:p>
        </p:txBody>
      </p:sp>
      <p:sp>
        <p:nvSpPr>
          <p:cNvPr id="173" name="Google Shape;173;p4"/>
          <p:cNvSpPr/>
          <p:nvPr/>
        </p:nvSpPr>
        <p:spPr>
          <a:xfrm>
            <a:off x="6446520" y="1719072"/>
            <a:ext cx="713232"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txBox="1"/>
          <p:nvPr/>
        </p:nvSpPr>
        <p:spPr>
          <a:xfrm>
            <a:off x="6492240" y="1728216"/>
            <a:ext cx="62179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a₁</a:t>
            </a:r>
            <a:endParaRPr b="0" i="0" sz="1600" u="none" cap="none" strike="noStrike">
              <a:solidFill>
                <a:schemeClr val="dk1"/>
              </a:solidFill>
              <a:latin typeface="Arial"/>
              <a:ea typeface="Arial"/>
              <a:cs typeface="Arial"/>
              <a:sym typeface="Arial"/>
            </a:endParaRPr>
          </a:p>
        </p:txBody>
      </p:sp>
      <p:sp>
        <p:nvSpPr>
          <p:cNvPr id="175" name="Google Shape;175;p4"/>
          <p:cNvSpPr txBox="1"/>
          <p:nvPr/>
        </p:nvSpPr>
        <p:spPr>
          <a:xfrm>
            <a:off x="7287768" y="1709928"/>
            <a:ext cx="1481328" cy="384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450"/>
              <a:buFont typeface="Arial"/>
              <a:buNone/>
            </a:pPr>
            <a:r>
              <a:rPr b="0" i="0" lang="en-US" sz="1450" u="none" cap="none" strike="noStrike">
                <a:solidFill>
                  <a:srgbClr val="1D2A39"/>
                </a:solidFill>
                <a:latin typeface="Arial"/>
                <a:ea typeface="Arial"/>
                <a:cs typeface="Arial"/>
                <a:sym typeface="Arial"/>
              </a:rPr>
              <a:t>first a inside (a|b)</a:t>
            </a:r>
            <a:endParaRPr b="0" i="0" sz="1450" u="none" cap="none" strike="noStrike">
              <a:solidFill>
                <a:schemeClr val="dk1"/>
              </a:solidFill>
              <a:latin typeface="Arial"/>
              <a:ea typeface="Arial"/>
              <a:cs typeface="Arial"/>
              <a:sym typeface="Arial"/>
            </a:endParaRPr>
          </a:p>
        </p:txBody>
      </p:sp>
      <p:sp>
        <p:nvSpPr>
          <p:cNvPr id="176" name="Google Shape;176;p4"/>
          <p:cNvSpPr/>
          <p:nvPr/>
        </p:nvSpPr>
        <p:spPr>
          <a:xfrm>
            <a:off x="6446520" y="2688336"/>
            <a:ext cx="713232"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
          <p:cNvSpPr txBox="1"/>
          <p:nvPr/>
        </p:nvSpPr>
        <p:spPr>
          <a:xfrm>
            <a:off x="6492240" y="2697480"/>
            <a:ext cx="62179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b₂</a:t>
            </a:r>
            <a:endParaRPr b="0" i="0" sz="1600" u="none" cap="none" strike="noStrike">
              <a:solidFill>
                <a:schemeClr val="dk1"/>
              </a:solidFill>
              <a:latin typeface="Arial"/>
              <a:ea typeface="Arial"/>
              <a:cs typeface="Arial"/>
              <a:sym typeface="Arial"/>
            </a:endParaRPr>
          </a:p>
        </p:txBody>
      </p:sp>
      <p:sp>
        <p:nvSpPr>
          <p:cNvPr id="178" name="Google Shape;178;p4"/>
          <p:cNvSpPr txBox="1"/>
          <p:nvPr/>
        </p:nvSpPr>
        <p:spPr>
          <a:xfrm>
            <a:off x="7287768" y="2679192"/>
            <a:ext cx="1481328" cy="384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450"/>
              <a:buFont typeface="Arial"/>
              <a:buNone/>
            </a:pPr>
            <a:r>
              <a:rPr b="0" i="0" lang="en-US" sz="1450" u="none" cap="none" strike="noStrike">
                <a:solidFill>
                  <a:srgbClr val="1D2A39"/>
                </a:solidFill>
                <a:latin typeface="Arial"/>
                <a:ea typeface="Arial"/>
                <a:cs typeface="Arial"/>
                <a:sym typeface="Arial"/>
              </a:rPr>
              <a:t>first b inside (a|b)</a:t>
            </a:r>
            <a:endParaRPr b="0" i="0" sz="1450" u="none" cap="none" strike="noStrike">
              <a:solidFill>
                <a:schemeClr val="dk1"/>
              </a:solidFill>
              <a:latin typeface="Arial"/>
              <a:ea typeface="Arial"/>
              <a:cs typeface="Arial"/>
              <a:sym typeface="Arial"/>
            </a:endParaRPr>
          </a:p>
        </p:txBody>
      </p:sp>
      <p:sp>
        <p:nvSpPr>
          <p:cNvPr id="179" name="Google Shape;179;p4"/>
          <p:cNvSpPr/>
          <p:nvPr/>
        </p:nvSpPr>
        <p:spPr>
          <a:xfrm>
            <a:off x="6446520" y="3657600"/>
            <a:ext cx="713232"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txBox="1"/>
          <p:nvPr/>
        </p:nvSpPr>
        <p:spPr>
          <a:xfrm>
            <a:off x="6492240" y="3666744"/>
            <a:ext cx="62179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a₃</a:t>
            </a:r>
            <a:endParaRPr b="0" i="0" sz="1600" u="none" cap="none" strike="noStrike">
              <a:solidFill>
                <a:schemeClr val="dk1"/>
              </a:solidFill>
              <a:latin typeface="Arial"/>
              <a:ea typeface="Arial"/>
              <a:cs typeface="Arial"/>
              <a:sym typeface="Arial"/>
            </a:endParaRPr>
          </a:p>
        </p:txBody>
      </p:sp>
      <p:sp>
        <p:nvSpPr>
          <p:cNvPr id="181" name="Google Shape;181;p4"/>
          <p:cNvSpPr txBox="1"/>
          <p:nvPr/>
        </p:nvSpPr>
        <p:spPr>
          <a:xfrm>
            <a:off x="7287768" y="3648456"/>
            <a:ext cx="1481328" cy="384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450"/>
              <a:buFont typeface="Arial"/>
              <a:buNone/>
            </a:pPr>
            <a:r>
              <a:rPr b="0" i="0" lang="en-US" sz="1450" u="none" cap="none" strike="noStrike">
                <a:solidFill>
                  <a:srgbClr val="1D2A39"/>
                </a:solidFill>
                <a:latin typeface="Arial"/>
                <a:ea typeface="Arial"/>
                <a:cs typeface="Arial"/>
                <a:sym typeface="Arial"/>
              </a:rPr>
              <a:t>a after the star</a:t>
            </a:r>
            <a:endParaRPr b="0" i="0" sz="1450" u="none" cap="none" strike="noStrike">
              <a:solidFill>
                <a:schemeClr val="dk1"/>
              </a:solidFill>
              <a:latin typeface="Arial"/>
              <a:ea typeface="Arial"/>
              <a:cs typeface="Arial"/>
              <a:sym typeface="Arial"/>
            </a:endParaRPr>
          </a:p>
        </p:txBody>
      </p:sp>
      <p:sp>
        <p:nvSpPr>
          <p:cNvPr id="182" name="Google Shape;182;p4"/>
          <p:cNvSpPr/>
          <p:nvPr/>
        </p:nvSpPr>
        <p:spPr>
          <a:xfrm>
            <a:off x="8869680" y="1719072"/>
            <a:ext cx="713232"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txBox="1"/>
          <p:nvPr/>
        </p:nvSpPr>
        <p:spPr>
          <a:xfrm>
            <a:off x="8915400" y="1728216"/>
            <a:ext cx="62179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b₄</a:t>
            </a:r>
            <a:endParaRPr b="0" i="0" sz="1600" u="none" cap="none" strike="noStrike">
              <a:solidFill>
                <a:schemeClr val="dk1"/>
              </a:solidFill>
              <a:latin typeface="Arial"/>
              <a:ea typeface="Arial"/>
              <a:cs typeface="Arial"/>
              <a:sym typeface="Arial"/>
            </a:endParaRPr>
          </a:p>
        </p:txBody>
      </p:sp>
      <p:sp>
        <p:nvSpPr>
          <p:cNvPr id="184" name="Google Shape;184;p4"/>
          <p:cNvSpPr txBox="1"/>
          <p:nvPr/>
        </p:nvSpPr>
        <p:spPr>
          <a:xfrm>
            <a:off x="9710928" y="1709928"/>
            <a:ext cx="1481328" cy="384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450"/>
              <a:buFont typeface="Arial"/>
              <a:buNone/>
            </a:pPr>
            <a:r>
              <a:rPr b="0" i="0" lang="en-US" sz="1450" u="none" cap="none" strike="noStrike">
                <a:solidFill>
                  <a:srgbClr val="1D2A39"/>
                </a:solidFill>
                <a:latin typeface="Arial"/>
                <a:ea typeface="Arial"/>
                <a:cs typeface="Arial"/>
                <a:sym typeface="Arial"/>
              </a:rPr>
              <a:t>first fixed b</a:t>
            </a:r>
            <a:endParaRPr b="0" i="0" sz="1450" u="none" cap="none" strike="noStrike">
              <a:solidFill>
                <a:schemeClr val="dk1"/>
              </a:solidFill>
              <a:latin typeface="Arial"/>
              <a:ea typeface="Arial"/>
              <a:cs typeface="Arial"/>
              <a:sym typeface="Arial"/>
            </a:endParaRPr>
          </a:p>
        </p:txBody>
      </p:sp>
      <p:sp>
        <p:nvSpPr>
          <p:cNvPr id="185" name="Google Shape;185;p4"/>
          <p:cNvSpPr/>
          <p:nvPr/>
        </p:nvSpPr>
        <p:spPr>
          <a:xfrm>
            <a:off x="8869680" y="2688336"/>
            <a:ext cx="713232"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txBox="1"/>
          <p:nvPr/>
        </p:nvSpPr>
        <p:spPr>
          <a:xfrm>
            <a:off x="8915400" y="2697480"/>
            <a:ext cx="62179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b₅</a:t>
            </a:r>
            <a:endParaRPr b="0" i="0" sz="1600" u="none" cap="none" strike="noStrike">
              <a:solidFill>
                <a:schemeClr val="dk1"/>
              </a:solidFill>
              <a:latin typeface="Arial"/>
              <a:ea typeface="Arial"/>
              <a:cs typeface="Arial"/>
              <a:sym typeface="Arial"/>
            </a:endParaRPr>
          </a:p>
        </p:txBody>
      </p:sp>
      <p:sp>
        <p:nvSpPr>
          <p:cNvPr id="187" name="Google Shape;187;p4"/>
          <p:cNvSpPr txBox="1"/>
          <p:nvPr/>
        </p:nvSpPr>
        <p:spPr>
          <a:xfrm>
            <a:off x="9710928" y="2679192"/>
            <a:ext cx="1481328" cy="384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450"/>
              <a:buFont typeface="Arial"/>
              <a:buNone/>
            </a:pPr>
            <a:r>
              <a:rPr b="0" i="0" lang="en-US" sz="1450" u="none" cap="none" strike="noStrike">
                <a:solidFill>
                  <a:srgbClr val="1D2A39"/>
                </a:solidFill>
                <a:latin typeface="Arial"/>
                <a:ea typeface="Arial"/>
                <a:cs typeface="Arial"/>
                <a:sym typeface="Arial"/>
              </a:rPr>
              <a:t>second fixed b</a:t>
            </a:r>
            <a:endParaRPr b="0" i="0" sz="1450" u="none" cap="none" strike="noStrike">
              <a:solidFill>
                <a:schemeClr val="dk1"/>
              </a:solidFill>
              <a:latin typeface="Arial"/>
              <a:ea typeface="Arial"/>
              <a:cs typeface="Arial"/>
              <a:sym typeface="Arial"/>
            </a:endParaRPr>
          </a:p>
        </p:txBody>
      </p:sp>
      <p:sp>
        <p:nvSpPr>
          <p:cNvPr id="188" name="Google Shape;188;p4"/>
          <p:cNvSpPr/>
          <p:nvPr/>
        </p:nvSpPr>
        <p:spPr>
          <a:xfrm>
            <a:off x="8869680" y="3657600"/>
            <a:ext cx="713232" cy="310896"/>
          </a:xfrm>
          <a:prstGeom prst="roundRect">
            <a:avLst>
              <a:gd fmla="val 47059" name="adj"/>
            </a:avLst>
          </a:prstGeom>
          <a:solidFill>
            <a:srgbClr val="FBECEC"/>
          </a:solidFill>
          <a:ln cap="flat" cmpd="sng" w="12700">
            <a:solidFill>
              <a:srgbClr val="FBECE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txBox="1"/>
          <p:nvPr/>
        </p:nvSpPr>
        <p:spPr>
          <a:xfrm>
            <a:off x="8915400" y="3666744"/>
            <a:ext cx="621792"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#₆</a:t>
            </a:r>
            <a:endParaRPr b="0" i="0" sz="1600" u="none" cap="none" strike="noStrike">
              <a:solidFill>
                <a:schemeClr val="dk1"/>
              </a:solidFill>
              <a:latin typeface="Arial"/>
              <a:ea typeface="Arial"/>
              <a:cs typeface="Arial"/>
              <a:sym typeface="Arial"/>
            </a:endParaRPr>
          </a:p>
        </p:txBody>
      </p:sp>
      <p:sp>
        <p:nvSpPr>
          <p:cNvPr id="190" name="Google Shape;190;p4"/>
          <p:cNvSpPr txBox="1"/>
          <p:nvPr/>
        </p:nvSpPr>
        <p:spPr>
          <a:xfrm>
            <a:off x="9710928" y="3648456"/>
            <a:ext cx="1481328" cy="38404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450"/>
              <a:buFont typeface="Arial"/>
              <a:buNone/>
            </a:pPr>
            <a:r>
              <a:rPr b="0" i="0" lang="en-US" sz="1450" u="none" cap="none" strike="noStrike">
                <a:solidFill>
                  <a:srgbClr val="1D2A39"/>
                </a:solidFill>
                <a:latin typeface="Arial"/>
                <a:ea typeface="Arial"/>
                <a:cs typeface="Arial"/>
                <a:sym typeface="Arial"/>
              </a:rPr>
              <a:t>unique end marker</a:t>
            </a:r>
            <a:endParaRPr b="0" i="0" sz="1450" u="none" cap="none" strike="noStrike">
              <a:solidFill>
                <a:schemeClr val="dk1"/>
              </a:solidFill>
              <a:latin typeface="Arial"/>
              <a:ea typeface="Arial"/>
              <a:cs typeface="Arial"/>
              <a:sym typeface="Arial"/>
            </a:endParaRPr>
          </a:p>
        </p:txBody>
      </p:sp>
      <p:sp>
        <p:nvSpPr>
          <p:cNvPr id="191" name="Google Shape;191;p4"/>
          <p:cNvSpPr/>
          <p:nvPr/>
        </p:nvSpPr>
        <p:spPr>
          <a:xfrm>
            <a:off x="6382512" y="4663440"/>
            <a:ext cx="4892040" cy="822960"/>
          </a:xfrm>
          <a:prstGeom prst="roundRect">
            <a:avLst>
              <a:gd fmla="val 8889"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
          <p:cNvSpPr/>
          <p:nvPr/>
        </p:nvSpPr>
        <p:spPr>
          <a:xfrm>
            <a:off x="6382512" y="4663440"/>
            <a:ext cx="73152" cy="82296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
          <p:cNvSpPr txBox="1"/>
          <p:nvPr/>
        </p:nvSpPr>
        <p:spPr>
          <a:xfrm>
            <a:off x="6547104" y="4773168"/>
            <a:ext cx="46177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Why positions matter</a:t>
            </a:r>
            <a:endParaRPr b="0" i="0" sz="1600" u="none" cap="none" strike="noStrike">
              <a:solidFill>
                <a:schemeClr val="dk1"/>
              </a:solidFill>
              <a:latin typeface="Arial"/>
              <a:ea typeface="Arial"/>
              <a:cs typeface="Arial"/>
              <a:sym typeface="Arial"/>
            </a:endParaRPr>
          </a:p>
        </p:txBody>
      </p:sp>
      <p:sp>
        <p:nvSpPr>
          <p:cNvPr id="194" name="Google Shape;194;p4"/>
          <p:cNvSpPr txBox="1"/>
          <p:nvPr/>
        </p:nvSpPr>
        <p:spPr>
          <a:xfrm>
            <a:off x="6547104" y="5148072"/>
            <a:ext cx="4617720" cy="25603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Two leaves may carry the same symbol but they are different occurrences. For example, b₂, b₄, and b₅ are three distinct positions.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99" name="Shape 199"/>
        <p:cNvGrpSpPr/>
        <p:nvPr/>
      </p:nvGrpSpPr>
      <p:grpSpPr>
        <a:xfrm>
          <a:off x="0" y="0"/>
          <a:ext cx="0" cy="0"/>
          <a:chOff x="0" y="0"/>
          <a:chExt cx="0" cy="0"/>
        </a:xfrm>
      </p:grpSpPr>
      <p:sp>
        <p:nvSpPr>
          <p:cNvPr id="200" name="Google Shape;200;p5"/>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Syntax tree - Step 1: build the union</a:t>
            </a:r>
            <a:endParaRPr b="0" i="0" sz="2800" u="none" cap="none" strike="noStrike">
              <a:solidFill>
                <a:schemeClr val="dk1"/>
              </a:solidFill>
              <a:latin typeface="Arial"/>
              <a:ea typeface="Arial"/>
              <a:cs typeface="Arial"/>
              <a:sym typeface="Arial"/>
            </a:endParaRPr>
          </a:p>
        </p:txBody>
      </p:sp>
      <p:sp>
        <p:nvSpPr>
          <p:cNvPr id="202" name="Google Shape;202;p5"/>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2</a:t>
            </a:r>
            <a:endParaRPr b="0" i="0" sz="1150" u="none" cap="none" strike="noStrike">
              <a:solidFill>
                <a:schemeClr val="dk1"/>
              </a:solidFill>
              <a:latin typeface="Arial"/>
              <a:ea typeface="Arial"/>
              <a:cs typeface="Arial"/>
              <a:sym typeface="Arial"/>
            </a:endParaRPr>
          </a:p>
        </p:txBody>
      </p:sp>
      <p:sp>
        <p:nvSpPr>
          <p:cNvPr id="204" name="Google Shape;204;p5"/>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205" name="Google Shape;205;p5"/>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5</a:t>
            </a:r>
            <a:endParaRPr b="0" i="0" sz="950" u="none" cap="none" strike="noStrike">
              <a:solidFill>
                <a:schemeClr val="dk1"/>
              </a:solidFill>
              <a:latin typeface="Arial"/>
              <a:ea typeface="Arial"/>
              <a:cs typeface="Arial"/>
              <a:sym typeface="Arial"/>
            </a:endParaRPr>
          </a:p>
        </p:txBody>
      </p:sp>
      <p:sp>
        <p:nvSpPr>
          <p:cNvPr id="206" name="Google Shape;206;p5"/>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208" name="Google Shape;208;p5"/>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210" name="Google Shape;210;p5"/>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212" name="Google Shape;212;p5"/>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214" name="Google Shape;214;p5"/>
          <p:cNvPicPr preferRelativeResize="0"/>
          <p:nvPr/>
        </p:nvPicPr>
        <p:blipFill rotWithShape="1">
          <a:blip r:embed="rId3">
            <a:alphaModFix/>
          </a:blip>
          <a:srcRect b="0" l="0" r="0" t="0"/>
          <a:stretch/>
        </p:blipFill>
        <p:spPr>
          <a:xfrm>
            <a:off x="594360" y="1051560"/>
            <a:ext cx="6583680" cy="4480560"/>
          </a:xfrm>
          <a:prstGeom prst="rect">
            <a:avLst/>
          </a:prstGeom>
          <a:noFill/>
          <a:ln>
            <a:noFill/>
          </a:ln>
        </p:spPr>
      </p:pic>
      <p:sp>
        <p:nvSpPr>
          <p:cNvPr id="215" name="Google Shape;215;p5"/>
          <p:cNvSpPr/>
          <p:nvPr/>
        </p:nvSpPr>
        <p:spPr>
          <a:xfrm>
            <a:off x="7360920" y="1170432"/>
            <a:ext cx="4160520" cy="841248"/>
          </a:xfrm>
          <a:prstGeom prst="roundRect">
            <a:avLst>
              <a:gd fmla="val 8696"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7360920" y="1170432"/>
            <a:ext cx="73152" cy="841248"/>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txBox="1"/>
          <p:nvPr/>
        </p:nvSpPr>
        <p:spPr>
          <a:xfrm>
            <a:off x="7525512" y="1280160"/>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Current subexpression</a:t>
            </a:r>
            <a:endParaRPr b="0" i="0" sz="1600" u="none" cap="none" strike="noStrike">
              <a:solidFill>
                <a:schemeClr val="dk1"/>
              </a:solidFill>
              <a:latin typeface="Arial"/>
              <a:ea typeface="Arial"/>
              <a:cs typeface="Arial"/>
              <a:sym typeface="Arial"/>
            </a:endParaRPr>
          </a:p>
        </p:txBody>
      </p:sp>
      <p:sp>
        <p:nvSpPr>
          <p:cNvPr id="218" name="Google Shape;218;p5"/>
          <p:cNvSpPr txBox="1"/>
          <p:nvPr/>
        </p:nvSpPr>
        <p:spPr>
          <a:xfrm>
            <a:off x="7525512" y="1655064"/>
            <a:ext cx="3886200" cy="2743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a₁ | b₂</a:t>
            </a:r>
            <a:endParaRPr b="0" i="0" sz="1600" u="none" cap="none" strike="noStrike">
              <a:solidFill>
                <a:schemeClr val="dk1"/>
              </a:solidFill>
              <a:latin typeface="Arial"/>
              <a:ea typeface="Arial"/>
              <a:cs typeface="Arial"/>
              <a:sym typeface="Arial"/>
            </a:endParaRPr>
          </a:p>
        </p:txBody>
      </p:sp>
      <p:sp>
        <p:nvSpPr>
          <p:cNvPr id="219" name="Google Shape;219;p5"/>
          <p:cNvSpPr/>
          <p:nvPr/>
        </p:nvSpPr>
        <p:spPr>
          <a:xfrm>
            <a:off x="7360920" y="2240280"/>
            <a:ext cx="4160520" cy="1143000"/>
          </a:xfrm>
          <a:prstGeom prst="roundRect">
            <a:avLst>
              <a:gd fmla="val 6400"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7360920" y="2240280"/>
            <a:ext cx="73152" cy="114300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txBox="1"/>
          <p:nvPr/>
        </p:nvSpPr>
        <p:spPr>
          <a:xfrm>
            <a:off x="7525512" y="2350008"/>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How to read it</a:t>
            </a:r>
            <a:endParaRPr b="0" i="0" sz="1600" u="none" cap="none" strike="noStrike">
              <a:solidFill>
                <a:schemeClr val="dk1"/>
              </a:solidFill>
              <a:latin typeface="Arial"/>
              <a:ea typeface="Arial"/>
              <a:cs typeface="Arial"/>
              <a:sym typeface="Arial"/>
            </a:endParaRPr>
          </a:p>
        </p:txBody>
      </p:sp>
      <p:sp>
        <p:nvSpPr>
          <p:cNvPr id="222" name="Google Shape;222;p5"/>
          <p:cNvSpPr txBox="1"/>
          <p:nvPr/>
        </p:nvSpPr>
        <p:spPr>
          <a:xfrm>
            <a:off x="7525512" y="2724912"/>
            <a:ext cx="3886200" cy="5760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 node has two alternatives. A valid string from this subtree begins with either position 1 or position 2.</a:t>
            </a:r>
            <a:endParaRPr b="0" i="0" sz="1600" u="none" cap="none" strike="noStrike">
              <a:solidFill>
                <a:schemeClr val="dk1"/>
              </a:solidFill>
              <a:latin typeface="Arial"/>
              <a:ea typeface="Arial"/>
              <a:cs typeface="Arial"/>
              <a:sym typeface="Arial"/>
            </a:endParaRPr>
          </a:p>
        </p:txBody>
      </p:sp>
      <p:sp>
        <p:nvSpPr>
          <p:cNvPr id="223" name="Google Shape;223;p5"/>
          <p:cNvSpPr/>
          <p:nvPr/>
        </p:nvSpPr>
        <p:spPr>
          <a:xfrm>
            <a:off x="7360920" y="3675888"/>
            <a:ext cx="4160520" cy="932688"/>
          </a:xfrm>
          <a:prstGeom prst="roundRect">
            <a:avLst>
              <a:gd fmla="val 7843"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7360920" y="3675888"/>
            <a:ext cx="73152" cy="932688"/>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txBox="1"/>
          <p:nvPr/>
        </p:nvSpPr>
        <p:spPr>
          <a:xfrm>
            <a:off x="7525512" y="3785616"/>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Tree rule</a:t>
            </a:r>
            <a:endParaRPr b="0" i="0" sz="1600" u="none" cap="none" strike="noStrike">
              <a:solidFill>
                <a:schemeClr val="dk1"/>
              </a:solidFill>
              <a:latin typeface="Arial"/>
              <a:ea typeface="Arial"/>
              <a:cs typeface="Arial"/>
              <a:sym typeface="Arial"/>
            </a:endParaRPr>
          </a:p>
        </p:txBody>
      </p:sp>
      <p:sp>
        <p:nvSpPr>
          <p:cNvPr id="226" name="Google Shape;226;p5"/>
          <p:cNvSpPr txBox="1"/>
          <p:nvPr/>
        </p:nvSpPr>
        <p:spPr>
          <a:xfrm>
            <a:off x="7525512" y="4160520"/>
            <a:ext cx="3886200" cy="36576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Leaves correspond to operands. Interior nodes correspond to operators.</a:t>
            </a:r>
            <a:endParaRPr b="0" i="0" sz="1600" u="none" cap="none" strike="noStrike">
              <a:solidFill>
                <a:schemeClr val="dk1"/>
              </a:solidFill>
              <a:latin typeface="Arial"/>
              <a:ea typeface="Arial"/>
              <a:cs typeface="Arial"/>
              <a:sym typeface="Arial"/>
            </a:endParaRPr>
          </a:p>
        </p:txBody>
      </p:sp>
      <p:sp>
        <p:nvSpPr>
          <p:cNvPr id="227" name="Google Shape;227;p5"/>
          <p:cNvSpPr txBox="1"/>
          <p:nvPr/>
        </p:nvSpPr>
        <p:spPr>
          <a:xfrm>
            <a:off x="7360920" y="4937760"/>
            <a:ext cx="416052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200"/>
              <a:buFont typeface="Arial"/>
              <a:buNone/>
            </a:pPr>
            <a:r>
              <a:rPr b="1" i="0" lang="en-US" sz="2200" u="none" cap="none" strike="noStrike">
                <a:solidFill>
                  <a:srgbClr val="153A73"/>
                </a:solidFill>
                <a:latin typeface="Arial"/>
                <a:ea typeface="Arial"/>
                <a:cs typeface="Arial"/>
                <a:sym typeface="Arial"/>
              </a:rPr>
              <a:t>Resulting subtree:  (a₁|b₂)</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32" name="Shape 232"/>
        <p:cNvGrpSpPr/>
        <p:nvPr/>
      </p:nvGrpSpPr>
      <p:grpSpPr>
        <a:xfrm>
          <a:off x="0" y="0"/>
          <a:ext cx="0" cy="0"/>
          <a:chOff x="0" y="0"/>
          <a:chExt cx="0" cy="0"/>
        </a:xfrm>
      </p:grpSpPr>
      <p:sp>
        <p:nvSpPr>
          <p:cNvPr id="233" name="Google Shape;233;p6"/>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Syntax tree - Step 2: apply the Kleene star</a:t>
            </a:r>
            <a:endParaRPr b="0" i="0" sz="2800" u="none" cap="none" strike="noStrike">
              <a:solidFill>
                <a:schemeClr val="dk1"/>
              </a:solidFill>
              <a:latin typeface="Arial"/>
              <a:ea typeface="Arial"/>
              <a:cs typeface="Arial"/>
              <a:sym typeface="Arial"/>
            </a:endParaRPr>
          </a:p>
        </p:txBody>
      </p:sp>
      <p:sp>
        <p:nvSpPr>
          <p:cNvPr id="235" name="Google Shape;235;p6"/>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2</a:t>
            </a:r>
            <a:endParaRPr b="0" i="0" sz="1150" u="none" cap="none" strike="noStrike">
              <a:solidFill>
                <a:schemeClr val="dk1"/>
              </a:solidFill>
              <a:latin typeface="Arial"/>
              <a:ea typeface="Arial"/>
              <a:cs typeface="Arial"/>
              <a:sym typeface="Arial"/>
            </a:endParaRPr>
          </a:p>
        </p:txBody>
      </p:sp>
      <p:sp>
        <p:nvSpPr>
          <p:cNvPr id="237" name="Google Shape;237;p6"/>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238" name="Google Shape;238;p6"/>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6</a:t>
            </a:r>
            <a:endParaRPr b="0" i="0" sz="950" u="none" cap="none" strike="noStrike">
              <a:solidFill>
                <a:schemeClr val="dk1"/>
              </a:solidFill>
              <a:latin typeface="Arial"/>
              <a:ea typeface="Arial"/>
              <a:cs typeface="Arial"/>
              <a:sym typeface="Arial"/>
            </a:endParaRPr>
          </a:p>
        </p:txBody>
      </p:sp>
      <p:sp>
        <p:nvSpPr>
          <p:cNvPr id="239" name="Google Shape;239;p6"/>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241" name="Google Shape;241;p6"/>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243" name="Google Shape;243;p6"/>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245" name="Google Shape;245;p6"/>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6"/>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247" name="Google Shape;247;p6"/>
          <p:cNvPicPr preferRelativeResize="0"/>
          <p:nvPr/>
        </p:nvPicPr>
        <p:blipFill rotWithShape="1">
          <a:blip r:embed="rId3">
            <a:alphaModFix/>
          </a:blip>
          <a:srcRect b="0" l="0" r="0" t="0"/>
          <a:stretch/>
        </p:blipFill>
        <p:spPr>
          <a:xfrm>
            <a:off x="594360" y="960120"/>
            <a:ext cx="6583680" cy="4709160"/>
          </a:xfrm>
          <a:prstGeom prst="rect">
            <a:avLst/>
          </a:prstGeom>
          <a:noFill/>
          <a:ln>
            <a:noFill/>
          </a:ln>
        </p:spPr>
      </p:pic>
      <p:sp>
        <p:nvSpPr>
          <p:cNvPr id="248" name="Google Shape;248;p6"/>
          <p:cNvSpPr/>
          <p:nvPr/>
        </p:nvSpPr>
        <p:spPr>
          <a:xfrm>
            <a:off x="7360920" y="1170432"/>
            <a:ext cx="4160520" cy="841248"/>
          </a:xfrm>
          <a:prstGeom prst="roundRect">
            <a:avLst>
              <a:gd fmla="val 8696"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7360920" y="1170432"/>
            <a:ext cx="73152" cy="841248"/>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txBox="1"/>
          <p:nvPr/>
        </p:nvSpPr>
        <p:spPr>
          <a:xfrm>
            <a:off x="7525512" y="1280160"/>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Current subexpression</a:t>
            </a:r>
            <a:endParaRPr b="0" i="0" sz="1600" u="none" cap="none" strike="noStrike">
              <a:solidFill>
                <a:schemeClr val="dk1"/>
              </a:solidFill>
              <a:latin typeface="Arial"/>
              <a:ea typeface="Arial"/>
              <a:cs typeface="Arial"/>
              <a:sym typeface="Arial"/>
            </a:endParaRPr>
          </a:p>
        </p:txBody>
      </p:sp>
      <p:sp>
        <p:nvSpPr>
          <p:cNvPr id="251" name="Google Shape;251;p6"/>
          <p:cNvSpPr txBox="1"/>
          <p:nvPr/>
        </p:nvSpPr>
        <p:spPr>
          <a:xfrm>
            <a:off x="7525512" y="1655064"/>
            <a:ext cx="3886200" cy="2743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(a₁|b₂)*</a:t>
            </a:r>
            <a:endParaRPr b="0" i="0" sz="1600" u="none" cap="none" strike="noStrike">
              <a:solidFill>
                <a:schemeClr val="dk1"/>
              </a:solidFill>
              <a:latin typeface="Arial"/>
              <a:ea typeface="Arial"/>
              <a:cs typeface="Arial"/>
              <a:sym typeface="Arial"/>
            </a:endParaRPr>
          </a:p>
        </p:txBody>
      </p:sp>
      <p:sp>
        <p:nvSpPr>
          <p:cNvPr id="252" name="Google Shape;252;p6"/>
          <p:cNvSpPr/>
          <p:nvPr/>
        </p:nvSpPr>
        <p:spPr>
          <a:xfrm>
            <a:off x="7360920" y="2240280"/>
            <a:ext cx="4160520" cy="1143000"/>
          </a:xfrm>
          <a:prstGeom prst="roundRect">
            <a:avLst>
              <a:gd fmla="val 6400"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a:off x="7360920" y="2240280"/>
            <a:ext cx="73152" cy="114300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6"/>
          <p:cNvSpPr txBox="1"/>
          <p:nvPr/>
        </p:nvSpPr>
        <p:spPr>
          <a:xfrm>
            <a:off x="7525512" y="2350008"/>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Meaning of *</a:t>
            </a:r>
            <a:endParaRPr b="0" i="0" sz="1600" u="none" cap="none" strike="noStrike">
              <a:solidFill>
                <a:schemeClr val="dk1"/>
              </a:solidFill>
              <a:latin typeface="Arial"/>
              <a:ea typeface="Arial"/>
              <a:cs typeface="Arial"/>
              <a:sym typeface="Arial"/>
            </a:endParaRPr>
          </a:p>
        </p:txBody>
      </p:sp>
      <p:sp>
        <p:nvSpPr>
          <p:cNvPr id="255" name="Google Shape;255;p6"/>
          <p:cNvSpPr txBox="1"/>
          <p:nvPr/>
        </p:nvSpPr>
        <p:spPr>
          <a:xfrm>
            <a:off x="7525512" y="2724912"/>
            <a:ext cx="3886200" cy="5760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subtree may repeat zero or more times. Therefore, the star node can generate the empty string ε.</a:t>
            </a:r>
            <a:endParaRPr b="0" i="0" sz="1600" u="none" cap="none" strike="noStrike">
              <a:solidFill>
                <a:schemeClr val="dk1"/>
              </a:solidFill>
              <a:latin typeface="Arial"/>
              <a:ea typeface="Arial"/>
              <a:cs typeface="Arial"/>
              <a:sym typeface="Arial"/>
            </a:endParaRPr>
          </a:p>
        </p:txBody>
      </p:sp>
      <p:sp>
        <p:nvSpPr>
          <p:cNvPr id="256" name="Google Shape;256;p6"/>
          <p:cNvSpPr/>
          <p:nvPr/>
        </p:nvSpPr>
        <p:spPr>
          <a:xfrm>
            <a:off x="7360920" y="3675888"/>
            <a:ext cx="4160520" cy="960120"/>
          </a:xfrm>
          <a:prstGeom prst="roundRect">
            <a:avLst>
              <a:gd fmla="val 7619"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7360920" y="3675888"/>
            <a:ext cx="73152" cy="96012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txBox="1"/>
          <p:nvPr/>
        </p:nvSpPr>
        <p:spPr>
          <a:xfrm>
            <a:off x="7525512" y="3785616"/>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Teaching cue</a:t>
            </a:r>
            <a:endParaRPr b="0" i="0" sz="1600" u="none" cap="none" strike="noStrike">
              <a:solidFill>
                <a:schemeClr val="dk1"/>
              </a:solidFill>
              <a:latin typeface="Arial"/>
              <a:ea typeface="Arial"/>
              <a:cs typeface="Arial"/>
              <a:sym typeface="Arial"/>
            </a:endParaRPr>
          </a:p>
        </p:txBody>
      </p:sp>
      <p:sp>
        <p:nvSpPr>
          <p:cNvPr id="259" name="Google Shape;259;p6"/>
          <p:cNvSpPr txBox="1"/>
          <p:nvPr/>
        </p:nvSpPr>
        <p:spPr>
          <a:xfrm>
            <a:off x="7525512" y="4160520"/>
            <a:ext cx="3886200" cy="3931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Ask: Can this subtree produce no symbol at all? Yes. This is why nullable(star) = true.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64" name="Shape 264"/>
        <p:cNvGrpSpPr/>
        <p:nvPr/>
      </p:nvGrpSpPr>
      <p:grpSpPr>
        <a:xfrm>
          <a:off x="0" y="0"/>
          <a:ext cx="0" cy="0"/>
          <a:chOff x="0" y="0"/>
          <a:chExt cx="0" cy="0"/>
        </a:xfrm>
      </p:grpSpPr>
      <p:sp>
        <p:nvSpPr>
          <p:cNvPr id="265" name="Google Shape;265;p7"/>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Syntax tree - Step 3: concatenate a₃</a:t>
            </a:r>
            <a:endParaRPr b="0" i="0" sz="2800" u="none" cap="none" strike="noStrike">
              <a:solidFill>
                <a:schemeClr val="dk1"/>
              </a:solidFill>
              <a:latin typeface="Arial"/>
              <a:ea typeface="Arial"/>
              <a:cs typeface="Arial"/>
              <a:sym typeface="Arial"/>
            </a:endParaRPr>
          </a:p>
        </p:txBody>
      </p:sp>
      <p:sp>
        <p:nvSpPr>
          <p:cNvPr id="267" name="Google Shape;267;p7"/>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2</a:t>
            </a:r>
            <a:endParaRPr b="0" i="0" sz="1150" u="none" cap="none" strike="noStrike">
              <a:solidFill>
                <a:schemeClr val="dk1"/>
              </a:solidFill>
              <a:latin typeface="Arial"/>
              <a:ea typeface="Arial"/>
              <a:cs typeface="Arial"/>
              <a:sym typeface="Arial"/>
            </a:endParaRPr>
          </a:p>
        </p:txBody>
      </p:sp>
      <p:sp>
        <p:nvSpPr>
          <p:cNvPr id="269" name="Google Shape;269;p7"/>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270" name="Google Shape;270;p7"/>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7</a:t>
            </a:r>
            <a:endParaRPr b="0" i="0" sz="950" u="none" cap="none" strike="noStrike">
              <a:solidFill>
                <a:schemeClr val="dk1"/>
              </a:solidFill>
              <a:latin typeface="Arial"/>
              <a:ea typeface="Arial"/>
              <a:cs typeface="Arial"/>
              <a:sym typeface="Arial"/>
            </a:endParaRPr>
          </a:p>
        </p:txBody>
      </p:sp>
      <p:sp>
        <p:nvSpPr>
          <p:cNvPr id="271" name="Google Shape;271;p7"/>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273" name="Google Shape;273;p7"/>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275" name="Google Shape;275;p7"/>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277" name="Google Shape;277;p7"/>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279" name="Google Shape;279;p7"/>
          <p:cNvPicPr preferRelativeResize="0"/>
          <p:nvPr/>
        </p:nvPicPr>
        <p:blipFill rotWithShape="1">
          <a:blip r:embed="rId3">
            <a:alphaModFix/>
          </a:blip>
          <a:srcRect b="0" l="0" r="0" t="0"/>
          <a:stretch/>
        </p:blipFill>
        <p:spPr>
          <a:xfrm>
            <a:off x="411480" y="914400"/>
            <a:ext cx="6995160" cy="4800600"/>
          </a:xfrm>
          <a:prstGeom prst="rect">
            <a:avLst/>
          </a:prstGeom>
          <a:noFill/>
          <a:ln>
            <a:noFill/>
          </a:ln>
        </p:spPr>
      </p:pic>
      <p:sp>
        <p:nvSpPr>
          <p:cNvPr id="280" name="Google Shape;280;p7"/>
          <p:cNvSpPr/>
          <p:nvPr/>
        </p:nvSpPr>
        <p:spPr>
          <a:xfrm>
            <a:off x="7452360" y="1143000"/>
            <a:ext cx="4069080" cy="841248"/>
          </a:xfrm>
          <a:prstGeom prst="roundRect">
            <a:avLst>
              <a:gd fmla="val 8696"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7452360" y="1143000"/>
            <a:ext cx="73152" cy="841248"/>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txBox="1"/>
          <p:nvPr/>
        </p:nvSpPr>
        <p:spPr>
          <a:xfrm>
            <a:off x="7616952" y="1252728"/>
            <a:ext cx="37947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Current subexpression</a:t>
            </a:r>
            <a:endParaRPr b="0" i="0" sz="1600" u="none" cap="none" strike="noStrike">
              <a:solidFill>
                <a:schemeClr val="dk1"/>
              </a:solidFill>
              <a:latin typeface="Arial"/>
              <a:ea typeface="Arial"/>
              <a:cs typeface="Arial"/>
              <a:sym typeface="Arial"/>
            </a:endParaRPr>
          </a:p>
        </p:txBody>
      </p:sp>
      <p:sp>
        <p:nvSpPr>
          <p:cNvPr id="283" name="Google Shape;283;p7"/>
          <p:cNvSpPr txBox="1"/>
          <p:nvPr/>
        </p:nvSpPr>
        <p:spPr>
          <a:xfrm>
            <a:off x="7616952" y="1627632"/>
            <a:ext cx="3794760" cy="2743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(a₁|b₂)* · a₃</a:t>
            </a:r>
            <a:endParaRPr b="0" i="0" sz="1600" u="none" cap="none" strike="noStrike">
              <a:solidFill>
                <a:schemeClr val="dk1"/>
              </a:solidFill>
              <a:latin typeface="Arial"/>
              <a:ea typeface="Arial"/>
              <a:cs typeface="Arial"/>
              <a:sym typeface="Arial"/>
            </a:endParaRPr>
          </a:p>
        </p:txBody>
      </p:sp>
      <p:sp>
        <p:nvSpPr>
          <p:cNvPr id="284" name="Google Shape;284;p7"/>
          <p:cNvSpPr/>
          <p:nvPr/>
        </p:nvSpPr>
        <p:spPr>
          <a:xfrm>
            <a:off x="7452360" y="2240280"/>
            <a:ext cx="4069080" cy="987552"/>
          </a:xfrm>
          <a:prstGeom prst="roundRect">
            <a:avLst>
              <a:gd fmla="val 7407"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7452360" y="2240280"/>
            <a:ext cx="73152" cy="987552"/>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txBox="1"/>
          <p:nvPr/>
        </p:nvSpPr>
        <p:spPr>
          <a:xfrm>
            <a:off x="7616952" y="2350008"/>
            <a:ext cx="37947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Concatenation node</a:t>
            </a:r>
            <a:endParaRPr b="0" i="0" sz="1600" u="none" cap="none" strike="noStrike">
              <a:solidFill>
                <a:schemeClr val="dk1"/>
              </a:solidFill>
              <a:latin typeface="Arial"/>
              <a:ea typeface="Arial"/>
              <a:cs typeface="Arial"/>
              <a:sym typeface="Arial"/>
            </a:endParaRPr>
          </a:p>
        </p:txBody>
      </p:sp>
      <p:sp>
        <p:nvSpPr>
          <p:cNvPr id="287" name="Google Shape;287;p7"/>
          <p:cNvSpPr txBox="1"/>
          <p:nvPr/>
        </p:nvSpPr>
        <p:spPr>
          <a:xfrm>
            <a:off x="7616952" y="2724912"/>
            <a:ext cx="3794760" cy="420624"/>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left child is the star subtree. The right child is the fixed a at position 3.</a:t>
            </a:r>
            <a:endParaRPr b="0" i="0" sz="1600" u="none" cap="none" strike="noStrike">
              <a:solidFill>
                <a:schemeClr val="dk1"/>
              </a:solidFill>
              <a:latin typeface="Arial"/>
              <a:ea typeface="Arial"/>
              <a:cs typeface="Arial"/>
              <a:sym typeface="Arial"/>
            </a:endParaRPr>
          </a:p>
        </p:txBody>
      </p:sp>
      <p:sp>
        <p:nvSpPr>
          <p:cNvPr id="288" name="Google Shape;288;p7"/>
          <p:cNvSpPr/>
          <p:nvPr/>
        </p:nvSpPr>
        <p:spPr>
          <a:xfrm>
            <a:off x="7452360" y="3547872"/>
            <a:ext cx="4069080" cy="1234440"/>
          </a:xfrm>
          <a:prstGeom prst="roundRect">
            <a:avLst>
              <a:gd fmla="val 5926"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7452360" y="3547872"/>
            <a:ext cx="73152" cy="123444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txBox="1"/>
          <p:nvPr/>
        </p:nvSpPr>
        <p:spPr>
          <a:xfrm>
            <a:off x="7616952" y="3657600"/>
            <a:ext cx="37947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Key observation</a:t>
            </a:r>
            <a:endParaRPr b="0" i="0" sz="1600" u="none" cap="none" strike="noStrike">
              <a:solidFill>
                <a:schemeClr val="dk1"/>
              </a:solidFill>
              <a:latin typeface="Arial"/>
              <a:ea typeface="Arial"/>
              <a:cs typeface="Arial"/>
              <a:sym typeface="Arial"/>
            </a:endParaRPr>
          </a:p>
        </p:txBody>
      </p:sp>
      <p:sp>
        <p:nvSpPr>
          <p:cNvPr id="291" name="Google Shape;291;p7"/>
          <p:cNvSpPr txBox="1"/>
          <p:nvPr/>
        </p:nvSpPr>
        <p:spPr>
          <a:xfrm>
            <a:off x="7616952" y="4032504"/>
            <a:ext cx="3794760" cy="6675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Because the star can produce ε, a string from this concatenation may begin inside the star or directly at position 3.</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96" name="Shape 296"/>
        <p:cNvGrpSpPr/>
        <p:nvPr/>
      </p:nvGrpSpPr>
      <p:grpSpPr>
        <a:xfrm>
          <a:off x="0" y="0"/>
          <a:ext cx="0" cy="0"/>
          <a:chOff x="0" y="0"/>
          <a:chExt cx="0" cy="0"/>
        </a:xfrm>
      </p:grpSpPr>
      <p:sp>
        <p:nvSpPr>
          <p:cNvPr id="297" name="Google Shape;297;p8"/>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Syntax tree - Step 4: concatenate b₄</a:t>
            </a:r>
            <a:endParaRPr b="0" i="0" sz="2800" u="none" cap="none" strike="noStrike">
              <a:solidFill>
                <a:schemeClr val="dk1"/>
              </a:solidFill>
              <a:latin typeface="Arial"/>
              <a:ea typeface="Arial"/>
              <a:cs typeface="Arial"/>
              <a:sym typeface="Arial"/>
            </a:endParaRPr>
          </a:p>
        </p:txBody>
      </p:sp>
      <p:sp>
        <p:nvSpPr>
          <p:cNvPr id="299" name="Google Shape;299;p8"/>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2</a:t>
            </a:r>
            <a:endParaRPr b="0" i="0" sz="1150" u="none" cap="none" strike="noStrike">
              <a:solidFill>
                <a:schemeClr val="dk1"/>
              </a:solidFill>
              <a:latin typeface="Arial"/>
              <a:ea typeface="Arial"/>
              <a:cs typeface="Arial"/>
              <a:sym typeface="Arial"/>
            </a:endParaRPr>
          </a:p>
        </p:txBody>
      </p:sp>
      <p:sp>
        <p:nvSpPr>
          <p:cNvPr id="301" name="Google Shape;301;p8"/>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302" name="Google Shape;302;p8"/>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8</a:t>
            </a:r>
            <a:endParaRPr b="0" i="0" sz="950" u="none" cap="none" strike="noStrike">
              <a:solidFill>
                <a:schemeClr val="dk1"/>
              </a:solidFill>
              <a:latin typeface="Arial"/>
              <a:ea typeface="Arial"/>
              <a:cs typeface="Arial"/>
              <a:sym typeface="Arial"/>
            </a:endParaRPr>
          </a:p>
        </p:txBody>
      </p:sp>
      <p:sp>
        <p:nvSpPr>
          <p:cNvPr id="303" name="Google Shape;303;p8"/>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305" name="Google Shape;305;p8"/>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307" name="Google Shape;307;p8"/>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309" name="Google Shape;309;p8"/>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311" name="Google Shape;311;p8"/>
          <p:cNvPicPr preferRelativeResize="0"/>
          <p:nvPr/>
        </p:nvPicPr>
        <p:blipFill rotWithShape="1">
          <a:blip r:embed="rId3">
            <a:alphaModFix/>
          </a:blip>
          <a:srcRect b="0" l="0" r="0" t="0"/>
          <a:stretch/>
        </p:blipFill>
        <p:spPr>
          <a:xfrm>
            <a:off x="365760" y="868680"/>
            <a:ext cx="7086600" cy="4892040"/>
          </a:xfrm>
          <a:prstGeom prst="rect">
            <a:avLst/>
          </a:prstGeom>
          <a:noFill/>
          <a:ln>
            <a:noFill/>
          </a:ln>
        </p:spPr>
      </p:pic>
      <p:sp>
        <p:nvSpPr>
          <p:cNvPr id="312" name="Google Shape;312;p8"/>
          <p:cNvSpPr/>
          <p:nvPr/>
        </p:nvSpPr>
        <p:spPr>
          <a:xfrm>
            <a:off x="7461504" y="1143000"/>
            <a:ext cx="4050792" cy="841248"/>
          </a:xfrm>
          <a:prstGeom prst="roundRect">
            <a:avLst>
              <a:gd fmla="val 8696"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7461504" y="1143000"/>
            <a:ext cx="73152" cy="841248"/>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txBox="1"/>
          <p:nvPr/>
        </p:nvSpPr>
        <p:spPr>
          <a:xfrm>
            <a:off x="7626096" y="1252728"/>
            <a:ext cx="3776472"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Current subexpression</a:t>
            </a:r>
            <a:endParaRPr b="0" i="0" sz="1600" u="none" cap="none" strike="noStrike">
              <a:solidFill>
                <a:schemeClr val="dk1"/>
              </a:solidFill>
              <a:latin typeface="Arial"/>
              <a:ea typeface="Arial"/>
              <a:cs typeface="Arial"/>
              <a:sym typeface="Arial"/>
            </a:endParaRPr>
          </a:p>
        </p:txBody>
      </p:sp>
      <p:sp>
        <p:nvSpPr>
          <p:cNvPr id="315" name="Google Shape;315;p8"/>
          <p:cNvSpPr txBox="1"/>
          <p:nvPr/>
        </p:nvSpPr>
        <p:spPr>
          <a:xfrm>
            <a:off x="7626096" y="1627632"/>
            <a:ext cx="3776472" cy="2743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((a₁|b₂)* · a₃) · b₄</a:t>
            </a:r>
            <a:endParaRPr b="0" i="0" sz="1600" u="none" cap="none" strike="noStrike">
              <a:solidFill>
                <a:schemeClr val="dk1"/>
              </a:solidFill>
              <a:latin typeface="Arial"/>
              <a:ea typeface="Arial"/>
              <a:cs typeface="Arial"/>
              <a:sym typeface="Arial"/>
            </a:endParaRPr>
          </a:p>
        </p:txBody>
      </p:sp>
      <p:sp>
        <p:nvSpPr>
          <p:cNvPr id="316" name="Google Shape;316;p8"/>
          <p:cNvSpPr/>
          <p:nvPr/>
        </p:nvSpPr>
        <p:spPr>
          <a:xfrm>
            <a:off x="7461504" y="2240280"/>
            <a:ext cx="4050792" cy="1051560"/>
          </a:xfrm>
          <a:prstGeom prst="roundRect">
            <a:avLst>
              <a:gd fmla="val 6957"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7461504" y="2240280"/>
            <a:ext cx="73152" cy="105156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txBox="1"/>
          <p:nvPr/>
        </p:nvSpPr>
        <p:spPr>
          <a:xfrm>
            <a:off x="7626096" y="2350008"/>
            <a:ext cx="3776472"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Left-associative construction</a:t>
            </a:r>
            <a:endParaRPr b="0" i="0" sz="1600" u="none" cap="none" strike="noStrike">
              <a:solidFill>
                <a:schemeClr val="dk1"/>
              </a:solidFill>
              <a:latin typeface="Arial"/>
              <a:ea typeface="Arial"/>
              <a:cs typeface="Arial"/>
              <a:sym typeface="Arial"/>
            </a:endParaRPr>
          </a:p>
        </p:txBody>
      </p:sp>
      <p:sp>
        <p:nvSpPr>
          <p:cNvPr id="319" name="Google Shape;319;p8"/>
          <p:cNvSpPr txBox="1"/>
          <p:nvPr/>
        </p:nvSpPr>
        <p:spPr>
          <a:xfrm>
            <a:off x="7626096" y="2724912"/>
            <a:ext cx="3776472" cy="48463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previously built subtree becomes the left child. The new symbol b₄ becomes the right child.</a:t>
            </a:r>
            <a:endParaRPr b="0" i="0" sz="1600" u="none" cap="none" strike="noStrike">
              <a:solidFill>
                <a:schemeClr val="dk1"/>
              </a:solidFill>
              <a:latin typeface="Arial"/>
              <a:ea typeface="Arial"/>
              <a:cs typeface="Arial"/>
              <a:sym typeface="Arial"/>
            </a:endParaRPr>
          </a:p>
        </p:txBody>
      </p:sp>
      <p:sp>
        <p:nvSpPr>
          <p:cNvPr id="320" name="Google Shape;320;p8"/>
          <p:cNvSpPr/>
          <p:nvPr/>
        </p:nvSpPr>
        <p:spPr>
          <a:xfrm>
            <a:off x="7461504" y="3639312"/>
            <a:ext cx="4050792" cy="1097280"/>
          </a:xfrm>
          <a:prstGeom prst="roundRect">
            <a:avLst>
              <a:gd fmla="val 6667"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7461504" y="3639312"/>
            <a:ext cx="73152" cy="109728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txBox="1"/>
          <p:nvPr/>
        </p:nvSpPr>
        <p:spPr>
          <a:xfrm>
            <a:off x="7626096" y="3749040"/>
            <a:ext cx="3776472"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Position relationship</a:t>
            </a:r>
            <a:endParaRPr b="0" i="0" sz="1600" u="none" cap="none" strike="noStrike">
              <a:solidFill>
                <a:schemeClr val="dk1"/>
              </a:solidFill>
              <a:latin typeface="Arial"/>
              <a:ea typeface="Arial"/>
              <a:cs typeface="Arial"/>
              <a:sym typeface="Arial"/>
            </a:endParaRPr>
          </a:p>
        </p:txBody>
      </p:sp>
      <p:sp>
        <p:nvSpPr>
          <p:cNvPr id="323" name="Google Shape;323;p8"/>
          <p:cNvSpPr txBox="1"/>
          <p:nvPr/>
        </p:nvSpPr>
        <p:spPr>
          <a:xfrm>
            <a:off x="7626096" y="4123944"/>
            <a:ext cx="3776472" cy="5303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After position 3, position 4 must follow. This will later produce followpos(3) = {4}.</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28" name="Shape 328"/>
        <p:cNvGrpSpPr/>
        <p:nvPr/>
      </p:nvGrpSpPr>
      <p:grpSpPr>
        <a:xfrm>
          <a:off x="0" y="0"/>
          <a:ext cx="0" cy="0"/>
          <a:chOff x="0" y="0"/>
          <a:chExt cx="0" cy="0"/>
        </a:xfrm>
      </p:grpSpPr>
      <p:sp>
        <p:nvSpPr>
          <p:cNvPr id="329" name="Google Shape;329;p9"/>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Syntax tree - Steps 5 and 6: add b₅ and #₆</a:t>
            </a:r>
            <a:endParaRPr b="0" i="0" sz="2800" u="none" cap="none" strike="noStrike">
              <a:solidFill>
                <a:schemeClr val="dk1"/>
              </a:solidFill>
              <a:latin typeface="Arial"/>
              <a:ea typeface="Arial"/>
              <a:cs typeface="Arial"/>
              <a:sym typeface="Arial"/>
            </a:endParaRPr>
          </a:p>
        </p:txBody>
      </p:sp>
      <p:sp>
        <p:nvSpPr>
          <p:cNvPr id="331" name="Google Shape;331;p9"/>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2</a:t>
            </a:r>
            <a:endParaRPr b="0" i="0" sz="1150" u="none" cap="none" strike="noStrike">
              <a:solidFill>
                <a:schemeClr val="dk1"/>
              </a:solidFill>
              <a:latin typeface="Arial"/>
              <a:ea typeface="Arial"/>
              <a:cs typeface="Arial"/>
              <a:sym typeface="Arial"/>
            </a:endParaRPr>
          </a:p>
        </p:txBody>
      </p:sp>
      <p:sp>
        <p:nvSpPr>
          <p:cNvPr id="333" name="Google Shape;333;p9"/>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334" name="Google Shape;334;p9"/>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9</a:t>
            </a:r>
            <a:endParaRPr b="0" i="0" sz="950" u="none" cap="none" strike="noStrike">
              <a:solidFill>
                <a:schemeClr val="dk1"/>
              </a:solidFill>
              <a:latin typeface="Arial"/>
              <a:ea typeface="Arial"/>
              <a:cs typeface="Arial"/>
              <a:sym typeface="Arial"/>
            </a:endParaRPr>
          </a:p>
        </p:txBody>
      </p:sp>
      <p:sp>
        <p:nvSpPr>
          <p:cNvPr id="335" name="Google Shape;335;p9"/>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337" name="Google Shape;337;p9"/>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339" name="Google Shape;339;p9"/>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341" name="Google Shape;341;p9"/>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343" name="Google Shape;343;p9"/>
          <p:cNvSpPr/>
          <p:nvPr/>
        </p:nvSpPr>
        <p:spPr>
          <a:xfrm>
            <a:off x="566928" y="932688"/>
            <a:ext cx="5577840" cy="4681728"/>
          </a:xfrm>
          <a:prstGeom prst="roundRect">
            <a:avLst>
              <a:gd fmla="val 1563"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txBox="1"/>
          <p:nvPr/>
        </p:nvSpPr>
        <p:spPr>
          <a:xfrm>
            <a:off x="868680" y="1143000"/>
            <a:ext cx="5029200" cy="32918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000"/>
              <a:buFont typeface="Arial"/>
              <a:buNone/>
            </a:pPr>
            <a:r>
              <a:rPr b="1" i="0" lang="en-US" sz="2000" u="none" cap="none" strike="noStrike">
                <a:solidFill>
                  <a:srgbClr val="F4A261"/>
                </a:solidFill>
                <a:latin typeface="Arial"/>
                <a:ea typeface="Arial"/>
                <a:cs typeface="Arial"/>
                <a:sym typeface="Arial"/>
              </a:rPr>
              <a:t>Step 5 - concatenate b₅</a:t>
            </a:r>
            <a:endParaRPr b="0" i="0" sz="2000" u="none" cap="none" strike="noStrike">
              <a:solidFill>
                <a:schemeClr val="dk1"/>
              </a:solidFill>
              <a:latin typeface="Arial"/>
              <a:ea typeface="Arial"/>
              <a:cs typeface="Arial"/>
              <a:sym typeface="Arial"/>
            </a:endParaRPr>
          </a:p>
        </p:txBody>
      </p:sp>
      <p:pic>
        <p:nvPicPr>
          <p:cNvPr descr="preencoded.png" id="345" name="Google Shape;345;p9"/>
          <p:cNvPicPr preferRelativeResize="0"/>
          <p:nvPr/>
        </p:nvPicPr>
        <p:blipFill rotWithShape="1">
          <a:blip r:embed="rId3">
            <a:alphaModFix/>
          </a:blip>
          <a:srcRect b="0" l="0" r="0" t="0"/>
          <a:stretch/>
        </p:blipFill>
        <p:spPr>
          <a:xfrm>
            <a:off x="804672" y="1536192"/>
            <a:ext cx="5120640" cy="3749040"/>
          </a:xfrm>
          <a:prstGeom prst="rect">
            <a:avLst/>
          </a:prstGeom>
          <a:noFill/>
          <a:ln>
            <a:noFill/>
          </a:ln>
        </p:spPr>
      </p:pic>
      <p:sp>
        <p:nvSpPr>
          <p:cNvPr id="346" name="Google Shape;346;p9"/>
          <p:cNvSpPr/>
          <p:nvPr/>
        </p:nvSpPr>
        <p:spPr>
          <a:xfrm>
            <a:off x="6345936" y="932688"/>
            <a:ext cx="5276088" cy="4681728"/>
          </a:xfrm>
          <a:prstGeom prst="roundRect">
            <a:avLst>
              <a:gd fmla="val 1563"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txBox="1"/>
          <p:nvPr/>
        </p:nvSpPr>
        <p:spPr>
          <a:xfrm>
            <a:off x="6629400" y="1143000"/>
            <a:ext cx="4709160" cy="32918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2000"/>
              <a:buFont typeface="Arial"/>
              <a:buNone/>
            </a:pPr>
            <a:r>
              <a:rPr b="1" i="0" lang="en-US" sz="2000" u="none" cap="none" strike="noStrike">
                <a:solidFill>
                  <a:srgbClr val="C94C4C"/>
                </a:solidFill>
                <a:latin typeface="Arial"/>
                <a:ea typeface="Arial"/>
                <a:cs typeface="Arial"/>
                <a:sym typeface="Arial"/>
              </a:rPr>
              <a:t>Step 6 - concatenate #₆</a:t>
            </a:r>
            <a:endParaRPr b="0" i="0" sz="2000" u="none" cap="none" strike="noStrike">
              <a:solidFill>
                <a:schemeClr val="dk1"/>
              </a:solidFill>
              <a:latin typeface="Arial"/>
              <a:ea typeface="Arial"/>
              <a:cs typeface="Arial"/>
              <a:sym typeface="Arial"/>
            </a:endParaRPr>
          </a:p>
        </p:txBody>
      </p:sp>
      <p:pic>
        <p:nvPicPr>
          <p:cNvPr descr="preencoded.png" id="348" name="Google Shape;348;p9"/>
          <p:cNvPicPr preferRelativeResize="0"/>
          <p:nvPr/>
        </p:nvPicPr>
        <p:blipFill rotWithShape="1">
          <a:blip r:embed="rId4">
            <a:alphaModFix/>
          </a:blip>
          <a:srcRect b="0" l="0" r="0" t="0"/>
          <a:stretch/>
        </p:blipFill>
        <p:spPr>
          <a:xfrm>
            <a:off x="6583680" y="1499616"/>
            <a:ext cx="4782312" cy="3794760"/>
          </a:xfrm>
          <a:prstGeom prst="rect">
            <a:avLst/>
          </a:prstGeom>
          <a:noFill/>
          <a:ln>
            <a:noFill/>
          </a:ln>
        </p:spPr>
      </p:pic>
      <p:sp>
        <p:nvSpPr>
          <p:cNvPr id="349" name="Google Shape;349;p9"/>
          <p:cNvSpPr txBox="1"/>
          <p:nvPr/>
        </p:nvSpPr>
        <p:spPr>
          <a:xfrm>
            <a:off x="3246120" y="5715000"/>
            <a:ext cx="566928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The root now represents the complete augmented regex.</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54" name="Shape 354"/>
        <p:cNvGrpSpPr/>
        <p:nvPr/>
      </p:nvGrpSpPr>
      <p:grpSpPr>
        <a:xfrm>
          <a:off x="0" y="0"/>
          <a:ext cx="0" cy="0"/>
          <a:chOff x="0" y="0"/>
          <a:chExt cx="0" cy="0"/>
        </a:xfrm>
      </p:grpSpPr>
      <p:sp>
        <p:nvSpPr>
          <p:cNvPr id="355" name="Google Shape;355;p10"/>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0"/>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Final syntax tree: what does it indicate?</a:t>
            </a:r>
            <a:endParaRPr b="0" i="0" sz="2800" u="none" cap="none" strike="noStrike">
              <a:solidFill>
                <a:schemeClr val="dk1"/>
              </a:solidFill>
              <a:latin typeface="Arial"/>
              <a:ea typeface="Arial"/>
              <a:cs typeface="Arial"/>
              <a:sym typeface="Arial"/>
            </a:endParaRPr>
          </a:p>
        </p:txBody>
      </p:sp>
      <p:sp>
        <p:nvSpPr>
          <p:cNvPr id="357" name="Google Shape;357;p10"/>
          <p:cNvSpPr/>
          <p:nvPr/>
        </p:nvSpPr>
        <p:spPr>
          <a:xfrm>
            <a:off x="10195560" y="210312"/>
            <a:ext cx="155448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150"/>
              <a:buFont typeface="Arial"/>
              <a:buNone/>
            </a:pPr>
            <a:r>
              <a:rPr b="1" i="0" lang="en-US" sz="1150" u="none" cap="none" strike="noStrike">
                <a:solidFill>
                  <a:srgbClr val="F4A261"/>
                </a:solidFill>
                <a:latin typeface="Arial"/>
                <a:ea typeface="Arial"/>
                <a:cs typeface="Arial"/>
                <a:sym typeface="Arial"/>
              </a:rPr>
              <a:t>Step 2</a:t>
            </a:r>
            <a:endParaRPr b="0" i="0" sz="1150" u="none" cap="none" strike="noStrike">
              <a:solidFill>
                <a:schemeClr val="dk1"/>
              </a:solidFill>
              <a:latin typeface="Arial"/>
              <a:ea typeface="Arial"/>
              <a:cs typeface="Arial"/>
              <a:sym typeface="Arial"/>
            </a:endParaRPr>
          </a:p>
        </p:txBody>
      </p:sp>
      <p:sp>
        <p:nvSpPr>
          <p:cNvPr id="359" name="Google Shape;359;p10"/>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360" name="Google Shape;360;p10"/>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10</a:t>
            </a:r>
            <a:endParaRPr b="0" i="0" sz="950" u="none" cap="none" strike="noStrike">
              <a:solidFill>
                <a:schemeClr val="dk1"/>
              </a:solidFill>
              <a:latin typeface="Arial"/>
              <a:ea typeface="Arial"/>
              <a:cs typeface="Arial"/>
              <a:sym typeface="Arial"/>
            </a:endParaRPr>
          </a:p>
        </p:txBody>
      </p:sp>
      <p:sp>
        <p:nvSpPr>
          <p:cNvPr id="361" name="Google Shape;361;p10"/>
          <p:cNvSpPr/>
          <p:nvPr/>
        </p:nvSpPr>
        <p:spPr>
          <a:xfrm>
            <a:off x="420624" y="6665976"/>
            <a:ext cx="2786634" cy="118872"/>
          </a:xfrm>
          <a:prstGeom prst="roundRect">
            <a:avLst>
              <a:gd fmla="val 61538" name="adj"/>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950"/>
              <a:buFont typeface="Arial"/>
              <a:buNone/>
            </a:pPr>
            <a:r>
              <a:rPr b="1" i="0" lang="en-US" sz="950" u="none" cap="none" strike="noStrike">
                <a:solidFill>
                  <a:srgbClr val="F4A261"/>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363" name="Google Shape;363;p10"/>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365" name="Google Shape;365;p10"/>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0"/>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367" name="Google Shape;367;p10"/>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0"/>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369" name="Google Shape;369;p10"/>
          <p:cNvPicPr preferRelativeResize="0"/>
          <p:nvPr/>
        </p:nvPicPr>
        <p:blipFill rotWithShape="1">
          <a:blip r:embed="rId3">
            <a:alphaModFix/>
          </a:blip>
          <a:srcRect b="0" l="0" r="0" t="0"/>
          <a:stretch/>
        </p:blipFill>
        <p:spPr>
          <a:xfrm>
            <a:off x="411480" y="822960"/>
            <a:ext cx="7178040" cy="5212080"/>
          </a:xfrm>
          <a:prstGeom prst="rect">
            <a:avLst/>
          </a:prstGeom>
          <a:noFill/>
          <a:ln>
            <a:noFill/>
          </a:ln>
        </p:spPr>
      </p:pic>
      <p:sp>
        <p:nvSpPr>
          <p:cNvPr id="370" name="Google Shape;370;p10"/>
          <p:cNvSpPr/>
          <p:nvPr/>
        </p:nvSpPr>
        <p:spPr>
          <a:xfrm>
            <a:off x="7635240" y="960120"/>
            <a:ext cx="3886200" cy="1051560"/>
          </a:xfrm>
          <a:prstGeom prst="roundRect">
            <a:avLst>
              <a:gd fmla="val 6957"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p:nvPr/>
        </p:nvSpPr>
        <p:spPr>
          <a:xfrm>
            <a:off x="7635240" y="960120"/>
            <a:ext cx="73152" cy="1051560"/>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
          <p:cNvSpPr txBox="1"/>
          <p:nvPr/>
        </p:nvSpPr>
        <p:spPr>
          <a:xfrm>
            <a:off x="7799832" y="1069848"/>
            <a:ext cx="36118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Leaves</a:t>
            </a:r>
            <a:endParaRPr b="0" i="0" sz="1600" u="none" cap="none" strike="noStrike">
              <a:solidFill>
                <a:schemeClr val="dk1"/>
              </a:solidFill>
              <a:latin typeface="Arial"/>
              <a:ea typeface="Arial"/>
              <a:cs typeface="Arial"/>
              <a:sym typeface="Arial"/>
            </a:endParaRPr>
          </a:p>
        </p:txBody>
      </p:sp>
      <p:sp>
        <p:nvSpPr>
          <p:cNvPr id="373" name="Google Shape;373;p10"/>
          <p:cNvSpPr txBox="1"/>
          <p:nvPr/>
        </p:nvSpPr>
        <p:spPr>
          <a:xfrm>
            <a:off x="7799832" y="1444752"/>
            <a:ext cx="3611880" cy="48463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 b, and # are operands. Each non-ε leaf has a unique position number.</a:t>
            </a:r>
            <a:endParaRPr b="0" i="0" sz="1600" u="none" cap="none" strike="noStrike">
              <a:solidFill>
                <a:schemeClr val="dk1"/>
              </a:solidFill>
              <a:latin typeface="Arial"/>
              <a:ea typeface="Arial"/>
              <a:cs typeface="Arial"/>
              <a:sym typeface="Arial"/>
            </a:endParaRPr>
          </a:p>
        </p:txBody>
      </p:sp>
      <p:sp>
        <p:nvSpPr>
          <p:cNvPr id="374" name="Google Shape;374;p10"/>
          <p:cNvSpPr/>
          <p:nvPr/>
        </p:nvSpPr>
        <p:spPr>
          <a:xfrm>
            <a:off x="7635240" y="2331720"/>
            <a:ext cx="3886200" cy="1051560"/>
          </a:xfrm>
          <a:prstGeom prst="roundRect">
            <a:avLst>
              <a:gd fmla="val 6957"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p:nvPr/>
        </p:nvSpPr>
        <p:spPr>
          <a:xfrm>
            <a:off x="7635240" y="2331720"/>
            <a:ext cx="73152" cy="105156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txBox="1"/>
          <p:nvPr/>
        </p:nvSpPr>
        <p:spPr>
          <a:xfrm>
            <a:off x="7799832" y="2441448"/>
            <a:ext cx="36118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Interior nodes</a:t>
            </a:r>
            <a:endParaRPr b="0" i="0" sz="1600" u="none" cap="none" strike="noStrike">
              <a:solidFill>
                <a:schemeClr val="dk1"/>
              </a:solidFill>
              <a:latin typeface="Arial"/>
              <a:ea typeface="Arial"/>
              <a:cs typeface="Arial"/>
              <a:sym typeface="Arial"/>
            </a:endParaRPr>
          </a:p>
        </p:txBody>
      </p:sp>
      <p:sp>
        <p:nvSpPr>
          <p:cNvPr id="377" name="Google Shape;377;p10"/>
          <p:cNvSpPr txBox="1"/>
          <p:nvPr/>
        </p:nvSpPr>
        <p:spPr>
          <a:xfrm>
            <a:off x="7799832" y="2816352"/>
            <a:ext cx="3611880" cy="48463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 ·, and * are operators that describe how their child subexpressions combine.</a:t>
            </a:r>
            <a:endParaRPr b="0" i="0" sz="1600" u="none" cap="none" strike="noStrike">
              <a:solidFill>
                <a:schemeClr val="dk1"/>
              </a:solidFill>
              <a:latin typeface="Arial"/>
              <a:ea typeface="Arial"/>
              <a:cs typeface="Arial"/>
              <a:sym typeface="Arial"/>
            </a:endParaRPr>
          </a:p>
        </p:txBody>
      </p:sp>
      <p:sp>
        <p:nvSpPr>
          <p:cNvPr id="378" name="Google Shape;378;p10"/>
          <p:cNvSpPr/>
          <p:nvPr/>
        </p:nvSpPr>
        <p:spPr>
          <a:xfrm>
            <a:off x="7635240" y="3703320"/>
            <a:ext cx="3886200" cy="1051560"/>
          </a:xfrm>
          <a:prstGeom prst="roundRect">
            <a:avLst>
              <a:gd fmla="val 6957"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p:nvPr/>
        </p:nvSpPr>
        <p:spPr>
          <a:xfrm>
            <a:off x="7635240" y="3703320"/>
            <a:ext cx="73152" cy="105156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txBox="1"/>
          <p:nvPr/>
        </p:nvSpPr>
        <p:spPr>
          <a:xfrm>
            <a:off x="7799832" y="3813048"/>
            <a:ext cx="36118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Subtrees</a:t>
            </a:r>
            <a:endParaRPr b="0" i="0" sz="1600" u="none" cap="none" strike="noStrike">
              <a:solidFill>
                <a:schemeClr val="dk1"/>
              </a:solidFill>
              <a:latin typeface="Arial"/>
              <a:ea typeface="Arial"/>
              <a:cs typeface="Arial"/>
              <a:sym typeface="Arial"/>
            </a:endParaRPr>
          </a:p>
        </p:txBody>
      </p:sp>
      <p:sp>
        <p:nvSpPr>
          <p:cNvPr id="381" name="Google Shape;381;p10"/>
          <p:cNvSpPr txBox="1"/>
          <p:nvPr/>
        </p:nvSpPr>
        <p:spPr>
          <a:xfrm>
            <a:off x="7799832" y="4187952"/>
            <a:ext cx="3611880" cy="48463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Every interior node represents one subexpression. We compute the tree functions for each subtree.</a:t>
            </a:r>
            <a:endParaRPr b="0" i="0" sz="1600" u="none" cap="none" strike="noStrike">
              <a:solidFill>
                <a:schemeClr val="dk1"/>
              </a:solidFill>
              <a:latin typeface="Arial"/>
              <a:ea typeface="Arial"/>
              <a:cs typeface="Arial"/>
              <a:sym typeface="Arial"/>
            </a:endParaRPr>
          </a:p>
        </p:txBody>
      </p:sp>
      <p:sp>
        <p:nvSpPr>
          <p:cNvPr id="382" name="Google Shape;382;p10"/>
          <p:cNvSpPr txBox="1"/>
          <p:nvPr/>
        </p:nvSpPr>
        <p:spPr>
          <a:xfrm>
            <a:off x="7635240" y="5120640"/>
            <a:ext cx="3886200"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1950"/>
              <a:buFont typeface="Arial"/>
              <a:buNone/>
            </a:pPr>
            <a:r>
              <a:rPr b="1" i="0" lang="en-US" sz="1950" u="none" cap="none" strike="noStrike">
                <a:solidFill>
                  <a:srgbClr val="153A73"/>
                </a:solidFill>
                <a:latin typeface="Arial"/>
                <a:ea typeface="Arial"/>
                <a:cs typeface="Arial"/>
                <a:sym typeface="Arial"/>
              </a:rPr>
              <a:t>Positions: a₁, b₂, a₃, b₄, b₅, #₆</a:t>
            </a:r>
            <a:endParaRPr b="0" i="0" sz="195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87" name="Shape 387"/>
        <p:cNvGrpSpPr/>
        <p:nvPr/>
      </p:nvGrpSpPr>
      <p:grpSpPr>
        <a:xfrm>
          <a:off x="0" y="0"/>
          <a:ext cx="0" cy="0"/>
          <a:chOff x="0" y="0"/>
          <a:chExt cx="0" cy="0"/>
        </a:xfrm>
      </p:grpSpPr>
      <p:sp>
        <p:nvSpPr>
          <p:cNvPr id="388" name="Google Shape;388;p11"/>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1"/>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The four functions computed from the syntax tree</a:t>
            </a:r>
            <a:endParaRPr b="0" i="0" sz="2800" u="none" cap="none" strike="noStrike">
              <a:solidFill>
                <a:schemeClr val="dk1"/>
              </a:solidFill>
              <a:latin typeface="Arial"/>
              <a:ea typeface="Arial"/>
              <a:cs typeface="Arial"/>
              <a:sym typeface="Arial"/>
            </a:endParaRPr>
          </a:p>
        </p:txBody>
      </p:sp>
      <p:sp>
        <p:nvSpPr>
          <p:cNvPr id="390" name="Google Shape;390;p11"/>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Step 3</a:t>
            </a:r>
            <a:endParaRPr b="0" i="0" sz="1150" u="none" cap="none" strike="noStrike">
              <a:solidFill>
                <a:schemeClr val="dk1"/>
              </a:solidFill>
              <a:latin typeface="Arial"/>
              <a:ea typeface="Arial"/>
              <a:cs typeface="Arial"/>
              <a:sym typeface="Arial"/>
            </a:endParaRPr>
          </a:p>
        </p:txBody>
      </p:sp>
      <p:sp>
        <p:nvSpPr>
          <p:cNvPr id="392" name="Google Shape;392;p11"/>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393" name="Google Shape;393;p11"/>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11</a:t>
            </a:r>
            <a:endParaRPr b="0" i="0" sz="950" u="none" cap="none" strike="noStrike">
              <a:solidFill>
                <a:schemeClr val="dk1"/>
              </a:solidFill>
              <a:latin typeface="Arial"/>
              <a:ea typeface="Arial"/>
              <a:cs typeface="Arial"/>
              <a:sym typeface="Arial"/>
            </a:endParaRPr>
          </a:p>
        </p:txBody>
      </p:sp>
      <p:sp>
        <p:nvSpPr>
          <p:cNvPr id="394" name="Google Shape;394;p11"/>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396" name="Google Shape;396;p11"/>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398" name="Google Shape;398;p11"/>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400" name="Google Shape;400;p11"/>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402" name="Google Shape;402;p11"/>
          <p:cNvSpPr/>
          <p:nvPr/>
        </p:nvSpPr>
        <p:spPr>
          <a:xfrm>
            <a:off x="621792" y="1078992"/>
            <a:ext cx="2542032" cy="2788920"/>
          </a:xfrm>
          <a:prstGeom prst="roundRect">
            <a:avLst>
              <a:gd fmla="val 2878" name="adj"/>
            </a:avLst>
          </a:prstGeom>
          <a:solidFill>
            <a:srgbClr val="FFF3E6"/>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txBox="1"/>
          <p:nvPr/>
        </p:nvSpPr>
        <p:spPr>
          <a:xfrm>
            <a:off x="768096" y="1335024"/>
            <a:ext cx="224028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100"/>
              <a:buFont typeface="Arial"/>
              <a:buNone/>
            </a:pPr>
            <a:r>
              <a:rPr b="1" i="0" lang="en-US" sz="2100" u="none" cap="none" strike="noStrike">
                <a:solidFill>
                  <a:srgbClr val="F4A261"/>
                </a:solidFill>
                <a:latin typeface="Arial"/>
                <a:ea typeface="Arial"/>
                <a:cs typeface="Arial"/>
                <a:sym typeface="Arial"/>
              </a:rPr>
              <a:t>nullable(n)</a:t>
            </a:r>
            <a:endParaRPr b="0" i="0" sz="2100" u="none" cap="none" strike="noStrike">
              <a:solidFill>
                <a:schemeClr val="dk1"/>
              </a:solidFill>
              <a:latin typeface="Arial"/>
              <a:ea typeface="Arial"/>
              <a:cs typeface="Arial"/>
              <a:sym typeface="Arial"/>
            </a:endParaRPr>
          </a:p>
        </p:txBody>
      </p:sp>
      <p:sp>
        <p:nvSpPr>
          <p:cNvPr id="404" name="Google Shape;404;p11"/>
          <p:cNvSpPr txBox="1"/>
          <p:nvPr/>
        </p:nvSpPr>
        <p:spPr>
          <a:xfrm>
            <a:off x="804672" y="1920240"/>
            <a:ext cx="2176272" cy="7498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Can the subtree generate ε?</a:t>
            </a:r>
            <a:endParaRPr b="0" i="0" sz="1800" u="none" cap="none" strike="noStrike">
              <a:solidFill>
                <a:schemeClr val="dk1"/>
              </a:solidFill>
              <a:latin typeface="Arial"/>
              <a:ea typeface="Arial"/>
              <a:cs typeface="Arial"/>
              <a:sym typeface="Arial"/>
            </a:endParaRPr>
          </a:p>
        </p:txBody>
      </p:sp>
      <p:sp>
        <p:nvSpPr>
          <p:cNvPr id="405" name="Google Shape;405;p11"/>
          <p:cNvSpPr txBox="1"/>
          <p:nvPr/>
        </p:nvSpPr>
        <p:spPr>
          <a:xfrm>
            <a:off x="822960" y="2962656"/>
            <a:ext cx="2139696"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57789"/>
              </a:buClr>
              <a:buSzPts val="1450"/>
              <a:buFont typeface="Arial"/>
              <a:buNone/>
            </a:pPr>
            <a:r>
              <a:rPr b="0" i="0" lang="en-US" sz="1450" u="none" cap="none" strike="noStrike">
                <a:solidFill>
                  <a:srgbClr val="657789"/>
                </a:solidFill>
                <a:latin typeface="Arial"/>
                <a:ea typeface="Arial"/>
                <a:cs typeface="Arial"/>
                <a:sym typeface="Arial"/>
              </a:rPr>
              <a:t>Boolean: true or false</a:t>
            </a:r>
            <a:endParaRPr b="0" i="0" sz="1450" u="none" cap="none" strike="noStrike">
              <a:solidFill>
                <a:schemeClr val="dk1"/>
              </a:solidFill>
              <a:latin typeface="Arial"/>
              <a:ea typeface="Arial"/>
              <a:cs typeface="Arial"/>
              <a:sym typeface="Arial"/>
            </a:endParaRPr>
          </a:p>
        </p:txBody>
      </p:sp>
      <p:sp>
        <p:nvSpPr>
          <p:cNvPr id="406" name="Google Shape;406;p11"/>
          <p:cNvSpPr/>
          <p:nvPr/>
        </p:nvSpPr>
        <p:spPr>
          <a:xfrm>
            <a:off x="3474720" y="1078992"/>
            <a:ext cx="2542032" cy="2788920"/>
          </a:xfrm>
          <a:prstGeom prst="roundRect">
            <a:avLst>
              <a:gd fmla="val 2878" name="adj"/>
            </a:avLst>
          </a:prstGeom>
          <a:solidFill>
            <a:srgbClr val="EDF6FC"/>
          </a:solidFill>
          <a:ln cap="flat" cmpd="sng" w="12700">
            <a:solidFill>
              <a:srgbClr val="1F75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txBox="1"/>
          <p:nvPr/>
        </p:nvSpPr>
        <p:spPr>
          <a:xfrm>
            <a:off x="3621024" y="1335024"/>
            <a:ext cx="224028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100"/>
              <a:buFont typeface="Arial"/>
              <a:buNone/>
            </a:pPr>
            <a:r>
              <a:rPr b="1" i="0" lang="en-US" sz="2100" u="none" cap="none" strike="noStrike">
                <a:solidFill>
                  <a:srgbClr val="1F75BB"/>
                </a:solidFill>
                <a:latin typeface="Arial"/>
                <a:ea typeface="Arial"/>
                <a:cs typeface="Arial"/>
                <a:sym typeface="Arial"/>
              </a:rPr>
              <a:t>firstpos(n)</a:t>
            </a:r>
            <a:endParaRPr b="0" i="0" sz="2100" u="none" cap="none" strike="noStrike">
              <a:solidFill>
                <a:schemeClr val="dk1"/>
              </a:solidFill>
              <a:latin typeface="Arial"/>
              <a:ea typeface="Arial"/>
              <a:cs typeface="Arial"/>
              <a:sym typeface="Arial"/>
            </a:endParaRPr>
          </a:p>
        </p:txBody>
      </p:sp>
      <p:sp>
        <p:nvSpPr>
          <p:cNvPr id="408" name="Google Shape;408;p11"/>
          <p:cNvSpPr txBox="1"/>
          <p:nvPr/>
        </p:nvSpPr>
        <p:spPr>
          <a:xfrm>
            <a:off x="3657600" y="1920240"/>
            <a:ext cx="2176272" cy="7498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Which positions can appear first?</a:t>
            </a:r>
            <a:endParaRPr b="0" i="0" sz="1800" u="none" cap="none" strike="noStrike">
              <a:solidFill>
                <a:schemeClr val="dk1"/>
              </a:solidFill>
              <a:latin typeface="Arial"/>
              <a:ea typeface="Arial"/>
              <a:cs typeface="Arial"/>
              <a:sym typeface="Arial"/>
            </a:endParaRPr>
          </a:p>
        </p:txBody>
      </p:sp>
      <p:sp>
        <p:nvSpPr>
          <p:cNvPr id="409" name="Google Shape;409;p11"/>
          <p:cNvSpPr txBox="1"/>
          <p:nvPr/>
        </p:nvSpPr>
        <p:spPr>
          <a:xfrm>
            <a:off x="3675888" y="2962656"/>
            <a:ext cx="2139696"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57789"/>
              </a:buClr>
              <a:buSzPts val="1450"/>
              <a:buFont typeface="Arial"/>
              <a:buNone/>
            </a:pPr>
            <a:r>
              <a:rPr b="0" i="0" lang="en-US" sz="1450" u="none" cap="none" strike="noStrike">
                <a:solidFill>
                  <a:srgbClr val="657789"/>
                </a:solidFill>
                <a:latin typeface="Arial"/>
                <a:ea typeface="Arial"/>
                <a:cs typeface="Arial"/>
                <a:sym typeface="Arial"/>
              </a:rPr>
              <a:t>Set of position numbers</a:t>
            </a:r>
            <a:endParaRPr b="0" i="0" sz="1450" u="none" cap="none" strike="noStrike">
              <a:solidFill>
                <a:schemeClr val="dk1"/>
              </a:solidFill>
              <a:latin typeface="Arial"/>
              <a:ea typeface="Arial"/>
              <a:cs typeface="Arial"/>
              <a:sym typeface="Arial"/>
            </a:endParaRPr>
          </a:p>
        </p:txBody>
      </p:sp>
      <p:sp>
        <p:nvSpPr>
          <p:cNvPr id="410" name="Google Shape;410;p11"/>
          <p:cNvSpPr/>
          <p:nvPr/>
        </p:nvSpPr>
        <p:spPr>
          <a:xfrm>
            <a:off x="6327648" y="1078992"/>
            <a:ext cx="2542032" cy="2788920"/>
          </a:xfrm>
          <a:prstGeom prst="roundRect">
            <a:avLst>
              <a:gd fmla="val 2878" name="adj"/>
            </a:avLst>
          </a:prstGeom>
          <a:solidFill>
            <a:srgbClr val="FBECEC"/>
          </a:solidFill>
          <a:ln cap="flat" cmpd="sng" w="12700">
            <a:solidFill>
              <a:srgbClr val="C94C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1"/>
          <p:cNvSpPr txBox="1"/>
          <p:nvPr/>
        </p:nvSpPr>
        <p:spPr>
          <a:xfrm>
            <a:off x="6473952" y="1335024"/>
            <a:ext cx="224028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2100"/>
              <a:buFont typeface="Arial"/>
              <a:buNone/>
            </a:pPr>
            <a:r>
              <a:rPr b="1" i="0" lang="en-US" sz="2100" u="none" cap="none" strike="noStrike">
                <a:solidFill>
                  <a:srgbClr val="C94C4C"/>
                </a:solidFill>
                <a:latin typeface="Arial"/>
                <a:ea typeface="Arial"/>
                <a:cs typeface="Arial"/>
                <a:sym typeface="Arial"/>
              </a:rPr>
              <a:t>lastpos(n)</a:t>
            </a:r>
            <a:endParaRPr b="0" i="0" sz="2100" u="none" cap="none" strike="noStrike">
              <a:solidFill>
                <a:schemeClr val="dk1"/>
              </a:solidFill>
              <a:latin typeface="Arial"/>
              <a:ea typeface="Arial"/>
              <a:cs typeface="Arial"/>
              <a:sym typeface="Arial"/>
            </a:endParaRPr>
          </a:p>
        </p:txBody>
      </p:sp>
      <p:sp>
        <p:nvSpPr>
          <p:cNvPr id="412" name="Google Shape;412;p11"/>
          <p:cNvSpPr txBox="1"/>
          <p:nvPr/>
        </p:nvSpPr>
        <p:spPr>
          <a:xfrm>
            <a:off x="6510528" y="1920240"/>
            <a:ext cx="2176272" cy="7498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Which positions can appear last?</a:t>
            </a:r>
            <a:endParaRPr b="0" i="0" sz="1800" u="none" cap="none" strike="noStrike">
              <a:solidFill>
                <a:schemeClr val="dk1"/>
              </a:solidFill>
              <a:latin typeface="Arial"/>
              <a:ea typeface="Arial"/>
              <a:cs typeface="Arial"/>
              <a:sym typeface="Arial"/>
            </a:endParaRPr>
          </a:p>
        </p:txBody>
      </p:sp>
      <p:sp>
        <p:nvSpPr>
          <p:cNvPr id="413" name="Google Shape;413;p11"/>
          <p:cNvSpPr txBox="1"/>
          <p:nvPr/>
        </p:nvSpPr>
        <p:spPr>
          <a:xfrm>
            <a:off x="6528816" y="2962656"/>
            <a:ext cx="2139696"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57789"/>
              </a:buClr>
              <a:buSzPts val="1450"/>
              <a:buFont typeface="Arial"/>
              <a:buNone/>
            </a:pPr>
            <a:r>
              <a:rPr b="0" i="0" lang="en-US" sz="1450" u="none" cap="none" strike="noStrike">
                <a:solidFill>
                  <a:srgbClr val="657789"/>
                </a:solidFill>
                <a:latin typeface="Arial"/>
                <a:ea typeface="Arial"/>
                <a:cs typeface="Arial"/>
                <a:sym typeface="Arial"/>
              </a:rPr>
              <a:t>Set of position numbers</a:t>
            </a:r>
            <a:endParaRPr b="0" i="0" sz="1450" u="none" cap="none" strike="noStrike">
              <a:solidFill>
                <a:schemeClr val="dk1"/>
              </a:solidFill>
              <a:latin typeface="Arial"/>
              <a:ea typeface="Arial"/>
              <a:cs typeface="Arial"/>
              <a:sym typeface="Arial"/>
            </a:endParaRPr>
          </a:p>
        </p:txBody>
      </p:sp>
      <p:sp>
        <p:nvSpPr>
          <p:cNvPr id="414" name="Google Shape;414;p11"/>
          <p:cNvSpPr/>
          <p:nvPr/>
        </p:nvSpPr>
        <p:spPr>
          <a:xfrm>
            <a:off x="9180576" y="1078992"/>
            <a:ext cx="2542032" cy="2788920"/>
          </a:xfrm>
          <a:prstGeom prst="roundRect">
            <a:avLst>
              <a:gd fmla="val 2878" name="adj"/>
            </a:avLst>
          </a:prstGeom>
          <a:solidFill>
            <a:srgbClr val="E8F6F2"/>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txBox="1"/>
          <p:nvPr/>
        </p:nvSpPr>
        <p:spPr>
          <a:xfrm>
            <a:off x="9326880" y="1335024"/>
            <a:ext cx="224028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2100"/>
              <a:buFont typeface="Arial"/>
              <a:buNone/>
            </a:pPr>
            <a:r>
              <a:rPr b="1" i="0" lang="en-US" sz="2100" u="none" cap="none" strike="noStrike">
                <a:solidFill>
                  <a:srgbClr val="2A9D8F"/>
                </a:solidFill>
                <a:latin typeface="Arial"/>
                <a:ea typeface="Arial"/>
                <a:cs typeface="Arial"/>
                <a:sym typeface="Arial"/>
              </a:rPr>
              <a:t>followpos(i)</a:t>
            </a:r>
            <a:endParaRPr b="0" i="0" sz="2100" u="none" cap="none" strike="noStrike">
              <a:solidFill>
                <a:schemeClr val="dk1"/>
              </a:solidFill>
              <a:latin typeface="Arial"/>
              <a:ea typeface="Arial"/>
              <a:cs typeface="Arial"/>
              <a:sym typeface="Arial"/>
            </a:endParaRPr>
          </a:p>
        </p:txBody>
      </p:sp>
      <p:sp>
        <p:nvSpPr>
          <p:cNvPr id="416" name="Google Shape;416;p11"/>
          <p:cNvSpPr txBox="1"/>
          <p:nvPr/>
        </p:nvSpPr>
        <p:spPr>
          <a:xfrm>
            <a:off x="9363456" y="1920240"/>
            <a:ext cx="2176272" cy="7498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Which positions can come next?</a:t>
            </a:r>
            <a:endParaRPr b="0" i="0" sz="1800" u="none" cap="none" strike="noStrike">
              <a:solidFill>
                <a:schemeClr val="dk1"/>
              </a:solidFill>
              <a:latin typeface="Arial"/>
              <a:ea typeface="Arial"/>
              <a:cs typeface="Arial"/>
              <a:sym typeface="Arial"/>
            </a:endParaRPr>
          </a:p>
        </p:txBody>
      </p:sp>
      <p:sp>
        <p:nvSpPr>
          <p:cNvPr id="417" name="Google Shape;417;p11"/>
          <p:cNvSpPr txBox="1"/>
          <p:nvPr/>
        </p:nvSpPr>
        <p:spPr>
          <a:xfrm>
            <a:off x="9381744" y="2962656"/>
            <a:ext cx="2139696"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57789"/>
              </a:buClr>
              <a:buSzPts val="1450"/>
              <a:buFont typeface="Arial"/>
              <a:buNone/>
            </a:pPr>
            <a:r>
              <a:rPr b="0" i="0" lang="en-US" sz="1450" u="none" cap="none" strike="noStrike">
                <a:solidFill>
                  <a:srgbClr val="657789"/>
                </a:solidFill>
                <a:latin typeface="Arial"/>
                <a:ea typeface="Arial"/>
                <a:cs typeface="Arial"/>
                <a:sym typeface="Arial"/>
              </a:rPr>
              <a:t>Defined for each leaf position i</a:t>
            </a:r>
            <a:endParaRPr b="0" i="0" sz="1450" u="none" cap="none" strike="noStrike">
              <a:solidFill>
                <a:schemeClr val="dk1"/>
              </a:solidFill>
              <a:latin typeface="Arial"/>
              <a:ea typeface="Arial"/>
              <a:cs typeface="Arial"/>
              <a:sym typeface="Arial"/>
            </a:endParaRPr>
          </a:p>
        </p:txBody>
      </p:sp>
      <p:sp>
        <p:nvSpPr>
          <p:cNvPr id="418" name="Google Shape;418;p11"/>
          <p:cNvSpPr/>
          <p:nvPr/>
        </p:nvSpPr>
        <p:spPr>
          <a:xfrm>
            <a:off x="1417320" y="4315968"/>
            <a:ext cx="9372600" cy="868680"/>
          </a:xfrm>
          <a:prstGeom prst="roundRect">
            <a:avLst>
              <a:gd fmla="val 8421"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1417320" y="4315968"/>
            <a:ext cx="73152" cy="86868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txBox="1"/>
          <p:nvPr/>
        </p:nvSpPr>
        <p:spPr>
          <a:xfrm>
            <a:off x="1581912" y="4425696"/>
            <a:ext cx="90982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53A73"/>
              </a:buClr>
              <a:buSzPts val="1600"/>
              <a:buFont typeface="Arial"/>
              <a:buNone/>
            </a:pPr>
            <a:r>
              <a:rPr b="1" i="0" lang="en-US" sz="1600" u="none" cap="none" strike="noStrike">
                <a:solidFill>
                  <a:srgbClr val="153A73"/>
                </a:solidFill>
                <a:latin typeface="Arial"/>
                <a:ea typeface="Arial"/>
                <a:cs typeface="Arial"/>
                <a:sym typeface="Arial"/>
              </a:rPr>
              <a:t>Recommended teaching order</a:t>
            </a:r>
            <a:endParaRPr b="0" i="0" sz="1600" u="none" cap="none" strike="noStrike">
              <a:solidFill>
                <a:schemeClr val="dk1"/>
              </a:solidFill>
              <a:latin typeface="Arial"/>
              <a:ea typeface="Arial"/>
              <a:cs typeface="Arial"/>
              <a:sym typeface="Arial"/>
            </a:endParaRPr>
          </a:p>
        </p:txBody>
      </p:sp>
      <p:sp>
        <p:nvSpPr>
          <p:cNvPr id="421" name="Google Shape;421;p11"/>
          <p:cNvSpPr txBox="1"/>
          <p:nvPr/>
        </p:nvSpPr>
        <p:spPr>
          <a:xfrm>
            <a:off x="1581912" y="4800600"/>
            <a:ext cx="909828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nullable → firstpos → lastpos → followpos → DFA</a:t>
            </a:r>
            <a:endParaRPr b="0" i="0" sz="1600" u="none" cap="none" strike="noStrike">
              <a:solidFill>
                <a:schemeClr val="dk1"/>
              </a:solidFill>
              <a:latin typeface="Arial"/>
              <a:ea typeface="Arial"/>
              <a:cs typeface="Arial"/>
              <a:sym typeface="Arial"/>
            </a:endParaRPr>
          </a:p>
        </p:txBody>
      </p:sp>
      <p:sp>
        <p:nvSpPr>
          <p:cNvPr id="422" name="Google Shape;422;p11"/>
          <p:cNvSpPr txBox="1"/>
          <p:nvPr/>
        </p:nvSpPr>
        <p:spPr>
          <a:xfrm>
            <a:off x="1417320" y="5422392"/>
            <a:ext cx="93726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All values are derived from the syntax tree - not by enumerating strings.</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27" name="Shape 427"/>
        <p:cNvGrpSpPr/>
        <p:nvPr/>
      </p:nvGrpSpPr>
      <p:grpSpPr>
        <a:xfrm>
          <a:off x="0" y="0"/>
          <a:ext cx="0" cy="0"/>
          <a:chOff x="0" y="0"/>
          <a:chExt cx="0" cy="0"/>
        </a:xfrm>
      </p:grpSpPr>
      <p:sp>
        <p:nvSpPr>
          <p:cNvPr id="428" name="Google Shape;428;p12"/>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2"/>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nullable(n): can the subtree generate ε?</a:t>
            </a:r>
            <a:endParaRPr b="0" i="0" sz="2800" u="none" cap="none" strike="noStrike">
              <a:solidFill>
                <a:schemeClr val="dk1"/>
              </a:solidFill>
              <a:latin typeface="Arial"/>
              <a:ea typeface="Arial"/>
              <a:cs typeface="Arial"/>
              <a:sym typeface="Arial"/>
            </a:endParaRPr>
          </a:p>
        </p:txBody>
      </p:sp>
      <p:sp>
        <p:nvSpPr>
          <p:cNvPr id="430" name="Google Shape;430;p12"/>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2"/>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Nullable</a:t>
            </a:r>
            <a:endParaRPr b="0" i="0" sz="1150" u="none" cap="none" strike="noStrike">
              <a:solidFill>
                <a:schemeClr val="dk1"/>
              </a:solidFill>
              <a:latin typeface="Arial"/>
              <a:ea typeface="Arial"/>
              <a:cs typeface="Arial"/>
              <a:sym typeface="Arial"/>
            </a:endParaRPr>
          </a:p>
        </p:txBody>
      </p:sp>
      <p:sp>
        <p:nvSpPr>
          <p:cNvPr id="432" name="Google Shape;432;p12"/>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433" name="Google Shape;433;p12"/>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12</a:t>
            </a:r>
            <a:endParaRPr b="0" i="0" sz="950" u="none" cap="none" strike="noStrike">
              <a:solidFill>
                <a:schemeClr val="dk1"/>
              </a:solidFill>
              <a:latin typeface="Arial"/>
              <a:ea typeface="Arial"/>
              <a:cs typeface="Arial"/>
              <a:sym typeface="Arial"/>
            </a:endParaRPr>
          </a:p>
        </p:txBody>
      </p:sp>
      <p:sp>
        <p:nvSpPr>
          <p:cNvPr id="434" name="Google Shape;434;p12"/>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2"/>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436" name="Google Shape;436;p12"/>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2"/>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438" name="Google Shape;438;p12"/>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2"/>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440" name="Google Shape;440;p12"/>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2"/>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442" name="Google Shape;442;p12"/>
          <p:cNvSpPr/>
          <p:nvPr/>
        </p:nvSpPr>
        <p:spPr>
          <a:xfrm>
            <a:off x="658368" y="987552"/>
            <a:ext cx="3886200" cy="1965960"/>
          </a:xfrm>
          <a:prstGeom prst="roundRect">
            <a:avLst>
              <a:gd fmla="val 3721" name="adj"/>
            </a:avLst>
          </a:prstGeom>
          <a:solidFill>
            <a:srgbClr val="FFF3E6"/>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2"/>
          <p:cNvSpPr txBox="1"/>
          <p:nvPr/>
        </p:nvSpPr>
        <p:spPr>
          <a:xfrm>
            <a:off x="914400" y="1243584"/>
            <a:ext cx="338328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A261"/>
              </a:buClr>
              <a:buSzPts val="2000"/>
              <a:buFont typeface="Arial"/>
              <a:buNone/>
            </a:pPr>
            <a:r>
              <a:rPr b="1" i="0" lang="en-US" sz="2000" u="none" cap="none" strike="noStrike">
                <a:solidFill>
                  <a:srgbClr val="F4A261"/>
                </a:solidFill>
                <a:latin typeface="Arial"/>
                <a:ea typeface="Arial"/>
                <a:cs typeface="Arial"/>
                <a:sym typeface="Arial"/>
              </a:rPr>
              <a:t>Definition</a:t>
            </a:r>
            <a:endParaRPr b="0" i="0" sz="2000" u="none" cap="none" strike="noStrike">
              <a:solidFill>
                <a:schemeClr val="dk1"/>
              </a:solidFill>
              <a:latin typeface="Arial"/>
              <a:ea typeface="Arial"/>
              <a:cs typeface="Arial"/>
              <a:sym typeface="Arial"/>
            </a:endParaRPr>
          </a:p>
        </p:txBody>
      </p:sp>
      <p:sp>
        <p:nvSpPr>
          <p:cNvPr id="444" name="Google Shape;444;p12"/>
          <p:cNvSpPr txBox="1"/>
          <p:nvPr/>
        </p:nvSpPr>
        <p:spPr>
          <a:xfrm>
            <a:off x="914400" y="1764792"/>
            <a:ext cx="338328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500"/>
              <a:buFont typeface="Arial"/>
              <a:buNone/>
            </a:pPr>
            <a:r>
              <a:rPr b="1" i="0" lang="en-US" sz="2500" u="none" cap="none" strike="noStrike">
                <a:solidFill>
                  <a:srgbClr val="153A73"/>
                </a:solidFill>
                <a:latin typeface="Arial"/>
                <a:ea typeface="Arial"/>
                <a:cs typeface="Arial"/>
                <a:sym typeface="Arial"/>
              </a:rPr>
              <a:t>nullable(n) = true</a:t>
            </a:r>
            <a:endParaRPr b="0" i="0" sz="2500" u="none" cap="none" strike="noStrike">
              <a:solidFill>
                <a:schemeClr val="dk1"/>
              </a:solidFill>
              <a:latin typeface="Arial"/>
              <a:ea typeface="Arial"/>
              <a:cs typeface="Arial"/>
              <a:sym typeface="Arial"/>
            </a:endParaRPr>
          </a:p>
        </p:txBody>
      </p:sp>
      <p:sp>
        <p:nvSpPr>
          <p:cNvPr id="445" name="Google Shape;445;p12"/>
          <p:cNvSpPr txBox="1"/>
          <p:nvPr/>
        </p:nvSpPr>
        <p:spPr>
          <a:xfrm>
            <a:off x="914400" y="2221992"/>
            <a:ext cx="3383280" cy="47548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00"/>
              <a:buFont typeface="Arial"/>
              <a:buNone/>
            </a:pPr>
            <a:r>
              <a:rPr b="0" i="0" lang="en-US" sz="1700" u="none" cap="none" strike="noStrike">
                <a:solidFill>
                  <a:srgbClr val="1D2A39"/>
                </a:solidFill>
                <a:latin typeface="Arial"/>
                <a:ea typeface="Arial"/>
                <a:cs typeface="Arial"/>
                <a:sym typeface="Arial"/>
              </a:rPr>
              <a:t>when the subexpression rooted at n can produce the empty string ε.</a:t>
            </a:r>
            <a:endParaRPr b="0" i="0" sz="1700" u="none" cap="none" strike="noStrike">
              <a:solidFill>
                <a:schemeClr val="dk1"/>
              </a:solidFill>
              <a:latin typeface="Arial"/>
              <a:ea typeface="Arial"/>
              <a:cs typeface="Arial"/>
              <a:sym typeface="Arial"/>
            </a:endParaRPr>
          </a:p>
        </p:txBody>
      </p:sp>
      <p:pic>
        <p:nvPicPr>
          <p:cNvPr descr="preencoded.png" id="446" name="Google Shape;446;p12"/>
          <p:cNvPicPr preferRelativeResize="0"/>
          <p:nvPr/>
        </p:nvPicPr>
        <p:blipFill rotWithShape="1">
          <a:blip r:embed="rId3">
            <a:alphaModFix/>
          </a:blip>
          <a:srcRect b="0" l="0" r="0" t="0"/>
          <a:stretch/>
        </p:blipFill>
        <p:spPr>
          <a:xfrm>
            <a:off x="4754880" y="868680"/>
            <a:ext cx="2880360" cy="2788920"/>
          </a:xfrm>
          <a:prstGeom prst="rect">
            <a:avLst/>
          </a:prstGeom>
          <a:noFill/>
          <a:ln>
            <a:noFill/>
          </a:ln>
        </p:spPr>
      </p:pic>
      <p:sp>
        <p:nvSpPr>
          <p:cNvPr id="447" name="Google Shape;447;p12"/>
          <p:cNvSpPr/>
          <p:nvPr/>
        </p:nvSpPr>
        <p:spPr>
          <a:xfrm>
            <a:off x="7891272" y="1143000"/>
            <a:ext cx="3611880" cy="1097280"/>
          </a:xfrm>
          <a:prstGeom prst="roundRect">
            <a:avLst>
              <a:gd fmla="val 6667"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2"/>
          <p:cNvSpPr/>
          <p:nvPr/>
        </p:nvSpPr>
        <p:spPr>
          <a:xfrm>
            <a:off x="7891272" y="1143000"/>
            <a:ext cx="73152" cy="109728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2"/>
          <p:cNvSpPr txBox="1"/>
          <p:nvPr/>
        </p:nvSpPr>
        <p:spPr>
          <a:xfrm>
            <a:off x="8055864" y="1252728"/>
            <a:ext cx="33375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Example</a:t>
            </a:r>
            <a:endParaRPr b="0" i="0" sz="1600" u="none" cap="none" strike="noStrike">
              <a:solidFill>
                <a:schemeClr val="dk1"/>
              </a:solidFill>
              <a:latin typeface="Arial"/>
              <a:ea typeface="Arial"/>
              <a:cs typeface="Arial"/>
              <a:sym typeface="Arial"/>
            </a:endParaRPr>
          </a:p>
        </p:txBody>
      </p:sp>
      <p:sp>
        <p:nvSpPr>
          <p:cNvPr id="450" name="Google Shape;450;p12"/>
          <p:cNvSpPr txBox="1"/>
          <p:nvPr/>
        </p:nvSpPr>
        <p:spPr>
          <a:xfrm>
            <a:off x="8055864" y="1627632"/>
            <a:ext cx="3337560" cy="5303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(a|b)* is nullable because zero repetitions are permitted.</a:t>
            </a:r>
            <a:endParaRPr b="0" i="0" sz="1600" u="none" cap="none" strike="noStrike">
              <a:solidFill>
                <a:schemeClr val="dk1"/>
              </a:solidFill>
              <a:latin typeface="Arial"/>
              <a:ea typeface="Arial"/>
              <a:cs typeface="Arial"/>
              <a:sym typeface="Arial"/>
            </a:endParaRPr>
          </a:p>
        </p:txBody>
      </p:sp>
      <p:sp>
        <p:nvSpPr>
          <p:cNvPr id="451" name="Google Shape;451;p12"/>
          <p:cNvSpPr/>
          <p:nvPr/>
        </p:nvSpPr>
        <p:spPr>
          <a:xfrm>
            <a:off x="7891272" y="2560320"/>
            <a:ext cx="3611880" cy="1097280"/>
          </a:xfrm>
          <a:prstGeom prst="roundRect">
            <a:avLst>
              <a:gd fmla="val 6667"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2"/>
          <p:cNvSpPr/>
          <p:nvPr/>
        </p:nvSpPr>
        <p:spPr>
          <a:xfrm>
            <a:off x="7891272" y="2560320"/>
            <a:ext cx="73152" cy="109728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2"/>
          <p:cNvSpPr txBox="1"/>
          <p:nvPr/>
        </p:nvSpPr>
        <p:spPr>
          <a:xfrm>
            <a:off x="8055864" y="2670048"/>
            <a:ext cx="33375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Counterexample</a:t>
            </a:r>
            <a:endParaRPr b="0" i="0" sz="1600" u="none" cap="none" strike="noStrike">
              <a:solidFill>
                <a:schemeClr val="dk1"/>
              </a:solidFill>
              <a:latin typeface="Arial"/>
              <a:ea typeface="Arial"/>
              <a:cs typeface="Arial"/>
              <a:sym typeface="Arial"/>
            </a:endParaRPr>
          </a:p>
        </p:txBody>
      </p:sp>
      <p:sp>
        <p:nvSpPr>
          <p:cNvPr id="454" name="Google Shape;454;p12"/>
          <p:cNvSpPr txBox="1"/>
          <p:nvPr/>
        </p:nvSpPr>
        <p:spPr>
          <a:xfrm>
            <a:off x="8055864" y="3044952"/>
            <a:ext cx="3337560" cy="5303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 symbol leaf such as a₃ is not nullable because it must consume one input symbol.</a:t>
            </a:r>
            <a:endParaRPr b="0" i="0" sz="1600" u="none" cap="none" strike="noStrike">
              <a:solidFill>
                <a:schemeClr val="dk1"/>
              </a:solidFill>
              <a:latin typeface="Arial"/>
              <a:ea typeface="Arial"/>
              <a:cs typeface="Arial"/>
              <a:sym typeface="Arial"/>
            </a:endParaRPr>
          </a:p>
        </p:txBody>
      </p:sp>
      <p:sp>
        <p:nvSpPr>
          <p:cNvPr id="455" name="Google Shape;455;p12"/>
          <p:cNvSpPr/>
          <p:nvPr/>
        </p:nvSpPr>
        <p:spPr>
          <a:xfrm>
            <a:off x="658368" y="4096512"/>
            <a:ext cx="10844784" cy="1143000"/>
          </a:xfrm>
          <a:prstGeom prst="roundRect">
            <a:avLst>
              <a:gd fmla="val 6400"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2"/>
          <p:cNvSpPr txBox="1"/>
          <p:nvPr/>
        </p:nvSpPr>
        <p:spPr>
          <a:xfrm>
            <a:off x="896112" y="4315968"/>
            <a:ext cx="2011680" cy="29260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75BB"/>
              </a:buClr>
              <a:buSzPts val="1800"/>
              <a:buFont typeface="Arial"/>
              <a:buNone/>
            </a:pPr>
            <a:r>
              <a:rPr b="1" i="0" lang="en-US" sz="1800" u="none" cap="none" strike="noStrike">
                <a:solidFill>
                  <a:srgbClr val="1F75BB"/>
                </a:solidFill>
                <a:latin typeface="Arial"/>
                <a:ea typeface="Arial"/>
                <a:cs typeface="Arial"/>
                <a:sym typeface="Arial"/>
              </a:rPr>
              <a:t>Classroom question</a:t>
            </a:r>
            <a:endParaRPr b="0" i="0" sz="1800" u="none" cap="none" strike="noStrike">
              <a:solidFill>
                <a:schemeClr val="dk1"/>
              </a:solidFill>
              <a:latin typeface="Arial"/>
              <a:ea typeface="Arial"/>
              <a:cs typeface="Arial"/>
              <a:sym typeface="Arial"/>
            </a:endParaRPr>
          </a:p>
        </p:txBody>
      </p:sp>
      <p:sp>
        <p:nvSpPr>
          <p:cNvPr id="457" name="Google Shape;457;p12"/>
          <p:cNvSpPr txBox="1"/>
          <p:nvPr/>
        </p:nvSpPr>
        <p:spPr>
          <a:xfrm>
            <a:off x="2761488" y="4261104"/>
            <a:ext cx="429768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2000"/>
              <a:buFont typeface="Arial"/>
              <a:buNone/>
            </a:pPr>
            <a:r>
              <a:rPr b="1" i="0" lang="en-US" sz="2000" u="none" cap="none" strike="noStrike">
                <a:solidFill>
                  <a:srgbClr val="1D2A39"/>
                </a:solidFill>
                <a:latin typeface="Arial"/>
                <a:ea typeface="Arial"/>
                <a:cs typeface="Arial"/>
                <a:sym typeface="Arial"/>
              </a:rPr>
              <a:t>Which nodes in our complete tree are nullable?</a:t>
            </a:r>
            <a:endParaRPr b="0" i="0" sz="2000" u="none" cap="none" strike="noStrike">
              <a:solidFill>
                <a:schemeClr val="dk1"/>
              </a:solidFill>
              <a:latin typeface="Arial"/>
              <a:ea typeface="Arial"/>
              <a:cs typeface="Arial"/>
              <a:sym typeface="Arial"/>
            </a:endParaRPr>
          </a:p>
        </p:txBody>
      </p:sp>
      <p:sp>
        <p:nvSpPr>
          <p:cNvPr id="458" name="Google Shape;458;p12"/>
          <p:cNvSpPr/>
          <p:nvPr/>
        </p:nvSpPr>
        <p:spPr>
          <a:xfrm>
            <a:off x="7452360" y="4297680"/>
            <a:ext cx="310896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2"/>
          <p:cNvSpPr txBox="1"/>
          <p:nvPr/>
        </p:nvSpPr>
        <p:spPr>
          <a:xfrm>
            <a:off x="7498080" y="4306824"/>
            <a:ext cx="30175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Only the star node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64" name="Shape 464"/>
        <p:cNvGrpSpPr/>
        <p:nvPr/>
      </p:nvGrpSpPr>
      <p:grpSpPr>
        <a:xfrm>
          <a:off x="0" y="0"/>
          <a:ext cx="0" cy="0"/>
          <a:chOff x="0" y="0"/>
          <a:chExt cx="0" cy="0"/>
        </a:xfrm>
      </p:grpSpPr>
      <p:sp>
        <p:nvSpPr>
          <p:cNvPr id="465" name="Google Shape;465;p13"/>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Rules for nullable(n)</a:t>
            </a:r>
            <a:endParaRPr b="0" i="0" sz="2800" u="none" cap="none" strike="noStrike">
              <a:solidFill>
                <a:schemeClr val="dk1"/>
              </a:solidFill>
              <a:latin typeface="Arial"/>
              <a:ea typeface="Arial"/>
              <a:cs typeface="Arial"/>
              <a:sym typeface="Arial"/>
            </a:endParaRPr>
          </a:p>
        </p:txBody>
      </p:sp>
      <p:sp>
        <p:nvSpPr>
          <p:cNvPr id="467" name="Google Shape;467;p13"/>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Nullable</a:t>
            </a:r>
            <a:endParaRPr b="0" i="0" sz="1150" u="none" cap="none" strike="noStrike">
              <a:solidFill>
                <a:schemeClr val="dk1"/>
              </a:solidFill>
              <a:latin typeface="Arial"/>
              <a:ea typeface="Arial"/>
              <a:cs typeface="Arial"/>
              <a:sym typeface="Arial"/>
            </a:endParaRPr>
          </a:p>
        </p:txBody>
      </p:sp>
      <p:sp>
        <p:nvSpPr>
          <p:cNvPr id="469" name="Google Shape;469;p13"/>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470" name="Google Shape;470;p13"/>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13</a:t>
            </a:r>
            <a:endParaRPr b="0" i="0" sz="950" u="none" cap="none" strike="noStrike">
              <a:solidFill>
                <a:schemeClr val="dk1"/>
              </a:solidFill>
              <a:latin typeface="Arial"/>
              <a:ea typeface="Arial"/>
              <a:cs typeface="Arial"/>
              <a:sym typeface="Arial"/>
            </a:endParaRPr>
          </a:p>
        </p:txBody>
      </p:sp>
      <p:sp>
        <p:nvSpPr>
          <p:cNvPr id="471" name="Google Shape;471;p13"/>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473" name="Google Shape;473;p13"/>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475" name="Google Shape;475;p13"/>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477" name="Google Shape;477;p13"/>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479" name="Google Shape;479;p13"/>
          <p:cNvSpPr/>
          <p:nvPr/>
        </p:nvSpPr>
        <p:spPr>
          <a:xfrm>
            <a:off x="640080" y="987552"/>
            <a:ext cx="2036826" cy="73152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
          <p:cNvSpPr txBox="1"/>
          <p:nvPr/>
        </p:nvSpPr>
        <p:spPr>
          <a:xfrm>
            <a:off x="694944" y="1005840"/>
            <a:ext cx="192709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Node n</a:t>
            </a:r>
            <a:endParaRPr b="0" i="0" sz="1650" u="none" cap="none" strike="noStrike">
              <a:solidFill>
                <a:schemeClr val="dk1"/>
              </a:solidFill>
              <a:latin typeface="Arial"/>
              <a:ea typeface="Arial"/>
              <a:cs typeface="Arial"/>
              <a:sym typeface="Arial"/>
            </a:endParaRPr>
          </a:p>
        </p:txBody>
      </p:sp>
      <p:sp>
        <p:nvSpPr>
          <p:cNvPr id="481" name="Google Shape;481;p13"/>
          <p:cNvSpPr/>
          <p:nvPr/>
        </p:nvSpPr>
        <p:spPr>
          <a:xfrm>
            <a:off x="2676906" y="987552"/>
            <a:ext cx="2715768" cy="73152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txBox="1"/>
          <p:nvPr/>
        </p:nvSpPr>
        <p:spPr>
          <a:xfrm>
            <a:off x="2731770" y="1005840"/>
            <a:ext cx="2606040" cy="69494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nullable(n)</a:t>
            </a:r>
            <a:endParaRPr b="0" i="0" sz="1650" u="none" cap="none" strike="noStrike">
              <a:solidFill>
                <a:schemeClr val="dk1"/>
              </a:solidFill>
              <a:latin typeface="Arial"/>
              <a:ea typeface="Arial"/>
              <a:cs typeface="Arial"/>
              <a:sym typeface="Arial"/>
            </a:endParaRPr>
          </a:p>
        </p:txBody>
      </p:sp>
      <p:sp>
        <p:nvSpPr>
          <p:cNvPr id="483" name="Google Shape;483;p13"/>
          <p:cNvSpPr/>
          <p:nvPr/>
        </p:nvSpPr>
        <p:spPr>
          <a:xfrm>
            <a:off x="5392674" y="987552"/>
            <a:ext cx="2791206" cy="73152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3"/>
          <p:cNvSpPr txBox="1"/>
          <p:nvPr/>
        </p:nvSpPr>
        <p:spPr>
          <a:xfrm>
            <a:off x="5447538" y="1005840"/>
            <a:ext cx="268147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Reason</a:t>
            </a:r>
            <a:endParaRPr b="0" i="0" sz="1650" u="none" cap="none" strike="noStrike">
              <a:solidFill>
                <a:schemeClr val="dk1"/>
              </a:solidFill>
              <a:latin typeface="Arial"/>
              <a:ea typeface="Arial"/>
              <a:cs typeface="Arial"/>
              <a:sym typeface="Arial"/>
            </a:endParaRPr>
          </a:p>
        </p:txBody>
      </p:sp>
      <p:sp>
        <p:nvSpPr>
          <p:cNvPr id="485" name="Google Shape;485;p13"/>
          <p:cNvSpPr/>
          <p:nvPr/>
        </p:nvSpPr>
        <p:spPr>
          <a:xfrm>
            <a:off x="640080" y="1719072"/>
            <a:ext cx="2036826"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txBox="1"/>
          <p:nvPr/>
        </p:nvSpPr>
        <p:spPr>
          <a:xfrm>
            <a:off x="694944" y="1737360"/>
            <a:ext cx="192709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1" i="0" lang="en-US" sz="1550" u="none" cap="none" strike="noStrike">
                <a:solidFill>
                  <a:srgbClr val="1D2A39"/>
                </a:solidFill>
                <a:latin typeface="Arial"/>
                <a:ea typeface="Arial"/>
                <a:cs typeface="Arial"/>
                <a:sym typeface="Arial"/>
              </a:rPr>
              <a:t>leaf ε</a:t>
            </a:r>
            <a:endParaRPr b="0" i="0" sz="1550" u="none" cap="none" strike="noStrike">
              <a:solidFill>
                <a:schemeClr val="dk1"/>
              </a:solidFill>
              <a:latin typeface="Arial"/>
              <a:ea typeface="Arial"/>
              <a:cs typeface="Arial"/>
              <a:sym typeface="Arial"/>
            </a:endParaRPr>
          </a:p>
        </p:txBody>
      </p:sp>
      <p:sp>
        <p:nvSpPr>
          <p:cNvPr id="487" name="Google Shape;487;p13"/>
          <p:cNvSpPr/>
          <p:nvPr/>
        </p:nvSpPr>
        <p:spPr>
          <a:xfrm>
            <a:off x="2676906" y="1719072"/>
            <a:ext cx="2715768"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3"/>
          <p:cNvSpPr txBox="1"/>
          <p:nvPr/>
        </p:nvSpPr>
        <p:spPr>
          <a:xfrm>
            <a:off x="2731770" y="1737360"/>
            <a:ext cx="2606040" cy="69494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true</a:t>
            </a:r>
            <a:endParaRPr b="0" i="0" sz="1550" u="none" cap="none" strike="noStrike">
              <a:solidFill>
                <a:schemeClr val="dk1"/>
              </a:solidFill>
              <a:latin typeface="Arial"/>
              <a:ea typeface="Arial"/>
              <a:cs typeface="Arial"/>
              <a:sym typeface="Arial"/>
            </a:endParaRPr>
          </a:p>
        </p:txBody>
      </p:sp>
      <p:sp>
        <p:nvSpPr>
          <p:cNvPr id="489" name="Google Shape;489;p13"/>
          <p:cNvSpPr/>
          <p:nvPr/>
        </p:nvSpPr>
        <p:spPr>
          <a:xfrm>
            <a:off x="5392674" y="1719072"/>
            <a:ext cx="2791206"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3"/>
          <p:cNvSpPr txBox="1"/>
          <p:nvPr/>
        </p:nvSpPr>
        <p:spPr>
          <a:xfrm>
            <a:off x="5447538" y="1737360"/>
            <a:ext cx="268147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ε is already empty</a:t>
            </a:r>
            <a:endParaRPr b="0" i="0" sz="1550" u="none" cap="none" strike="noStrike">
              <a:solidFill>
                <a:schemeClr val="dk1"/>
              </a:solidFill>
              <a:latin typeface="Arial"/>
              <a:ea typeface="Arial"/>
              <a:cs typeface="Arial"/>
              <a:sym typeface="Arial"/>
            </a:endParaRPr>
          </a:p>
        </p:txBody>
      </p:sp>
      <p:sp>
        <p:nvSpPr>
          <p:cNvPr id="491" name="Google Shape;491;p13"/>
          <p:cNvSpPr/>
          <p:nvPr/>
        </p:nvSpPr>
        <p:spPr>
          <a:xfrm>
            <a:off x="640080" y="2450592"/>
            <a:ext cx="2036826" cy="73152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txBox="1"/>
          <p:nvPr/>
        </p:nvSpPr>
        <p:spPr>
          <a:xfrm>
            <a:off x="694944" y="2468880"/>
            <a:ext cx="192709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1" i="0" lang="en-US" sz="1550" u="none" cap="none" strike="noStrike">
                <a:solidFill>
                  <a:srgbClr val="1D2A39"/>
                </a:solidFill>
                <a:latin typeface="Arial"/>
                <a:ea typeface="Arial"/>
                <a:cs typeface="Arial"/>
                <a:sym typeface="Arial"/>
              </a:rPr>
              <a:t>leaf at position i</a:t>
            </a:r>
            <a:endParaRPr b="0" i="0" sz="1550" u="none" cap="none" strike="noStrike">
              <a:solidFill>
                <a:schemeClr val="dk1"/>
              </a:solidFill>
              <a:latin typeface="Arial"/>
              <a:ea typeface="Arial"/>
              <a:cs typeface="Arial"/>
              <a:sym typeface="Arial"/>
            </a:endParaRPr>
          </a:p>
        </p:txBody>
      </p:sp>
      <p:sp>
        <p:nvSpPr>
          <p:cNvPr id="493" name="Google Shape;493;p13"/>
          <p:cNvSpPr/>
          <p:nvPr/>
        </p:nvSpPr>
        <p:spPr>
          <a:xfrm>
            <a:off x="2676906" y="2450592"/>
            <a:ext cx="2715768" cy="73152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3"/>
          <p:cNvSpPr txBox="1"/>
          <p:nvPr/>
        </p:nvSpPr>
        <p:spPr>
          <a:xfrm>
            <a:off x="2731770" y="2468880"/>
            <a:ext cx="2606040" cy="69494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false</a:t>
            </a:r>
            <a:endParaRPr b="0" i="0" sz="1550" u="none" cap="none" strike="noStrike">
              <a:solidFill>
                <a:schemeClr val="dk1"/>
              </a:solidFill>
              <a:latin typeface="Arial"/>
              <a:ea typeface="Arial"/>
              <a:cs typeface="Arial"/>
              <a:sym typeface="Arial"/>
            </a:endParaRPr>
          </a:p>
        </p:txBody>
      </p:sp>
      <p:sp>
        <p:nvSpPr>
          <p:cNvPr id="495" name="Google Shape;495;p13"/>
          <p:cNvSpPr/>
          <p:nvPr/>
        </p:nvSpPr>
        <p:spPr>
          <a:xfrm>
            <a:off x="5392674" y="2450592"/>
            <a:ext cx="2791206" cy="73152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txBox="1"/>
          <p:nvPr/>
        </p:nvSpPr>
        <p:spPr>
          <a:xfrm>
            <a:off x="5447538" y="2468880"/>
            <a:ext cx="268147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a symbol must be consumed</a:t>
            </a:r>
            <a:endParaRPr b="0" i="0" sz="1550" u="none" cap="none" strike="noStrike">
              <a:solidFill>
                <a:schemeClr val="dk1"/>
              </a:solidFill>
              <a:latin typeface="Arial"/>
              <a:ea typeface="Arial"/>
              <a:cs typeface="Arial"/>
              <a:sym typeface="Arial"/>
            </a:endParaRPr>
          </a:p>
        </p:txBody>
      </p:sp>
      <p:sp>
        <p:nvSpPr>
          <p:cNvPr id="497" name="Google Shape;497;p13"/>
          <p:cNvSpPr/>
          <p:nvPr/>
        </p:nvSpPr>
        <p:spPr>
          <a:xfrm>
            <a:off x="640080" y="3182112"/>
            <a:ext cx="2036826"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3"/>
          <p:cNvSpPr txBox="1"/>
          <p:nvPr/>
        </p:nvSpPr>
        <p:spPr>
          <a:xfrm>
            <a:off x="694944" y="3200400"/>
            <a:ext cx="192709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1" i="0" lang="en-US" sz="1550" u="none" cap="none" strike="noStrike">
                <a:solidFill>
                  <a:srgbClr val="1D2A39"/>
                </a:solidFill>
                <a:latin typeface="Arial"/>
                <a:ea typeface="Arial"/>
                <a:cs typeface="Arial"/>
                <a:sym typeface="Arial"/>
              </a:rPr>
              <a:t>c₁ | c₂</a:t>
            </a:r>
            <a:endParaRPr b="0" i="0" sz="1550" u="none" cap="none" strike="noStrike">
              <a:solidFill>
                <a:schemeClr val="dk1"/>
              </a:solidFill>
              <a:latin typeface="Arial"/>
              <a:ea typeface="Arial"/>
              <a:cs typeface="Arial"/>
              <a:sym typeface="Arial"/>
            </a:endParaRPr>
          </a:p>
        </p:txBody>
      </p:sp>
      <p:sp>
        <p:nvSpPr>
          <p:cNvPr id="499" name="Google Shape;499;p13"/>
          <p:cNvSpPr/>
          <p:nvPr/>
        </p:nvSpPr>
        <p:spPr>
          <a:xfrm>
            <a:off x="2676906" y="3182112"/>
            <a:ext cx="2715768"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3"/>
          <p:cNvSpPr txBox="1"/>
          <p:nvPr/>
        </p:nvSpPr>
        <p:spPr>
          <a:xfrm>
            <a:off x="2731770" y="3200400"/>
            <a:ext cx="2606040" cy="69494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nullable(c₁) OR nullable(c₂)</a:t>
            </a:r>
            <a:endParaRPr b="0" i="0" sz="1550" u="none" cap="none" strike="noStrike">
              <a:solidFill>
                <a:schemeClr val="dk1"/>
              </a:solidFill>
              <a:latin typeface="Arial"/>
              <a:ea typeface="Arial"/>
              <a:cs typeface="Arial"/>
              <a:sym typeface="Arial"/>
            </a:endParaRPr>
          </a:p>
        </p:txBody>
      </p:sp>
      <p:sp>
        <p:nvSpPr>
          <p:cNvPr id="501" name="Google Shape;501;p13"/>
          <p:cNvSpPr/>
          <p:nvPr/>
        </p:nvSpPr>
        <p:spPr>
          <a:xfrm>
            <a:off x="5392674" y="3182112"/>
            <a:ext cx="2791206"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3"/>
          <p:cNvSpPr txBox="1"/>
          <p:nvPr/>
        </p:nvSpPr>
        <p:spPr>
          <a:xfrm>
            <a:off x="5447538" y="3200400"/>
            <a:ext cx="268147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either alternative may be empty</a:t>
            </a:r>
            <a:endParaRPr b="0" i="0" sz="1550" u="none" cap="none" strike="noStrike">
              <a:solidFill>
                <a:schemeClr val="dk1"/>
              </a:solidFill>
              <a:latin typeface="Arial"/>
              <a:ea typeface="Arial"/>
              <a:cs typeface="Arial"/>
              <a:sym typeface="Arial"/>
            </a:endParaRPr>
          </a:p>
        </p:txBody>
      </p:sp>
      <p:sp>
        <p:nvSpPr>
          <p:cNvPr id="503" name="Google Shape;503;p13"/>
          <p:cNvSpPr/>
          <p:nvPr/>
        </p:nvSpPr>
        <p:spPr>
          <a:xfrm>
            <a:off x="640080" y="3913632"/>
            <a:ext cx="2036826" cy="73152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3"/>
          <p:cNvSpPr txBox="1"/>
          <p:nvPr/>
        </p:nvSpPr>
        <p:spPr>
          <a:xfrm>
            <a:off x="694944" y="3931920"/>
            <a:ext cx="192709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1" i="0" lang="en-US" sz="1550" u="none" cap="none" strike="noStrike">
                <a:solidFill>
                  <a:srgbClr val="1D2A39"/>
                </a:solidFill>
                <a:latin typeface="Arial"/>
                <a:ea typeface="Arial"/>
                <a:cs typeface="Arial"/>
                <a:sym typeface="Arial"/>
              </a:rPr>
              <a:t>c₁ · c₂</a:t>
            </a:r>
            <a:endParaRPr b="0" i="0" sz="1550" u="none" cap="none" strike="noStrike">
              <a:solidFill>
                <a:schemeClr val="dk1"/>
              </a:solidFill>
              <a:latin typeface="Arial"/>
              <a:ea typeface="Arial"/>
              <a:cs typeface="Arial"/>
              <a:sym typeface="Arial"/>
            </a:endParaRPr>
          </a:p>
        </p:txBody>
      </p:sp>
      <p:sp>
        <p:nvSpPr>
          <p:cNvPr id="505" name="Google Shape;505;p13"/>
          <p:cNvSpPr/>
          <p:nvPr/>
        </p:nvSpPr>
        <p:spPr>
          <a:xfrm>
            <a:off x="2676906" y="3913632"/>
            <a:ext cx="2715768" cy="73152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3"/>
          <p:cNvSpPr txBox="1"/>
          <p:nvPr/>
        </p:nvSpPr>
        <p:spPr>
          <a:xfrm>
            <a:off x="2731770" y="3931920"/>
            <a:ext cx="2606040" cy="69494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nullable(c₁) AND nullable(c₂)</a:t>
            </a:r>
            <a:endParaRPr b="0" i="0" sz="1550" u="none" cap="none" strike="noStrike">
              <a:solidFill>
                <a:schemeClr val="dk1"/>
              </a:solidFill>
              <a:latin typeface="Arial"/>
              <a:ea typeface="Arial"/>
              <a:cs typeface="Arial"/>
              <a:sym typeface="Arial"/>
            </a:endParaRPr>
          </a:p>
        </p:txBody>
      </p:sp>
      <p:sp>
        <p:nvSpPr>
          <p:cNvPr id="507" name="Google Shape;507;p13"/>
          <p:cNvSpPr/>
          <p:nvPr/>
        </p:nvSpPr>
        <p:spPr>
          <a:xfrm>
            <a:off x="5392674" y="3913632"/>
            <a:ext cx="2791206" cy="73152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3"/>
          <p:cNvSpPr txBox="1"/>
          <p:nvPr/>
        </p:nvSpPr>
        <p:spPr>
          <a:xfrm>
            <a:off x="5447538" y="3931920"/>
            <a:ext cx="268147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both parts must be empty</a:t>
            </a:r>
            <a:endParaRPr b="0" i="0" sz="1550" u="none" cap="none" strike="noStrike">
              <a:solidFill>
                <a:schemeClr val="dk1"/>
              </a:solidFill>
              <a:latin typeface="Arial"/>
              <a:ea typeface="Arial"/>
              <a:cs typeface="Arial"/>
              <a:sym typeface="Arial"/>
            </a:endParaRPr>
          </a:p>
        </p:txBody>
      </p:sp>
      <p:sp>
        <p:nvSpPr>
          <p:cNvPr id="509" name="Google Shape;509;p13"/>
          <p:cNvSpPr/>
          <p:nvPr/>
        </p:nvSpPr>
        <p:spPr>
          <a:xfrm>
            <a:off x="640080" y="4645152"/>
            <a:ext cx="2036826"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3"/>
          <p:cNvSpPr txBox="1"/>
          <p:nvPr/>
        </p:nvSpPr>
        <p:spPr>
          <a:xfrm>
            <a:off x="694944" y="4663440"/>
            <a:ext cx="192709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1" i="0" lang="en-US" sz="1550" u="none" cap="none" strike="noStrike">
                <a:solidFill>
                  <a:srgbClr val="1D2A39"/>
                </a:solidFill>
                <a:latin typeface="Arial"/>
                <a:ea typeface="Arial"/>
                <a:cs typeface="Arial"/>
                <a:sym typeface="Arial"/>
              </a:rPr>
              <a:t>c*</a:t>
            </a:r>
            <a:endParaRPr b="0" i="0" sz="1550" u="none" cap="none" strike="noStrike">
              <a:solidFill>
                <a:schemeClr val="dk1"/>
              </a:solidFill>
              <a:latin typeface="Arial"/>
              <a:ea typeface="Arial"/>
              <a:cs typeface="Arial"/>
              <a:sym typeface="Arial"/>
            </a:endParaRPr>
          </a:p>
        </p:txBody>
      </p:sp>
      <p:sp>
        <p:nvSpPr>
          <p:cNvPr id="511" name="Google Shape;511;p13"/>
          <p:cNvSpPr/>
          <p:nvPr/>
        </p:nvSpPr>
        <p:spPr>
          <a:xfrm>
            <a:off x="2676906" y="4645152"/>
            <a:ext cx="2715768"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txBox="1"/>
          <p:nvPr/>
        </p:nvSpPr>
        <p:spPr>
          <a:xfrm>
            <a:off x="2731770" y="4663440"/>
            <a:ext cx="2606040" cy="69494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true</a:t>
            </a:r>
            <a:endParaRPr b="0" i="0" sz="1550" u="none" cap="none" strike="noStrike">
              <a:solidFill>
                <a:schemeClr val="dk1"/>
              </a:solidFill>
              <a:latin typeface="Arial"/>
              <a:ea typeface="Arial"/>
              <a:cs typeface="Arial"/>
              <a:sym typeface="Arial"/>
            </a:endParaRPr>
          </a:p>
        </p:txBody>
      </p:sp>
      <p:sp>
        <p:nvSpPr>
          <p:cNvPr id="513" name="Google Shape;513;p13"/>
          <p:cNvSpPr/>
          <p:nvPr/>
        </p:nvSpPr>
        <p:spPr>
          <a:xfrm>
            <a:off x="5392674" y="4645152"/>
            <a:ext cx="2791206" cy="73152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3"/>
          <p:cNvSpPr txBox="1"/>
          <p:nvPr/>
        </p:nvSpPr>
        <p:spPr>
          <a:xfrm>
            <a:off x="5447538" y="4663440"/>
            <a:ext cx="2681478" cy="69494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50"/>
              <a:buFont typeface="Arial"/>
              <a:buNone/>
            </a:pPr>
            <a:r>
              <a:rPr b="0" i="0" lang="en-US" sz="1550" u="none" cap="none" strike="noStrike">
                <a:solidFill>
                  <a:srgbClr val="1D2A39"/>
                </a:solidFill>
                <a:latin typeface="Arial"/>
                <a:ea typeface="Arial"/>
                <a:cs typeface="Arial"/>
                <a:sym typeface="Arial"/>
              </a:rPr>
              <a:t>zero repetitions are allowed</a:t>
            </a:r>
            <a:endParaRPr b="0" i="0" sz="1550" u="none" cap="none" strike="noStrike">
              <a:solidFill>
                <a:schemeClr val="dk1"/>
              </a:solidFill>
              <a:latin typeface="Arial"/>
              <a:ea typeface="Arial"/>
              <a:cs typeface="Arial"/>
              <a:sym typeface="Arial"/>
            </a:endParaRPr>
          </a:p>
        </p:txBody>
      </p:sp>
      <p:sp>
        <p:nvSpPr>
          <p:cNvPr id="515" name="Google Shape;515;p13"/>
          <p:cNvSpPr/>
          <p:nvPr/>
        </p:nvSpPr>
        <p:spPr>
          <a:xfrm>
            <a:off x="8458200" y="1051560"/>
            <a:ext cx="3063240" cy="1143000"/>
          </a:xfrm>
          <a:prstGeom prst="roundRect">
            <a:avLst>
              <a:gd fmla="val 6400"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8458200" y="1051560"/>
            <a:ext cx="73152" cy="1143000"/>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txBox="1"/>
          <p:nvPr/>
        </p:nvSpPr>
        <p:spPr>
          <a:xfrm>
            <a:off x="8622792" y="1161288"/>
            <a:ext cx="27889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Memory trick</a:t>
            </a:r>
            <a:endParaRPr b="0" i="0" sz="1600" u="none" cap="none" strike="noStrike">
              <a:solidFill>
                <a:schemeClr val="dk1"/>
              </a:solidFill>
              <a:latin typeface="Arial"/>
              <a:ea typeface="Arial"/>
              <a:cs typeface="Arial"/>
              <a:sym typeface="Arial"/>
            </a:endParaRPr>
          </a:p>
        </p:txBody>
      </p:sp>
      <p:sp>
        <p:nvSpPr>
          <p:cNvPr id="518" name="Google Shape;518;p13"/>
          <p:cNvSpPr txBox="1"/>
          <p:nvPr/>
        </p:nvSpPr>
        <p:spPr>
          <a:xfrm>
            <a:off x="8622792" y="1536192"/>
            <a:ext cx="2788920" cy="5760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OR for union, AND for concatenation, always true for star.</a:t>
            </a:r>
            <a:endParaRPr b="0" i="0" sz="1600" u="none" cap="none" strike="noStrike">
              <a:solidFill>
                <a:schemeClr val="dk1"/>
              </a:solidFill>
              <a:latin typeface="Arial"/>
              <a:ea typeface="Arial"/>
              <a:cs typeface="Arial"/>
              <a:sym typeface="Arial"/>
            </a:endParaRPr>
          </a:p>
        </p:txBody>
      </p:sp>
      <p:sp>
        <p:nvSpPr>
          <p:cNvPr id="519" name="Google Shape;519;p13"/>
          <p:cNvSpPr/>
          <p:nvPr/>
        </p:nvSpPr>
        <p:spPr>
          <a:xfrm>
            <a:off x="8458200" y="2560320"/>
            <a:ext cx="3063240" cy="1463040"/>
          </a:xfrm>
          <a:prstGeom prst="roundRect">
            <a:avLst>
              <a:gd fmla="val 5000"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3"/>
          <p:cNvSpPr/>
          <p:nvPr/>
        </p:nvSpPr>
        <p:spPr>
          <a:xfrm>
            <a:off x="8458200" y="2560320"/>
            <a:ext cx="73152" cy="146304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3"/>
          <p:cNvSpPr txBox="1"/>
          <p:nvPr/>
        </p:nvSpPr>
        <p:spPr>
          <a:xfrm>
            <a:off x="8622792" y="2670048"/>
            <a:ext cx="27889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For our tree</a:t>
            </a:r>
            <a:endParaRPr b="0" i="0" sz="1600" u="none" cap="none" strike="noStrike">
              <a:solidFill>
                <a:schemeClr val="dk1"/>
              </a:solidFill>
              <a:latin typeface="Arial"/>
              <a:ea typeface="Arial"/>
              <a:cs typeface="Arial"/>
              <a:sym typeface="Arial"/>
            </a:endParaRPr>
          </a:p>
        </p:txBody>
      </p:sp>
      <p:sp>
        <p:nvSpPr>
          <p:cNvPr id="522" name="Google Shape;522;p13"/>
          <p:cNvSpPr txBox="1"/>
          <p:nvPr/>
        </p:nvSpPr>
        <p:spPr>
          <a:xfrm>
            <a:off x="8622792" y="3044952"/>
            <a:ext cx="2788920" cy="8961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Every leaf is non-nullable. The union is non-nullable. Only the star is nullable; every concatenation above it becomes non-nullable.</a:t>
            </a:r>
            <a:endParaRPr b="0" i="0" sz="1600" u="none" cap="none" strike="noStrike">
              <a:solidFill>
                <a:schemeClr val="dk1"/>
              </a:solidFill>
              <a:latin typeface="Arial"/>
              <a:ea typeface="Arial"/>
              <a:cs typeface="Arial"/>
              <a:sym typeface="Arial"/>
            </a:endParaRPr>
          </a:p>
        </p:txBody>
      </p:sp>
      <p:sp>
        <p:nvSpPr>
          <p:cNvPr id="523" name="Google Shape;523;p13"/>
          <p:cNvSpPr/>
          <p:nvPr/>
        </p:nvSpPr>
        <p:spPr>
          <a:xfrm>
            <a:off x="8641080" y="4480560"/>
            <a:ext cx="2697480" cy="310896"/>
          </a:xfrm>
          <a:prstGeom prst="roundRect">
            <a:avLst>
              <a:gd fmla="val 47059" name="adj"/>
            </a:avLst>
          </a:prstGeom>
          <a:solidFill>
            <a:srgbClr val="FBECEC"/>
          </a:solidFill>
          <a:ln cap="flat" cmpd="sng" w="12700">
            <a:solidFill>
              <a:srgbClr val="FBECE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3"/>
          <p:cNvSpPr txBox="1"/>
          <p:nvPr/>
        </p:nvSpPr>
        <p:spPr>
          <a:xfrm>
            <a:off x="8686800" y="4489704"/>
            <a:ext cx="2606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nullable(root) = false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529" name="Shape 529"/>
        <p:cNvGrpSpPr/>
        <p:nvPr/>
      </p:nvGrpSpPr>
      <p:grpSpPr>
        <a:xfrm>
          <a:off x="0" y="0"/>
          <a:ext cx="0" cy="0"/>
          <a:chOff x="0" y="0"/>
          <a:chExt cx="0" cy="0"/>
        </a:xfrm>
      </p:grpSpPr>
      <p:sp>
        <p:nvSpPr>
          <p:cNvPr id="530" name="Google Shape;530;p14"/>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4"/>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Apply nullable bottom-up to the example</a:t>
            </a:r>
            <a:endParaRPr b="0" i="0" sz="2800" u="none" cap="none" strike="noStrike">
              <a:solidFill>
                <a:schemeClr val="dk1"/>
              </a:solidFill>
              <a:latin typeface="Arial"/>
              <a:ea typeface="Arial"/>
              <a:cs typeface="Arial"/>
              <a:sym typeface="Arial"/>
            </a:endParaRPr>
          </a:p>
        </p:txBody>
      </p:sp>
      <p:sp>
        <p:nvSpPr>
          <p:cNvPr id="532" name="Google Shape;532;p14"/>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4"/>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Nullable</a:t>
            </a:r>
            <a:endParaRPr b="0" i="0" sz="1150" u="none" cap="none" strike="noStrike">
              <a:solidFill>
                <a:schemeClr val="dk1"/>
              </a:solidFill>
              <a:latin typeface="Arial"/>
              <a:ea typeface="Arial"/>
              <a:cs typeface="Arial"/>
              <a:sym typeface="Arial"/>
            </a:endParaRPr>
          </a:p>
        </p:txBody>
      </p:sp>
      <p:sp>
        <p:nvSpPr>
          <p:cNvPr id="534" name="Google Shape;534;p14"/>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535" name="Google Shape;535;p14"/>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14</a:t>
            </a:r>
            <a:endParaRPr b="0" i="0" sz="950" u="none" cap="none" strike="noStrike">
              <a:solidFill>
                <a:schemeClr val="dk1"/>
              </a:solidFill>
              <a:latin typeface="Arial"/>
              <a:ea typeface="Arial"/>
              <a:cs typeface="Arial"/>
              <a:sym typeface="Arial"/>
            </a:endParaRPr>
          </a:p>
        </p:txBody>
      </p:sp>
      <p:sp>
        <p:nvSpPr>
          <p:cNvPr id="536" name="Google Shape;536;p14"/>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4"/>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538" name="Google Shape;538;p14"/>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540" name="Google Shape;540;p14"/>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4"/>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542" name="Google Shape;542;p14"/>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4"/>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544" name="Google Shape;544;p14"/>
          <p:cNvPicPr preferRelativeResize="0"/>
          <p:nvPr/>
        </p:nvPicPr>
        <p:blipFill rotWithShape="1">
          <a:blip r:embed="rId3">
            <a:alphaModFix/>
          </a:blip>
          <a:srcRect b="0" l="0" r="0" t="0"/>
          <a:stretch/>
        </p:blipFill>
        <p:spPr>
          <a:xfrm>
            <a:off x="365760" y="749808"/>
            <a:ext cx="7178040" cy="5440680"/>
          </a:xfrm>
          <a:prstGeom prst="rect">
            <a:avLst/>
          </a:prstGeom>
          <a:noFill/>
          <a:ln>
            <a:noFill/>
          </a:ln>
        </p:spPr>
      </p:pic>
      <p:sp>
        <p:nvSpPr>
          <p:cNvPr id="545" name="Google Shape;545;p14"/>
          <p:cNvSpPr/>
          <p:nvPr/>
        </p:nvSpPr>
        <p:spPr>
          <a:xfrm>
            <a:off x="7607808" y="960120"/>
            <a:ext cx="3840480" cy="2560320"/>
          </a:xfrm>
          <a:prstGeom prst="roundRect">
            <a:avLst>
              <a:gd fmla="val 2857"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4"/>
          <p:cNvSpPr/>
          <p:nvPr/>
        </p:nvSpPr>
        <p:spPr>
          <a:xfrm>
            <a:off x="7607808" y="960120"/>
            <a:ext cx="73152" cy="256032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txBox="1"/>
          <p:nvPr/>
        </p:nvSpPr>
        <p:spPr>
          <a:xfrm>
            <a:off x="7772400" y="1069848"/>
            <a:ext cx="35661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Bottom-up calculation</a:t>
            </a:r>
            <a:endParaRPr b="0" i="0" sz="1600" u="none" cap="none" strike="noStrike">
              <a:solidFill>
                <a:schemeClr val="dk1"/>
              </a:solidFill>
              <a:latin typeface="Arial"/>
              <a:ea typeface="Arial"/>
              <a:cs typeface="Arial"/>
              <a:sym typeface="Arial"/>
            </a:endParaRPr>
          </a:p>
        </p:txBody>
      </p:sp>
      <p:sp>
        <p:nvSpPr>
          <p:cNvPr id="548" name="Google Shape;548;p14"/>
          <p:cNvSpPr txBox="1"/>
          <p:nvPr/>
        </p:nvSpPr>
        <p:spPr>
          <a:xfrm>
            <a:off x="7772400" y="1444752"/>
            <a:ext cx="3566160" cy="19933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1. Leaves a₁, b₂, a₃, b₄, b₅, #₆ → F</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2. Union a₁|b₂ → F OR F = F</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3. Star (a₁|b₂)* → T</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4. T · F = F</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5. Every concatenation above remains F</a:t>
            </a:r>
            <a:endParaRPr b="0" i="0" sz="1600" u="none" cap="none" strike="noStrike">
              <a:solidFill>
                <a:schemeClr val="dk1"/>
              </a:solidFill>
              <a:latin typeface="Arial"/>
              <a:ea typeface="Arial"/>
              <a:cs typeface="Arial"/>
              <a:sym typeface="Arial"/>
            </a:endParaRPr>
          </a:p>
        </p:txBody>
      </p:sp>
      <p:sp>
        <p:nvSpPr>
          <p:cNvPr id="549" name="Google Shape;549;p14"/>
          <p:cNvSpPr/>
          <p:nvPr/>
        </p:nvSpPr>
        <p:spPr>
          <a:xfrm>
            <a:off x="7818120" y="3822192"/>
            <a:ext cx="342900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txBox="1"/>
          <p:nvPr/>
        </p:nvSpPr>
        <p:spPr>
          <a:xfrm>
            <a:off x="7863840" y="3831336"/>
            <a:ext cx="33375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Only the * node is nullable</a:t>
            </a:r>
            <a:endParaRPr b="0" i="0" sz="1600" u="none" cap="none" strike="noStrike">
              <a:solidFill>
                <a:schemeClr val="dk1"/>
              </a:solidFill>
              <a:latin typeface="Arial"/>
              <a:ea typeface="Arial"/>
              <a:cs typeface="Arial"/>
              <a:sym typeface="Arial"/>
            </a:endParaRPr>
          </a:p>
        </p:txBody>
      </p:sp>
      <p:sp>
        <p:nvSpPr>
          <p:cNvPr id="551" name="Google Shape;551;p14"/>
          <p:cNvSpPr/>
          <p:nvPr/>
        </p:nvSpPr>
        <p:spPr>
          <a:xfrm>
            <a:off x="7818120" y="4407408"/>
            <a:ext cx="3429000" cy="310896"/>
          </a:xfrm>
          <a:prstGeom prst="roundRect">
            <a:avLst>
              <a:gd fmla="val 47059" name="adj"/>
            </a:avLst>
          </a:prstGeom>
          <a:solidFill>
            <a:srgbClr val="FBECEC"/>
          </a:solidFill>
          <a:ln cap="flat" cmpd="sng" w="12700">
            <a:solidFill>
              <a:srgbClr val="FBECE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4"/>
          <p:cNvSpPr txBox="1"/>
          <p:nvPr/>
        </p:nvSpPr>
        <p:spPr>
          <a:xfrm>
            <a:off x="7863840" y="4416552"/>
            <a:ext cx="33375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nullable(root) = false</a:t>
            </a:r>
            <a:endParaRPr b="0" i="0" sz="1600" u="none" cap="none" strike="noStrike">
              <a:solidFill>
                <a:schemeClr val="dk1"/>
              </a:solidFill>
              <a:latin typeface="Arial"/>
              <a:ea typeface="Arial"/>
              <a:cs typeface="Arial"/>
              <a:sym typeface="Arial"/>
            </a:endParaRPr>
          </a:p>
        </p:txBody>
      </p:sp>
      <p:sp>
        <p:nvSpPr>
          <p:cNvPr id="553" name="Google Shape;553;p14"/>
          <p:cNvSpPr txBox="1"/>
          <p:nvPr/>
        </p:nvSpPr>
        <p:spPr>
          <a:xfrm>
            <a:off x="7635240" y="5102352"/>
            <a:ext cx="374904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1900"/>
              <a:buFont typeface="Arial"/>
              <a:buNone/>
            </a:pPr>
            <a:r>
              <a:rPr b="1" i="0" lang="en-US" sz="1900" u="none" cap="none" strike="noStrike">
                <a:solidFill>
                  <a:srgbClr val="153A73"/>
                </a:solidFill>
                <a:latin typeface="Arial"/>
                <a:ea typeface="Arial"/>
                <a:cs typeface="Arial"/>
                <a:sym typeface="Arial"/>
              </a:rPr>
              <a:t>Move from the leaves toward the root.</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558" name="Shape 558"/>
        <p:cNvGrpSpPr/>
        <p:nvPr/>
      </p:nvGrpSpPr>
      <p:grpSpPr>
        <a:xfrm>
          <a:off x="0" y="0"/>
          <a:ext cx="0" cy="0"/>
          <a:chOff x="0" y="0"/>
          <a:chExt cx="0" cy="0"/>
        </a:xfrm>
      </p:grpSpPr>
      <p:sp>
        <p:nvSpPr>
          <p:cNvPr id="559" name="Google Shape;559;p15"/>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firstpos(n): which positions can appear first?</a:t>
            </a:r>
            <a:endParaRPr b="0" i="0" sz="2800" u="none" cap="none" strike="noStrike">
              <a:solidFill>
                <a:schemeClr val="dk1"/>
              </a:solidFill>
              <a:latin typeface="Arial"/>
              <a:ea typeface="Arial"/>
              <a:cs typeface="Arial"/>
              <a:sym typeface="Arial"/>
            </a:endParaRPr>
          </a:p>
        </p:txBody>
      </p:sp>
      <p:sp>
        <p:nvSpPr>
          <p:cNvPr id="561" name="Google Shape;561;p15"/>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5"/>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Firstpos</a:t>
            </a:r>
            <a:endParaRPr b="0" i="0" sz="1150" u="none" cap="none" strike="noStrike">
              <a:solidFill>
                <a:schemeClr val="dk1"/>
              </a:solidFill>
              <a:latin typeface="Arial"/>
              <a:ea typeface="Arial"/>
              <a:cs typeface="Arial"/>
              <a:sym typeface="Arial"/>
            </a:endParaRPr>
          </a:p>
        </p:txBody>
      </p:sp>
      <p:sp>
        <p:nvSpPr>
          <p:cNvPr id="563" name="Google Shape;563;p15"/>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564" name="Google Shape;564;p15"/>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15</a:t>
            </a:r>
            <a:endParaRPr b="0" i="0" sz="950" u="none" cap="none" strike="noStrike">
              <a:solidFill>
                <a:schemeClr val="dk1"/>
              </a:solidFill>
              <a:latin typeface="Arial"/>
              <a:ea typeface="Arial"/>
              <a:cs typeface="Arial"/>
              <a:sym typeface="Arial"/>
            </a:endParaRPr>
          </a:p>
        </p:txBody>
      </p:sp>
      <p:sp>
        <p:nvSpPr>
          <p:cNvPr id="565" name="Google Shape;565;p15"/>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567" name="Google Shape;567;p15"/>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569" name="Google Shape;569;p15"/>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571" name="Google Shape;571;p15"/>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573" name="Google Shape;573;p15"/>
          <p:cNvSpPr/>
          <p:nvPr/>
        </p:nvSpPr>
        <p:spPr>
          <a:xfrm>
            <a:off x="658368" y="987552"/>
            <a:ext cx="4709160" cy="1874520"/>
          </a:xfrm>
          <a:prstGeom prst="roundRect">
            <a:avLst>
              <a:gd fmla="val 3902" name="adj"/>
            </a:avLst>
          </a:prstGeom>
          <a:solidFill>
            <a:srgbClr val="EDF6FC"/>
          </a:solidFill>
          <a:ln cap="flat" cmpd="sng" w="12700">
            <a:solidFill>
              <a:srgbClr val="1F75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txBox="1"/>
          <p:nvPr/>
        </p:nvSpPr>
        <p:spPr>
          <a:xfrm>
            <a:off x="914400" y="1234440"/>
            <a:ext cx="41605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75BB"/>
              </a:buClr>
              <a:buSzPts val="2000"/>
              <a:buFont typeface="Arial"/>
              <a:buNone/>
            </a:pPr>
            <a:r>
              <a:rPr b="1" i="0" lang="en-US" sz="2000" u="none" cap="none" strike="noStrike">
                <a:solidFill>
                  <a:srgbClr val="1F75BB"/>
                </a:solidFill>
                <a:latin typeface="Arial"/>
                <a:ea typeface="Arial"/>
                <a:cs typeface="Arial"/>
                <a:sym typeface="Arial"/>
              </a:rPr>
              <a:t>Definition</a:t>
            </a:r>
            <a:endParaRPr b="0" i="0" sz="2000" u="none" cap="none" strike="noStrike">
              <a:solidFill>
                <a:schemeClr val="dk1"/>
              </a:solidFill>
              <a:latin typeface="Arial"/>
              <a:ea typeface="Arial"/>
              <a:cs typeface="Arial"/>
              <a:sym typeface="Arial"/>
            </a:endParaRPr>
          </a:p>
        </p:txBody>
      </p:sp>
      <p:sp>
        <p:nvSpPr>
          <p:cNvPr id="575" name="Google Shape;575;p15"/>
          <p:cNvSpPr txBox="1"/>
          <p:nvPr/>
        </p:nvSpPr>
        <p:spPr>
          <a:xfrm>
            <a:off x="914400" y="1719072"/>
            <a:ext cx="416052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600"/>
              <a:buFont typeface="Arial"/>
              <a:buNone/>
            </a:pPr>
            <a:r>
              <a:rPr b="1" i="0" lang="en-US" sz="2600" u="none" cap="none" strike="noStrike">
                <a:solidFill>
                  <a:srgbClr val="153A73"/>
                </a:solidFill>
                <a:latin typeface="Arial"/>
                <a:ea typeface="Arial"/>
                <a:cs typeface="Arial"/>
                <a:sym typeface="Arial"/>
              </a:rPr>
              <a:t>firstpos(n)</a:t>
            </a:r>
            <a:endParaRPr b="0" i="0" sz="2600" u="none" cap="none" strike="noStrike">
              <a:solidFill>
                <a:schemeClr val="dk1"/>
              </a:solidFill>
              <a:latin typeface="Arial"/>
              <a:ea typeface="Arial"/>
              <a:cs typeface="Arial"/>
              <a:sym typeface="Arial"/>
            </a:endParaRPr>
          </a:p>
        </p:txBody>
      </p:sp>
      <p:sp>
        <p:nvSpPr>
          <p:cNvPr id="576" name="Google Shape;576;p15"/>
          <p:cNvSpPr txBox="1"/>
          <p:nvPr/>
        </p:nvSpPr>
        <p:spPr>
          <a:xfrm>
            <a:off x="914400" y="2130552"/>
            <a:ext cx="4160520" cy="47548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00"/>
              <a:buFont typeface="Arial"/>
              <a:buNone/>
            </a:pPr>
            <a:r>
              <a:rPr b="0" i="0" lang="en-US" sz="1700" u="none" cap="none" strike="noStrike">
                <a:solidFill>
                  <a:srgbClr val="1D2A39"/>
                </a:solidFill>
                <a:latin typeface="Arial"/>
                <a:ea typeface="Arial"/>
                <a:cs typeface="Arial"/>
                <a:sym typeface="Arial"/>
              </a:rPr>
              <a:t>is the set of leaf positions that can be the first symbol of some string generated by subtree n.</a:t>
            </a:r>
            <a:endParaRPr b="0" i="0" sz="1700" u="none" cap="none" strike="noStrike">
              <a:solidFill>
                <a:schemeClr val="dk1"/>
              </a:solidFill>
              <a:latin typeface="Arial"/>
              <a:ea typeface="Arial"/>
              <a:cs typeface="Arial"/>
              <a:sym typeface="Arial"/>
            </a:endParaRPr>
          </a:p>
        </p:txBody>
      </p:sp>
      <p:pic>
        <p:nvPicPr>
          <p:cNvPr descr="preencoded.png" id="577" name="Google Shape;577;p15"/>
          <p:cNvPicPr preferRelativeResize="0"/>
          <p:nvPr/>
        </p:nvPicPr>
        <p:blipFill rotWithShape="1">
          <a:blip r:embed="rId3">
            <a:alphaModFix/>
          </a:blip>
          <a:srcRect b="0" l="0" r="0" t="0"/>
          <a:stretch/>
        </p:blipFill>
        <p:spPr>
          <a:xfrm>
            <a:off x="5532120" y="841248"/>
            <a:ext cx="3291840" cy="2971800"/>
          </a:xfrm>
          <a:prstGeom prst="rect">
            <a:avLst/>
          </a:prstGeom>
          <a:noFill/>
          <a:ln>
            <a:noFill/>
          </a:ln>
        </p:spPr>
      </p:pic>
      <p:sp>
        <p:nvSpPr>
          <p:cNvPr id="578" name="Google Shape;578;p15"/>
          <p:cNvSpPr/>
          <p:nvPr/>
        </p:nvSpPr>
        <p:spPr>
          <a:xfrm>
            <a:off x="8942832" y="1051560"/>
            <a:ext cx="2606040" cy="1828800"/>
          </a:xfrm>
          <a:prstGeom prst="roundRect">
            <a:avLst>
              <a:gd fmla="val 4000"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8942832" y="1051560"/>
            <a:ext cx="73152" cy="182880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txBox="1"/>
          <p:nvPr/>
        </p:nvSpPr>
        <p:spPr>
          <a:xfrm>
            <a:off x="9107424" y="1161288"/>
            <a:ext cx="23317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Why position 3 is included</a:t>
            </a:r>
            <a:endParaRPr b="0" i="0" sz="1600" u="none" cap="none" strike="noStrike">
              <a:solidFill>
                <a:schemeClr val="dk1"/>
              </a:solidFill>
              <a:latin typeface="Arial"/>
              <a:ea typeface="Arial"/>
              <a:cs typeface="Arial"/>
              <a:sym typeface="Arial"/>
            </a:endParaRPr>
          </a:p>
        </p:txBody>
      </p:sp>
      <p:sp>
        <p:nvSpPr>
          <p:cNvPr id="581" name="Google Shape;581;p15"/>
          <p:cNvSpPr txBox="1"/>
          <p:nvPr/>
        </p:nvSpPr>
        <p:spPr>
          <a:xfrm>
            <a:off x="9107424" y="1536192"/>
            <a:ext cx="2331720" cy="12618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left child is a star and can be empty. Therefore, a string may start at positions 1 or 2 inside the star, or directly at position 3.</a:t>
            </a:r>
            <a:endParaRPr b="0" i="0" sz="1600" u="none" cap="none" strike="noStrike">
              <a:solidFill>
                <a:schemeClr val="dk1"/>
              </a:solidFill>
              <a:latin typeface="Arial"/>
              <a:ea typeface="Arial"/>
              <a:cs typeface="Arial"/>
              <a:sym typeface="Arial"/>
            </a:endParaRPr>
          </a:p>
        </p:txBody>
      </p:sp>
      <p:sp>
        <p:nvSpPr>
          <p:cNvPr id="582" name="Google Shape;582;p15"/>
          <p:cNvSpPr/>
          <p:nvPr/>
        </p:nvSpPr>
        <p:spPr>
          <a:xfrm>
            <a:off x="658368" y="3886200"/>
            <a:ext cx="10881360" cy="1325880"/>
          </a:xfrm>
          <a:prstGeom prst="roundRect">
            <a:avLst>
              <a:gd fmla="val 5517"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txBox="1"/>
          <p:nvPr/>
        </p:nvSpPr>
        <p:spPr>
          <a:xfrm>
            <a:off x="914400" y="4133088"/>
            <a:ext cx="384048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900"/>
              <a:buFont typeface="Arial"/>
              <a:buNone/>
            </a:pPr>
            <a:r>
              <a:rPr b="1" i="0" lang="en-US" sz="1900" u="none" cap="none" strike="noStrike">
                <a:solidFill>
                  <a:srgbClr val="153A73"/>
                </a:solidFill>
                <a:latin typeface="Arial"/>
                <a:ea typeface="Arial"/>
                <a:cs typeface="Arial"/>
                <a:sym typeface="Arial"/>
              </a:rPr>
              <a:t>For the subtree (a₁|b₂)*·a₃:</a:t>
            </a:r>
            <a:endParaRPr b="0" i="0" sz="1900" u="none" cap="none" strike="noStrike">
              <a:solidFill>
                <a:schemeClr val="dk1"/>
              </a:solidFill>
              <a:latin typeface="Arial"/>
              <a:ea typeface="Arial"/>
              <a:cs typeface="Arial"/>
              <a:sym typeface="Arial"/>
            </a:endParaRPr>
          </a:p>
        </p:txBody>
      </p:sp>
      <p:sp>
        <p:nvSpPr>
          <p:cNvPr id="584" name="Google Shape;584;p15"/>
          <p:cNvSpPr txBox="1"/>
          <p:nvPr/>
        </p:nvSpPr>
        <p:spPr>
          <a:xfrm>
            <a:off x="4617720" y="4041648"/>
            <a:ext cx="2971800" cy="5029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600"/>
              <a:buFont typeface="Arial"/>
              <a:buNone/>
            </a:pPr>
            <a:r>
              <a:rPr b="1" i="0" lang="en-US" sz="2600" u="none" cap="none" strike="noStrike">
                <a:solidFill>
                  <a:srgbClr val="1F75BB"/>
                </a:solidFill>
                <a:latin typeface="Arial"/>
                <a:ea typeface="Arial"/>
                <a:cs typeface="Arial"/>
                <a:sym typeface="Arial"/>
              </a:rPr>
              <a:t>firstpos = {1,2,3}</a:t>
            </a:r>
            <a:endParaRPr b="0" i="0" sz="2600" u="none" cap="none" strike="noStrike">
              <a:solidFill>
                <a:schemeClr val="dk1"/>
              </a:solidFill>
              <a:latin typeface="Arial"/>
              <a:ea typeface="Arial"/>
              <a:cs typeface="Arial"/>
              <a:sym typeface="Arial"/>
            </a:endParaRPr>
          </a:p>
        </p:txBody>
      </p:sp>
      <p:sp>
        <p:nvSpPr>
          <p:cNvPr id="585" name="Google Shape;585;p15"/>
          <p:cNvSpPr txBox="1"/>
          <p:nvPr/>
        </p:nvSpPr>
        <p:spPr>
          <a:xfrm>
            <a:off x="7909560" y="4133088"/>
            <a:ext cx="30175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750"/>
              <a:buFont typeface="Arial"/>
              <a:buNone/>
            </a:pPr>
            <a:r>
              <a:rPr b="1" i="0" lang="en-US" sz="1750" u="none" cap="none" strike="noStrike">
                <a:solidFill>
                  <a:srgbClr val="F4A261"/>
                </a:solidFill>
                <a:latin typeface="Arial"/>
                <a:ea typeface="Arial"/>
                <a:cs typeface="Arial"/>
                <a:sym typeface="Arial"/>
              </a:rPr>
              <a:t>Ask: Can the left child produce ε?</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590" name="Shape 590"/>
        <p:cNvGrpSpPr/>
        <p:nvPr/>
      </p:nvGrpSpPr>
      <p:grpSpPr>
        <a:xfrm>
          <a:off x="0" y="0"/>
          <a:ext cx="0" cy="0"/>
          <a:chOff x="0" y="0"/>
          <a:chExt cx="0" cy="0"/>
        </a:xfrm>
      </p:grpSpPr>
      <p:sp>
        <p:nvSpPr>
          <p:cNvPr id="591" name="Google Shape;591;p16"/>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Rules for firstpos(n)</a:t>
            </a:r>
            <a:endParaRPr b="0" i="0" sz="2800" u="none" cap="none" strike="noStrike">
              <a:solidFill>
                <a:schemeClr val="dk1"/>
              </a:solidFill>
              <a:latin typeface="Arial"/>
              <a:ea typeface="Arial"/>
              <a:cs typeface="Arial"/>
              <a:sym typeface="Arial"/>
            </a:endParaRPr>
          </a:p>
        </p:txBody>
      </p:sp>
      <p:sp>
        <p:nvSpPr>
          <p:cNvPr id="593" name="Google Shape;593;p16"/>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Firstpos</a:t>
            </a:r>
            <a:endParaRPr b="0" i="0" sz="1150" u="none" cap="none" strike="noStrike">
              <a:solidFill>
                <a:schemeClr val="dk1"/>
              </a:solidFill>
              <a:latin typeface="Arial"/>
              <a:ea typeface="Arial"/>
              <a:cs typeface="Arial"/>
              <a:sym typeface="Arial"/>
            </a:endParaRPr>
          </a:p>
        </p:txBody>
      </p:sp>
      <p:sp>
        <p:nvSpPr>
          <p:cNvPr id="595" name="Google Shape;595;p16"/>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596" name="Google Shape;596;p16"/>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16</a:t>
            </a:r>
            <a:endParaRPr b="0" i="0" sz="950" u="none" cap="none" strike="noStrike">
              <a:solidFill>
                <a:schemeClr val="dk1"/>
              </a:solidFill>
              <a:latin typeface="Arial"/>
              <a:ea typeface="Arial"/>
              <a:cs typeface="Arial"/>
              <a:sym typeface="Arial"/>
            </a:endParaRPr>
          </a:p>
        </p:txBody>
      </p:sp>
      <p:sp>
        <p:nvSpPr>
          <p:cNvPr id="597" name="Google Shape;597;p16"/>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599" name="Google Shape;599;p16"/>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6"/>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601" name="Google Shape;601;p16"/>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6"/>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603" name="Google Shape;603;p16"/>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605" name="Google Shape;605;p16"/>
          <p:cNvSpPr/>
          <p:nvPr/>
        </p:nvSpPr>
        <p:spPr>
          <a:xfrm>
            <a:off x="658368" y="987552"/>
            <a:ext cx="2443277" cy="7391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6"/>
          <p:cNvSpPr txBox="1"/>
          <p:nvPr/>
        </p:nvSpPr>
        <p:spPr>
          <a:xfrm>
            <a:off x="713232" y="100584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Node n</a:t>
            </a:r>
            <a:endParaRPr b="0" i="0" sz="1700" u="none" cap="none" strike="noStrike">
              <a:solidFill>
                <a:schemeClr val="dk1"/>
              </a:solidFill>
              <a:latin typeface="Arial"/>
              <a:ea typeface="Arial"/>
              <a:cs typeface="Arial"/>
              <a:sym typeface="Arial"/>
            </a:endParaRPr>
          </a:p>
        </p:txBody>
      </p:sp>
      <p:sp>
        <p:nvSpPr>
          <p:cNvPr id="607" name="Google Shape;607;p16"/>
          <p:cNvSpPr/>
          <p:nvPr/>
        </p:nvSpPr>
        <p:spPr>
          <a:xfrm>
            <a:off x="3101645" y="987552"/>
            <a:ext cx="5191963" cy="7391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
          <p:cNvSpPr txBox="1"/>
          <p:nvPr/>
        </p:nvSpPr>
        <p:spPr>
          <a:xfrm>
            <a:off x="3156509" y="100584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firstpos(n)</a:t>
            </a:r>
            <a:endParaRPr b="0" i="0" sz="1700" u="none" cap="none" strike="noStrike">
              <a:solidFill>
                <a:schemeClr val="dk1"/>
              </a:solidFill>
              <a:latin typeface="Arial"/>
              <a:ea typeface="Arial"/>
              <a:cs typeface="Arial"/>
              <a:sym typeface="Arial"/>
            </a:endParaRPr>
          </a:p>
        </p:txBody>
      </p:sp>
      <p:sp>
        <p:nvSpPr>
          <p:cNvPr id="609" name="Google Shape;609;p16"/>
          <p:cNvSpPr/>
          <p:nvPr/>
        </p:nvSpPr>
        <p:spPr>
          <a:xfrm>
            <a:off x="658368" y="1726692"/>
            <a:ext cx="2443277"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txBox="1"/>
          <p:nvPr/>
        </p:nvSpPr>
        <p:spPr>
          <a:xfrm>
            <a:off x="713232" y="174498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leaf ε</a:t>
            </a:r>
            <a:endParaRPr b="0" i="0" sz="1600" u="none" cap="none" strike="noStrike">
              <a:solidFill>
                <a:schemeClr val="dk1"/>
              </a:solidFill>
              <a:latin typeface="Arial"/>
              <a:ea typeface="Arial"/>
              <a:cs typeface="Arial"/>
              <a:sym typeface="Arial"/>
            </a:endParaRPr>
          </a:p>
        </p:txBody>
      </p:sp>
      <p:sp>
        <p:nvSpPr>
          <p:cNvPr id="611" name="Google Shape;611;p16"/>
          <p:cNvSpPr/>
          <p:nvPr/>
        </p:nvSpPr>
        <p:spPr>
          <a:xfrm>
            <a:off x="3101645" y="1726692"/>
            <a:ext cx="5191963"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txBox="1"/>
          <p:nvPr/>
        </p:nvSpPr>
        <p:spPr>
          <a:xfrm>
            <a:off x="3156509" y="174498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613" name="Google Shape;613;p16"/>
          <p:cNvSpPr/>
          <p:nvPr/>
        </p:nvSpPr>
        <p:spPr>
          <a:xfrm>
            <a:off x="658368" y="2465832"/>
            <a:ext cx="2443277"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txBox="1"/>
          <p:nvPr/>
        </p:nvSpPr>
        <p:spPr>
          <a:xfrm>
            <a:off x="713232" y="248412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leaf at position i</a:t>
            </a:r>
            <a:endParaRPr b="0" i="0" sz="1600" u="none" cap="none" strike="noStrike">
              <a:solidFill>
                <a:schemeClr val="dk1"/>
              </a:solidFill>
              <a:latin typeface="Arial"/>
              <a:ea typeface="Arial"/>
              <a:cs typeface="Arial"/>
              <a:sym typeface="Arial"/>
            </a:endParaRPr>
          </a:p>
        </p:txBody>
      </p:sp>
      <p:sp>
        <p:nvSpPr>
          <p:cNvPr id="615" name="Google Shape;615;p16"/>
          <p:cNvSpPr/>
          <p:nvPr/>
        </p:nvSpPr>
        <p:spPr>
          <a:xfrm>
            <a:off x="3101645" y="2465832"/>
            <a:ext cx="5191963"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txBox="1"/>
          <p:nvPr/>
        </p:nvSpPr>
        <p:spPr>
          <a:xfrm>
            <a:off x="3156509" y="248412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{i}</a:t>
            </a:r>
            <a:endParaRPr b="0" i="0" sz="1600" u="none" cap="none" strike="noStrike">
              <a:solidFill>
                <a:schemeClr val="dk1"/>
              </a:solidFill>
              <a:latin typeface="Arial"/>
              <a:ea typeface="Arial"/>
              <a:cs typeface="Arial"/>
              <a:sym typeface="Arial"/>
            </a:endParaRPr>
          </a:p>
        </p:txBody>
      </p:sp>
      <p:sp>
        <p:nvSpPr>
          <p:cNvPr id="617" name="Google Shape;617;p16"/>
          <p:cNvSpPr/>
          <p:nvPr/>
        </p:nvSpPr>
        <p:spPr>
          <a:xfrm>
            <a:off x="658368" y="3204972"/>
            <a:ext cx="2443277"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txBox="1"/>
          <p:nvPr/>
        </p:nvSpPr>
        <p:spPr>
          <a:xfrm>
            <a:off x="713232" y="322326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c₁ | c₂</a:t>
            </a:r>
            <a:endParaRPr b="0" i="0" sz="1600" u="none" cap="none" strike="noStrike">
              <a:solidFill>
                <a:schemeClr val="dk1"/>
              </a:solidFill>
              <a:latin typeface="Arial"/>
              <a:ea typeface="Arial"/>
              <a:cs typeface="Arial"/>
              <a:sym typeface="Arial"/>
            </a:endParaRPr>
          </a:p>
        </p:txBody>
      </p:sp>
      <p:sp>
        <p:nvSpPr>
          <p:cNvPr id="619" name="Google Shape;619;p16"/>
          <p:cNvSpPr/>
          <p:nvPr/>
        </p:nvSpPr>
        <p:spPr>
          <a:xfrm>
            <a:off x="3101645" y="3204972"/>
            <a:ext cx="5191963"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txBox="1"/>
          <p:nvPr/>
        </p:nvSpPr>
        <p:spPr>
          <a:xfrm>
            <a:off x="3156509" y="322326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firstpos(c₁) ∪ firstpos(c₂)</a:t>
            </a:r>
            <a:endParaRPr b="0" i="0" sz="1600" u="none" cap="none" strike="noStrike">
              <a:solidFill>
                <a:schemeClr val="dk1"/>
              </a:solidFill>
              <a:latin typeface="Arial"/>
              <a:ea typeface="Arial"/>
              <a:cs typeface="Arial"/>
              <a:sym typeface="Arial"/>
            </a:endParaRPr>
          </a:p>
        </p:txBody>
      </p:sp>
      <p:sp>
        <p:nvSpPr>
          <p:cNvPr id="621" name="Google Shape;621;p16"/>
          <p:cNvSpPr/>
          <p:nvPr/>
        </p:nvSpPr>
        <p:spPr>
          <a:xfrm>
            <a:off x="658368" y="3944112"/>
            <a:ext cx="2443277"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6"/>
          <p:cNvSpPr txBox="1"/>
          <p:nvPr/>
        </p:nvSpPr>
        <p:spPr>
          <a:xfrm>
            <a:off x="713232" y="396240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c₁ · c₂</a:t>
            </a:r>
            <a:endParaRPr b="0" i="0" sz="1600" u="none" cap="none" strike="noStrike">
              <a:solidFill>
                <a:schemeClr val="dk1"/>
              </a:solidFill>
              <a:latin typeface="Arial"/>
              <a:ea typeface="Arial"/>
              <a:cs typeface="Arial"/>
              <a:sym typeface="Arial"/>
            </a:endParaRPr>
          </a:p>
        </p:txBody>
      </p:sp>
      <p:sp>
        <p:nvSpPr>
          <p:cNvPr id="623" name="Google Shape;623;p16"/>
          <p:cNvSpPr/>
          <p:nvPr/>
        </p:nvSpPr>
        <p:spPr>
          <a:xfrm>
            <a:off x="3101645" y="3944112"/>
            <a:ext cx="5191963"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txBox="1"/>
          <p:nvPr/>
        </p:nvSpPr>
        <p:spPr>
          <a:xfrm>
            <a:off x="3156509" y="396240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if nullable(c₁): firstpos(c₁) ∪ firstpos(c₂)</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else: firstpos(c₁)</a:t>
            </a:r>
            <a:endParaRPr b="0" i="0" sz="1600" u="none" cap="none" strike="noStrike">
              <a:solidFill>
                <a:schemeClr val="dk1"/>
              </a:solidFill>
              <a:latin typeface="Arial"/>
              <a:ea typeface="Arial"/>
              <a:cs typeface="Arial"/>
              <a:sym typeface="Arial"/>
            </a:endParaRPr>
          </a:p>
        </p:txBody>
      </p:sp>
      <p:sp>
        <p:nvSpPr>
          <p:cNvPr id="625" name="Google Shape;625;p16"/>
          <p:cNvSpPr/>
          <p:nvPr/>
        </p:nvSpPr>
        <p:spPr>
          <a:xfrm>
            <a:off x="658368" y="4683252"/>
            <a:ext cx="2443277"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txBox="1"/>
          <p:nvPr/>
        </p:nvSpPr>
        <p:spPr>
          <a:xfrm>
            <a:off x="713232" y="470154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c*</a:t>
            </a:r>
            <a:endParaRPr b="0" i="0" sz="1600" u="none" cap="none" strike="noStrike">
              <a:solidFill>
                <a:schemeClr val="dk1"/>
              </a:solidFill>
              <a:latin typeface="Arial"/>
              <a:ea typeface="Arial"/>
              <a:cs typeface="Arial"/>
              <a:sym typeface="Arial"/>
            </a:endParaRPr>
          </a:p>
        </p:txBody>
      </p:sp>
      <p:sp>
        <p:nvSpPr>
          <p:cNvPr id="627" name="Google Shape;627;p16"/>
          <p:cNvSpPr/>
          <p:nvPr/>
        </p:nvSpPr>
        <p:spPr>
          <a:xfrm>
            <a:off x="3101645" y="4683252"/>
            <a:ext cx="5191963"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txBox="1"/>
          <p:nvPr/>
        </p:nvSpPr>
        <p:spPr>
          <a:xfrm>
            <a:off x="3156509" y="470154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firstpos(c)</a:t>
            </a:r>
            <a:endParaRPr b="0" i="0" sz="1600" u="none" cap="none" strike="noStrike">
              <a:solidFill>
                <a:schemeClr val="dk1"/>
              </a:solidFill>
              <a:latin typeface="Arial"/>
              <a:ea typeface="Arial"/>
              <a:cs typeface="Arial"/>
              <a:sym typeface="Arial"/>
            </a:endParaRPr>
          </a:p>
        </p:txBody>
      </p:sp>
      <p:sp>
        <p:nvSpPr>
          <p:cNvPr id="629" name="Google Shape;629;p16"/>
          <p:cNvSpPr/>
          <p:nvPr/>
        </p:nvSpPr>
        <p:spPr>
          <a:xfrm>
            <a:off x="8549640" y="1097280"/>
            <a:ext cx="2971800" cy="1874520"/>
          </a:xfrm>
          <a:prstGeom prst="roundRect">
            <a:avLst>
              <a:gd fmla="val 3902"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6"/>
          <p:cNvSpPr/>
          <p:nvPr/>
        </p:nvSpPr>
        <p:spPr>
          <a:xfrm>
            <a:off x="8549640" y="1097280"/>
            <a:ext cx="73152" cy="1874520"/>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6"/>
          <p:cNvSpPr txBox="1"/>
          <p:nvPr/>
        </p:nvSpPr>
        <p:spPr>
          <a:xfrm>
            <a:off x="8714232" y="1207008"/>
            <a:ext cx="26974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Most important rule</a:t>
            </a:r>
            <a:endParaRPr b="0" i="0" sz="1600" u="none" cap="none" strike="noStrike">
              <a:solidFill>
                <a:schemeClr val="dk1"/>
              </a:solidFill>
              <a:latin typeface="Arial"/>
              <a:ea typeface="Arial"/>
              <a:cs typeface="Arial"/>
              <a:sym typeface="Arial"/>
            </a:endParaRPr>
          </a:p>
        </p:txBody>
      </p:sp>
      <p:sp>
        <p:nvSpPr>
          <p:cNvPr id="632" name="Google Shape;632;p16"/>
          <p:cNvSpPr txBox="1"/>
          <p:nvPr/>
        </p:nvSpPr>
        <p:spPr>
          <a:xfrm>
            <a:off x="8714232" y="1581912"/>
            <a:ext cx="2697480" cy="13075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At a concatenation node, inspect the left child. If it is nullable, include the right child’s firstpos; otherwise, stop with the left child.</a:t>
            </a:r>
            <a:endParaRPr b="0" i="0" sz="1600" u="none" cap="none" strike="noStrike">
              <a:solidFill>
                <a:schemeClr val="dk1"/>
              </a:solidFill>
              <a:latin typeface="Arial"/>
              <a:ea typeface="Arial"/>
              <a:cs typeface="Arial"/>
              <a:sym typeface="Arial"/>
            </a:endParaRPr>
          </a:p>
        </p:txBody>
      </p:sp>
      <p:sp>
        <p:nvSpPr>
          <p:cNvPr id="633" name="Google Shape;633;p16"/>
          <p:cNvSpPr/>
          <p:nvPr/>
        </p:nvSpPr>
        <p:spPr>
          <a:xfrm>
            <a:off x="8549640" y="3337560"/>
            <a:ext cx="2971800" cy="1298448"/>
          </a:xfrm>
          <a:prstGeom prst="roundRect">
            <a:avLst>
              <a:gd fmla="val 5634"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8549640" y="3337560"/>
            <a:ext cx="73152" cy="1298448"/>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txBox="1"/>
          <p:nvPr/>
        </p:nvSpPr>
        <p:spPr>
          <a:xfrm>
            <a:off x="8714232" y="3447288"/>
            <a:ext cx="26974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For our root</a:t>
            </a:r>
            <a:endParaRPr b="0" i="0" sz="1600" u="none" cap="none" strike="noStrike">
              <a:solidFill>
                <a:schemeClr val="dk1"/>
              </a:solidFill>
              <a:latin typeface="Arial"/>
              <a:ea typeface="Arial"/>
              <a:cs typeface="Arial"/>
              <a:sym typeface="Arial"/>
            </a:endParaRPr>
          </a:p>
        </p:txBody>
      </p:sp>
      <p:sp>
        <p:nvSpPr>
          <p:cNvPr id="636" name="Google Shape;636;p16"/>
          <p:cNvSpPr txBox="1"/>
          <p:nvPr/>
        </p:nvSpPr>
        <p:spPr>
          <a:xfrm>
            <a:off x="8714232" y="3822192"/>
            <a:ext cx="2697480" cy="7315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left side of the final concatenation is not nullable, so firstpos(root) stays {1,2,3}.</a:t>
            </a:r>
            <a:endParaRPr b="0" i="0" sz="1600" u="none" cap="none" strike="noStrike">
              <a:solidFill>
                <a:schemeClr val="dk1"/>
              </a:solidFill>
              <a:latin typeface="Arial"/>
              <a:ea typeface="Arial"/>
              <a:cs typeface="Arial"/>
              <a:sym typeface="Arial"/>
            </a:endParaRPr>
          </a:p>
        </p:txBody>
      </p:sp>
      <p:sp>
        <p:nvSpPr>
          <p:cNvPr id="637" name="Google Shape;637;p16"/>
          <p:cNvSpPr/>
          <p:nvPr/>
        </p:nvSpPr>
        <p:spPr>
          <a:xfrm>
            <a:off x="8732520" y="4892040"/>
            <a:ext cx="260604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txBox="1"/>
          <p:nvPr/>
        </p:nvSpPr>
        <p:spPr>
          <a:xfrm>
            <a:off x="8778240" y="4901184"/>
            <a:ext cx="25146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550"/>
              <a:buFont typeface="Arial"/>
              <a:buNone/>
            </a:pPr>
            <a:r>
              <a:rPr b="1" i="0" lang="en-US" sz="1550" u="none" cap="none" strike="noStrike">
                <a:solidFill>
                  <a:srgbClr val="7B61A8"/>
                </a:solidFill>
                <a:latin typeface="Arial"/>
                <a:ea typeface="Arial"/>
                <a:cs typeface="Arial"/>
                <a:sym typeface="Arial"/>
              </a:rPr>
              <a:t>Start state = {1,2,3}</a:t>
            </a:r>
            <a:endParaRPr b="0" i="0" sz="155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643" name="Shape 643"/>
        <p:cNvGrpSpPr/>
        <p:nvPr/>
      </p:nvGrpSpPr>
      <p:grpSpPr>
        <a:xfrm>
          <a:off x="0" y="0"/>
          <a:ext cx="0" cy="0"/>
          <a:chOff x="0" y="0"/>
          <a:chExt cx="0" cy="0"/>
        </a:xfrm>
      </p:grpSpPr>
      <p:sp>
        <p:nvSpPr>
          <p:cNvPr id="644" name="Google Shape;644;p17"/>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7"/>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Compute firstpos - lower subtree first</a:t>
            </a:r>
            <a:endParaRPr b="0" i="0" sz="2800" u="none" cap="none" strike="noStrike">
              <a:solidFill>
                <a:schemeClr val="dk1"/>
              </a:solidFill>
              <a:latin typeface="Arial"/>
              <a:ea typeface="Arial"/>
              <a:cs typeface="Arial"/>
              <a:sym typeface="Arial"/>
            </a:endParaRPr>
          </a:p>
        </p:txBody>
      </p:sp>
      <p:sp>
        <p:nvSpPr>
          <p:cNvPr id="646" name="Google Shape;646;p17"/>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7"/>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Firstpos</a:t>
            </a:r>
            <a:endParaRPr b="0" i="0" sz="1150" u="none" cap="none" strike="noStrike">
              <a:solidFill>
                <a:schemeClr val="dk1"/>
              </a:solidFill>
              <a:latin typeface="Arial"/>
              <a:ea typeface="Arial"/>
              <a:cs typeface="Arial"/>
              <a:sym typeface="Arial"/>
            </a:endParaRPr>
          </a:p>
        </p:txBody>
      </p:sp>
      <p:sp>
        <p:nvSpPr>
          <p:cNvPr id="648" name="Google Shape;648;p17"/>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649" name="Google Shape;649;p17"/>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17</a:t>
            </a:r>
            <a:endParaRPr b="0" i="0" sz="950" u="none" cap="none" strike="noStrike">
              <a:solidFill>
                <a:schemeClr val="dk1"/>
              </a:solidFill>
              <a:latin typeface="Arial"/>
              <a:ea typeface="Arial"/>
              <a:cs typeface="Arial"/>
              <a:sym typeface="Arial"/>
            </a:endParaRPr>
          </a:p>
        </p:txBody>
      </p:sp>
      <p:sp>
        <p:nvSpPr>
          <p:cNvPr id="650" name="Google Shape;650;p17"/>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7"/>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652" name="Google Shape;652;p17"/>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654" name="Google Shape;654;p17"/>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7"/>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656" name="Google Shape;656;p17"/>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7"/>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658" name="Google Shape;658;p17"/>
          <p:cNvPicPr preferRelativeResize="0"/>
          <p:nvPr/>
        </p:nvPicPr>
        <p:blipFill rotWithShape="1">
          <a:blip r:embed="rId3">
            <a:alphaModFix/>
          </a:blip>
          <a:srcRect b="0" l="0" r="0" t="0"/>
          <a:stretch/>
        </p:blipFill>
        <p:spPr>
          <a:xfrm>
            <a:off x="457200" y="841248"/>
            <a:ext cx="6217920" cy="4800600"/>
          </a:xfrm>
          <a:prstGeom prst="rect">
            <a:avLst/>
          </a:prstGeom>
          <a:noFill/>
          <a:ln>
            <a:noFill/>
          </a:ln>
        </p:spPr>
      </p:pic>
      <p:sp>
        <p:nvSpPr>
          <p:cNvPr id="659" name="Google Shape;659;p17"/>
          <p:cNvSpPr/>
          <p:nvPr/>
        </p:nvSpPr>
        <p:spPr>
          <a:xfrm>
            <a:off x="6903720" y="1005840"/>
            <a:ext cx="4572000" cy="914400"/>
          </a:xfrm>
          <a:prstGeom prst="roundRect">
            <a:avLst>
              <a:gd fmla="val 8000"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7"/>
          <p:cNvSpPr/>
          <p:nvPr/>
        </p:nvSpPr>
        <p:spPr>
          <a:xfrm>
            <a:off x="6903720" y="1005840"/>
            <a:ext cx="73152" cy="91440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7"/>
          <p:cNvSpPr txBox="1"/>
          <p:nvPr/>
        </p:nvSpPr>
        <p:spPr>
          <a:xfrm>
            <a:off x="7068312" y="1115568"/>
            <a:ext cx="42976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1. Leaves</a:t>
            </a:r>
            <a:endParaRPr b="0" i="0" sz="1600" u="none" cap="none" strike="noStrike">
              <a:solidFill>
                <a:schemeClr val="dk1"/>
              </a:solidFill>
              <a:latin typeface="Arial"/>
              <a:ea typeface="Arial"/>
              <a:cs typeface="Arial"/>
              <a:sym typeface="Arial"/>
            </a:endParaRPr>
          </a:p>
        </p:txBody>
      </p:sp>
      <p:sp>
        <p:nvSpPr>
          <p:cNvPr id="662" name="Google Shape;662;p17"/>
          <p:cNvSpPr txBox="1"/>
          <p:nvPr/>
        </p:nvSpPr>
        <p:spPr>
          <a:xfrm>
            <a:off x="7068312" y="1490472"/>
            <a:ext cx="4297680" cy="3474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firstpos(a₁)={1}, firstpos(b₂)={2}, firstpos(a₃)={3}</a:t>
            </a:r>
            <a:endParaRPr b="0" i="0" sz="1600" u="none" cap="none" strike="noStrike">
              <a:solidFill>
                <a:schemeClr val="dk1"/>
              </a:solidFill>
              <a:latin typeface="Arial"/>
              <a:ea typeface="Arial"/>
              <a:cs typeface="Arial"/>
              <a:sym typeface="Arial"/>
            </a:endParaRPr>
          </a:p>
        </p:txBody>
      </p:sp>
      <p:sp>
        <p:nvSpPr>
          <p:cNvPr id="663" name="Google Shape;663;p17"/>
          <p:cNvSpPr/>
          <p:nvPr/>
        </p:nvSpPr>
        <p:spPr>
          <a:xfrm>
            <a:off x="6903720" y="2148840"/>
            <a:ext cx="4572000" cy="914400"/>
          </a:xfrm>
          <a:prstGeom prst="roundRect">
            <a:avLst>
              <a:gd fmla="val 8000"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7"/>
          <p:cNvSpPr/>
          <p:nvPr/>
        </p:nvSpPr>
        <p:spPr>
          <a:xfrm>
            <a:off x="6903720" y="2148840"/>
            <a:ext cx="73152" cy="914400"/>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7"/>
          <p:cNvSpPr txBox="1"/>
          <p:nvPr/>
        </p:nvSpPr>
        <p:spPr>
          <a:xfrm>
            <a:off x="7068312" y="2258568"/>
            <a:ext cx="42976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2. Union</a:t>
            </a:r>
            <a:endParaRPr b="0" i="0" sz="1600" u="none" cap="none" strike="noStrike">
              <a:solidFill>
                <a:schemeClr val="dk1"/>
              </a:solidFill>
              <a:latin typeface="Arial"/>
              <a:ea typeface="Arial"/>
              <a:cs typeface="Arial"/>
              <a:sym typeface="Arial"/>
            </a:endParaRPr>
          </a:p>
        </p:txBody>
      </p:sp>
      <p:sp>
        <p:nvSpPr>
          <p:cNvPr id="666" name="Google Shape;666;p17"/>
          <p:cNvSpPr txBox="1"/>
          <p:nvPr/>
        </p:nvSpPr>
        <p:spPr>
          <a:xfrm>
            <a:off x="7068312" y="2633472"/>
            <a:ext cx="4297680" cy="3474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firstpos(a₁|b₂) = {1} ∪ {2} = {1,2}</a:t>
            </a:r>
            <a:endParaRPr b="0" i="0" sz="1600" u="none" cap="none" strike="noStrike">
              <a:solidFill>
                <a:schemeClr val="dk1"/>
              </a:solidFill>
              <a:latin typeface="Arial"/>
              <a:ea typeface="Arial"/>
              <a:cs typeface="Arial"/>
              <a:sym typeface="Arial"/>
            </a:endParaRPr>
          </a:p>
        </p:txBody>
      </p:sp>
      <p:sp>
        <p:nvSpPr>
          <p:cNvPr id="667" name="Google Shape;667;p17"/>
          <p:cNvSpPr/>
          <p:nvPr/>
        </p:nvSpPr>
        <p:spPr>
          <a:xfrm>
            <a:off x="6903720" y="3291840"/>
            <a:ext cx="4572000" cy="822960"/>
          </a:xfrm>
          <a:prstGeom prst="roundRect">
            <a:avLst>
              <a:gd fmla="val 8889"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7"/>
          <p:cNvSpPr/>
          <p:nvPr/>
        </p:nvSpPr>
        <p:spPr>
          <a:xfrm>
            <a:off x="6903720" y="3291840"/>
            <a:ext cx="73152" cy="82296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7"/>
          <p:cNvSpPr txBox="1"/>
          <p:nvPr/>
        </p:nvSpPr>
        <p:spPr>
          <a:xfrm>
            <a:off x="7068312" y="3401568"/>
            <a:ext cx="42976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3. Star</a:t>
            </a:r>
            <a:endParaRPr b="0" i="0" sz="1600" u="none" cap="none" strike="noStrike">
              <a:solidFill>
                <a:schemeClr val="dk1"/>
              </a:solidFill>
              <a:latin typeface="Arial"/>
              <a:ea typeface="Arial"/>
              <a:cs typeface="Arial"/>
              <a:sym typeface="Arial"/>
            </a:endParaRPr>
          </a:p>
        </p:txBody>
      </p:sp>
      <p:sp>
        <p:nvSpPr>
          <p:cNvPr id="670" name="Google Shape;670;p17"/>
          <p:cNvSpPr txBox="1"/>
          <p:nvPr/>
        </p:nvSpPr>
        <p:spPr>
          <a:xfrm>
            <a:off x="7068312" y="3776472"/>
            <a:ext cx="4297680" cy="25603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firstpos((a₁|b₂)*) = {1,2}</a:t>
            </a:r>
            <a:endParaRPr b="0" i="0" sz="1600" u="none" cap="none" strike="noStrike">
              <a:solidFill>
                <a:schemeClr val="dk1"/>
              </a:solidFill>
              <a:latin typeface="Arial"/>
              <a:ea typeface="Arial"/>
              <a:cs typeface="Arial"/>
              <a:sym typeface="Arial"/>
            </a:endParaRPr>
          </a:p>
        </p:txBody>
      </p:sp>
      <p:sp>
        <p:nvSpPr>
          <p:cNvPr id="671" name="Google Shape;671;p17"/>
          <p:cNvSpPr/>
          <p:nvPr/>
        </p:nvSpPr>
        <p:spPr>
          <a:xfrm>
            <a:off x="6903720" y="4343400"/>
            <a:ext cx="4572000" cy="1005840"/>
          </a:xfrm>
          <a:prstGeom prst="roundRect">
            <a:avLst>
              <a:gd fmla="val 7273" name="adj"/>
            </a:avLst>
          </a:prstGeom>
          <a:solidFill>
            <a:srgbClr val="F0EBF8"/>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7"/>
          <p:cNvSpPr/>
          <p:nvPr/>
        </p:nvSpPr>
        <p:spPr>
          <a:xfrm>
            <a:off x="6903720" y="4343400"/>
            <a:ext cx="73152" cy="1005840"/>
          </a:xfrm>
          <a:prstGeom prst="rect">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7"/>
          <p:cNvSpPr txBox="1"/>
          <p:nvPr/>
        </p:nvSpPr>
        <p:spPr>
          <a:xfrm>
            <a:off x="7068312" y="4453128"/>
            <a:ext cx="42976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4. Concatenate a₃</a:t>
            </a:r>
            <a:endParaRPr b="0" i="0" sz="1600" u="none" cap="none" strike="noStrike">
              <a:solidFill>
                <a:schemeClr val="dk1"/>
              </a:solidFill>
              <a:latin typeface="Arial"/>
              <a:ea typeface="Arial"/>
              <a:cs typeface="Arial"/>
              <a:sym typeface="Arial"/>
            </a:endParaRPr>
          </a:p>
        </p:txBody>
      </p:sp>
      <p:sp>
        <p:nvSpPr>
          <p:cNvPr id="674" name="Google Shape;674;p17"/>
          <p:cNvSpPr txBox="1"/>
          <p:nvPr/>
        </p:nvSpPr>
        <p:spPr>
          <a:xfrm>
            <a:off x="7068312" y="4828032"/>
            <a:ext cx="4297680" cy="4389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star is nullable, so {1,2} ∪ {3} = {1,2,3}.</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679" name="Shape 679"/>
        <p:cNvGrpSpPr/>
        <p:nvPr/>
      </p:nvGrpSpPr>
      <p:grpSpPr>
        <a:xfrm>
          <a:off x="0" y="0"/>
          <a:ext cx="0" cy="0"/>
          <a:chOff x="0" y="0"/>
          <a:chExt cx="0" cy="0"/>
        </a:xfrm>
      </p:grpSpPr>
      <p:sp>
        <p:nvSpPr>
          <p:cNvPr id="680" name="Google Shape;680;p18"/>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8"/>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Compute firstpos - continue to the root</a:t>
            </a:r>
            <a:endParaRPr b="0" i="0" sz="2800" u="none" cap="none" strike="noStrike">
              <a:solidFill>
                <a:schemeClr val="dk1"/>
              </a:solidFill>
              <a:latin typeface="Arial"/>
              <a:ea typeface="Arial"/>
              <a:cs typeface="Arial"/>
              <a:sym typeface="Arial"/>
            </a:endParaRPr>
          </a:p>
        </p:txBody>
      </p:sp>
      <p:sp>
        <p:nvSpPr>
          <p:cNvPr id="682" name="Google Shape;682;p18"/>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8"/>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Firstpos</a:t>
            </a:r>
            <a:endParaRPr b="0" i="0" sz="1150" u="none" cap="none" strike="noStrike">
              <a:solidFill>
                <a:schemeClr val="dk1"/>
              </a:solidFill>
              <a:latin typeface="Arial"/>
              <a:ea typeface="Arial"/>
              <a:cs typeface="Arial"/>
              <a:sym typeface="Arial"/>
            </a:endParaRPr>
          </a:p>
        </p:txBody>
      </p:sp>
      <p:sp>
        <p:nvSpPr>
          <p:cNvPr id="684" name="Google Shape;684;p18"/>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685" name="Google Shape;685;p18"/>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18</a:t>
            </a:r>
            <a:endParaRPr b="0" i="0" sz="950" u="none" cap="none" strike="noStrike">
              <a:solidFill>
                <a:schemeClr val="dk1"/>
              </a:solidFill>
              <a:latin typeface="Arial"/>
              <a:ea typeface="Arial"/>
              <a:cs typeface="Arial"/>
              <a:sym typeface="Arial"/>
            </a:endParaRPr>
          </a:p>
        </p:txBody>
      </p:sp>
      <p:sp>
        <p:nvSpPr>
          <p:cNvPr id="686" name="Google Shape;686;p18"/>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8"/>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688" name="Google Shape;688;p18"/>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8"/>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690" name="Google Shape;690;p18"/>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8"/>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692" name="Google Shape;692;p18"/>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8"/>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694" name="Google Shape;694;p18"/>
          <p:cNvPicPr preferRelativeResize="0"/>
          <p:nvPr/>
        </p:nvPicPr>
        <p:blipFill rotWithShape="1">
          <a:blip r:embed="rId3">
            <a:alphaModFix/>
          </a:blip>
          <a:srcRect b="0" l="0" r="0" t="0"/>
          <a:stretch/>
        </p:blipFill>
        <p:spPr>
          <a:xfrm>
            <a:off x="320040" y="749808"/>
            <a:ext cx="7315200" cy="5394960"/>
          </a:xfrm>
          <a:prstGeom prst="rect">
            <a:avLst/>
          </a:prstGeom>
          <a:noFill/>
          <a:ln>
            <a:noFill/>
          </a:ln>
        </p:spPr>
      </p:pic>
      <p:sp>
        <p:nvSpPr>
          <p:cNvPr id="695" name="Google Shape;695;p18"/>
          <p:cNvSpPr/>
          <p:nvPr/>
        </p:nvSpPr>
        <p:spPr>
          <a:xfrm>
            <a:off x="7726680" y="914400"/>
            <a:ext cx="3703320" cy="1005840"/>
          </a:xfrm>
          <a:prstGeom prst="roundRect">
            <a:avLst>
              <a:gd fmla="val 7273"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8"/>
          <p:cNvSpPr/>
          <p:nvPr/>
        </p:nvSpPr>
        <p:spPr>
          <a:xfrm>
            <a:off x="7726680" y="914400"/>
            <a:ext cx="73152" cy="100584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8"/>
          <p:cNvSpPr txBox="1"/>
          <p:nvPr/>
        </p:nvSpPr>
        <p:spPr>
          <a:xfrm>
            <a:off x="7891272" y="1024128"/>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At · b₄</a:t>
            </a:r>
            <a:endParaRPr b="0" i="0" sz="1600" u="none" cap="none" strike="noStrike">
              <a:solidFill>
                <a:schemeClr val="dk1"/>
              </a:solidFill>
              <a:latin typeface="Arial"/>
              <a:ea typeface="Arial"/>
              <a:cs typeface="Arial"/>
              <a:sym typeface="Arial"/>
            </a:endParaRPr>
          </a:p>
        </p:txBody>
      </p:sp>
      <p:sp>
        <p:nvSpPr>
          <p:cNvPr id="698" name="Google Shape;698;p18"/>
          <p:cNvSpPr txBox="1"/>
          <p:nvPr/>
        </p:nvSpPr>
        <p:spPr>
          <a:xfrm>
            <a:off x="7891272" y="1399032"/>
            <a:ext cx="3429000" cy="4389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left child is not nullable, so firstpos remains {1,2,3}.</a:t>
            </a:r>
            <a:endParaRPr b="0" i="0" sz="1600" u="none" cap="none" strike="noStrike">
              <a:solidFill>
                <a:schemeClr val="dk1"/>
              </a:solidFill>
              <a:latin typeface="Arial"/>
              <a:ea typeface="Arial"/>
              <a:cs typeface="Arial"/>
              <a:sym typeface="Arial"/>
            </a:endParaRPr>
          </a:p>
        </p:txBody>
      </p:sp>
      <p:sp>
        <p:nvSpPr>
          <p:cNvPr id="699" name="Google Shape;699;p18"/>
          <p:cNvSpPr/>
          <p:nvPr/>
        </p:nvSpPr>
        <p:spPr>
          <a:xfrm>
            <a:off x="7726680" y="2212848"/>
            <a:ext cx="3703320" cy="1005840"/>
          </a:xfrm>
          <a:prstGeom prst="roundRect">
            <a:avLst>
              <a:gd fmla="val 7273"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a:off x="7726680" y="2212848"/>
            <a:ext cx="73152" cy="100584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8"/>
          <p:cNvSpPr txBox="1"/>
          <p:nvPr/>
        </p:nvSpPr>
        <p:spPr>
          <a:xfrm>
            <a:off x="7891272" y="2322576"/>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At · b₅</a:t>
            </a:r>
            <a:endParaRPr b="0" i="0" sz="1600" u="none" cap="none" strike="noStrike">
              <a:solidFill>
                <a:schemeClr val="dk1"/>
              </a:solidFill>
              <a:latin typeface="Arial"/>
              <a:ea typeface="Arial"/>
              <a:cs typeface="Arial"/>
              <a:sym typeface="Arial"/>
            </a:endParaRPr>
          </a:p>
        </p:txBody>
      </p:sp>
      <p:sp>
        <p:nvSpPr>
          <p:cNvPr id="702" name="Google Shape;702;p18"/>
          <p:cNvSpPr txBox="1"/>
          <p:nvPr/>
        </p:nvSpPr>
        <p:spPr>
          <a:xfrm>
            <a:off x="7891272" y="2697480"/>
            <a:ext cx="3429000" cy="4389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Again, the left child is not nullable, so firstpos remains {1,2,3}.</a:t>
            </a:r>
            <a:endParaRPr b="0" i="0" sz="1600" u="none" cap="none" strike="noStrike">
              <a:solidFill>
                <a:schemeClr val="dk1"/>
              </a:solidFill>
              <a:latin typeface="Arial"/>
              <a:ea typeface="Arial"/>
              <a:cs typeface="Arial"/>
              <a:sym typeface="Arial"/>
            </a:endParaRPr>
          </a:p>
        </p:txBody>
      </p:sp>
      <p:sp>
        <p:nvSpPr>
          <p:cNvPr id="703" name="Google Shape;703;p18"/>
          <p:cNvSpPr/>
          <p:nvPr/>
        </p:nvSpPr>
        <p:spPr>
          <a:xfrm>
            <a:off x="7726680" y="3511296"/>
            <a:ext cx="3703320" cy="1005840"/>
          </a:xfrm>
          <a:prstGeom prst="roundRect">
            <a:avLst>
              <a:gd fmla="val 7273"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7726680" y="3511296"/>
            <a:ext cx="73152" cy="100584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txBox="1"/>
          <p:nvPr/>
        </p:nvSpPr>
        <p:spPr>
          <a:xfrm>
            <a:off x="7891272" y="3621024"/>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At · #₆</a:t>
            </a:r>
            <a:endParaRPr b="0" i="0" sz="1600" u="none" cap="none" strike="noStrike">
              <a:solidFill>
                <a:schemeClr val="dk1"/>
              </a:solidFill>
              <a:latin typeface="Arial"/>
              <a:ea typeface="Arial"/>
              <a:cs typeface="Arial"/>
              <a:sym typeface="Arial"/>
            </a:endParaRPr>
          </a:p>
        </p:txBody>
      </p:sp>
      <p:sp>
        <p:nvSpPr>
          <p:cNvPr id="706" name="Google Shape;706;p18"/>
          <p:cNvSpPr txBox="1"/>
          <p:nvPr/>
        </p:nvSpPr>
        <p:spPr>
          <a:xfrm>
            <a:off x="7891272" y="3995928"/>
            <a:ext cx="3429000" cy="4389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left child is not nullable, so #₆ is not in firstpos(root).</a:t>
            </a:r>
            <a:endParaRPr b="0" i="0" sz="1600" u="none" cap="none" strike="noStrike">
              <a:solidFill>
                <a:schemeClr val="dk1"/>
              </a:solidFill>
              <a:latin typeface="Arial"/>
              <a:ea typeface="Arial"/>
              <a:cs typeface="Arial"/>
              <a:sym typeface="Arial"/>
            </a:endParaRPr>
          </a:p>
        </p:txBody>
      </p:sp>
      <p:sp>
        <p:nvSpPr>
          <p:cNvPr id="707" name="Google Shape;707;p18"/>
          <p:cNvSpPr/>
          <p:nvPr/>
        </p:nvSpPr>
        <p:spPr>
          <a:xfrm>
            <a:off x="7936992" y="4892040"/>
            <a:ext cx="329184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txBox="1"/>
          <p:nvPr/>
        </p:nvSpPr>
        <p:spPr>
          <a:xfrm>
            <a:off x="7982712" y="4901184"/>
            <a:ext cx="32004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firstpos(root) = {1,2,3}</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713" name="Shape 713"/>
        <p:cNvGrpSpPr/>
        <p:nvPr/>
      </p:nvGrpSpPr>
      <p:grpSpPr>
        <a:xfrm>
          <a:off x="0" y="0"/>
          <a:ext cx="0" cy="0"/>
          <a:chOff x="0" y="0"/>
          <a:chExt cx="0" cy="0"/>
        </a:xfrm>
      </p:grpSpPr>
      <p:sp>
        <p:nvSpPr>
          <p:cNvPr id="714" name="Google Shape;714;p19"/>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lastpos(n): which positions can appear last?</a:t>
            </a:r>
            <a:endParaRPr b="0" i="0" sz="2800" u="none" cap="none" strike="noStrike">
              <a:solidFill>
                <a:schemeClr val="dk1"/>
              </a:solidFill>
              <a:latin typeface="Arial"/>
              <a:ea typeface="Arial"/>
              <a:cs typeface="Arial"/>
              <a:sym typeface="Arial"/>
            </a:endParaRPr>
          </a:p>
        </p:txBody>
      </p:sp>
      <p:sp>
        <p:nvSpPr>
          <p:cNvPr id="716" name="Google Shape;716;p19"/>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Lastpos</a:t>
            </a:r>
            <a:endParaRPr b="0" i="0" sz="1150" u="none" cap="none" strike="noStrike">
              <a:solidFill>
                <a:schemeClr val="dk1"/>
              </a:solidFill>
              <a:latin typeface="Arial"/>
              <a:ea typeface="Arial"/>
              <a:cs typeface="Arial"/>
              <a:sym typeface="Arial"/>
            </a:endParaRPr>
          </a:p>
        </p:txBody>
      </p:sp>
      <p:sp>
        <p:nvSpPr>
          <p:cNvPr id="718" name="Google Shape;718;p19"/>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719" name="Google Shape;719;p19"/>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19</a:t>
            </a:r>
            <a:endParaRPr b="0" i="0" sz="950" u="none" cap="none" strike="noStrike">
              <a:solidFill>
                <a:schemeClr val="dk1"/>
              </a:solidFill>
              <a:latin typeface="Arial"/>
              <a:ea typeface="Arial"/>
              <a:cs typeface="Arial"/>
              <a:sym typeface="Arial"/>
            </a:endParaRPr>
          </a:p>
        </p:txBody>
      </p:sp>
      <p:sp>
        <p:nvSpPr>
          <p:cNvPr id="720" name="Google Shape;720;p19"/>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722" name="Google Shape;722;p19"/>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724" name="Google Shape;724;p19"/>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726" name="Google Shape;726;p19"/>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728" name="Google Shape;728;p19"/>
          <p:cNvSpPr/>
          <p:nvPr/>
        </p:nvSpPr>
        <p:spPr>
          <a:xfrm>
            <a:off x="658368" y="987552"/>
            <a:ext cx="4709160" cy="1874520"/>
          </a:xfrm>
          <a:prstGeom prst="roundRect">
            <a:avLst>
              <a:gd fmla="val 3902" name="adj"/>
            </a:avLst>
          </a:prstGeom>
          <a:solidFill>
            <a:srgbClr val="FBECEC"/>
          </a:solidFill>
          <a:ln cap="flat" cmpd="sng" w="12700">
            <a:solidFill>
              <a:srgbClr val="C94C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txBox="1"/>
          <p:nvPr/>
        </p:nvSpPr>
        <p:spPr>
          <a:xfrm>
            <a:off x="914400" y="1234440"/>
            <a:ext cx="41605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94C4C"/>
              </a:buClr>
              <a:buSzPts val="2000"/>
              <a:buFont typeface="Arial"/>
              <a:buNone/>
            </a:pPr>
            <a:r>
              <a:rPr b="1" i="0" lang="en-US" sz="2000" u="none" cap="none" strike="noStrike">
                <a:solidFill>
                  <a:srgbClr val="C94C4C"/>
                </a:solidFill>
                <a:latin typeface="Arial"/>
                <a:ea typeface="Arial"/>
                <a:cs typeface="Arial"/>
                <a:sym typeface="Arial"/>
              </a:rPr>
              <a:t>Definition</a:t>
            </a:r>
            <a:endParaRPr b="0" i="0" sz="2000" u="none" cap="none" strike="noStrike">
              <a:solidFill>
                <a:schemeClr val="dk1"/>
              </a:solidFill>
              <a:latin typeface="Arial"/>
              <a:ea typeface="Arial"/>
              <a:cs typeface="Arial"/>
              <a:sym typeface="Arial"/>
            </a:endParaRPr>
          </a:p>
        </p:txBody>
      </p:sp>
      <p:sp>
        <p:nvSpPr>
          <p:cNvPr id="730" name="Google Shape;730;p19"/>
          <p:cNvSpPr txBox="1"/>
          <p:nvPr/>
        </p:nvSpPr>
        <p:spPr>
          <a:xfrm>
            <a:off x="914400" y="1719072"/>
            <a:ext cx="416052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600"/>
              <a:buFont typeface="Arial"/>
              <a:buNone/>
            </a:pPr>
            <a:r>
              <a:rPr b="1" i="0" lang="en-US" sz="2600" u="none" cap="none" strike="noStrike">
                <a:solidFill>
                  <a:srgbClr val="153A73"/>
                </a:solidFill>
                <a:latin typeface="Arial"/>
                <a:ea typeface="Arial"/>
                <a:cs typeface="Arial"/>
                <a:sym typeface="Arial"/>
              </a:rPr>
              <a:t>lastpos(n)</a:t>
            </a:r>
            <a:endParaRPr b="0" i="0" sz="2600" u="none" cap="none" strike="noStrike">
              <a:solidFill>
                <a:schemeClr val="dk1"/>
              </a:solidFill>
              <a:latin typeface="Arial"/>
              <a:ea typeface="Arial"/>
              <a:cs typeface="Arial"/>
              <a:sym typeface="Arial"/>
            </a:endParaRPr>
          </a:p>
        </p:txBody>
      </p:sp>
      <p:sp>
        <p:nvSpPr>
          <p:cNvPr id="731" name="Google Shape;731;p19"/>
          <p:cNvSpPr txBox="1"/>
          <p:nvPr/>
        </p:nvSpPr>
        <p:spPr>
          <a:xfrm>
            <a:off x="914400" y="2130552"/>
            <a:ext cx="4160520" cy="47548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00"/>
              <a:buFont typeface="Arial"/>
              <a:buNone/>
            </a:pPr>
            <a:r>
              <a:rPr b="0" i="0" lang="en-US" sz="1700" u="none" cap="none" strike="noStrike">
                <a:solidFill>
                  <a:srgbClr val="1D2A39"/>
                </a:solidFill>
                <a:latin typeface="Arial"/>
                <a:ea typeface="Arial"/>
                <a:cs typeface="Arial"/>
                <a:sym typeface="Arial"/>
              </a:rPr>
              <a:t>is the set of leaf positions that can be the final symbol of some string generated by subtree n.</a:t>
            </a:r>
            <a:endParaRPr b="0" i="0" sz="1700" u="none" cap="none" strike="noStrike">
              <a:solidFill>
                <a:schemeClr val="dk1"/>
              </a:solidFill>
              <a:latin typeface="Arial"/>
              <a:ea typeface="Arial"/>
              <a:cs typeface="Arial"/>
              <a:sym typeface="Arial"/>
            </a:endParaRPr>
          </a:p>
        </p:txBody>
      </p:sp>
      <p:pic>
        <p:nvPicPr>
          <p:cNvPr descr="preencoded.png" id="732" name="Google Shape;732;p19"/>
          <p:cNvPicPr preferRelativeResize="0"/>
          <p:nvPr/>
        </p:nvPicPr>
        <p:blipFill rotWithShape="1">
          <a:blip r:embed="rId3">
            <a:alphaModFix/>
          </a:blip>
          <a:srcRect b="0" l="0" r="0" t="0"/>
          <a:stretch/>
        </p:blipFill>
        <p:spPr>
          <a:xfrm>
            <a:off x="5532120" y="841248"/>
            <a:ext cx="3291840" cy="2971800"/>
          </a:xfrm>
          <a:prstGeom prst="rect">
            <a:avLst/>
          </a:prstGeom>
          <a:noFill/>
          <a:ln>
            <a:noFill/>
          </a:ln>
        </p:spPr>
      </p:pic>
      <p:sp>
        <p:nvSpPr>
          <p:cNvPr id="733" name="Google Shape;733;p19"/>
          <p:cNvSpPr/>
          <p:nvPr/>
        </p:nvSpPr>
        <p:spPr>
          <a:xfrm>
            <a:off x="8942832" y="1051560"/>
            <a:ext cx="2606040" cy="1828800"/>
          </a:xfrm>
          <a:prstGeom prst="roundRect">
            <a:avLst>
              <a:gd fmla="val 4000"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a:off x="8942832" y="1051560"/>
            <a:ext cx="73152" cy="182880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txBox="1"/>
          <p:nvPr/>
        </p:nvSpPr>
        <p:spPr>
          <a:xfrm>
            <a:off x="9107424" y="1161288"/>
            <a:ext cx="23317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For (a|b)*·a₃</a:t>
            </a:r>
            <a:endParaRPr b="0" i="0" sz="1600" u="none" cap="none" strike="noStrike">
              <a:solidFill>
                <a:schemeClr val="dk1"/>
              </a:solidFill>
              <a:latin typeface="Arial"/>
              <a:ea typeface="Arial"/>
              <a:cs typeface="Arial"/>
              <a:sym typeface="Arial"/>
            </a:endParaRPr>
          </a:p>
        </p:txBody>
      </p:sp>
      <p:sp>
        <p:nvSpPr>
          <p:cNvPr id="736" name="Google Shape;736;p19"/>
          <p:cNvSpPr txBox="1"/>
          <p:nvPr/>
        </p:nvSpPr>
        <p:spPr>
          <a:xfrm>
            <a:off x="9107424" y="1536192"/>
            <a:ext cx="2331720" cy="12618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right child a₃ is not nullable, so every generated string must end at position 3.</a:t>
            </a:r>
            <a:endParaRPr b="0" i="0" sz="1600" u="none" cap="none" strike="noStrike">
              <a:solidFill>
                <a:schemeClr val="dk1"/>
              </a:solidFill>
              <a:latin typeface="Arial"/>
              <a:ea typeface="Arial"/>
              <a:cs typeface="Arial"/>
              <a:sym typeface="Arial"/>
            </a:endParaRPr>
          </a:p>
        </p:txBody>
      </p:sp>
      <p:sp>
        <p:nvSpPr>
          <p:cNvPr id="737" name="Google Shape;737;p19"/>
          <p:cNvSpPr/>
          <p:nvPr/>
        </p:nvSpPr>
        <p:spPr>
          <a:xfrm>
            <a:off x="658368" y="3886200"/>
            <a:ext cx="10881360" cy="1325880"/>
          </a:xfrm>
          <a:prstGeom prst="roundRect">
            <a:avLst>
              <a:gd fmla="val 5517"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txBox="1"/>
          <p:nvPr/>
        </p:nvSpPr>
        <p:spPr>
          <a:xfrm>
            <a:off x="914400" y="4133088"/>
            <a:ext cx="384048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900"/>
              <a:buFont typeface="Arial"/>
              <a:buNone/>
            </a:pPr>
            <a:r>
              <a:rPr b="1" i="0" lang="en-US" sz="1900" u="none" cap="none" strike="noStrike">
                <a:solidFill>
                  <a:srgbClr val="153A73"/>
                </a:solidFill>
                <a:latin typeface="Arial"/>
                <a:ea typeface="Arial"/>
                <a:cs typeface="Arial"/>
                <a:sym typeface="Arial"/>
              </a:rPr>
              <a:t>For the subtree (a₁|b₂)*·a₃:</a:t>
            </a:r>
            <a:endParaRPr b="0" i="0" sz="1900" u="none" cap="none" strike="noStrike">
              <a:solidFill>
                <a:schemeClr val="dk1"/>
              </a:solidFill>
              <a:latin typeface="Arial"/>
              <a:ea typeface="Arial"/>
              <a:cs typeface="Arial"/>
              <a:sym typeface="Arial"/>
            </a:endParaRPr>
          </a:p>
        </p:txBody>
      </p:sp>
      <p:sp>
        <p:nvSpPr>
          <p:cNvPr id="739" name="Google Shape;739;p19"/>
          <p:cNvSpPr txBox="1"/>
          <p:nvPr/>
        </p:nvSpPr>
        <p:spPr>
          <a:xfrm>
            <a:off x="4617720" y="4041648"/>
            <a:ext cx="2971800" cy="5029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2600"/>
              <a:buFont typeface="Arial"/>
              <a:buNone/>
            </a:pPr>
            <a:r>
              <a:rPr b="1" i="0" lang="en-US" sz="2600" u="none" cap="none" strike="noStrike">
                <a:solidFill>
                  <a:srgbClr val="C94C4C"/>
                </a:solidFill>
                <a:latin typeface="Arial"/>
                <a:ea typeface="Arial"/>
                <a:cs typeface="Arial"/>
                <a:sym typeface="Arial"/>
              </a:rPr>
              <a:t>lastpos = {3}</a:t>
            </a:r>
            <a:endParaRPr b="0" i="0" sz="2600" u="none" cap="none" strike="noStrike">
              <a:solidFill>
                <a:schemeClr val="dk1"/>
              </a:solidFill>
              <a:latin typeface="Arial"/>
              <a:ea typeface="Arial"/>
              <a:cs typeface="Arial"/>
              <a:sym typeface="Arial"/>
            </a:endParaRPr>
          </a:p>
        </p:txBody>
      </p:sp>
      <p:sp>
        <p:nvSpPr>
          <p:cNvPr id="740" name="Google Shape;740;p19"/>
          <p:cNvSpPr txBox="1"/>
          <p:nvPr/>
        </p:nvSpPr>
        <p:spPr>
          <a:xfrm>
            <a:off x="7909560" y="4133088"/>
            <a:ext cx="30175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750"/>
              <a:buFont typeface="Arial"/>
              <a:buNone/>
            </a:pPr>
            <a:r>
              <a:rPr b="1" i="0" lang="en-US" sz="1750" u="none" cap="none" strike="noStrike">
                <a:solidFill>
                  <a:srgbClr val="F4A261"/>
                </a:solidFill>
                <a:latin typeface="Arial"/>
                <a:ea typeface="Arial"/>
                <a:cs typeface="Arial"/>
                <a:sym typeface="Arial"/>
              </a:rPr>
              <a:t>Ask: Can the right child produce ε?</a:t>
            </a:r>
            <a:endParaRPr b="0" i="0" sz="175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745" name="Shape 745"/>
        <p:cNvGrpSpPr/>
        <p:nvPr/>
      </p:nvGrpSpPr>
      <p:grpSpPr>
        <a:xfrm>
          <a:off x="0" y="0"/>
          <a:ext cx="0" cy="0"/>
          <a:chOff x="0" y="0"/>
          <a:chExt cx="0" cy="0"/>
        </a:xfrm>
      </p:grpSpPr>
      <p:sp>
        <p:nvSpPr>
          <p:cNvPr id="746" name="Google Shape;746;p20"/>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0"/>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Rules for lastpos(n)</a:t>
            </a:r>
            <a:endParaRPr b="0" i="0" sz="2800" u="none" cap="none" strike="noStrike">
              <a:solidFill>
                <a:schemeClr val="dk1"/>
              </a:solidFill>
              <a:latin typeface="Arial"/>
              <a:ea typeface="Arial"/>
              <a:cs typeface="Arial"/>
              <a:sym typeface="Arial"/>
            </a:endParaRPr>
          </a:p>
        </p:txBody>
      </p:sp>
      <p:sp>
        <p:nvSpPr>
          <p:cNvPr id="748" name="Google Shape;748;p20"/>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0"/>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Lastpos</a:t>
            </a:r>
            <a:endParaRPr b="0" i="0" sz="1150" u="none" cap="none" strike="noStrike">
              <a:solidFill>
                <a:schemeClr val="dk1"/>
              </a:solidFill>
              <a:latin typeface="Arial"/>
              <a:ea typeface="Arial"/>
              <a:cs typeface="Arial"/>
              <a:sym typeface="Arial"/>
            </a:endParaRPr>
          </a:p>
        </p:txBody>
      </p:sp>
      <p:sp>
        <p:nvSpPr>
          <p:cNvPr id="750" name="Google Shape;750;p20"/>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751" name="Google Shape;751;p20"/>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20</a:t>
            </a:r>
            <a:endParaRPr b="0" i="0" sz="950" u="none" cap="none" strike="noStrike">
              <a:solidFill>
                <a:schemeClr val="dk1"/>
              </a:solidFill>
              <a:latin typeface="Arial"/>
              <a:ea typeface="Arial"/>
              <a:cs typeface="Arial"/>
              <a:sym typeface="Arial"/>
            </a:endParaRPr>
          </a:p>
        </p:txBody>
      </p:sp>
      <p:sp>
        <p:nvSpPr>
          <p:cNvPr id="752" name="Google Shape;752;p20"/>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0"/>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754" name="Google Shape;754;p20"/>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0"/>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756" name="Google Shape;756;p20"/>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758" name="Google Shape;758;p20"/>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760" name="Google Shape;760;p20"/>
          <p:cNvSpPr/>
          <p:nvPr/>
        </p:nvSpPr>
        <p:spPr>
          <a:xfrm>
            <a:off x="658368" y="987552"/>
            <a:ext cx="2443277" cy="7391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txBox="1"/>
          <p:nvPr/>
        </p:nvSpPr>
        <p:spPr>
          <a:xfrm>
            <a:off x="713232" y="100584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Node n</a:t>
            </a:r>
            <a:endParaRPr b="0" i="0" sz="1700" u="none" cap="none" strike="noStrike">
              <a:solidFill>
                <a:schemeClr val="dk1"/>
              </a:solidFill>
              <a:latin typeface="Arial"/>
              <a:ea typeface="Arial"/>
              <a:cs typeface="Arial"/>
              <a:sym typeface="Arial"/>
            </a:endParaRPr>
          </a:p>
        </p:txBody>
      </p:sp>
      <p:sp>
        <p:nvSpPr>
          <p:cNvPr id="762" name="Google Shape;762;p20"/>
          <p:cNvSpPr/>
          <p:nvPr/>
        </p:nvSpPr>
        <p:spPr>
          <a:xfrm>
            <a:off x="3101645" y="987552"/>
            <a:ext cx="5191963" cy="7391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txBox="1"/>
          <p:nvPr/>
        </p:nvSpPr>
        <p:spPr>
          <a:xfrm>
            <a:off x="3156509" y="100584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lastpos(n)</a:t>
            </a:r>
            <a:endParaRPr b="0" i="0" sz="1700" u="none" cap="none" strike="noStrike">
              <a:solidFill>
                <a:schemeClr val="dk1"/>
              </a:solidFill>
              <a:latin typeface="Arial"/>
              <a:ea typeface="Arial"/>
              <a:cs typeface="Arial"/>
              <a:sym typeface="Arial"/>
            </a:endParaRPr>
          </a:p>
        </p:txBody>
      </p:sp>
      <p:sp>
        <p:nvSpPr>
          <p:cNvPr id="764" name="Google Shape;764;p20"/>
          <p:cNvSpPr/>
          <p:nvPr/>
        </p:nvSpPr>
        <p:spPr>
          <a:xfrm>
            <a:off x="658368" y="1726692"/>
            <a:ext cx="2443277"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txBox="1"/>
          <p:nvPr/>
        </p:nvSpPr>
        <p:spPr>
          <a:xfrm>
            <a:off x="713232" y="174498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leaf ε</a:t>
            </a:r>
            <a:endParaRPr b="0" i="0" sz="1600" u="none" cap="none" strike="noStrike">
              <a:solidFill>
                <a:schemeClr val="dk1"/>
              </a:solidFill>
              <a:latin typeface="Arial"/>
              <a:ea typeface="Arial"/>
              <a:cs typeface="Arial"/>
              <a:sym typeface="Arial"/>
            </a:endParaRPr>
          </a:p>
        </p:txBody>
      </p:sp>
      <p:sp>
        <p:nvSpPr>
          <p:cNvPr id="766" name="Google Shape;766;p20"/>
          <p:cNvSpPr/>
          <p:nvPr/>
        </p:nvSpPr>
        <p:spPr>
          <a:xfrm>
            <a:off x="3101645" y="1726692"/>
            <a:ext cx="5191963"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txBox="1"/>
          <p:nvPr/>
        </p:nvSpPr>
        <p:spPr>
          <a:xfrm>
            <a:off x="3156509" y="174498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768" name="Google Shape;768;p20"/>
          <p:cNvSpPr/>
          <p:nvPr/>
        </p:nvSpPr>
        <p:spPr>
          <a:xfrm>
            <a:off x="658368" y="2465832"/>
            <a:ext cx="2443277"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txBox="1"/>
          <p:nvPr/>
        </p:nvSpPr>
        <p:spPr>
          <a:xfrm>
            <a:off x="713232" y="248412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leaf at position i</a:t>
            </a:r>
            <a:endParaRPr b="0" i="0" sz="1600" u="none" cap="none" strike="noStrike">
              <a:solidFill>
                <a:schemeClr val="dk1"/>
              </a:solidFill>
              <a:latin typeface="Arial"/>
              <a:ea typeface="Arial"/>
              <a:cs typeface="Arial"/>
              <a:sym typeface="Arial"/>
            </a:endParaRPr>
          </a:p>
        </p:txBody>
      </p:sp>
      <p:sp>
        <p:nvSpPr>
          <p:cNvPr id="770" name="Google Shape;770;p20"/>
          <p:cNvSpPr/>
          <p:nvPr/>
        </p:nvSpPr>
        <p:spPr>
          <a:xfrm>
            <a:off x="3101645" y="2465832"/>
            <a:ext cx="5191963"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txBox="1"/>
          <p:nvPr/>
        </p:nvSpPr>
        <p:spPr>
          <a:xfrm>
            <a:off x="3156509" y="248412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{i}</a:t>
            </a:r>
            <a:endParaRPr b="0" i="0" sz="1600" u="none" cap="none" strike="noStrike">
              <a:solidFill>
                <a:schemeClr val="dk1"/>
              </a:solidFill>
              <a:latin typeface="Arial"/>
              <a:ea typeface="Arial"/>
              <a:cs typeface="Arial"/>
              <a:sym typeface="Arial"/>
            </a:endParaRPr>
          </a:p>
        </p:txBody>
      </p:sp>
      <p:sp>
        <p:nvSpPr>
          <p:cNvPr id="772" name="Google Shape;772;p20"/>
          <p:cNvSpPr/>
          <p:nvPr/>
        </p:nvSpPr>
        <p:spPr>
          <a:xfrm>
            <a:off x="658368" y="3204972"/>
            <a:ext cx="2443277"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txBox="1"/>
          <p:nvPr/>
        </p:nvSpPr>
        <p:spPr>
          <a:xfrm>
            <a:off x="713232" y="322326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c₁ | c₂</a:t>
            </a:r>
            <a:endParaRPr b="0" i="0" sz="1600" u="none" cap="none" strike="noStrike">
              <a:solidFill>
                <a:schemeClr val="dk1"/>
              </a:solidFill>
              <a:latin typeface="Arial"/>
              <a:ea typeface="Arial"/>
              <a:cs typeface="Arial"/>
              <a:sym typeface="Arial"/>
            </a:endParaRPr>
          </a:p>
        </p:txBody>
      </p:sp>
      <p:sp>
        <p:nvSpPr>
          <p:cNvPr id="774" name="Google Shape;774;p20"/>
          <p:cNvSpPr/>
          <p:nvPr/>
        </p:nvSpPr>
        <p:spPr>
          <a:xfrm>
            <a:off x="3101645" y="3204972"/>
            <a:ext cx="5191963"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txBox="1"/>
          <p:nvPr/>
        </p:nvSpPr>
        <p:spPr>
          <a:xfrm>
            <a:off x="3156509" y="322326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lastpos(c₁) ∪ lastpos(c₂)</a:t>
            </a:r>
            <a:endParaRPr b="0" i="0" sz="1600" u="none" cap="none" strike="noStrike">
              <a:solidFill>
                <a:schemeClr val="dk1"/>
              </a:solidFill>
              <a:latin typeface="Arial"/>
              <a:ea typeface="Arial"/>
              <a:cs typeface="Arial"/>
              <a:sym typeface="Arial"/>
            </a:endParaRPr>
          </a:p>
        </p:txBody>
      </p:sp>
      <p:sp>
        <p:nvSpPr>
          <p:cNvPr id="776" name="Google Shape;776;p20"/>
          <p:cNvSpPr/>
          <p:nvPr/>
        </p:nvSpPr>
        <p:spPr>
          <a:xfrm>
            <a:off x="658368" y="3944112"/>
            <a:ext cx="2443277"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txBox="1"/>
          <p:nvPr/>
        </p:nvSpPr>
        <p:spPr>
          <a:xfrm>
            <a:off x="713232" y="396240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c₁ · c₂</a:t>
            </a:r>
            <a:endParaRPr b="0" i="0" sz="1600" u="none" cap="none" strike="noStrike">
              <a:solidFill>
                <a:schemeClr val="dk1"/>
              </a:solidFill>
              <a:latin typeface="Arial"/>
              <a:ea typeface="Arial"/>
              <a:cs typeface="Arial"/>
              <a:sym typeface="Arial"/>
            </a:endParaRPr>
          </a:p>
        </p:txBody>
      </p:sp>
      <p:sp>
        <p:nvSpPr>
          <p:cNvPr id="778" name="Google Shape;778;p20"/>
          <p:cNvSpPr/>
          <p:nvPr/>
        </p:nvSpPr>
        <p:spPr>
          <a:xfrm>
            <a:off x="3101645" y="3944112"/>
            <a:ext cx="5191963" cy="7391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txBox="1"/>
          <p:nvPr/>
        </p:nvSpPr>
        <p:spPr>
          <a:xfrm>
            <a:off x="3156509" y="396240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if nullable(c₂): lastpos(c₁) ∪ lastpos(c₂)</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else: lastpos(c₂)</a:t>
            </a:r>
            <a:endParaRPr b="0" i="0" sz="1600" u="none" cap="none" strike="noStrike">
              <a:solidFill>
                <a:schemeClr val="dk1"/>
              </a:solidFill>
              <a:latin typeface="Arial"/>
              <a:ea typeface="Arial"/>
              <a:cs typeface="Arial"/>
              <a:sym typeface="Arial"/>
            </a:endParaRPr>
          </a:p>
        </p:txBody>
      </p:sp>
      <p:sp>
        <p:nvSpPr>
          <p:cNvPr id="780" name="Google Shape;780;p20"/>
          <p:cNvSpPr/>
          <p:nvPr/>
        </p:nvSpPr>
        <p:spPr>
          <a:xfrm>
            <a:off x="658368" y="4683252"/>
            <a:ext cx="2443277"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txBox="1"/>
          <p:nvPr/>
        </p:nvSpPr>
        <p:spPr>
          <a:xfrm>
            <a:off x="713232" y="4701540"/>
            <a:ext cx="2333549"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1" i="0" lang="en-US" sz="1600" u="none" cap="none" strike="noStrike">
                <a:solidFill>
                  <a:srgbClr val="1D2A39"/>
                </a:solidFill>
                <a:latin typeface="Arial"/>
                <a:ea typeface="Arial"/>
                <a:cs typeface="Arial"/>
                <a:sym typeface="Arial"/>
              </a:rPr>
              <a:t>c*</a:t>
            </a:r>
            <a:endParaRPr b="0" i="0" sz="1600" u="none" cap="none" strike="noStrike">
              <a:solidFill>
                <a:schemeClr val="dk1"/>
              </a:solidFill>
              <a:latin typeface="Arial"/>
              <a:ea typeface="Arial"/>
              <a:cs typeface="Arial"/>
              <a:sym typeface="Arial"/>
            </a:endParaRPr>
          </a:p>
        </p:txBody>
      </p:sp>
      <p:sp>
        <p:nvSpPr>
          <p:cNvPr id="782" name="Google Shape;782;p20"/>
          <p:cNvSpPr/>
          <p:nvPr/>
        </p:nvSpPr>
        <p:spPr>
          <a:xfrm>
            <a:off x="3101645" y="4683252"/>
            <a:ext cx="5191963" cy="7391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txBox="1"/>
          <p:nvPr/>
        </p:nvSpPr>
        <p:spPr>
          <a:xfrm>
            <a:off x="3156509" y="4701540"/>
            <a:ext cx="5082235" cy="7025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lastpos(c)</a:t>
            </a:r>
            <a:endParaRPr b="0" i="0" sz="1600" u="none" cap="none" strike="noStrike">
              <a:solidFill>
                <a:schemeClr val="dk1"/>
              </a:solidFill>
              <a:latin typeface="Arial"/>
              <a:ea typeface="Arial"/>
              <a:cs typeface="Arial"/>
              <a:sym typeface="Arial"/>
            </a:endParaRPr>
          </a:p>
        </p:txBody>
      </p:sp>
      <p:sp>
        <p:nvSpPr>
          <p:cNvPr id="784" name="Google Shape;784;p20"/>
          <p:cNvSpPr/>
          <p:nvPr/>
        </p:nvSpPr>
        <p:spPr>
          <a:xfrm>
            <a:off x="8549640" y="1097280"/>
            <a:ext cx="2971800" cy="1417320"/>
          </a:xfrm>
          <a:prstGeom prst="roundRect">
            <a:avLst>
              <a:gd fmla="val 5161"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8549640" y="1097280"/>
            <a:ext cx="73152" cy="1417320"/>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txBox="1"/>
          <p:nvPr/>
        </p:nvSpPr>
        <p:spPr>
          <a:xfrm>
            <a:off x="8714232" y="1207008"/>
            <a:ext cx="26974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Mirror image of firstpos</a:t>
            </a:r>
            <a:endParaRPr b="0" i="0" sz="1600" u="none" cap="none" strike="noStrike">
              <a:solidFill>
                <a:schemeClr val="dk1"/>
              </a:solidFill>
              <a:latin typeface="Arial"/>
              <a:ea typeface="Arial"/>
              <a:cs typeface="Arial"/>
              <a:sym typeface="Arial"/>
            </a:endParaRPr>
          </a:p>
        </p:txBody>
      </p:sp>
      <p:sp>
        <p:nvSpPr>
          <p:cNvPr id="787" name="Google Shape;787;p20"/>
          <p:cNvSpPr txBox="1"/>
          <p:nvPr/>
        </p:nvSpPr>
        <p:spPr>
          <a:xfrm>
            <a:off x="8714232" y="1581912"/>
            <a:ext cx="2697480" cy="8503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For concatenation, firstpos checks the left child; lastpos checks the right child.</a:t>
            </a:r>
            <a:endParaRPr b="0" i="0" sz="1600" u="none" cap="none" strike="noStrike">
              <a:solidFill>
                <a:schemeClr val="dk1"/>
              </a:solidFill>
              <a:latin typeface="Arial"/>
              <a:ea typeface="Arial"/>
              <a:cs typeface="Arial"/>
              <a:sym typeface="Arial"/>
            </a:endParaRPr>
          </a:p>
        </p:txBody>
      </p:sp>
      <p:sp>
        <p:nvSpPr>
          <p:cNvPr id="788" name="Google Shape;788;p20"/>
          <p:cNvSpPr/>
          <p:nvPr/>
        </p:nvSpPr>
        <p:spPr>
          <a:xfrm>
            <a:off x="8549640" y="2880360"/>
            <a:ext cx="2971800" cy="1298448"/>
          </a:xfrm>
          <a:prstGeom prst="roundRect">
            <a:avLst>
              <a:gd fmla="val 5634"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8549640" y="2880360"/>
            <a:ext cx="73152" cy="1298448"/>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txBox="1"/>
          <p:nvPr/>
        </p:nvSpPr>
        <p:spPr>
          <a:xfrm>
            <a:off x="8714232" y="2990088"/>
            <a:ext cx="269748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For our root</a:t>
            </a:r>
            <a:endParaRPr b="0" i="0" sz="1600" u="none" cap="none" strike="noStrike">
              <a:solidFill>
                <a:schemeClr val="dk1"/>
              </a:solidFill>
              <a:latin typeface="Arial"/>
              <a:ea typeface="Arial"/>
              <a:cs typeface="Arial"/>
              <a:sym typeface="Arial"/>
            </a:endParaRPr>
          </a:p>
        </p:txBody>
      </p:sp>
      <p:sp>
        <p:nvSpPr>
          <p:cNvPr id="791" name="Google Shape;791;p20"/>
          <p:cNvSpPr txBox="1"/>
          <p:nvPr/>
        </p:nvSpPr>
        <p:spPr>
          <a:xfrm>
            <a:off x="8714232" y="3364992"/>
            <a:ext cx="2697480" cy="7315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right child is #₆ and is not nullable. Therefore, lastpos(root) = {6}.</a:t>
            </a:r>
            <a:endParaRPr b="0" i="0" sz="1600" u="none" cap="none" strike="noStrike">
              <a:solidFill>
                <a:schemeClr val="dk1"/>
              </a:solidFill>
              <a:latin typeface="Arial"/>
              <a:ea typeface="Arial"/>
              <a:cs typeface="Arial"/>
              <a:sym typeface="Arial"/>
            </a:endParaRPr>
          </a:p>
        </p:txBody>
      </p:sp>
      <p:sp>
        <p:nvSpPr>
          <p:cNvPr id="792" name="Google Shape;792;p20"/>
          <p:cNvSpPr/>
          <p:nvPr/>
        </p:nvSpPr>
        <p:spPr>
          <a:xfrm>
            <a:off x="8732520" y="4617720"/>
            <a:ext cx="2606040" cy="310896"/>
          </a:xfrm>
          <a:prstGeom prst="roundRect">
            <a:avLst>
              <a:gd fmla="val 47059" name="adj"/>
            </a:avLst>
          </a:prstGeom>
          <a:solidFill>
            <a:srgbClr val="FBECEC"/>
          </a:solidFill>
          <a:ln cap="flat" cmpd="sng" w="12700">
            <a:solidFill>
              <a:srgbClr val="FBECE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txBox="1"/>
          <p:nvPr/>
        </p:nvSpPr>
        <p:spPr>
          <a:xfrm>
            <a:off x="8778240" y="4626864"/>
            <a:ext cx="25146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550"/>
              <a:buFont typeface="Arial"/>
              <a:buNone/>
            </a:pPr>
            <a:r>
              <a:rPr b="1" i="0" lang="en-US" sz="1550" u="none" cap="none" strike="noStrike">
                <a:solidFill>
                  <a:srgbClr val="C94C4C"/>
                </a:solidFill>
                <a:latin typeface="Arial"/>
                <a:ea typeface="Arial"/>
                <a:cs typeface="Arial"/>
                <a:sym typeface="Arial"/>
              </a:rPr>
              <a:t>Final marker position = 6</a:t>
            </a:r>
            <a:endParaRPr b="0" i="0" sz="155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798" name="Shape 798"/>
        <p:cNvGrpSpPr/>
        <p:nvPr/>
      </p:nvGrpSpPr>
      <p:grpSpPr>
        <a:xfrm>
          <a:off x="0" y="0"/>
          <a:ext cx="0" cy="0"/>
          <a:chOff x="0" y="0"/>
          <a:chExt cx="0" cy="0"/>
        </a:xfrm>
      </p:grpSpPr>
      <p:sp>
        <p:nvSpPr>
          <p:cNvPr id="799" name="Google Shape;799;p21"/>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1"/>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Compute lastpos bottom-up</a:t>
            </a:r>
            <a:endParaRPr b="0" i="0" sz="2800" u="none" cap="none" strike="noStrike">
              <a:solidFill>
                <a:schemeClr val="dk1"/>
              </a:solidFill>
              <a:latin typeface="Arial"/>
              <a:ea typeface="Arial"/>
              <a:cs typeface="Arial"/>
              <a:sym typeface="Arial"/>
            </a:endParaRPr>
          </a:p>
        </p:txBody>
      </p:sp>
      <p:sp>
        <p:nvSpPr>
          <p:cNvPr id="801" name="Google Shape;801;p21"/>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1"/>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Lastpos</a:t>
            </a:r>
            <a:endParaRPr b="0" i="0" sz="1150" u="none" cap="none" strike="noStrike">
              <a:solidFill>
                <a:schemeClr val="dk1"/>
              </a:solidFill>
              <a:latin typeface="Arial"/>
              <a:ea typeface="Arial"/>
              <a:cs typeface="Arial"/>
              <a:sym typeface="Arial"/>
            </a:endParaRPr>
          </a:p>
        </p:txBody>
      </p:sp>
      <p:sp>
        <p:nvSpPr>
          <p:cNvPr id="803" name="Google Shape;803;p21"/>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804" name="Google Shape;804;p21"/>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21</a:t>
            </a:r>
            <a:endParaRPr b="0" i="0" sz="950" u="none" cap="none" strike="noStrike">
              <a:solidFill>
                <a:schemeClr val="dk1"/>
              </a:solidFill>
              <a:latin typeface="Arial"/>
              <a:ea typeface="Arial"/>
              <a:cs typeface="Arial"/>
              <a:sym typeface="Arial"/>
            </a:endParaRPr>
          </a:p>
        </p:txBody>
      </p:sp>
      <p:sp>
        <p:nvSpPr>
          <p:cNvPr id="805" name="Google Shape;805;p21"/>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1"/>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807" name="Google Shape;807;p21"/>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1"/>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809" name="Google Shape;809;p21"/>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1"/>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811" name="Google Shape;811;p21"/>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813" name="Google Shape;813;p21"/>
          <p:cNvPicPr preferRelativeResize="0"/>
          <p:nvPr/>
        </p:nvPicPr>
        <p:blipFill rotWithShape="1">
          <a:blip r:embed="rId3">
            <a:alphaModFix/>
          </a:blip>
          <a:srcRect b="0" l="0" r="0" t="0"/>
          <a:stretch/>
        </p:blipFill>
        <p:spPr>
          <a:xfrm>
            <a:off x="320040" y="749808"/>
            <a:ext cx="7315200" cy="5394960"/>
          </a:xfrm>
          <a:prstGeom prst="rect">
            <a:avLst/>
          </a:prstGeom>
          <a:noFill/>
          <a:ln>
            <a:noFill/>
          </a:ln>
        </p:spPr>
      </p:pic>
      <p:sp>
        <p:nvSpPr>
          <p:cNvPr id="814" name="Google Shape;814;p21"/>
          <p:cNvSpPr/>
          <p:nvPr/>
        </p:nvSpPr>
        <p:spPr>
          <a:xfrm>
            <a:off x="7726680" y="896112"/>
            <a:ext cx="3703320" cy="868680"/>
          </a:xfrm>
          <a:prstGeom prst="roundRect">
            <a:avLst>
              <a:gd fmla="val 8421"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a:off x="7726680" y="896112"/>
            <a:ext cx="73152" cy="86868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txBox="1"/>
          <p:nvPr/>
        </p:nvSpPr>
        <p:spPr>
          <a:xfrm>
            <a:off x="7891272" y="1005840"/>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At (a|b)*·a₃</a:t>
            </a:r>
            <a:endParaRPr b="0" i="0" sz="1600" u="none" cap="none" strike="noStrike">
              <a:solidFill>
                <a:schemeClr val="dk1"/>
              </a:solidFill>
              <a:latin typeface="Arial"/>
              <a:ea typeface="Arial"/>
              <a:cs typeface="Arial"/>
              <a:sym typeface="Arial"/>
            </a:endParaRPr>
          </a:p>
        </p:txBody>
      </p:sp>
      <p:sp>
        <p:nvSpPr>
          <p:cNvPr id="817" name="Google Shape;817;p21"/>
          <p:cNvSpPr txBox="1"/>
          <p:nvPr/>
        </p:nvSpPr>
        <p:spPr>
          <a:xfrm>
            <a:off x="7891272" y="1380744"/>
            <a:ext cx="342900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Right child a₃ is not nullable → lastpos = {3}.</a:t>
            </a:r>
            <a:endParaRPr b="0" i="0" sz="1600" u="none" cap="none" strike="noStrike">
              <a:solidFill>
                <a:schemeClr val="dk1"/>
              </a:solidFill>
              <a:latin typeface="Arial"/>
              <a:ea typeface="Arial"/>
              <a:cs typeface="Arial"/>
              <a:sym typeface="Arial"/>
            </a:endParaRPr>
          </a:p>
        </p:txBody>
      </p:sp>
      <p:sp>
        <p:nvSpPr>
          <p:cNvPr id="818" name="Google Shape;818;p21"/>
          <p:cNvSpPr/>
          <p:nvPr/>
        </p:nvSpPr>
        <p:spPr>
          <a:xfrm>
            <a:off x="7726680" y="1920240"/>
            <a:ext cx="3703320" cy="868680"/>
          </a:xfrm>
          <a:prstGeom prst="roundRect">
            <a:avLst>
              <a:gd fmla="val 8421"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7726680" y="1920240"/>
            <a:ext cx="73152" cy="86868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txBox="1"/>
          <p:nvPr/>
        </p:nvSpPr>
        <p:spPr>
          <a:xfrm>
            <a:off x="7891272" y="2029968"/>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Then ·b₄</a:t>
            </a:r>
            <a:endParaRPr b="0" i="0" sz="1600" u="none" cap="none" strike="noStrike">
              <a:solidFill>
                <a:schemeClr val="dk1"/>
              </a:solidFill>
              <a:latin typeface="Arial"/>
              <a:ea typeface="Arial"/>
              <a:cs typeface="Arial"/>
              <a:sym typeface="Arial"/>
            </a:endParaRPr>
          </a:p>
        </p:txBody>
      </p:sp>
      <p:sp>
        <p:nvSpPr>
          <p:cNvPr id="821" name="Google Shape;821;p21"/>
          <p:cNvSpPr txBox="1"/>
          <p:nvPr/>
        </p:nvSpPr>
        <p:spPr>
          <a:xfrm>
            <a:off x="7891272" y="2404872"/>
            <a:ext cx="342900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Right child b₄ is not nullable → lastpos = {4}.</a:t>
            </a:r>
            <a:endParaRPr b="0" i="0" sz="1600" u="none" cap="none" strike="noStrike">
              <a:solidFill>
                <a:schemeClr val="dk1"/>
              </a:solidFill>
              <a:latin typeface="Arial"/>
              <a:ea typeface="Arial"/>
              <a:cs typeface="Arial"/>
              <a:sym typeface="Arial"/>
            </a:endParaRPr>
          </a:p>
        </p:txBody>
      </p:sp>
      <p:sp>
        <p:nvSpPr>
          <p:cNvPr id="822" name="Google Shape;822;p21"/>
          <p:cNvSpPr/>
          <p:nvPr/>
        </p:nvSpPr>
        <p:spPr>
          <a:xfrm>
            <a:off x="7726680" y="2944368"/>
            <a:ext cx="3703320" cy="868680"/>
          </a:xfrm>
          <a:prstGeom prst="roundRect">
            <a:avLst>
              <a:gd fmla="val 8421"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7726680" y="2944368"/>
            <a:ext cx="73152" cy="86868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txBox="1"/>
          <p:nvPr/>
        </p:nvSpPr>
        <p:spPr>
          <a:xfrm>
            <a:off x="7891272" y="3054096"/>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Then ·b₅</a:t>
            </a:r>
            <a:endParaRPr b="0" i="0" sz="1600" u="none" cap="none" strike="noStrike">
              <a:solidFill>
                <a:schemeClr val="dk1"/>
              </a:solidFill>
              <a:latin typeface="Arial"/>
              <a:ea typeface="Arial"/>
              <a:cs typeface="Arial"/>
              <a:sym typeface="Arial"/>
            </a:endParaRPr>
          </a:p>
        </p:txBody>
      </p:sp>
      <p:sp>
        <p:nvSpPr>
          <p:cNvPr id="825" name="Google Shape;825;p21"/>
          <p:cNvSpPr txBox="1"/>
          <p:nvPr/>
        </p:nvSpPr>
        <p:spPr>
          <a:xfrm>
            <a:off x="7891272" y="3429000"/>
            <a:ext cx="342900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Right child b₅ is not nullable → lastpos = {5}.</a:t>
            </a:r>
            <a:endParaRPr b="0" i="0" sz="1600" u="none" cap="none" strike="noStrike">
              <a:solidFill>
                <a:schemeClr val="dk1"/>
              </a:solidFill>
              <a:latin typeface="Arial"/>
              <a:ea typeface="Arial"/>
              <a:cs typeface="Arial"/>
              <a:sym typeface="Arial"/>
            </a:endParaRPr>
          </a:p>
        </p:txBody>
      </p:sp>
      <p:sp>
        <p:nvSpPr>
          <p:cNvPr id="826" name="Google Shape;826;p21"/>
          <p:cNvSpPr/>
          <p:nvPr/>
        </p:nvSpPr>
        <p:spPr>
          <a:xfrm>
            <a:off x="7726680" y="3968496"/>
            <a:ext cx="3703320" cy="960120"/>
          </a:xfrm>
          <a:prstGeom prst="roundRect">
            <a:avLst>
              <a:gd fmla="val 7619" name="adj"/>
            </a:avLst>
          </a:prstGeom>
          <a:solidFill>
            <a:srgbClr val="F0EBF8"/>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7726680" y="3968496"/>
            <a:ext cx="73152" cy="960120"/>
          </a:xfrm>
          <a:prstGeom prst="rect">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txBox="1"/>
          <p:nvPr/>
        </p:nvSpPr>
        <p:spPr>
          <a:xfrm>
            <a:off x="7891272" y="4078224"/>
            <a:ext cx="3429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Finally ·#₆</a:t>
            </a:r>
            <a:endParaRPr b="0" i="0" sz="1600" u="none" cap="none" strike="noStrike">
              <a:solidFill>
                <a:schemeClr val="dk1"/>
              </a:solidFill>
              <a:latin typeface="Arial"/>
              <a:ea typeface="Arial"/>
              <a:cs typeface="Arial"/>
              <a:sym typeface="Arial"/>
            </a:endParaRPr>
          </a:p>
        </p:txBody>
      </p:sp>
      <p:sp>
        <p:nvSpPr>
          <p:cNvPr id="829" name="Google Shape;829;p21"/>
          <p:cNvSpPr txBox="1"/>
          <p:nvPr/>
        </p:nvSpPr>
        <p:spPr>
          <a:xfrm>
            <a:off x="7891272" y="4453128"/>
            <a:ext cx="3429000" cy="3931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Right child #₆ is not nullable → lastpos(root) = {6}.</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834" name="Shape 834"/>
        <p:cNvGrpSpPr/>
        <p:nvPr/>
      </p:nvGrpSpPr>
      <p:grpSpPr>
        <a:xfrm>
          <a:off x="0" y="0"/>
          <a:ext cx="0" cy="0"/>
          <a:chOff x="0" y="0"/>
          <a:chExt cx="0" cy="0"/>
        </a:xfrm>
      </p:grpSpPr>
      <p:sp>
        <p:nvSpPr>
          <p:cNvPr id="835" name="Google Shape;835;p22"/>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Summary: nullable, firstpos, and lastpos for every subtree</a:t>
            </a:r>
            <a:endParaRPr b="0" i="0" sz="2800" u="none" cap="none" strike="noStrike">
              <a:solidFill>
                <a:schemeClr val="dk1"/>
              </a:solidFill>
              <a:latin typeface="Arial"/>
              <a:ea typeface="Arial"/>
              <a:cs typeface="Arial"/>
              <a:sym typeface="Arial"/>
            </a:endParaRPr>
          </a:p>
        </p:txBody>
      </p:sp>
      <p:sp>
        <p:nvSpPr>
          <p:cNvPr id="837" name="Google Shape;837;p22"/>
          <p:cNvSpPr/>
          <p:nvPr/>
        </p:nvSpPr>
        <p:spPr>
          <a:xfrm>
            <a:off x="10195560" y="210312"/>
            <a:ext cx="155448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150"/>
              <a:buFont typeface="Arial"/>
              <a:buNone/>
            </a:pPr>
            <a:r>
              <a:rPr b="1" i="0" lang="en-US" sz="1150" u="none" cap="none" strike="noStrike">
                <a:solidFill>
                  <a:srgbClr val="1F75BB"/>
                </a:solidFill>
                <a:latin typeface="Arial"/>
                <a:ea typeface="Arial"/>
                <a:cs typeface="Arial"/>
                <a:sym typeface="Arial"/>
              </a:rPr>
              <a:t>Summary</a:t>
            </a:r>
            <a:endParaRPr b="0" i="0" sz="1150" u="none" cap="none" strike="noStrike">
              <a:solidFill>
                <a:schemeClr val="dk1"/>
              </a:solidFill>
              <a:latin typeface="Arial"/>
              <a:ea typeface="Arial"/>
              <a:cs typeface="Arial"/>
              <a:sym typeface="Arial"/>
            </a:endParaRPr>
          </a:p>
        </p:txBody>
      </p:sp>
      <p:sp>
        <p:nvSpPr>
          <p:cNvPr id="839" name="Google Shape;839;p22"/>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840" name="Google Shape;840;p22"/>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22</a:t>
            </a:r>
            <a:endParaRPr b="0" i="0" sz="950" u="none" cap="none" strike="noStrike">
              <a:solidFill>
                <a:schemeClr val="dk1"/>
              </a:solidFill>
              <a:latin typeface="Arial"/>
              <a:ea typeface="Arial"/>
              <a:cs typeface="Arial"/>
              <a:sym typeface="Arial"/>
            </a:endParaRPr>
          </a:p>
        </p:txBody>
      </p:sp>
      <p:sp>
        <p:nvSpPr>
          <p:cNvPr id="841" name="Google Shape;841;p22"/>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2"/>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843" name="Google Shape;843;p22"/>
          <p:cNvSpPr/>
          <p:nvPr/>
        </p:nvSpPr>
        <p:spPr>
          <a:xfrm>
            <a:off x="3271266" y="6665976"/>
            <a:ext cx="2786634" cy="118872"/>
          </a:xfrm>
          <a:prstGeom prst="roundRect">
            <a:avLst>
              <a:gd fmla="val 61538" name="adj"/>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2"/>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950"/>
              <a:buFont typeface="Arial"/>
              <a:buNone/>
            </a:pPr>
            <a:r>
              <a:rPr b="1" i="0" lang="en-US" sz="950" u="none" cap="none" strike="noStrike">
                <a:solidFill>
                  <a:srgbClr val="1F75BB"/>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845" name="Google Shape;845;p22"/>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2"/>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847" name="Google Shape;847;p22"/>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849" name="Google Shape;849;p22"/>
          <p:cNvSpPr/>
          <p:nvPr/>
        </p:nvSpPr>
        <p:spPr>
          <a:xfrm>
            <a:off x="658368" y="914400"/>
            <a:ext cx="3360420" cy="5740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2"/>
          <p:cNvSpPr txBox="1"/>
          <p:nvPr/>
        </p:nvSpPr>
        <p:spPr>
          <a:xfrm>
            <a:off x="713232" y="93268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Subexpression</a:t>
            </a:r>
            <a:endParaRPr b="0" i="0" sz="1650" u="none" cap="none" strike="noStrike">
              <a:solidFill>
                <a:schemeClr val="dk1"/>
              </a:solidFill>
              <a:latin typeface="Arial"/>
              <a:ea typeface="Arial"/>
              <a:cs typeface="Arial"/>
              <a:sym typeface="Arial"/>
            </a:endParaRPr>
          </a:p>
        </p:txBody>
      </p:sp>
      <p:sp>
        <p:nvSpPr>
          <p:cNvPr id="851" name="Google Shape;851;p22"/>
          <p:cNvSpPr/>
          <p:nvPr/>
        </p:nvSpPr>
        <p:spPr>
          <a:xfrm>
            <a:off x="4018788" y="914400"/>
            <a:ext cx="1280160" cy="5740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2"/>
          <p:cNvSpPr txBox="1"/>
          <p:nvPr/>
        </p:nvSpPr>
        <p:spPr>
          <a:xfrm>
            <a:off x="4073652" y="93268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nullable</a:t>
            </a:r>
            <a:endParaRPr b="0" i="0" sz="1650" u="none" cap="none" strike="noStrike">
              <a:solidFill>
                <a:schemeClr val="dk1"/>
              </a:solidFill>
              <a:latin typeface="Arial"/>
              <a:ea typeface="Arial"/>
              <a:cs typeface="Arial"/>
              <a:sym typeface="Arial"/>
            </a:endParaRPr>
          </a:p>
        </p:txBody>
      </p:sp>
      <p:sp>
        <p:nvSpPr>
          <p:cNvPr id="853" name="Google Shape;853;p22"/>
          <p:cNvSpPr/>
          <p:nvPr/>
        </p:nvSpPr>
        <p:spPr>
          <a:xfrm>
            <a:off x="5298948" y="914400"/>
            <a:ext cx="1680210" cy="5740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2"/>
          <p:cNvSpPr txBox="1"/>
          <p:nvPr/>
        </p:nvSpPr>
        <p:spPr>
          <a:xfrm>
            <a:off x="5353812" y="93268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firstpos</a:t>
            </a:r>
            <a:endParaRPr b="0" i="0" sz="1650" u="none" cap="none" strike="noStrike">
              <a:solidFill>
                <a:schemeClr val="dk1"/>
              </a:solidFill>
              <a:latin typeface="Arial"/>
              <a:ea typeface="Arial"/>
              <a:cs typeface="Arial"/>
              <a:sym typeface="Arial"/>
            </a:endParaRPr>
          </a:p>
        </p:txBody>
      </p:sp>
      <p:sp>
        <p:nvSpPr>
          <p:cNvPr id="855" name="Google Shape;855;p22"/>
          <p:cNvSpPr/>
          <p:nvPr/>
        </p:nvSpPr>
        <p:spPr>
          <a:xfrm>
            <a:off x="6979158" y="914400"/>
            <a:ext cx="1680210" cy="574040"/>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2"/>
          <p:cNvSpPr txBox="1"/>
          <p:nvPr/>
        </p:nvSpPr>
        <p:spPr>
          <a:xfrm>
            <a:off x="7034022" y="93268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lastpos</a:t>
            </a:r>
            <a:endParaRPr b="0" i="0" sz="1650" u="none" cap="none" strike="noStrike">
              <a:solidFill>
                <a:schemeClr val="dk1"/>
              </a:solidFill>
              <a:latin typeface="Arial"/>
              <a:ea typeface="Arial"/>
              <a:cs typeface="Arial"/>
              <a:sym typeface="Arial"/>
            </a:endParaRPr>
          </a:p>
        </p:txBody>
      </p:sp>
      <p:sp>
        <p:nvSpPr>
          <p:cNvPr id="857" name="Google Shape;857;p22"/>
          <p:cNvSpPr/>
          <p:nvPr/>
        </p:nvSpPr>
        <p:spPr>
          <a:xfrm>
            <a:off x="658368" y="1488440"/>
            <a:ext cx="336042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2"/>
          <p:cNvSpPr txBox="1"/>
          <p:nvPr/>
        </p:nvSpPr>
        <p:spPr>
          <a:xfrm>
            <a:off x="713232" y="150672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a₁</a:t>
            </a:r>
            <a:endParaRPr b="0" i="0" sz="1540" u="none" cap="none" strike="noStrike">
              <a:solidFill>
                <a:schemeClr val="dk1"/>
              </a:solidFill>
              <a:latin typeface="Arial"/>
              <a:ea typeface="Arial"/>
              <a:cs typeface="Arial"/>
              <a:sym typeface="Arial"/>
            </a:endParaRPr>
          </a:p>
        </p:txBody>
      </p:sp>
      <p:sp>
        <p:nvSpPr>
          <p:cNvPr id="859" name="Google Shape;859;p22"/>
          <p:cNvSpPr/>
          <p:nvPr/>
        </p:nvSpPr>
        <p:spPr>
          <a:xfrm>
            <a:off x="4018788" y="1488440"/>
            <a:ext cx="128016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2"/>
          <p:cNvSpPr txBox="1"/>
          <p:nvPr/>
        </p:nvSpPr>
        <p:spPr>
          <a:xfrm>
            <a:off x="4073652" y="150672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861" name="Google Shape;861;p22"/>
          <p:cNvSpPr/>
          <p:nvPr/>
        </p:nvSpPr>
        <p:spPr>
          <a:xfrm>
            <a:off x="5298948" y="148844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2"/>
          <p:cNvSpPr txBox="1"/>
          <p:nvPr/>
        </p:nvSpPr>
        <p:spPr>
          <a:xfrm>
            <a:off x="5353812" y="150672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a:t>
            </a:r>
            <a:endParaRPr b="0" i="0" sz="1540" u="none" cap="none" strike="noStrike">
              <a:solidFill>
                <a:schemeClr val="dk1"/>
              </a:solidFill>
              <a:latin typeface="Arial"/>
              <a:ea typeface="Arial"/>
              <a:cs typeface="Arial"/>
              <a:sym typeface="Arial"/>
            </a:endParaRPr>
          </a:p>
        </p:txBody>
      </p:sp>
      <p:sp>
        <p:nvSpPr>
          <p:cNvPr id="863" name="Google Shape;863;p22"/>
          <p:cNvSpPr/>
          <p:nvPr/>
        </p:nvSpPr>
        <p:spPr>
          <a:xfrm>
            <a:off x="6979158" y="148844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2"/>
          <p:cNvSpPr txBox="1"/>
          <p:nvPr/>
        </p:nvSpPr>
        <p:spPr>
          <a:xfrm>
            <a:off x="7034022" y="150672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a:t>
            </a:r>
            <a:endParaRPr b="0" i="0" sz="1540" u="none" cap="none" strike="noStrike">
              <a:solidFill>
                <a:schemeClr val="dk1"/>
              </a:solidFill>
              <a:latin typeface="Arial"/>
              <a:ea typeface="Arial"/>
              <a:cs typeface="Arial"/>
              <a:sym typeface="Arial"/>
            </a:endParaRPr>
          </a:p>
        </p:txBody>
      </p:sp>
      <p:sp>
        <p:nvSpPr>
          <p:cNvPr id="865" name="Google Shape;865;p22"/>
          <p:cNvSpPr/>
          <p:nvPr/>
        </p:nvSpPr>
        <p:spPr>
          <a:xfrm>
            <a:off x="658368" y="2062480"/>
            <a:ext cx="336042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2"/>
          <p:cNvSpPr txBox="1"/>
          <p:nvPr/>
        </p:nvSpPr>
        <p:spPr>
          <a:xfrm>
            <a:off x="713232" y="208076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b₂</a:t>
            </a:r>
            <a:endParaRPr b="0" i="0" sz="1540" u="none" cap="none" strike="noStrike">
              <a:solidFill>
                <a:schemeClr val="dk1"/>
              </a:solidFill>
              <a:latin typeface="Arial"/>
              <a:ea typeface="Arial"/>
              <a:cs typeface="Arial"/>
              <a:sym typeface="Arial"/>
            </a:endParaRPr>
          </a:p>
        </p:txBody>
      </p:sp>
      <p:sp>
        <p:nvSpPr>
          <p:cNvPr id="867" name="Google Shape;867;p22"/>
          <p:cNvSpPr/>
          <p:nvPr/>
        </p:nvSpPr>
        <p:spPr>
          <a:xfrm>
            <a:off x="4018788" y="2062480"/>
            <a:ext cx="128016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2"/>
          <p:cNvSpPr txBox="1"/>
          <p:nvPr/>
        </p:nvSpPr>
        <p:spPr>
          <a:xfrm>
            <a:off x="4073652" y="208076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869" name="Google Shape;869;p22"/>
          <p:cNvSpPr/>
          <p:nvPr/>
        </p:nvSpPr>
        <p:spPr>
          <a:xfrm>
            <a:off x="5298948" y="206248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2"/>
          <p:cNvSpPr txBox="1"/>
          <p:nvPr/>
        </p:nvSpPr>
        <p:spPr>
          <a:xfrm>
            <a:off x="5353812" y="208076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{2}</a:t>
            </a:r>
            <a:endParaRPr b="0" i="0" sz="1540" u="none" cap="none" strike="noStrike">
              <a:solidFill>
                <a:schemeClr val="dk1"/>
              </a:solidFill>
              <a:latin typeface="Arial"/>
              <a:ea typeface="Arial"/>
              <a:cs typeface="Arial"/>
              <a:sym typeface="Arial"/>
            </a:endParaRPr>
          </a:p>
        </p:txBody>
      </p:sp>
      <p:sp>
        <p:nvSpPr>
          <p:cNvPr id="871" name="Google Shape;871;p22"/>
          <p:cNvSpPr/>
          <p:nvPr/>
        </p:nvSpPr>
        <p:spPr>
          <a:xfrm>
            <a:off x="6979158" y="206248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2"/>
          <p:cNvSpPr txBox="1"/>
          <p:nvPr/>
        </p:nvSpPr>
        <p:spPr>
          <a:xfrm>
            <a:off x="7034022" y="208076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{2}</a:t>
            </a:r>
            <a:endParaRPr b="0" i="0" sz="1540" u="none" cap="none" strike="noStrike">
              <a:solidFill>
                <a:schemeClr val="dk1"/>
              </a:solidFill>
              <a:latin typeface="Arial"/>
              <a:ea typeface="Arial"/>
              <a:cs typeface="Arial"/>
              <a:sym typeface="Arial"/>
            </a:endParaRPr>
          </a:p>
        </p:txBody>
      </p:sp>
      <p:sp>
        <p:nvSpPr>
          <p:cNvPr id="873" name="Google Shape;873;p22"/>
          <p:cNvSpPr/>
          <p:nvPr/>
        </p:nvSpPr>
        <p:spPr>
          <a:xfrm>
            <a:off x="658368" y="2636520"/>
            <a:ext cx="336042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2"/>
          <p:cNvSpPr txBox="1"/>
          <p:nvPr/>
        </p:nvSpPr>
        <p:spPr>
          <a:xfrm>
            <a:off x="713232" y="265480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a₁|b₂</a:t>
            </a:r>
            <a:endParaRPr b="0" i="0" sz="1540" u="none" cap="none" strike="noStrike">
              <a:solidFill>
                <a:schemeClr val="dk1"/>
              </a:solidFill>
              <a:latin typeface="Arial"/>
              <a:ea typeface="Arial"/>
              <a:cs typeface="Arial"/>
              <a:sym typeface="Arial"/>
            </a:endParaRPr>
          </a:p>
        </p:txBody>
      </p:sp>
      <p:sp>
        <p:nvSpPr>
          <p:cNvPr id="875" name="Google Shape;875;p22"/>
          <p:cNvSpPr/>
          <p:nvPr/>
        </p:nvSpPr>
        <p:spPr>
          <a:xfrm>
            <a:off x="4018788" y="2636520"/>
            <a:ext cx="128016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2"/>
          <p:cNvSpPr txBox="1"/>
          <p:nvPr/>
        </p:nvSpPr>
        <p:spPr>
          <a:xfrm>
            <a:off x="4073652" y="265480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877" name="Google Shape;877;p22"/>
          <p:cNvSpPr/>
          <p:nvPr/>
        </p:nvSpPr>
        <p:spPr>
          <a:xfrm>
            <a:off x="5298948" y="263652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2"/>
          <p:cNvSpPr txBox="1"/>
          <p:nvPr/>
        </p:nvSpPr>
        <p:spPr>
          <a:xfrm>
            <a:off x="5353812" y="265480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a:t>
            </a:r>
            <a:endParaRPr b="0" i="0" sz="1540" u="none" cap="none" strike="noStrike">
              <a:solidFill>
                <a:schemeClr val="dk1"/>
              </a:solidFill>
              <a:latin typeface="Arial"/>
              <a:ea typeface="Arial"/>
              <a:cs typeface="Arial"/>
              <a:sym typeface="Arial"/>
            </a:endParaRPr>
          </a:p>
        </p:txBody>
      </p:sp>
      <p:sp>
        <p:nvSpPr>
          <p:cNvPr id="879" name="Google Shape;879;p22"/>
          <p:cNvSpPr/>
          <p:nvPr/>
        </p:nvSpPr>
        <p:spPr>
          <a:xfrm>
            <a:off x="6979158" y="263652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2"/>
          <p:cNvSpPr txBox="1"/>
          <p:nvPr/>
        </p:nvSpPr>
        <p:spPr>
          <a:xfrm>
            <a:off x="7034022" y="265480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a:t>
            </a:r>
            <a:endParaRPr b="0" i="0" sz="1540" u="none" cap="none" strike="noStrike">
              <a:solidFill>
                <a:schemeClr val="dk1"/>
              </a:solidFill>
              <a:latin typeface="Arial"/>
              <a:ea typeface="Arial"/>
              <a:cs typeface="Arial"/>
              <a:sym typeface="Arial"/>
            </a:endParaRPr>
          </a:p>
        </p:txBody>
      </p:sp>
      <p:sp>
        <p:nvSpPr>
          <p:cNvPr id="881" name="Google Shape;881;p22"/>
          <p:cNvSpPr/>
          <p:nvPr/>
        </p:nvSpPr>
        <p:spPr>
          <a:xfrm>
            <a:off x="658368" y="3210560"/>
            <a:ext cx="336042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txBox="1"/>
          <p:nvPr/>
        </p:nvSpPr>
        <p:spPr>
          <a:xfrm>
            <a:off x="713232" y="322884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(a₁|b₂)*</a:t>
            </a:r>
            <a:endParaRPr b="0" i="0" sz="1540" u="none" cap="none" strike="noStrike">
              <a:solidFill>
                <a:schemeClr val="dk1"/>
              </a:solidFill>
              <a:latin typeface="Arial"/>
              <a:ea typeface="Arial"/>
              <a:cs typeface="Arial"/>
              <a:sym typeface="Arial"/>
            </a:endParaRPr>
          </a:p>
        </p:txBody>
      </p:sp>
      <p:sp>
        <p:nvSpPr>
          <p:cNvPr id="883" name="Google Shape;883;p22"/>
          <p:cNvSpPr/>
          <p:nvPr/>
        </p:nvSpPr>
        <p:spPr>
          <a:xfrm>
            <a:off x="4018788" y="3210560"/>
            <a:ext cx="128016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2"/>
          <p:cNvSpPr txBox="1"/>
          <p:nvPr/>
        </p:nvSpPr>
        <p:spPr>
          <a:xfrm>
            <a:off x="4073652" y="322884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T</a:t>
            </a:r>
            <a:endParaRPr b="0" i="0" sz="1540" u="none" cap="none" strike="noStrike">
              <a:solidFill>
                <a:schemeClr val="dk1"/>
              </a:solidFill>
              <a:latin typeface="Arial"/>
              <a:ea typeface="Arial"/>
              <a:cs typeface="Arial"/>
              <a:sym typeface="Arial"/>
            </a:endParaRPr>
          </a:p>
        </p:txBody>
      </p:sp>
      <p:sp>
        <p:nvSpPr>
          <p:cNvPr id="885" name="Google Shape;885;p22"/>
          <p:cNvSpPr/>
          <p:nvPr/>
        </p:nvSpPr>
        <p:spPr>
          <a:xfrm>
            <a:off x="5298948" y="321056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txBox="1"/>
          <p:nvPr/>
        </p:nvSpPr>
        <p:spPr>
          <a:xfrm>
            <a:off x="5353812" y="322884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a:t>
            </a:r>
            <a:endParaRPr b="0" i="0" sz="1540" u="none" cap="none" strike="noStrike">
              <a:solidFill>
                <a:schemeClr val="dk1"/>
              </a:solidFill>
              <a:latin typeface="Arial"/>
              <a:ea typeface="Arial"/>
              <a:cs typeface="Arial"/>
              <a:sym typeface="Arial"/>
            </a:endParaRPr>
          </a:p>
        </p:txBody>
      </p:sp>
      <p:sp>
        <p:nvSpPr>
          <p:cNvPr id="887" name="Google Shape;887;p22"/>
          <p:cNvSpPr/>
          <p:nvPr/>
        </p:nvSpPr>
        <p:spPr>
          <a:xfrm>
            <a:off x="6979158" y="321056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2"/>
          <p:cNvSpPr txBox="1"/>
          <p:nvPr/>
        </p:nvSpPr>
        <p:spPr>
          <a:xfrm>
            <a:off x="7034022" y="322884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a:t>
            </a:r>
            <a:endParaRPr b="0" i="0" sz="1540" u="none" cap="none" strike="noStrike">
              <a:solidFill>
                <a:schemeClr val="dk1"/>
              </a:solidFill>
              <a:latin typeface="Arial"/>
              <a:ea typeface="Arial"/>
              <a:cs typeface="Arial"/>
              <a:sym typeface="Arial"/>
            </a:endParaRPr>
          </a:p>
        </p:txBody>
      </p:sp>
      <p:sp>
        <p:nvSpPr>
          <p:cNvPr id="889" name="Google Shape;889;p22"/>
          <p:cNvSpPr/>
          <p:nvPr/>
        </p:nvSpPr>
        <p:spPr>
          <a:xfrm>
            <a:off x="658368" y="3784600"/>
            <a:ext cx="336042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2"/>
          <p:cNvSpPr txBox="1"/>
          <p:nvPr/>
        </p:nvSpPr>
        <p:spPr>
          <a:xfrm>
            <a:off x="713232" y="380288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(a₁|b₂)*·a₃</a:t>
            </a:r>
            <a:endParaRPr b="0" i="0" sz="1540" u="none" cap="none" strike="noStrike">
              <a:solidFill>
                <a:schemeClr val="dk1"/>
              </a:solidFill>
              <a:latin typeface="Arial"/>
              <a:ea typeface="Arial"/>
              <a:cs typeface="Arial"/>
              <a:sym typeface="Arial"/>
            </a:endParaRPr>
          </a:p>
        </p:txBody>
      </p:sp>
      <p:sp>
        <p:nvSpPr>
          <p:cNvPr id="891" name="Google Shape;891;p22"/>
          <p:cNvSpPr/>
          <p:nvPr/>
        </p:nvSpPr>
        <p:spPr>
          <a:xfrm>
            <a:off x="4018788" y="3784600"/>
            <a:ext cx="128016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txBox="1"/>
          <p:nvPr/>
        </p:nvSpPr>
        <p:spPr>
          <a:xfrm>
            <a:off x="4073652" y="380288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893" name="Google Shape;893;p22"/>
          <p:cNvSpPr/>
          <p:nvPr/>
        </p:nvSpPr>
        <p:spPr>
          <a:xfrm>
            <a:off x="5298948" y="378460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txBox="1"/>
          <p:nvPr/>
        </p:nvSpPr>
        <p:spPr>
          <a:xfrm>
            <a:off x="5353812" y="380288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{1,2,3}</a:t>
            </a:r>
            <a:endParaRPr b="0" i="0" sz="1540" u="none" cap="none" strike="noStrike">
              <a:solidFill>
                <a:schemeClr val="dk1"/>
              </a:solidFill>
              <a:latin typeface="Arial"/>
              <a:ea typeface="Arial"/>
              <a:cs typeface="Arial"/>
              <a:sym typeface="Arial"/>
            </a:endParaRPr>
          </a:p>
        </p:txBody>
      </p:sp>
      <p:sp>
        <p:nvSpPr>
          <p:cNvPr id="895" name="Google Shape;895;p22"/>
          <p:cNvSpPr/>
          <p:nvPr/>
        </p:nvSpPr>
        <p:spPr>
          <a:xfrm>
            <a:off x="6979158" y="378460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2"/>
          <p:cNvSpPr txBox="1"/>
          <p:nvPr/>
        </p:nvSpPr>
        <p:spPr>
          <a:xfrm>
            <a:off x="7034022" y="380288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{3}</a:t>
            </a:r>
            <a:endParaRPr b="0" i="0" sz="1540" u="none" cap="none" strike="noStrike">
              <a:solidFill>
                <a:schemeClr val="dk1"/>
              </a:solidFill>
              <a:latin typeface="Arial"/>
              <a:ea typeface="Arial"/>
              <a:cs typeface="Arial"/>
              <a:sym typeface="Arial"/>
            </a:endParaRPr>
          </a:p>
        </p:txBody>
      </p:sp>
      <p:sp>
        <p:nvSpPr>
          <p:cNvPr id="897" name="Google Shape;897;p22"/>
          <p:cNvSpPr/>
          <p:nvPr/>
        </p:nvSpPr>
        <p:spPr>
          <a:xfrm>
            <a:off x="658368" y="4358640"/>
            <a:ext cx="336042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2"/>
          <p:cNvSpPr txBox="1"/>
          <p:nvPr/>
        </p:nvSpPr>
        <p:spPr>
          <a:xfrm>
            <a:off x="713232" y="437692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…·b₄</a:t>
            </a:r>
            <a:endParaRPr b="0" i="0" sz="1540" u="none" cap="none" strike="noStrike">
              <a:solidFill>
                <a:schemeClr val="dk1"/>
              </a:solidFill>
              <a:latin typeface="Arial"/>
              <a:ea typeface="Arial"/>
              <a:cs typeface="Arial"/>
              <a:sym typeface="Arial"/>
            </a:endParaRPr>
          </a:p>
        </p:txBody>
      </p:sp>
      <p:sp>
        <p:nvSpPr>
          <p:cNvPr id="899" name="Google Shape;899;p22"/>
          <p:cNvSpPr/>
          <p:nvPr/>
        </p:nvSpPr>
        <p:spPr>
          <a:xfrm>
            <a:off x="4018788" y="4358640"/>
            <a:ext cx="128016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2"/>
          <p:cNvSpPr txBox="1"/>
          <p:nvPr/>
        </p:nvSpPr>
        <p:spPr>
          <a:xfrm>
            <a:off x="4073652" y="437692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901" name="Google Shape;901;p22"/>
          <p:cNvSpPr/>
          <p:nvPr/>
        </p:nvSpPr>
        <p:spPr>
          <a:xfrm>
            <a:off x="5298948" y="435864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txBox="1"/>
          <p:nvPr/>
        </p:nvSpPr>
        <p:spPr>
          <a:xfrm>
            <a:off x="5353812" y="437692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{1,2,3}</a:t>
            </a:r>
            <a:endParaRPr b="0" i="0" sz="1540" u="none" cap="none" strike="noStrike">
              <a:solidFill>
                <a:schemeClr val="dk1"/>
              </a:solidFill>
              <a:latin typeface="Arial"/>
              <a:ea typeface="Arial"/>
              <a:cs typeface="Arial"/>
              <a:sym typeface="Arial"/>
            </a:endParaRPr>
          </a:p>
        </p:txBody>
      </p:sp>
      <p:sp>
        <p:nvSpPr>
          <p:cNvPr id="903" name="Google Shape;903;p22"/>
          <p:cNvSpPr/>
          <p:nvPr/>
        </p:nvSpPr>
        <p:spPr>
          <a:xfrm>
            <a:off x="6979158" y="435864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txBox="1"/>
          <p:nvPr/>
        </p:nvSpPr>
        <p:spPr>
          <a:xfrm>
            <a:off x="7034022" y="437692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{4}</a:t>
            </a:r>
            <a:endParaRPr b="0" i="0" sz="1540" u="none" cap="none" strike="noStrike">
              <a:solidFill>
                <a:schemeClr val="dk1"/>
              </a:solidFill>
              <a:latin typeface="Arial"/>
              <a:ea typeface="Arial"/>
              <a:cs typeface="Arial"/>
              <a:sym typeface="Arial"/>
            </a:endParaRPr>
          </a:p>
        </p:txBody>
      </p:sp>
      <p:sp>
        <p:nvSpPr>
          <p:cNvPr id="905" name="Google Shape;905;p22"/>
          <p:cNvSpPr/>
          <p:nvPr/>
        </p:nvSpPr>
        <p:spPr>
          <a:xfrm>
            <a:off x="658368" y="4932680"/>
            <a:ext cx="336042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2"/>
          <p:cNvSpPr txBox="1"/>
          <p:nvPr/>
        </p:nvSpPr>
        <p:spPr>
          <a:xfrm>
            <a:off x="713232" y="495096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…·b₅</a:t>
            </a:r>
            <a:endParaRPr b="0" i="0" sz="1540" u="none" cap="none" strike="noStrike">
              <a:solidFill>
                <a:schemeClr val="dk1"/>
              </a:solidFill>
              <a:latin typeface="Arial"/>
              <a:ea typeface="Arial"/>
              <a:cs typeface="Arial"/>
              <a:sym typeface="Arial"/>
            </a:endParaRPr>
          </a:p>
        </p:txBody>
      </p:sp>
      <p:sp>
        <p:nvSpPr>
          <p:cNvPr id="907" name="Google Shape;907;p22"/>
          <p:cNvSpPr/>
          <p:nvPr/>
        </p:nvSpPr>
        <p:spPr>
          <a:xfrm>
            <a:off x="4018788" y="4932680"/>
            <a:ext cx="128016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2"/>
          <p:cNvSpPr txBox="1"/>
          <p:nvPr/>
        </p:nvSpPr>
        <p:spPr>
          <a:xfrm>
            <a:off x="4073652" y="495096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909" name="Google Shape;909;p22"/>
          <p:cNvSpPr/>
          <p:nvPr/>
        </p:nvSpPr>
        <p:spPr>
          <a:xfrm>
            <a:off x="5298948" y="493268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2"/>
          <p:cNvSpPr txBox="1"/>
          <p:nvPr/>
        </p:nvSpPr>
        <p:spPr>
          <a:xfrm>
            <a:off x="5353812" y="495096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{1,2,3}</a:t>
            </a:r>
            <a:endParaRPr b="0" i="0" sz="1540" u="none" cap="none" strike="noStrike">
              <a:solidFill>
                <a:schemeClr val="dk1"/>
              </a:solidFill>
              <a:latin typeface="Arial"/>
              <a:ea typeface="Arial"/>
              <a:cs typeface="Arial"/>
              <a:sym typeface="Arial"/>
            </a:endParaRPr>
          </a:p>
        </p:txBody>
      </p:sp>
      <p:sp>
        <p:nvSpPr>
          <p:cNvPr id="911" name="Google Shape;911;p22"/>
          <p:cNvSpPr/>
          <p:nvPr/>
        </p:nvSpPr>
        <p:spPr>
          <a:xfrm>
            <a:off x="6979158" y="4932680"/>
            <a:ext cx="1680210" cy="574040"/>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txBox="1"/>
          <p:nvPr/>
        </p:nvSpPr>
        <p:spPr>
          <a:xfrm>
            <a:off x="7034022" y="495096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{5}</a:t>
            </a:r>
            <a:endParaRPr b="0" i="0" sz="1540" u="none" cap="none" strike="noStrike">
              <a:solidFill>
                <a:schemeClr val="dk1"/>
              </a:solidFill>
              <a:latin typeface="Arial"/>
              <a:ea typeface="Arial"/>
              <a:cs typeface="Arial"/>
              <a:sym typeface="Arial"/>
            </a:endParaRPr>
          </a:p>
        </p:txBody>
      </p:sp>
      <p:sp>
        <p:nvSpPr>
          <p:cNvPr id="913" name="Google Shape;913;p22"/>
          <p:cNvSpPr/>
          <p:nvPr/>
        </p:nvSpPr>
        <p:spPr>
          <a:xfrm>
            <a:off x="658368" y="5506720"/>
            <a:ext cx="336042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txBox="1"/>
          <p:nvPr/>
        </p:nvSpPr>
        <p:spPr>
          <a:xfrm>
            <a:off x="713232" y="5525008"/>
            <a:ext cx="3250692" cy="537464"/>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D2A39"/>
              </a:buClr>
              <a:buSzPts val="1540"/>
              <a:buFont typeface="Arial"/>
              <a:buNone/>
            </a:pPr>
            <a:r>
              <a:rPr b="1" i="0" lang="en-US" sz="1540" u="none" cap="none" strike="noStrike">
                <a:solidFill>
                  <a:srgbClr val="1D2A39"/>
                </a:solidFill>
                <a:latin typeface="Arial"/>
                <a:ea typeface="Arial"/>
                <a:cs typeface="Arial"/>
                <a:sym typeface="Arial"/>
              </a:rPr>
              <a:t>…·#₆  (root)</a:t>
            </a:r>
            <a:endParaRPr b="0" i="0" sz="1540" u="none" cap="none" strike="noStrike">
              <a:solidFill>
                <a:schemeClr val="dk1"/>
              </a:solidFill>
              <a:latin typeface="Arial"/>
              <a:ea typeface="Arial"/>
              <a:cs typeface="Arial"/>
              <a:sym typeface="Arial"/>
            </a:endParaRPr>
          </a:p>
        </p:txBody>
      </p:sp>
      <p:sp>
        <p:nvSpPr>
          <p:cNvPr id="915" name="Google Shape;915;p22"/>
          <p:cNvSpPr/>
          <p:nvPr/>
        </p:nvSpPr>
        <p:spPr>
          <a:xfrm>
            <a:off x="4018788" y="5506720"/>
            <a:ext cx="128016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2"/>
          <p:cNvSpPr txBox="1"/>
          <p:nvPr/>
        </p:nvSpPr>
        <p:spPr>
          <a:xfrm>
            <a:off x="4073652" y="5525008"/>
            <a:ext cx="117043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F</a:t>
            </a:r>
            <a:endParaRPr b="0" i="0" sz="1540" u="none" cap="none" strike="noStrike">
              <a:solidFill>
                <a:schemeClr val="dk1"/>
              </a:solidFill>
              <a:latin typeface="Arial"/>
              <a:ea typeface="Arial"/>
              <a:cs typeface="Arial"/>
              <a:sym typeface="Arial"/>
            </a:endParaRPr>
          </a:p>
        </p:txBody>
      </p:sp>
      <p:sp>
        <p:nvSpPr>
          <p:cNvPr id="917" name="Google Shape;917;p22"/>
          <p:cNvSpPr/>
          <p:nvPr/>
        </p:nvSpPr>
        <p:spPr>
          <a:xfrm>
            <a:off x="5298948" y="550672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2"/>
          <p:cNvSpPr txBox="1"/>
          <p:nvPr/>
        </p:nvSpPr>
        <p:spPr>
          <a:xfrm>
            <a:off x="5353812" y="552500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{1,2,3}</a:t>
            </a:r>
            <a:endParaRPr b="0" i="0" sz="1540" u="none" cap="none" strike="noStrike">
              <a:solidFill>
                <a:schemeClr val="dk1"/>
              </a:solidFill>
              <a:latin typeface="Arial"/>
              <a:ea typeface="Arial"/>
              <a:cs typeface="Arial"/>
              <a:sym typeface="Arial"/>
            </a:endParaRPr>
          </a:p>
        </p:txBody>
      </p:sp>
      <p:sp>
        <p:nvSpPr>
          <p:cNvPr id="919" name="Google Shape;919;p22"/>
          <p:cNvSpPr/>
          <p:nvPr/>
        </p:nvSpPr>
        <p:spPr>
          <a:xfrm>
            <a:off x="6979158" y="5506720"/>
            <a:ext cx="1680210" cy="574040"/>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2"/>
          <p:cNvSpPr txBox="1"/>
          <p:nvPr/>
        </p:nvSpPr>
        <p:spPr>
          <a:xfrm>
            <a:off x="7034022" y="5525008"/>
            <a:ext cx="1570482" cy="5374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540"/>
              <a:buFont typeface="Arial"/>
              <a:buNone/>
            </a:pPr>
            <a:r>
              <a:rPr b="0" i="0" lang="en-US" sz="1540" u="none" cap="none" strike="noStrike">
                <a:solidFill>
                  <a:srgbClr val="1D2A39"/>
                </a:solidFill>
                <a:latin typeface="Arial"/>
                <a:ea typeface="Arial"/>
                <a:cs typeface="Arial"/>
                <a:sym typeface="Arial"/>
              </a:rPr>
              <a:t>{6}</a:t>
            </a:r>
            <a:endParaRPr b="0" i="0" sz="1540" u="none" cap="none" strike="noStrike">
              <a:solidFill>
                <a:schemeClr val="dk1"/>
              </a:solidFill>
              <a:latin typeface="Arial"/>
              <a:ea typeface="Arial"/>
              <a:cs typeface="Arial"/>
              <a:sym typeface="Arial"/>
            </a:endParaRPr>
          </a:p>
        </p:txBody>
      </p:sp>
      <p:sp>
        <p:nvSpPr>
          <p:cNvPr id="921" name="Google Shape;921;p22"/>
          <p:cNvSpPr/>
          <p:nvPr/>
        </p:nvSpPr>
        <p:spPr>
          <a:xfrm>
            <a:off x="8915400" y="1097280"/>
            <a:ext cx="2606040" cy="1005840"/>
          </a:xfrm>
          <a:prstGeom prst="roundRect">
            <a:avLst>
              <a:gd fmla="val 7273" name="adj"/>
            </a:avLst>
          </a:prstGeom>
          <a:solidFill>
            <a:srgbClr val="F0EBF8"/>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8915400" y="1097280"/>
            <a:ext cx="73152" cy="1005840"/>
          </a:xfrm>
          <a:prstGeom prst="rect">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2"/>
          <p:cNvSpPr txBox="1"/>
          <p:nvPr/>
        </p:nvSpPr>
        <p:spPr>
          <a:xfrm>
            <a:off x="9079992" y="1207008"/>
            <a:ext cx="23317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DFA start state</a:t>
            </a:r>
            <a:endParaRPr b="0" i="0" sz="1600" u="none" cap="none" strike="noStrike">
              <a:solidFill>
                <a:schemeClr val="dk1"/>
              </a:solidFill>
              <a:latin typeface="Arial"/>
              <a:ea typeface="Arial"/>
              <a:cs typeface="Arial"/>
              <a:sym typeface="Arial"/>
            </a:endParaRPr>
          </a:p>
        </p:txBody>
      </p:sp>
      <p:sp>
        <p:nvSpPr>
          <p:cNvPr id="924" name="Google Shape;924;p22"/>
          <p:cNvSpPr txBox="1"/>
          <p:nvPr/>
        </p:nvSpPr>
        <p:spPr>
          <a:xfrm>
            <a:off x="9079992" y="1581912"/>
            <a:ext cx="2331720" cy="4389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firstpos(root) = {1,2,3}</a:t>
            </a:r>
            <a:endParaRPr b="0" i="0" sz="1600" u="none" cap="none" strike="noStrike">
              <a:solidFill>
                <a:schemeClr val="dk1"/>
              </a:solidFill>
              <a:latin typeface="Arial"/>
              <a:ea typeface="Arial"/>
              <a:cs typeface="Arial"/>
              <a:sym typeface="Arial"/>
            </a:endParaRPr>
          </a:p>
        </p:txBody>
      </p:sp>
      <p:sp>
        <p:nvSpPr>
          <p:cNvPr id="925" name="Google Shape;925;p22"/>
          <p:cNvSpPr/>
          <p:nvPr/>
        </p:nvSpPr>
        <p:spPr>
          <a:xfrm>
            <a:off x="8915400" y="2468880"/>
            <a:ext cx="2606040" cy="1325880"/>
          </a:xfrm>
          <a:prstGeom prst="roundRect">
            <a:avLst>
              <a:gd fmla="val 5517"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2"/>
          <p:cNvSpPr/>
          <p:nvPr/>
        </p:nvSpPr>
        <p:spPr>
          <a:xfrm>
            <a:off x="8915400" y="2468880"/>
            <a:ext cx="73152" cy="1325880"/>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2"/>
          <p:cNvSpPr txBox="1"/>
          <p:nvPr/>
        </p:nvSpPr>
        <p:spPr>
          <a:xfrm>
            <a:off x="9079992" y="2578608"/>
            <a:ext cx="23317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Accepting criterion</a:t>
            </a:r>
            <a:endParaRPr b="0" i="0" sz="1600" u="none" cap="none" strike="noStrike">
              <a:solidFill>
                <a:schemeClr val="dk1"/>
              </a:solidFill>
              <a:latin typeface="Arial"/>
              <a:ea typeface="Arial"/>
              <a:cs typeface="Arial"/>
              <a:sym typeface="Arial"/>
            </a:endParaRPr>
          </a:p>
        </p:txBody>
      </p:sp>
      <p:sp>
        <p:nvSpPr>
          <p:cNvPr id="928" name="Google Shape;928;p22"/>
          <p:cNvSpPr txBox="1"/>
          <p:nvPr/>
        </p:nvSpPr>
        <p:spPr>
          <a:xfrm>
            <a:off x="9079992" y="2953512"/>
            <a:ext cx="2331720" cy="7589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The end marker is at position 6. Any state containing 6 will be accepting.</a:t>
            </a:r>
            <a:endParaRPr b="0" i="0" sz="1600" u="none" cap="none" strike="noStrike">
              <a:solidFill>
                <a:schemeClr val="dk1"/>
              </a:solidFill>
              <a:latin typeface="Arial"/>
              <a:ea typeface="Arial"/>
              <a:cs typeface="Arial"/>
              <a:sym typeface="Arial"/>
            </a:endParaRPr>
          </a:p>
        </p:txBody>
      </p:sp>
      <p:sp>
        <p:nvSpPr>
          <p:cNvPr id="929" name="Google Shape;929;p22"/>
          <p:cNvSpPr/>
          <p:nvPr/>
        </p:nvSpPr>
        <p:spPr>
          <a:xfrm>
            <a:off x="8915400" y="4160520"/>
            <a:ext cx="2606040" cy="1097280"/>
          </a:xfrm>
          <a:prstGeom prst="roundRect">
            <a:avLst>
              <a:gd fmla="val 6667"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2"/>
          <p:cNvSpPr/>
          <p:nvPr/>
        </p:nvSpPr>
        <p:spPr>
          <a:xfrm>
            <a:off x="8915400" y="4160520"/>
            <a:ext cx="73152" cy="109728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2"/>
          <p:cNvSpPr txBox="1"/>
          <p:nvPr/>
        </p:nvSpPr>
        <p:spPr>
          <a:xfrm>
            <a:off x="9079992" y="4270248"/>
            <a:ext cx="23317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Board-writing tip</a:t>
            </a:r>
            <a:endParaRPr b="0" i="0" sz="1600" u="none" cap="none" strike="noStrike">
              <a:solidFill>
                <a:schemeClr val="dk1"/>
              </a:solidFill>
              <a:latin typeface="Arial"/>
              <a:ea typeface="Arial"/>
              <a:cs typeface="Arial"/>
              <a:sym typeface="Arial"/>
            </a:endParaRPr>
          </a:p>
        </p:txBody>
      </p:sp>
      <p:sp>
        <p:nvSpPr>
          <p:cNvPr id="932" name="Google Shape;932;p22"/>
          <p:cNvSpPr txBox="1"/>
          <p:nvPr/>
        </p:nvSpPr>
        <p:spPr>
          <a:xfrm>
            <a:off x="9079992" y="4645152"/>
            <a:ext cx="2331720" cy="5303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Use one row per subtree. This reduces mistakes when applying followpos rules.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937" name="Shape 937"/>
        <p:cNvGrpSpPr/>
        <p:nvPr/>
      </p:nvGrpSpPr>
      <p:grpSpPr>
        <a:xfrm>
          <a:off x="0" y="0"/>
          <a:ext cx="0" cy="0"/>
          <a:chOff x="0" y="0"/>
          <a:chExt cx="0" cy="0"/>
        </a:xfrm>
      </p:grpSpPr>
      <p:sp>
        <p:nvSpPr>
          <p:cNvPr id="938" name="Google Shape;938;p23"/>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3"/>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followpos(i): which positions can come next?</a:t>
            </a:r>
            <a:endParaRPr b="0" i="0" sz="2800" u="none" cap="none" strike="noStrike">
              <a:solidFill>
                <a:schemeClr val="dk1"/>
              </a:solidFill>
              <a:latin typeface="Arial"/>
              <a:ea typeface="Arial"/>
              <a:cs typeface="Arial"/>
              <a:sym typeface="Arial"/>
            </a:endParaRPr>
          </a:p>
        </p:txBody>
      </p:sp>
      <p:sp>
        <p:nvSpPr>
          <p:cNvPr id="940" name="Google Shape;940;p23"/>
          <p:cNvSpPr/>
          <p:nvPr/>
        </p:nvSpPr>
        <p:spPr>
          <a:xfrm>
            <a:off x="10195560" y="210312"/>
            <a:ext cx="155448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3"/>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Step 4</a:t>
            </a:r>
            <a:endParaRPr b="0" i="0" sz="1150" u="none" cap="none" strike="noStrike">
              <a:solidFill>
                <a:schemeClr val="dk1"/>
              </a:solidFill>
              <a:latin typeface="Arial"/>
              <a:ea typeface="Arial"/>
              <a:cs typeface="Arial"/>
              <a:sym typeface="Arial"/>
            </a:endParaRPr>
          </a:p>
        </p:txBody>
      </p:sp>
      <p:sp>
        <p:nvSpPr>
          <p:cNvPr id="942" name="Google Shape;942;p23"/>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943" name="Google Shape;943;p23"/>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23</a:t>
            </a:r>
            <a:endParaRPr b="0" i="0" sz="950" u="none" cap="none" strike="noStrike">
              <a:solidFill>
                <a:schemeClr val="dk1"/>
              </a:solidFill>
              <a:latin typeface="Arial"/>
              <a:ea typeface="Arial"/>
              <a:cs typeface="Arial"/>
              <a:sym typeface="Arial"/>
            </a:endParaRPr>
          </a:p>
        </p:txBody>
      </p:sp>
      <p:sp>
        <p:nvSpPr>
          <p:cNvPr id="944" name="Google Shape;944;p23"/>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3"/>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946" name="Google Shape;946;p23"/>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3"/>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948" name="Google Shape;948;p23"/>
          <p:cNvSpPr/>
          <p:nvPr/>
        </p:nvSpPr>
        <p:spPr>
          <a:xfrm>
            <a:off x="6121908" y="6665976"/>
            <a:ext cx="2786634" cy="118872"/>
          </a:xfrm>
          <a:prstGeom prst="roundRect">
            <a:avLst>
              <a:gd fmla="val 61538" name="adj"/>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3"/>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950"/>
              <a:buFont typeface="Arial"/>
              <a:buNone/>
            </a:pPr>
            <a:r>
              <a:rPr b="1" i="0" lang="en-US" sz="950" u="none" cap="none" strike="noStrike">
                <a:solidFill>
                  <a:srgbClr val="2A9D8F"/>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950" name="Google Shape;950;p23"/>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3"/>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952" name="Google Shape;952;p23"/>
          <p:cNvSpPr/>
          <p:nvPr/>
        </p:nvSpPr>
        <p:spPr>
          <a:xfrm>
            <a:off x="658368" y="960120"/>
            <a:ext cx="4754880" cy="2011680"/>
          </a:xfrm>
          <a:prstGeom prst="roundRect">
            <a:avLst>
              <a:gd fmla="val 3636" name="adj"/>
            </a:avLst>
          </a:prstGeom>
          <a:solidFill>
            <a:srgbClr val="E8F6F2"/>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3"/>
          <p:cNvSpPr txBox="1"/>
          <p:nvPr/>
        </p:nvSpPr>
        <p:spPr>
          <a:xfrm>
            <a:off x="914400" y="1216152"/>
            <a:ext cx="420624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2000"/>
              <a:buFont typeface="Arial"/>
              <a:buNone/>
            </a:pPr>
            <a:r>
              <a:rPr b="1" i="0" lang="en-US" sz="2000" u="none" cap="none" strike="noStrike">
                <a:solidFill>
                  <a:srgbClr val="2A9D8F"/>
                </a:solidFill>
                <a:latin typeface="Arial"/>
                <a:ea typeface="Arial"/>
                <a:cs typeface="Arial"/>
                <a:sym typeface="Arial"/>
              </a:rPr>
              <a:t>Definition</a:t>
            </a:r>
            <a:endParaRPr b="0" i="0" sz="2000" u="none" cap="none" strike="noStrike">
              <a:solidFill>
                <a:schemeClr val="dk1"/>
              </a:solidFill>
              <a:latin typeface="Arial"/>
              <a:ea typeface="Arial"/>
              <a:cs typeface="Arial"/>
              <a:sym typeface="Arial"/>
            </a:endParaRPr>
          </a:p>
        </p:txBody>
      </p:sp>
      <p:sp>
        <p:nvSpPr>
          <p:cNvPr id="954" name="Google Shape;954;p23"/>
          <p:cNvSpPr txBox="1"/>
          <p:nvPr/>
        </p:nvSpPr>
        <p:spPr>
          <a:xfrm>
            <a:off x="914400" y="1719072"/>
            <a:ext cx="420624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700"/>
              <a:buFont typeface="Arial"/>
              <a:buNone/>
            </a:pPr>
            <a:r>
              <a:rPr b="1" i="0" lang="en-US" sz="2700" u="none" cap="none" strike="noStrike">
                <a:solidFill>
                  <a:srgbClr val="153A73"/>
                </a:solidFill>
                <a:latin typeface="Arial"/>
                <a:ea typeface="Arial"/>
                <a:cs typeface="Arial"/>
                <a:sym typeface="Arial"/>
              </a:rPr>
              <a:t>followpos(i)</a:t>
            </a:r>
            <a:endParaRPr b="0" i="0" sz="2700" u="none" cap="none" strike="noStrike">
              <a:solidFill>
                <a:schemeClr val="dk1"/>
              </a:solidFill>
              <a:latin typeface="Arial"/>
              <a:ea typeface="Arial"/>
              <a:cs typeface="Arial"/>
              <a:sym typeface="Arial"/>
            </a:endParaRPr>
          </a:p>
        </p:txBody>
      </p:sp>
      <p:sp>
        <p:nvSpPr>
          <p:cNvPr id="955" name="Google Shape;955;p23"/>
          <p:cNvSpPr txBox="1"/>
          <p:nvPr/>
        </p:nvSpPr>
        <p:spPr>
          <a:xfrm>
            <a:off x="914400" y="2148840"/>
            <a:ext cx="4206240" cy="47548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00"/>
              <a:buFont typeface="Arial"/>
              <a:buNone/>
            </a:pPr>
            <a:r>
              <a:rPr b="0" i="0" lang="en-US" sz="1700" u="none" cap="none" strike="noStrike">
                <a:solidFill>
                  <a:srgbClr val="1D2A39"/>
                </a:solidFill>
                <a:latin typeface="Arial"/>
                <a:ea typeface="Arial"/>
                <a:cs typeface="Arial"/>
                <a:sym typeface="Arial"/>
              </a:rPr>
              <a:t>is the set of positions that may appear immediately after position i in some valid string.</a:t>
            </a:r>
            <a:endParaRPr b="0" i="0" sz="1700" u="none" cap="none" strike="noStrike">
              <a:solidFill>
                <a:schemeClr val="dk1"/>
              </a:solidFill>
              <a:latin typeface="Arial"/>
              <a:ea typeface="Arial"/>
              <a:cs typeface="Arial"/>
              <a:sym typeface="Arial"/>
            </a:endParaRPr>
          </a:p>
        </p:txBody>
      </p:sp>
      <p:sp>
        <p:nvSpPr>
          <p:cNvPr id="956" name="Google Shape;956;p23"/>
          <p:cNvSpPr/>
          <p:nvPr/>
        </p:nvSpPr>
        <p:spPr>
          <a:xfrm>
            <a:off x="5715000" y="960120"/>
            <a:ext cx="5806440" cy="2011680"/>
          </a:xfrm>
          <a:prstGeom prst="roundRect">
            <a:avLst>
              <a:gd fmla="val 3636"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3"/>
          <p:cNvSpPr txBox="1"/>
          <p:nvPr/>
        </p:nvSpPr>
        <p:spPr>
          <a:xfrm>
            <a:off x="6007608" y="1216152"/>
            <a:ext cx="201168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Simple reading</a:t>
            </a:r>
            <a:endParaRPr b="0" i="0" sz="2000" u="none" cap="none" strike="noStrike">
              <a:solidFill>
                <a:schemeClr val="dk1"/>
              </a:solidFill>
              <a:latin typeface="Arial"/>
              <a:ea typeface="Arial"/>
              <a:cs typeface="Arial"/>
              <a:sym typeface="Arial"/>
            </a:endParaRPr>
          </a:p>
        </p:txBody>
      </p:sp>
      <p:sp>
        <p:nvSpPr>
          <p:cNvPr id="958" name="Google Shape;958;p23"/>
          <p:cNvSpPr txBox="1"/>
          <p:nvPr/>
        </p:nvSpPr>
        <p:spPr>
          <a:xfrm>
            <a:off x="6007608" y="1719072"/>
            <a:ext cx="5212080" cy="7132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900"/>
              <a:buFont typeface="Arial"/>
              <a:buNone/>
            </a:pPr>
            <a:r>
              <a:rPr b="1" i="0" lang="en-US" sz="1900" u="none" cap="none" strike="noStrike">
                <a:solidFill>
                  <a:srgbClr val="1D2A39"/>
                </a:solidFill>
                <a:latin typeface="Arial"/>
                <a:ea typeface="Arial"/>
                <a:cs typeface="Arial"/>
                <a:sym typeface="Arial"/>
              </a:rPr>
              <a:t>If position i has been matched, followpos(i) tells the DFA where it may move next.</a:t>
            </a:r>
            <a:endParaRPr b="0" i="0" sz="1900" u="none" cap="none" strike="noStrike">
              <a:solidFill>
                <a:schemeClr val="dk1"/>
              </a:solidFill>
              <a:latin typeface="Arial"/>
              <a:ea typeface="Arial"/>
              <a:cs typeface="Arial"/>
              <a:sym typeface="Arial"/>
            </a:endParaRPr>
          </a:p>
        </p:txBody>
      </p:sp>
      <p:sp>
        <p:nvSpPr>
          <p:cNvPr id="959" name="Google Shape;959;p23"/>
          <p:cNvSpPr/>
          <p:nvPr/>
        </p:nvSpPr>
        <p:spPr>
          <a:xfrm>
            <a:off x="658368" y="3310128"/>
            <a:ext cx="10863072" cy="1828800"/>
          </a:xfrm>
          <a:prstGeom prst="roundRect">
            <a:avLst>
              <a:gd fmla="val 4000"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3"/>
          <p:cNvSpPr txBox="1"/>
          <p:nvPr/>
        </p:nvSpPr>
        <p:spPr>
          <a:xfrm>
            <a:off x="914400" y="3566160"/>
            <a:ext cx="1033272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200"/>
              <a:buFont typeface="Arial"/>
              <a:buNone/>
            </a:pPr>
            <a:r>
              <a:rPr b="1" i="0" lang="en-US" sz="2200" u="none" cap="none" strike="noStrike">
                <a:solidFill>
                  <a:srgbClr val="153A73"/>
                </a:solidFill>
                <a:latin typeface="Arial"/>
                <a:ea typeface="Arial"/>
                <a:cs typeface="Arial"/>
                <a:sym typeface="Arial"/>
              </a:rPr>
              <a:t>Important: only two syntax-tree rules create followpos entries</a:t>
            </a:r>
            <a:endParaRPr b="0" i="0" sz="2200" u="none" cap="none" strike="noStrike">
              <a:solidFill>
                <a:schemeClr val="dk1"/>
              </a:solidFill>
              <a:latin typeface="Arial"/>
              <a:ea typeface="Arial"/>
              <a:cs typeface="Arial"/>
              <a:sym typeface="Arial"/>
            </a:endParaRPr>
          </a:p>
        </p:txBody>
      </p:sp>
      <p:sp>
        <p:nvSpPr>
          <p:cNvPr id="961" name="Google Shape;961;p23"/>
          <p:cNvSpPr/>
          <p:nvPr/>
        </p:nvSpPr>
        <p:spPr>
          <a:xfrm>
            <a:off x="1874520" y="4224528"/>
            <a:ext cx="333756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3"/>
          <p:cNvSpPr txBox="1"/>
          <p:nvPr/>
        </p:nvSpPr>
        <p:spPr>
          <a:xfrm>
            <a:off x="1920240" y="4233672"/>
            <a:ext cx="32461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Concatenation node c₁·c₂</a:t>
            </a:r>
            <a:endParaRPr b="0" i="0" sz="1600" u="none" cap="none" strike="noStrike">
              <a:solidFill>
                <a:schemeClr val="dk1"/>
              </a:solidFill>
              <a:latin typeface="Arial"/>
              <a:ea typeface="Arial"/>
              <a:cs typeface="Arial"/>
              <a:sym typeface="Arial"/>
            </a:endParaRPr>
          </a:p>
        </p:txBody>
      </p:sp>
      <p:sp>
        <p:nvSpPr>
          <p:cNvPr id="963" name="Google Shape;963;p23"/>
          <p:cNvSpPr/>
          <p:nvPr/>
        </p:nvSpPr>
        <p:spPr>
          <a:xfrm>
            <a:off x="6400800" y="4224528"/>
            <a:ext cx="242316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3"/>
          <p:cNvSpPr txBox="1"/>
          <p:nvPr/>
        </p:nvSpPr>
        <p:spPr>
          <a:xfrm>
            <a:off x="6446520" y="4233672"/>
            <a:ext cx="23317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Star node c*</a:t>
            </a:r>
            <a:endParaRPr b="0" i="0" sz="1600" u="none" cap="none" strike="noStrike">
              <a:solidFill>
                <a:schemeClr val="dk1"/>
              </a:solidFill>
              <a:latin typeface="Arial"/>
              <a:ea typeface="Arial"/>
              <a:cs typeface="Arial"/>
              <a:sym typeface="Arial"/>
            </a:endParaRPr>
          </a:p>
        </p:txBody>
      </p:sp>
      <p:sp>
        <p:nvSpPr>
          <p:cNvPr id="965" name="Google Shape;965;p23"/>
          <p:cNvSpPr txBox="1"/>
          <p:nvPr/>
        </p:nvSpPr>
        <p:spPr>
          <a:xfrm>
            <a:off x="2560320" y="4754880"/>
            <a:ext cx="640080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657789"/>
              </a:buClr>
              <a:buSzPts val="1700"/>
              <a:buFont typeface="Arial"/>
              <a:buNone/>
            </a:pPr>
            <a:r>
              <a:rPr b="0" i="0" lang="en-US" sz="1700" u="none" cap="none" strike="noStrike">
                <a:solidFill>
                  <a:srgbClr val="657789"/>
                </a:solidFill>
                <a:latin typeface="Arial"/>
                <a:ea typeface="Arial"/>
                <a:cs typeface="Arial"/>
                <a:sym typeface="Arial"/>
              </a:rPr>
              <a:t>Union nodes and leaves do not directly add followpos entries.</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970" name="Shape 970"/>
        <p:cNvGrpSpPr/>
        <p:nvPr/>
      </p:nvGrpSpPr>
      <p:grpSpPr>
        <a:xfrm>
          <a:off x="0" y="0"/>
          <a:ext cx="0" cy="0"/>
          <a:chOff x="0" y="0"/>
          <a:chExt cx="0" cy="0"/>
        </a:xfrm>
      </p:grpSpPr>
      <p:sp>
        <p:nvSpPr>
          <p:cNvPr id="971" name="Google Shape;971;p24"/>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4"/>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The two followpos rules</a:t>
            </a:r>
            <a:endParaRPr b="0" i="0" sz="2800" u="none" cap="none" strike="noStrike">
              <a:solidFill>
                <a:schemeClr val="dk1"/>
              </a:solidFill>
              <a:latin typeface="Arial"/>
              <a:ea typeface="Arial"/>
              <a:cs typeface="Arial"/>
              <a:sym typeface="Arial"/>
            </a:endParaRPr>
          </a:p>
        </p:txBody>
      </p:sp>
      <p:sp>
        <p:nvSpPr>
          <p:cNvPr id="973" name="Google Shape;973;p24"/>
          <p:cNvSpPr/>
          <p:nvPr/>
        </p:nvSpPr>
        <p:spPr>
          <a:xfrm>
            <a:off x="10195560" y="210312"/>
            <a:ext cx="155448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4"/>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Rules</a:t>
            </a:r>
            <a:endParaRPr b="0" i="0" sz="1150" u="none" cap="none" strike="noStrike">
              <a:solidFill>
                <a:schemeClr val="dk1"/>
              </a:solidFill>
              <a:latin typeface="Arial"/>
              <a:ea typeface="Arial"/>
              <a:cs typeface="Arial"/>
              <a:sym typeface="Arial"/>
            </a:endParaRPr>
          </a:p>
        </p:txBody>
      </p:sp>
      <p:sp>
        <p:nvSpPr>
          <p:cNvPr id="975" name="Google Shape;975;p24"/>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976" name="Google Shape;976;p24"/>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24</a:t>
            </a:r>
            <a:endParaRPr b="0" i="0" sz="950" u="none" cap="none" strike="noStrike">
              <a:solidFill>
                <a:schemeClr val="dk1"/>
              </a:solidFill>
              <a:latin typeface="Arial"/>
              <a:ea typeface="Arial"/>
              <a:cs typeface="Arial"/>
              <a:sym typeface="Arial"/>
            </a:endParaRPr>
          </a:p>
        </p:txBody>
      </p:sp>
      <p:sp>
        <p:nvSpPr>
          <p:cNvPr id="977" name="Google Shape;977;p24"/>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4"/>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979" name="Google Shape;979;p24"/>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4"/>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981" name="Google Shape;981;p24"/>
          <p:cNvSpPr/>
          <p:nvPr/>
        </p:nvSpPr>
        <p:spPr>
          <a:xfrm>
            <a:off x="6121908" y="6665976"/>
            <a:ext cx="2786634" cy="118872"/>
          </a:xfrm>
          <a:prstGeom prst="roundRect">
            <a:avLst>
              <a:gd fmla="val 61538" name="adj"/>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4"/>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950"/>
              <a:buFont typeface="Arial"/>
              <a:buNone/>
            </a:pPr>
            <a:r>
              <a:rPr b="1" i="0" lang="en-US" sz="950" u="none" cap="none" strike="noStrike">
                <a:solidFill>
                  <a:srgbClr val="2A9D8F"/>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983" name="Google Shape;983;p24"/>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4"/>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985" name="Google Shape;985;p24"/>
          <p:cNvSpPr/>
          <p:nvPr/>
        </p:nvSpPr>
        <p:spPr>
          <a:xfrm>
            <a:off x="658368" y="914400"/>
            <a:ext cx="5257800" cy="4526280"/>
          </a:xfrm>
          <a:prstGeom prst="roundRect">
            <a:avLst>
              <a:gd fmla="val 1616" name="adj"/>
            </a:avLst>
          </a:prstGeom>
          <a:solidFill>
            <a:srgbClr val="FFF3E6"/>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4"/>
          <p:cNvSpPr txBox="1"/>
          <p:nvPr/>
        </p:nvSpPr>
        <p:spPr>
          <a:xfrm>
            <a:off x="914400" y="1188720"/>
            <a:ext cx="475488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300"/>
              <a:buFont typeface="Arial"/>
              <a:buNone/>
            </a:pPr>
            <a:r>
              <a:rPr b="1" i="0" lang="en-US" sz="2300" u="none" cap="none" strike="noStrike">
                <a:solidFill>
                  <a:srgbClr val="F4A261"/>
                </a:solidFill>
                <a:latin typeface="Arial"/>
                <a:ea typeface="Arial"/>
                <a:cs typeface="Arial"/>
                <a:sym typeface="Arial"/>
              </a:rPr>
              <a:t>Rule 1 - concatenation</a:t>
            </a:r>
            <a:endParaRPr b="0" i="0" sz="2300" u="none" cap="none" strike="noStrike">
              <a:solidFill>
                <a:schemeClr val="dk1"/>
              </a:solidFill>
              <a:latin typeface="Arial"/>
              <a:ea typeface="Arial"/>
              <a:cs typeface="Arial"/>
              <a:sym typeface="Arial"/>
            </a:endParaRPr>
          </a:p>
        </p:txBody>
      </p:sp>
      <p:sp>
        <p:nvSpPr>
          <p:cNvPr id="987" name="Google Shape;987;p24"/>
          <p:cNvSpPr txBox="1"/>
          <p:nvPr/>
        </p:nvSpPr>
        <p:spPr>
          <a:xfrm>
            <a:off x="987552" y="1755648"/>
            <a:ext cx="448056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For n = c₁·c₂:</a:t>
            </a:r>
            <a:endParaRPr b="0" i="0" sz="2000" u="none" cap="none" strike="noStrike">
              <a:solidFill>
                <a:schemeClr val="dk1"/>
              </a:solidFill>
              <a:latin typeface="Arial"/>
              <a:ea typeface="Arial"/>
              <a:cs typeface="Arial"/>
              <a:sym typeface="Arial"/>
            </a:endParaRPr>
          </a:p>
        </p:txBody>
      </p:sp>
      <p:sp>
        <p:nvSpPr>
          <p:cNvPr id="988" name="Google Shape;988;p24"/>
          <p:cNvSpPr txBox="1"/>
          <p:nvPr/>
        </p:nvSpPr>
        <p:spPr>
          <a:xfrm>
            <a:off x="987552" y="2240280"/>
            <a:ext cx="4480560" cy="12344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For every i ∈ lastpos(c₁),</a:t>
            </a:r>
            <a:endParaRPr b="0" i="0" sz="2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add every position in firstpos(c₂)</a:t>
            </a:r>
            <a:endParaRPr b="0" i="0" sz="2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to followpos(i).</a:t>
            </a:r>
            <a:endParaRPr b="0" i="0" sz="2100" u="none" cap="none" strike="noStrike">
              <a:solidFill>
                <a:schemeClr val="dk1"/>
              </a:solidFill>
              <a:latin typeface="Arial"/>
              <a:ea typeface="Arial"/>
              <a:cs typeface="Arial"/>
              <a:sym typeface="Arial"/>
            </a:endParaRPr>
          </a:p>
        </p:txBody>
      </p:sp>
      <p:sp>
        <p:nvSpPr>
          <p:cNvPr id="989" name="Google Shape;989;p24"/>
          <p:cNvSpPr/>
          <p:nvPr/>
        </p:nvSpPr>
        <p:spPr>
          <a:xfrm>
            <a:off x="1124712" y="3886200"/>
            <a:ext cx="416052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4"/>
          <p:cNvSpPr txBox="1"/>
          <p:nvPr/>
        </p:nvSpPr>
        <p:spPr>
          <a:xfrm>
            <a:off x="1170432" y="3895344"/>
            <a:ext cx="40690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450"/>
              <a:buFont typeface="Arial"/>
              <a:buNone/>
            </a:pPr>
            <a:r>
              <a:rPr b="1" i="0" lang="en-US" sz="1450" u="none" cap="none" strike="noStrike">
                <a:solidFill>
                  <a:srgbClr val="F4A261"/>
                </a:solidFill>
                <a:latin typeface="Arial"/>
                <a:ea typeface="Arial"/>
                <a:cs typeface="Arial"/>
                <a:sym typeface="Arial"/>
              </a:rPr>
              <a:t>left can end at i  →  right can begin next</a:t>
            </a:r>
            <a:endParaRPr b="0" i="0" sz="1450" u="none" cap="none" strike="noStrike">
              <a:solidFill>
                <a:schemeClr val="dk1"/>
              </a:solidFill>
              <a:latin typeface="Arial"/>
              <a:ea typeface="Arial"/>
              <a:cs typeface="Arial"/>
              <a:sym typeface="Arial"/>
            </a:endParaRPr>
          </a:p>
        </p:txBody>
      </p:sp>
      <p:sp>
        <p:nvSpPr>
          <p:cNvPr id="991" name="Google Shape;991;p24"/>
          <p:cNvSpPr/>
          <p:nvPr/>
        </p:nvSpPr>
        <p:spPr>
          <a:xfrm>
            <a:off x="6263640" y="914400"/>
            <a:ext cx="5257800" cy="4526280"/>
          </a:xfrm>
          <a:prstGeom prst="roundRect">
            <a:avLst>
              <a:gd fmla="val 1616" name="adj"/>
            </a:avLst>
          </a:prstGeom>
          <a:solidFill>
            <a:srgbClr val="E8F6F2"/>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4"/>
          <p:cNvSpPr txBox="1"/>
          <p:nvPr/>
        </p:nvSpPr>
        <p:spPr>
          <a:xfrm>
            <a:off x="6510528" y="1188720"/>
            <a:ext cx="475488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2300"/>
              <a:buFont typeface="Arial"/>
              <a:buNone/>
            </a:pPr>
            <a:r>
              <a:rPr b="1" i="0" lang="en-US" sz="2300" u="none" cap="none" strike="noStrike">
                <a:solidFill>
                  <a:srgbClr val="2A9D8F"/>
                </a:solidFill>
                <a:latin typeface="Arial"/>
                <a:ea typeface="Arial"/>
                <a:cs typeface="Arial"/>
                <a:sym typeface="Arial"/>
              </a:rPr>
              <a:t>Rule 2 - Kleene star</a:t>
            </a:r>
            <a:endParaRPr b="0" i="0" sz="2300" u="none" cap="none" strike="noStrike">
              <a:solidFill>
                <a:schemeClr val="dk1"/>
              </a:solidFill>
              <a:latin typeface="Arial"/>
              <a:ea typeface="Arial"/>
              <a:cs typeface="Arial"/>
              <a:sym typeface="Arial"/>
            </a:endParaRPr>
          </a:p>
        </p:txBody>
      </p:sp>
      <p:sp>
        <p:nvSpPr>
          <p:cNvPr id="993" name="Google Shape;993;p24"/>
          <p:cNvSpPr txBox="1"/>
          <p:nvPr/>
        </p:nvSpPr>
        <p:spPr>
          <a:xfrm>
            <a:off x="6601968" y="1755648"/>
            <a:ext cx="448056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For n = c*:</a:t>
            </a:r>
            <a:endParaRPr b="0" i="0" sz="2000" u="none" cap="none" strike="noStrike">
              <a:solidFill>
                <a:schemeClr val="dk1"/>
              </a:solidFill>
              <a:latin typeface="Arial"/>
              <a:ea typeface="Arial"/>
              <a:cs typeface="Arial"/>
              <a:sym typeface="Arial"/>
            </a:endParaRPr>
          </a:p>
        </p:txBody>
      </p:sp>
      <p:sp>
        <p:nvSpPr>
          <p:cNvPr id="994" name="Google Shape;994;p24"/>
          <p:cNvSpPr txBox="1"/>
          <p:nvPr/>
        </p:nvSpPr>
        <p:spPr>
          <a:xfrm>
            <a:off x="6601968" y="2240280"/>
            <a:ext cx="4480560" cy="12344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For every i ∈ lastpos(c),</a:t>
            </a:r>
            <a:endParaRPr b="0" i="0" sz="2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add every position in firstpos(c)</a:t>
            </a:r>
            <a:endParaRPr b="0" i="0" sz="21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to followpos(i).</a:t>
            </a:r>
            <a:endParaRPr b="0" i="0" sz="2100" u="none" cap="none" strike="noStrike">
              <a:solidFill>
                <a:schemeClr val="dk1"/>
              </a:solidFill>
              <a:latin typeface="Arial"/>
              <a:ea typeface="Arial"/>
              <a:cs typeface="Arial"/>
              <a:sym typeface="Arial"/>
            </a:endParaRPr>
          </a:p>
        </p:txBody>
      </p:sp>
      <p:sp>
        <p:nvSpPr>
          <p:cNvPr id="995" name="Google Shape;995;p24"/>
          <p:cNvSpPr/>
          <p:nvPr/>
        </p:nvSpPr>
        <p:spPr>
          <a:xfrm>
            <a:off x="6748272" y="3886200"/>
            <a:ext cx="406908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4"/>
          <p:cNvSpPr txBox="1"/>
          <p:nvPr/>
        </p:nvSpPr>
        <p:spPr>
          <a:xfrm>
            <a:off x="6793992" y="3895344"/>
            <a:ext cx="39776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450"/>
              <a:buFont typeface="Arial"/>
              <a:buNone/>
            </a:pPr>
            <a:r>
              <a:rPr b="1" i="0" lang="en-US" sz="1450" u="none" cap="none" strike="noStrike">
                <a:solidFill>
                  <a:srgbClr val="2A9D8F"/>
                </a:solidFill>
                <a:latin typeface="Arial"/>
                <a:ea typeface="Arial"/>
                <a:cs typeface="Arial"/>
                <a:sym typeface="Arial"/>
              </a:rPr>
              <a:t>one repetition can be followed by another</a:t>
            </a:r>
            <a:endParaRPr b="0" i="0" sz="1450" u="none" cap="none" strike="noStrike">
              <a:solidFill>
                <a:schemeClr val="dk1"/>
              </a:solidFill>
              <a:latin typeface="Arial"/>
              <a:ea typeface="Arial"/>
              <a:cs typeface="Arial"/>
              <a:sym typeface="Arial"/>
            </a:endParaRPr>
          </a:p>
        </p:txBody>
      </p:sp>
      <p:sp>
        <p:nvSpPr>
          <p:cNvPr id="997" name="Google Shape;997;p24"/>
          <p:cNvSpPr txBox="1"/>
          <p:nvPr/>
        </p:nvSpPr>
        <p:spPr>
          <a:xfrm>
            <a:off x="1920240" y="5623560"/>
            <a:ext cx="841248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950"/>
              <a:buFont typeface="Arial"/>
              <a:buNone/>
            </a:pPr>
            <a:r>
              <a:rPr b="1" i="0" lang="en-US" sz="1950" u="none" cap="none" strike="noStrike">
                <a:solidFill>
                  <a:srgbClr val="C94C4C"/>
                </a:solidFill>
                <a:latin typeface="Arial"/>
                <a:ea typeface="Arial"/>
                <a:cs typeface="Arial"/>
                <a:sym typeface="Arial"/>
              </a:rPr>
              <a:t>Always union new positions with any entries already present.</a:t>
            </a:r>
            <a:endParaRPr b="0" i="0" sz="195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002" name="Shape 1002"/>
        <p:cNvGrpSpPr/>
        <p:nvPr/>
      </p:nvGrpSpPr>
      <p:grpSpPr>
        <a:xfrm>
          <a:off x="0" y="0"/>
          <a:ext cx="0" cy="0"/>
          <a:chOff x="0" y="0"/>
          <a:chExt cx="0" cy="0"/>
        </a:xfrm>
      </p:grpSpPr>
      <p:sp>
        <p:nvSpPr>
          <p:cNvPr id="1003" name="Google Shape;1003;p25"/>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5"/>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Followpos from the first concatenation</a:t>
            </a:r>
            <a:endParaRPr b="0" i="0" sz="2800" u="none" cap="none" strike="noStrike">
              <a:solidFill>
                <a:schemeClr val="dk1"/>
              </a:solidFill>
              <a:latin typeface="Arial"/>
              <a:ea typeface="Arial"/>
              <a:cs typeface="Arial"/>
              <a:sym typeface="Arial"/>
            </a:endParaRPr>
          </a:p>
        </p:txBody>
      </p:sp>
      <p:sp>
        <p:nvSpPr>
          <p:cNvPr id="1005" name="Google Shape;1005;p25"/>
          <p:cNvSpPr/>
          <p:nvPr/>
        </p:nvSpPr>
        <p:spPr>
          <a:xfrm>
            <a:off x="10195560" y="210312"/>
            <a:ext cx="155448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5"/>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Concatenation</a:t>
            </a:r>
            <a:endParaRPr b="0" i="0" sz="1150" u="none" cap="none" strike="noStrike">
              <a:solidFill>
                <a:schemeClr val="dk1"/>
              </a:solidFill>
              <a:latin typeface="Arial"/>
              <a:ea typeface="Arial"/>
              <a:cs typeface="Arial"/>
              <a:sym typeface="Arial"/>
            </a:endParaRPr>
          </a:p>
        </p:txBody>
      </p:sp>
      <p:sp>
        <p:nvSpPr>
          <p:cNvPr id="1007" name="Google Shape;1007;p25"/>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008" name="Google Shape;1008;p25"/>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25</a:t>
            </a:r>
            <a:endParaRPr b="0" i="0" sz="950" u="none" cap="none" strike="noStrike">
              <a:solidFill>
                <a:schemeClr val="dk1"/>
              </a:solidFill>
              <a:latin typeface="Arial"/>
              <a:ea typeface="Arial"/>
              <a:cs typeface="Arial"/>
              <a:sym typeface="Arial"/>
            </a:endParaRPr>
          </a:p>
        </p:txBody>
      </p:sp>
      <p:sp>
        <p:nvSpPr>
          <p:cNvPr id="1009" name="Google Shape;1009;p25"/>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5"/>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011" name="Google Shape;1011;p25"/>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5"/>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013" name="Google Shape;1013;p25"/>
          <p:cNvSpPr/>
          <p:nvPr/>
        </p:nvSpPr>
        <p:spPr>
          <a:xfrm>
            <a:off x="6121908" y="6665976"/>
            <a:ext cx="2786634" cy="118872"/>
          </a:xfrm>
          <a:prstGeom prst="roundRect">
            <a:avLst>
              <a:gd fmla="val 61538" name="adj"/>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5"/>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950"/>
              <a:buFont typeface="Arial"/>
              <a:buNone/>
            </a:pPr>
            <a:r>
              <a:rPr b="1" i="0" lang="en-US" sz="950" u="none" cap="none" strike="noStrike">
                <a:solidFill>
                  <a:srgbClr val="2A9D8F"/>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015" name="Google Shape;1015;p25"/>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5"/>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1017" name="Google Shape;1017;p25"/>
          <p:cNvPicPr preferRelativeResize="0"/>
          <p:nvPr/>
        </p:nvPicPr>
        <p:blipFill rotWithShape="1">
          <a:blip r:embed="rId3">
            <a:alphaModFix/>
          </a:blip>
          <a:srcRect b="0" l="0" r="0" t="0"/>
          <a:stretch/>
        </p:blipFill>
        <p:spPr>
          <a:xfrm>
            <a:off x="502920" y="868680"/>
            <a:ext cx="6172200" cy="4846320"/>
          </a:xfrm>
          <a:prstGeom prst="rect">
            <a:avLst/>
          </a:prstGeom>
          <a:noFill/>
          <a:ln>
            <a:noFill/>
          </a:ln>
        </p:spPr>
      </p:pic>
      <p:sp>
        <p:nvSpPr>
          <p:cNvPr id="1018" name="Google Shape;1018;p25"/>
          <p:cNvSpPr/>
          <p:nvPr/>
        </p:nvSpPr>
        <p:spPr>
          <a:xfrm>
            <a:off x="6903720" y="914400"/>
            <a:ext cx="4526280" cy="841248"/>
          </a:xfrm>
          <a:prstGeom prst="roundRect">
            <a:avLst>
              <a:gd fmla="val 8696" name="adj"/>
            </a:avLst>
          </a:prstGeom>
          <a:solidFill>
            <a:srgbClr val="FFF3E6"/>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5"/>
          <p:cNvSpPr/>
          <p:nvPr/>
        </p:nvSpPr>
        <p:spPr>
          <a:xfrm>
            <a:off x="6903720" y="914400"/>
            <a:ext cx="73152" cy="841248"/>
          </a:xfrm>
          <a:prstGeom prst="rect">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5"/>
          <p:cNvSpPr txBox="1"/>
          <p:nvPr/>
        </p:nvSpPr>
        <p:spPr>
          <a:xfrm>
            <a:off x="7068312" y="1024128"/>
            <a:ext cx="42519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F4A261"/>
              </a:buClr>
              <a:buSzPts val="1600"/>
              <a:buFont typeface="Arial"/>
              <a:buNone/>
            </a:pPr>
            <a:r>
              <a:rPr b="1" i="0" lang="en-US" sz="1600" u="none" cap="none" strike="noStrike">
                <a:solidFill>
                  <a:srgbClr val="F4A261"/>
                </a:solidFill>
                <a:latin typeface="Arial"/>
                <a:ea typeface="Arial"/>
                <a:cs typeface="Arial"/>
                <a:sym typeface="Arial"/>
              </a:rPr>
              <a:t>Highlighted node</a:t>
            </a:r>
            <a:endParaRPr b="0" i="0" sz="1600" u="none" cap="none" strike="noStrike">
              <a:solidFill>
                <a:schemeClr val="dk1"/>
              </a:solidFill>
              <a:latin typeface="Arial"/>
              <a:ea typeface="Arial"/>
              <a:cs typeface="Arial"/>
              <a:sym typeface="Arial"/>
            </a:endParaRPr>
          </a:p>
        </p:txBody>
      </p:sp>
      <p:sp>
        <p:nvSpPr>
          <p:cNvPr id="1021" name="Google Shape;1021;p25"/>
          <p:cNvSpPr txBox="1"/>
          <p:nvPr/>
        </p:nvSpPr>
        <p:spPr>
          <a:xfrm>
            <a:off x="7068312" y="1399032"/>
            <a:ext cx="4251960" cy="2743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n = (a₁|b₂)* · a₃</a:t>
            </a:r>
            <a:endParaRPr b="0" i="0" sz="1600" u="none" cap="none" strike="noStrike">
              <a:solidFill>
                <a:schemeClr val="dk1"/>
              </a:solidFill>
              <a:latin typeface="Arial"/>
              <a:ea typeface="Arial"/>
              <a:cs typeface="Arial"/>
              <a:sym typeface="Arial"/>
            </a:endParaRPr>
          </a:p>
        </p:txBody>
      </p:sp>
      <p:sp>
        <p:nvSpPr>
          <p:cNvPr id="1022" name="Google Shape;1022;p25"/>
          <p:cNvSpPr/>
          <p:nvPr/>
        </p:nvSpPr>
        <p:spPr>
          <a:xfrm>
            <a:off x="6903720" y="1965960"/>
            <a:ext cx="4526280" cy="868680"/>
          </a:xfrm>
          <a:prstGeom prst="roundRect">
            <a:avLst>
              <a:gd fmla="val 8421"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5"/>
          <p:cNvSpPr/>
          <p:nvPr/>
        </p:nvSpPr>
        <p:spPr>
          <a:xfrm>
            <a:off x="6903720" y="1965960"/>
            <a:ext cx="73152" cy="86868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5"/>
          <p:cNvSpPr txBox="1"/>
          <p:nvPr/>
        </p:nvSpPr>
        <p:spPr>
          <a:xfrm>
            <a:off x="7068312" y="2075688"/>
            <a:ext cx="42519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Step 1</a:t>
            </a:r>
            <a:endParaRPr b="0" i="0" sz="1600" u="none" cap="none" strike="noStrike">
              <a:solidFill>
                <a:schemeClr val="dk1"/>
              </a:solidFill>
              <a:latin typeface="Arial"/>
              <a:ea typeface="Arial"/>
              <a:cs typeface="Arial"/>
              <a:sym typeface="Arial"/>
            </a:endParaRPr>
          </a:p>
        </p:txBody>
      </p:sp>
      <p:sp>
        <p:nvSpPr>
          <p:cNvPr id="1025" name="Google Shape;1025;p25"/>
          <p:cNvSpPr txBox="1"/>
          <p:nvPr/>
        </p:nvSpPr>
        <p:spPr>
          <a:xfrm>
            <a:off x="7068312" y="2450592"/>
            <a:ext cx="425196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lastpos(left) = lastpos((a₁|b₂)*) = {1,2}</a:t>
            </a:r>
            <a:endParaRPr b="0" i="0" sz="1600" u="none" cap="none" strike="noStrike">
              <a:solidFill>
                <a:schemeClr val="dk1"/>
              </a:solidFill>
              <a:latin typeface="Arial"/>
              <a:ea typeface="Arial"/>
              <a:cs typeface="Arial"/>
              <a:sym typeface="Arial"/>
            </a:endParaRPr>
          </a:p>
        </p:txBody>
      </p:sp>
      <p:sp>
        <p:nvSpPr>
          <p:cNvPr id="1026" name="Google Shape;1026;p25"/>
          <p:cNvSpPr/>
          <p:nvPr/>
        </p:nvSpPr>
        <p:spPr>
          <a:xfrm>
            <a:off x="6903720" y="3017520"/>
            <a:ext cx="4526280" cy="868680"/>
          </a:xfrm>
          <a:prstGeom prst="roundRect">
            <a:avLst>
              <a:gd fmla="val 8421"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5"/>
          <p:cNvSpPr/>
          <p:nvPr/>
        </p:nvSpPr>
        <p:spPr>
          <a:xfrm>
            <a:off x="6903720" y="3017520"/>
            <a:ext cx="73152" cy="86868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5"/>
          <p:cNvSpPr txBox="1"/>
          <p:nvPr/>
        </p:nvSpPr>
        <p:spPr>
          <a:xfrm>
            <a:off x="7068312" y="3127248"/>
            <a:ext cx="42519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Step 2</a:t>
            </a:r>
            <a:endParaRPr b="0" i="0" sz="1600" u="none" cap="none" strike="noStrike">
              <a:solidFill>
                <a:schemeClr val="dk1"/>
              </a:solidFill>
              <a:latin typeface="Arial"/>
              <a:ea typeface="Arial"/>
              <a:cs typeface="Arial"/>
              <a:sym typeface="Arial"/>
            </a:endParaRPr>
          </a:p>
        </p:txBody>
      </p:sp>
      <p:sp>
        <p:nvSpPr>
          <p:cNvPr id="1029" name="Google Shape;1029;p25"/>
          <p:cNvSpPr txBox="1"/>
          <p:nvPr/>
        </p:nvSpPr>
        <p:spPr>
          <a:xfrm>
            <a:off x="7068312" y="3502152"/>
            <a:ext cx="4251960" cy="3017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firstpos(right) = firstpos(a₃) = {3}</a:t>
            </a:r>
            <a:endParaRPr b="0" i="0" sz="1600" u="none" cap="none" strike="noStrike">
              <a:solidFill>
                <a:schemeClr val="dk1"/>
              </a:solidFill>
              <a:latin typeface="Arial"/>
              <a:ea typeface="Arial"/>
              <a:cs typeface="Arial"/>
              <a:sym typeface="Arial"/>
            </a:endParaRPr>
          </a:p>
        </p:txBody>
      </p:sp>
      <p:sp>
        <p:nvSpPr>
          <p:cNvPr id="1030" name="Google Shape;1030;p25"/>
          <p:cNvSpPr/>
          <p:nvPr/>
        </p:nvSpPr>
        <p:spPr>
          <a:xfrm>
            <a:off x="6903720" y="4069080"/>
            <a:ext cx="4526280" cy="914400"/>
          </a:xfrm>
          <a:prstGeom prst="roundRect">
            <a:avLst>
              <a:gd fmla="val 8000"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5"/>
          <p:cNvSpPr/>
          <p:nvPr/>
        </p:nvSpPr>
        <p:spPr>
          <a:xfrm>
            <a:off x="6903720" y="4069080"/>
            <a:ext cx="73152" cy="91440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5"/>
          <p:cNvSpPr txBox="1"/>
          <p:nvPr/>
        </p:nvSpPr>
        <p:spPr>
          <a:xfrm>
            <a:off x="7068312" y="4178808"/>
            <a:ext cx="425196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Update</a:t>
            </a:r>
            <a:endParaRPr b="0" i="0" sz="1600" u="none" cap="none" strike="noStrike">
              <a:solidFill>
                <a:schemeClr val="dk1"/>
              </a:solidFill>
              <a:latin typeface="Arial"/>
              <a:ea typeface="Arial"/>
              <a:cs typeface="Arial"/>
              <a:sym typeface="Arial"/>
            </a:endParaRPr>
          </a:p>
        </p:txBody>
      </p:sp>
      <p:sp>
        <p:nvSpPr>
          <p:cNvPr id="1033" name="Google Shape;1033;p25"/>
          <p:cNvSpPr txBox="1"/>
          <p:nvPr/>
        </p:nvSpPr>
        <p:spPr>
          <a:xfrm>
            <a:off x="7068312" y="4553712"/>
            <a:ext cx="4251960" cy="34747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Add {3} to followpos(1) and followpos(2).</a:t>
            </a:r>
            <a:endParaRPr b="0" i="0" sz="1600" u="none" cap="none" strike="noStrike">
              <a:solidFill>
                <a:schemeClr val="dk1"/>
              </a:solidFill>
              <a:latin typeface="Arial"/>
              <a:ea typeface="Arial"/>
              <a:cs typeface="Arial"/>
              <a:sym typeface="Arial"/>
            </a:endParaRPr>
          </a:p>
        </p:txBody>
      </p:sp>
      <p:sp>
        <p:nvSpPr>
          <p:cNvPr id="1034" name="Google Shape;1034;p25"/>
          <p:cNvSpPr/>
          <p:nvPr/>
        </p:nvSpPr>
        <p:spPr>
          <a:xfrm>
            <a:off x="7178040" y="5230368"/>
            <a:ext cx="182880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5"/>
          <p:cNvSpPr txBox="1"/>
          <p:nvPr/>
        </p:nvSpPr>
        <p:spPr>
          <a:xfrm>
            <a:off x="7223760" y="5239512"/>
            <a:ext cx="17373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450"/>
              <a:buFont typeface="Arial"/>
              <a:buNone/>
            </a:pPr>
            <a:r>
              <a:rPr b="1" i="0" lang="en-US" sz="1450" u="none" cap="none" strike="noStrike">
                <a:solidFill>
                  <a:srgbClr val="7B61A8"/>
                </a:solidFill>
                <a:latin typeface="Arial"/>
                <a:ea typeface="Arial"/>
                <a:cs typeface="Arial"/>
                <a:sym typeface="Arial"/>
              </a:rPr>
              <a:t>followpos(1) ⊇ {3}</a:t>
            </a:r>
            <a:endParaRPr b="0" i="0" sz="1450" u="none" cap="none" strike="noStrike">
              <a:solidFill>
                <a:schemeClr val="dk1"/>
              </a:solidFill>
              <a:latin typeface="Arial"/>
              <a:ea typeface="Arial"/>
              <a:cs typeface="Arial"/>
              <a:sym typeface="Arial"/>
            </a:endParaRPr>
          </a:p>
        </p:txBody>
      </p:sp>
      <p:sp>
        <p:nvSpPr>
          <p:cNvPr id="1036" name="Google Shape;1036;p25"/>
          <p:cNvSpPr/>
          <p:nvPr/>
        </p:nvSpPr>
        <p:spPr>
          <a:xfrm>
            <a:off x="9162288" y="5230368"/>
            <a:ext cx="182880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5"/>
          <p:cNvSpPr txBox="1"/>
          <p:nvPr/>
        </p:nvSpPr>
        <p:spPr>
          <a:xfrm>
            <a:off x="9208008" y="5239512"/>
            <a:ext cx="17373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450"/>
              <a:buFont typeface="Arial"/>
              <a:buNone/>
            </a:pPr>
            <a:r>
              <a:rPr b="1" i="0" lang="en-US" sz="1450" u="none" cap="none" strike="noStrike">
                <a:solidFill>
                  <a:srgbClr val="7B61A8"/>
                </a:solidFill>
                <a:latin typeface="Arial"/>
                <a:ea typeface="Arial"/>
                <a:cs typeface="Arial"/>
                <a:sym typeface="Arial"/>
              </a:rPr>
              <a:t>followpos(2) ⊇ {3}</a:t>
            </a:r>
            <a:endParaRPr b="0" i="0" sz="145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042" name="Shape 1042"/>
        <p:cNvGrpSpPr/>
        <p:nvPr/>
      </p:nvGrpSpPr>
      <p:grpSpPr>
        <a:xfrm>
          <a:off x="0" y="0"/>
          <a:ext cx="0" cy="0"/>
          <a:chOff x="0" y="0"/>
          <a:chExt cx="0" cy="0"/>
        </a:xfrm>
      </p:grpSpPr>
      <p:sp>
        <p:nvSpPr>
          <p:cNvPr id="1043" name="Google Shape;1043;p26"/>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6"/>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Followpos from the remaining concatenations</a:t>
            </a:r>
            <a:endParaRPr b="0" i="0" sz="2800" u="none" cap="none" strike="noStrike">
              <a:solidFill>
                <a:schemeClr val="dk1"/>
              </a:solidFill>
              <a:latin typeface="Arial"/>
              <a:ea typeface="Arial"/>
              <a:cs typeface="Arial"/>
              <a:sym typeface="Arial"/>
            </a:endParaRPr>
          </a:p>
        </p:txBody>
      </p:sp>
      <p:sp>
        <p:nvSpPr>
          <p:cNvPr id="1045" name="Google Shape;1045;p26"/>
          <p:cNvSpPr/>
          <p:nvPr/>
        </p:nvSpPr>
        <p:spPr>
          <a:xfrm>
            <a:off x="10195560" y="210312"/>
            <a:ext cx="155448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6"/>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Concatenation</a:t>
            </a:r>
            <a:endParaRPr b="0" i="0" sz="1150" u="none" cap="none" strike="noStrike">
              <a:solidFill>
                <a:schemeClr val="dk1"/>
              </a:solidFill>
              <a:latin typeface="Arial"/>
              <a:ea typeface="Arial"/>
              <a:cs typeface="Arial"/>
              <a:sym typeface="Arial"/>
            </a:endParaRPr>
          </a:p>
        </p:txBody>
      </p:sp>
      <p:sp>
        <p:nvSpPr>
          <p:cNvPr id="1047" name="Google Shape;1047;p26"/>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048" name="Google Shape;1048;p26"/>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26</a:t>
            </a:r>
            <a:endParaRPr b="0" i="0" sz="950" u="none" cap="none" strike="noStrike">
              <a:solidFill>
                <a:schemeClr val="dk1"/>
              </a:solidFill>
              <a:latin typeface="Arial"/>
              <a:ea typeface="Arial"/>
              <a:cs typeface="Arial"/>
              <a:sym typeface="Arial"/>
            </a:endParaRPr>
          </a:p>
        </p:txBody>
      </p:sp>
      <p:sp>
        <p:nvSpPr>
          <p:cNvPr id="1049" name="Google Shape;1049;p26"/>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051" name="Google Shape;1051;p26"/>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6"/>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053" name="Google Shape;1053;p26"/>
          <p:cNvSpPr/>
          <p:nvPr/>
        </p:nvSpPr>
        <p:spPr>
          <a:xfrm>
            <a:off x="6121908" y="6665976"/>
            <a:ext cx="2786634" cy="118872"/>
          </a:xfrm>
          <a:prstGeom prst="roundRect">
            <a:avLst>
              <a:gd fmla="val 61538" name="adj"/>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6"/>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950"/>
              <a:buFont typeface="Arial"/>
              <a:buNone/>
            </a:pPr>
            <a:r>
              <a:rPr b="1" i="0" lang="en-US" sz="950" u="none" cap="none" strike="noStrike">
                <a:solidFill>
                  <a:srgbClr val="2A9D8F"/>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055" name="Google Shape;1055;p26"/>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6"/>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057" name="Google Shape;1057;p26"/>
          <p:cNvSpPr/>
          <p:nvPr/>
        </p:nvSpPr>
        <p:spPr>
          <a:xfrm>
            <a:off x="658368" y="1143000"/>
            <a:ext cx="3383280" cy="4160520"/>
          </a:xfrm>
          <a:prstGeom prst="roundRect">
            <a:avLst>
              <a:gd fmla="val 2162" name="adj"/>
            </a:avLst>
          </a:prstGeom>
          <a:solidFill>
            <a:srgbClr val="FFFFFF"/>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6"/>
          <p:cNvSpPr/>
          <p:nvPr/>
        </p:nvSpPr>
        <p:spPr>
          <a:xfrm>
            <a:off x="978408" y="1444752"/>
            <a:ext cx="274320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6"/>
          <p:cNvSpPr txBox="1"/>
          <p:nvPr/>
        </p:nvSpPr>
        <p:spPr>
          <a:xfrm>
            <a:off x="1024128" y="1453896"/>
            <a:ext cx="26517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500"/>
              <a:buFont typeface="Arial"/>
              <a:buNone/>
            </a:pPr>
            <a:r>
              <a:rPr b="1" i="0" lang="en-US" sz="1500" u="none" cap="none" strike="noStrike">
                <a:solidFill>
                  <a:srgbClr val="F4A261"/>
                </a:solidFill>
                <a:latin typeface="Arial"/>
                <a:ea typeface="Arial"/>
                <a:cs typeface="Arial"/>
                <a:sym typeface="Arial"/>
              </a:rPr>
              <a:t>…a₃ · b₄</a:t>
            </a:r>
            <a:endParaRPr b="0" i="0" sz="1500" u="none" cap="none" strike="noStrike">
              <a:solidFill>
                <a:schemeClr val="dk1"/>
              </a:solidFill>
              <a:latin typeface="Arial"/>
              <a:ea typeface="Arial"/>
              <a:cs typeface="Arial"/>
              <a:sym typeface="Arial"/>
            </a:endParaRPr>
          </a:p>
        </p:txBody>
      </p:sp>
      <p:sp>
        <p:nvSpPr>
          <p:cNvPr id="1060" name="Google Shape;1060;p26"/>
          <p:cNvSpPr txBox="1"/>
          <p:nvPr/>
        </p:nvSpPr>
        <p:spPr>
          <a:xfrm>
            <a:off x="978408" y="2212848"/>
            <a:ext cx="27432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lastpos(left) = {3}</a:t>
            </a:r>
            <a:endParaRPr b="0" i="0" sz="1750" u="none" cap="none" strike="noStrike">
              <a:solidFill>
                <a:schemeClr val="dk1"/>
              </a:solidFill>
              <a:latin typeface="Arial"/>
              <a:ea typeface="Arial"/>
              <a:cs typeface="Arial"/>
              <a:sym typeface="Arial"/>
            </a:endParaRPr>
          </a:p>
        </p:txBody>
      </p:sp>
      <p:sp>
        <p:nvSpPr>
          <p:cNvPr id="1061" name="Google Shape;1061;p26"/>
          <p:cNvSpPr txBox="1"/>
          <p:nvPr/>
        </p:nvSpPr>
        <p:spPr>
          <a:xfrm>
            <a:off x="978408" y="2926080"/>
            <a:ext cx="27432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firstpos(right) = {4}</a:t>
            </a:r>
            <a:endParaRPr b="0" i="0" sz="1750" u="none" cap="none" strike="noStrike">
              <a:solidFill>
                <a:schemeClr val="dk1"/>
              </a:solidFill>
              <a:latin typeface="Arial"/>
              <a:ea typeface="Arial"/>
              <a:cs typeface="Arial"/>
              <a:sym typeface="Arial"/>
            </a:endParaRPr>
          </a:p>
        </p:txBody>
      </p:sp>
      <p:sp>
        <p:nvSpPr>
          <p:cNvPr id="1062" name="Google Shape;1062;p26"/>
          <p:cNvSpPr/>
          <p:nvPr/>
        </p:nvSpPr>
        <p:spPr>
          <a:xfrm>
            <a:off x="2057400" y="3575304"/>
            <a:ext cx="594360" cy="502920"/>
          </a:xfrm>
          <a:prstGeom prst="downArrow">
            <a:avLst>
              <a:gd fmla="val 50000" name="adj1"/>
              <a:gd fmla="val 50000" name="adj2"/>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6"/>
          <p:cNvSpPr txBox="1"/>
          <p:nvPr/>
        </p:nvSpPr>
        <p:spPr>
          <a:xfrm>
            <a:off x="886968" y="4224528"/>
            <a:ext cx="2926080" cy="6583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900"/>
              <a:buFont typeface="Arial"/>
              <a:buNone/>
            </a:pPr>
            <a:r>
              <a:rPr b="1" i="0" lang="en-US" sz="1900" u="none" cap="none" strike="noStrike">
                <a:solidFill>
                  <a:srgbClr val="F4A261"/>
                </a:solidFill>
                <a:latin typeface="Arial"/>
                <a:ea typeface="Arial"/>
                <a:cs typeface="Arial"/>
                <a:sym typeface="Arial"/>
              </a:rPr>
              <a:t>Add 4 to followpos(3)</a:t>
            </a:r>
            <a:endParaRPr b="0" i="0" sz="1900" u="none" cap="none" strike="noStrike">
              <a:solidFill>
                <a:schemeClr val="dk1"/>
              </a:solidFill>
              <a:latin typeface="Arial"/>
              <a:ea typeface="Arial"/>
              <a:cs typeface="Arial"/>
              <a:sym typeface="Arial"/>
            </a:endParaRPr>
          </a:p>
        </p:txBody>
      </p:sp>
      <p:sp>
        <p:nvSpPr>
          <p:cNvPr id="1064" name="Google Shape;1064;p26"/>
          <p:cNvSpPr/>
          <p:nvPr/>
        </p:nvSpPr>
        <p:spPr>
          <a:xfrm>
            <a:off x="4389120" y="1143000"/>
            <a:ext cx="3383280" cy="4160520"/>
          </a:xfrm>
          <a:prstGeom prst="roundRect">
            <a:avLst>
              <a:gd fmla="val 2162" name="adj"/>
            </a:avLst>
          </a:prstGeom>
          <a:solidFill>
            <a:srgbClr val="FFFFFF"/>
          </a:solidFill>
          <a:ln cap="flat" cmpd="sng" w="12700">
            <a:solidFill>
              <a:srgbClr val="1F75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6"/>
          <p:cNvSpPr/>
          <p:nvPr/>
        </p:nvSpPr>
        <p:spPr>
          <a:xfrm>
            <a:off x="4709160" y="1444752"/>
            <a:ext cx="274320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6"/>
          <p:cNvSpPr txBox="1"/>
          <p:nvPr/>
        </p:nvSpPr>
        <p:spPr>
          <a:xfrm>
            <a:off x="4754880" y="1453896"/>
            <a:ext cx="26517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500"/>
              <a:buFont typeface="Arial"/>
              <a:buNone/>
            </a:pPr>
            <a:r>
              <a:rPr b="1" i="0" lang="en-US" sz="1500" u="none" cap="none" strike="noStrike">
                <a:solidFill>
                  <a:srgbClr val="1F75BB"/>
                </a:solidFill>
                <a:latin typeface="Arial"/>
                <a:ea typeface="Arial"/>
                <a:cs typeface="Arial"/>
                <a:sym typeface="Arial"/>
              </a:rPr>
              <a:t>…b₄ · b₅</a:t>
            </a:r>
            <a:endParaRPr b="0" i="0" sz="1500" u="none" cap="none" strike="noStrike">
              <a:solidFill>
                <a:schemeClr val="dk1"/>
              </a:solidFill>
              <a:latin typeface="Arial"/>
              <a:ea typeface="Arial"/>
              <a:cs typeface="Arial"/>
              <a:sym typeface="Arial"/>
            </a:endParaRPr>
          </a:p>
        </p:txBody>
      </p:sp>
      <p:sp>
        <p:nvSpPr>
          <p:cNvPr id="1067" name="Google Shape;1067;p26"/>
          <p:cNvSpPr txBox="1"/>
          <p:nvPr/>
        </p:nvSpPr>
        <p:spPr>
          <a:xfrm>
            <a:off x="4709160" y="2212848"/>
            <a:ext cx="27432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lastpos(left) = {4}</a:t>
            </a:r>
            <a:endParaRPr b="0" i="0" sz="1750" u="none" cap="none" strike="noStrike">
              <a:solidFill>
                <a:schemeClr val="dk1"/>
              </a:solidFill>
              <a:latin typeface="Arial"/>
              <a:ea typeface="Arial"/>
              <a:cs typeface="Arial"/>
              <a:sym typeface="Arial"/>
            </a:endParaRPr>
          </a:p>
        </p:txBody>
      </p:sp>
      <p:sp>
        <p:nvSpPr>
          <p:cNvPr id="1068" name="Google Shape;1068;p26"/>
          <p:cNvSpPr txBox="1"/>
          <p:nvPr/>
        </p:nvSpPr>
        <p:spPr>
          <a:xfrm>
            <a:off x="4709160" y="2926080"/>
            <a:ext cx="27432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firstpos(right) = {5}</a:t>
            </a:r>
            <a:endParaRPr b="0" i="0" sz="1750" u="none" cap="none" strike="noStrike">
              <a:solidFill>
                <a:schemeClr val="dk1"/>
              </a:solidFill>
              <a:latin typeface="Arial"/>
              <a:ea typeface="Arial"/>
              <a:cs typeface="Arial"/>
              <a:sym typeface="Arial"/>
            </a:endParaRPr>
          </a:p>
        </p:txBody>
      </p:sp>
      <p:sp>
        <p:nvSpPr>
          <p:cNvPr id="1069" name="Google Shape;1069;p26"/>
          <p:cNvSpPr/>
          <p:nvPr/>
        </p:nvSpPr>
        <p:spPr>
          <a:xfrm>
            <a:off x="5788152" y="3575304"/>
            <a:ext cx="594360" cy="502920"/>
          </a:xfrm>
          <a:prstGeom prst="downArrow">
            <a:avLst>
              <a:gd fmla="val 50000" name="adj1"/>
              <a:gd fmla="val 50000" name="adj2"/>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6"/>
          <p:cNvSpPr txBox="1"/>
          <p:nvPr/>
        </p:nvSpPr>
        <p:spPr>
          <a:xfrm>
            <a:off x="4617720" y="4224528"/>
            <a:ext cx="2926080" cy="6583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900"/>
              <a:buFont typeface="Arial"/>
              <a:buNone/>
            </a:pPr>
            <a:r>
              <a:rPr b="1" i="0" lang="en-US" sz="1900" u="none" cap="none" strike="noStrike">
                <a:solidFill>
                  <a:srgbClr val="1F75BB"/>
                </a:solidFill>
                <a:latin typeface="Arial"/>
                <a:ea typeface="Arial"/>
                <a:cs typeface="Arial"/>
                <a:sym typeface="Arial"/>
              </a:rPr>
              <a:t>Add 5 to followpos(4)</a:t>
            </a:r>
            <a:endParaRPr b="0" i="0" sz="1900" u="none" cap="none" strike="noStrike">
              <a:solidFill>
                <a:schemeClr val="dk1"/>
              </a:solidFill>
              <a:latin typeface="Arial"/>
              <a:ea typeface="Arial"/>
              <a:cs typeface="Arial"/>
              <a:sym typeface="Arial"/>
            </a:endParaRPr>
          </a:p>
        </p:txBody>
      </p:sp>
      <p:sp>
        <p:nvSpPr>
          <p:cNvPr id="1071" name="Google Shape;1071;p26"/>
          <p:cNvSpPr/>
          <p:nvPr/>
        </p:nvSpPr>
        <p:spPr>
          <a:xfrm>
            <a:off x="8119872" y="1143000"/>
            <a:ext cx="3383280" cy="4160520"/>
          </a:xfrm>
          <a:prstGeom prst="roundRect">
            <a:avLst>
              <a:gd fmla="val 2162" name="adj"/>
            </a:avLst>
          </a:prstGeom>
          <a:solidFill>
            <a:srgbClr val="FFFFFF"/>
          </a:solidFill>
          <a:ln cap="flat" cmpd="sng" w="12700">
            <a:solidFill>
              <a:srgbClr val="C94C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6"/>
          <p:cNvSpPr/>
          <p:nvPr/>
        </p:nvSpPr>
        <p:spPr>
          <a:xfrm>
            <a:off x="8439912" y="1444752"/>
            <a:ext cx="2743200" cy="310896"/>
          </a:xfrm>
          <a:prstGeom prst="roundRect">
            <a:avLst>
              <a:gd fmla="val 47059" name="adj"/>
            </a:avLst>
          </a:prstGeom>
          <a:solidFill>
            <a:srgbClr val="FBECEC"/>
          </a:solidFill>
          <a:ln cap="flat" cmpd="sng" w="12700">
            <a:solidFill>
              <a:srgbClr val="FBECE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6"/>
          <p:cNvSpPr txBox="1"/>
          <p:nvPr/>
        </p:nvSpPr>
        <p:spPr>
          <a:xfrm>
            <a:off x="8485632" y="1453896"/>
            <a:ext cx="26517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500"/>
              <a:buFont typeface="Arial"/>
              <a:buNone/>
            </a:pPr>
            <a:r>
              <a:rPr b="1" i="0" lang="en-US" sz="1500" u="none" cap="none" strike="noStrike">
                <a:solidFill>
                  <a:srgbClr val="C94C4C"/>
                </a:solidFill>
                <a:latin typeface="Arial"/>
                <a:ea typeface="Arial"/>
                <a:cs typeface="Arial"/>
                <a:sym typeface="Arial"/>
              </a:rPr>
              <a:t>…b₅ · #₆</a:t>
            </a:r>
            <a:endParaRPr b="0" i="0" sz="1500" u="none" cap="none" strike="noStrike">
              <a:solidFill>
                <a:schemeClr val="dk1"/>
              </a:solidFill>
              <a:latin typeface="Arial"/>
              <a:ea typeface="Arial"/>
              <a:cs typeface="Arial"/>
              <a:sym typeface="Arial"/>
            </a:endParaRPr>
          </a:p>
        </p:txBody>
      </p:sp>
      <p:sp>
        <p:nvSpPr>
          <p:cNvPr id="1074" name="Google Shape;1074;p26"/>
          <p:cNvSpPr txBox="1"/>
          <p:nvPr/>
        </p:nvSpPr>
        <p:spPr>
          <a:xfrm>
            <a:off x="8439912" y="2212848"/>
            <a:ext cx="27432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lastpos(left) = {5}</a:t>
            </a:r>
            <a:endParaRPr b="0" i="0" sz="1750" u="none" cap="none" strike="noStrike">
              <a:solidFill>
                <a:schemeClr val="dk1"/>
              </a:solidFill>
              <a:latin typeface="Arial"/>
              <a:ea typeface="Arial"/>
              <a:cs typeface="Arial"/>
              <a:sym typeface="Arial"/>
            </a:endParaRPr>
          </a:p>
        </p:txBody>
      </p:sp>
      <p:sp>
        <p:nvSpPr>
          <p:cNvPr id="1075" name="Google Shape;1075;p26"/>
          <p:cNvSpPr txBox="1"/>
          <p:nvPr/>
        </p:nvSpPr>
        <p:spPr>
          <a:xfrm>
            <a:off x="8439912" y="2926080"/>
            <a:ext cx="2743200" cy="457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firstpos(right) = {6}</a:t>
            </a:r>
            <a:endParaRPr b="0" i="0" sz="1750" u="none" cap="none" strike="noStrike">
              <a:solidFill>
                <a:schemeClr val="dk1"/>
              </a:solidFill>
              <a:latin typeface="Arial"/>
              <a:ea typeface="Arial"/>
              <a:cs typeface="Arial"/>
              <a:sym typeface="Arial"/>
            </a:endParaRPr>
          </a:p>
        </p:txBody>
      </p:sp>
      <p:sp>
        <p:nvSpPr>
          <p:cNvPr id="1076" name="Google Shape;1076;p26"/>
          <p:cNvSpPr/>
          <p:nvPr/>
        </p:nvSpPr>
        <p:spPr>
          <a:xfrm>
            <a:off x="9518904" y="3575304"/>
            <a:ext cx="594360" cy="502920"/>
          </a:xfrm>
          <a:prstGeom prst="downArrow">
            <a:avLst>
              <a:gd fmla="val 50000" name="adj1"/>
              <a:gd fmla="val 50000" name="adj2"/>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6"/>
          <p:cNvSpPr txBox="1"/>
          <p:nvPr/>
        </p:nvSpPr>
        <p:spPr>
          <a:xfrm>
            <a:off x="8348472" y="4224528"/>
            <a:ext cx="2926080" cy="6583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900"/>
              <a:buFont typeface="Arial"/>
              <a:buNone/>
            </a:pPr>
            <a:r>
              <a:rPr b="1" i="0" lang="en-US" sz="1900" u="none" cap="none" strike="noStrike">
                <a:solidFill>
                  <a:srgbClr val="C94C4C"/>
                </a:solidFill>
                <a:latin typeface="Arial"/>
                <a:ea typeface="Arial"/>
                <a:cs typeface="Arial"/>
                <a:sym typeface="Arial"/>
              </a:rPr>
              <a:t>Add 6 to followpos(5)</a:t>
            </a:r>
            <a:endParaRPr b="0" i="0" sz="1900" u="none" cap="none" strike="noStrike">
              <a:solidFill>
                <a:schemeClr val="dk1"/>
              </a:solidFill>
              <a:latin typeface="Arial"/>
              <a:ea typeface="Arial"/>
              <a:cs typeface="Arial"/>
              <a:sym typeface="Arial"/>
            </a:endParaRPr>
          </a:p>
        </p:txBody>
      </p:sp>
      <p:sp>
        <p:nvSpPr>
          <p:cNvPr id="1078" name="Google Shape;1078;p26"/>
          <p:cNvSpPr txBox="1"/>
          <p:nvPr/>
        </p:nvSpPr>
        <p:spPr>
          <a:xfrm>
            <a:off x="1417320" y="5650992"/>
            <a:ext cx="93726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After all concatenation nodes: 1→3, 2→3, 3→4, 4→5, 5→6</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083" name="Shape 1083"/>
        <p:cNvGrpSpPr/>
        <p:nvPr/>
      </p:nvGrpSpPr>
      <p:grpSpPr>
        <a:xfrm>
          <a:off x="0" y="0"/>
          <a:ext cx="0" cy="0"/>
          <a:chOff x="0" y="0"/>
          <a:chExt cx="0" cy="0"/>
        </a:xfrm>
      </p:grpSpPr>
      <p:sp>
        <p:nvSpPr>
          <p:cNvPr id="1084" name="Google Shape;1084;p27"/>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7"/>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Followpos from the star node</a:t>
            </a:r>
            <a:endParaRPr b="0" i="0" sz="2800" u="none" cap="none" strike="noStrike">
              <a:solidFill>
                <a:schemeClr val="dk1"/>
              </a:solidFill>
              <a:latin typeface="Arial"/>
              <a:ea typeface="Arial"/>
              <a:cs typeface="Arial"/>
              <a:sym typeface="Arial"/>
            </a:endParaRPr>
          </a:p>
        </p:txBody>
      </p:sp>
      <p:sp>
        <p:nvSpPr>
          <p:cNvPr id="1086" name="Google Shape;1086;p27"/>
          <p:cNvSpPr/>
          <p:nvPr/>
        </p:nvSpPr>
        <p:spPr>
          <a:xfrm>
            <a:off x="10195560" y="210312"/>
            <a:ext cx="155448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7"/>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Kleene star</a:t>
            </a:r>
            <a:endParaRPr b="0" i="0" sz="1150" u="none" cap="none" strike="noStrike">
              <a:solidFill>
                <a:schemeClr val="dk1"/>
              </a:solidFill>
              <a:latin typeface="Arial"/>
              <a:ea typeface="Arial"/>
              <a:cs typeface="Arial"/>
              <a:sym typeface="Arial"/>
            </a:endParaRPr>
          </a:p>
        </p:txBody>
      </p:sp>
      <p:sp>
        <p:nvSpPr>
          <p:cNvPr id="1088" name="Google Shape;1088;p27"/>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089" name="Google Shape;1089;p27"/>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27</a:t>
            </a:r>
            <a:endParaRPr b="0" i="0" sz="950" u="none" cap="none" strike="noStrike">
              <a:solidFill>
                <a:schemeClr val="dk1"/>
              </a:solidFill>
              <a:latin typeface="Arial"/>
              <a:ea typeface="Arial"/>
              <a:cs typeface="Arial"/>
              <a:sym typeface="Arial"/>
            </a:endParaRPr>
          </a:p>
        </p:txBody>
      </p:sp>
      <p:sp>
        <p:nvSpPr>
          <p:cNvPr id="1090" name="Google Shape;1090;p27"/>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7"/>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092" name="Google Shape;1092;p27"/>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7"/>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094" name="Google Shape;1094;p27"/>
          <p:cNvSpPr/>
          <p:nvPr/>
        </p:nvSpPr>
        <p:spPr>
          <a:xfrm>
            <a:off x="6121908" y="6665976"/>
            <a:ext cx="2786634" cy="118872"/>
          </a:xfrm>
          <a:prstGeom prst="roundRect">
            <a:avLst>
              <a:gd fmla="val 61538" name="adj"/>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7"/>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950"/>
              <a:buFont typeface="Arial"/>
              <a:buNone/>
            </a:pPr>
            <a:r>
              <a:rPr b="1" i="0" lang="en-US" sz="950" u="none" cap="none" strike="noStrike">
                <a:solidFill>
                  <a:srgbClr val="2A9D8F"/>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096" name="Google Shape;1096;p27"/>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7"/>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1098" name="Google Shape;1098;p27"/>
          <p:cNvPicPr preferRelativeResize="0"/>
          <p:nvPr/>
        </p:nvPicPr>
        <p:blipFill rotWithShape="1">
          <a:blip r:embed="rId3">
            <a:alphaModFix/>
          </a:blip>
          <a:srcRect b="0" l="0" r="0" t="0"/>
          <a:stretch/>
        </p:blipFill>
        <p:spPr>
          <a:xfrm>
            <a:off x="777240" y="960120"/>
            <a:ext cx="4892040" cy="4251960"/>
          </a:xfrm>
          <a:prstGeom prst="rect">
            <a:avLst/>
          </a:prstGeom>
          <a:noFill/>
          <a:ln>
            <a:noFill/>
          </a:ln>
        </p:spPr>
      </p:pic>
      <p:sp>
        <p:nvSpPr>
          <p:cNvPr id="1099" name="Google Shape;1099;p27"/>
          <p:cNvSpPr/>
          <p:nvPr/>
        </p:nvSpPr>
        <p:spPr>
          <a:xfrm>
            <a:off x="5897880" y="960120"/>
            <a:ext cx="5394960" cy="777240"/>
          </a:xfrm>
          <a:prstGeom prst="roundRect">
            <a:avLst>
              <a:gd fmla="val 9412"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7"/>
          <p:cNvSpPr/>
          <p:nvPr/>
        </p:nvSpPr>
        <p:spPr>
          <a:xfrm>
            <a:off x="5897880" y="960120"/>
            <a:ext cx="73152" cy="77724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7"/>
          <p:cNvSpPr txBox="1"/>
          <p:nvPr/>
        </p:nvSpPr>
        <p:spPr>
          <a:xfrm>
            <a:off x="6062472" y="1069848"/>
            <a:ext cx="512064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Star subtree</a:t>
            </a:r>
            <a:endParaRPr b="0" i="0" sz="1600" u="none" cap="none" strike="noStrike">
              <a:solidFill>
                <a:schemeClr val="dk1"/>
              </a:solidFill>
              <a:latin typeface="Arial"/>
              <a:ea typeface="Arial"/>
              <a:cs typeface="Arial"/>
              <a:sym typeface="Arial"/>
            </a:endParaRPr>
          </a:p>
        </p:txBody>
      </p:sp>
      <p:sp>
        <p:nvSpPr>
          <p:cNvPr id="1102" name="Google Shape;1102;p27"/>
          <p:cNvSpPr txBox="1"/>
          <p:nvPr/>
        </p:nvSpPr>
        <p:spPr>
          <a:xfrm>
            <a:off x="6062472" y="1444752"/>
            <a:ext cx="5120640" cy="2103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c = (a₁|b₂)</a:t>
            </a:r>
            <a:endParaRPr b="0" i="0" sz="1600" u="none" cap="none" strike="noStrike">
              <a:solidFill>
                <a:schemeClr val="dk1"/>
              </a:solidFill>
              <a:latin typeface="Arial"/>
              <a:ea typeface="Arial"/>
              <a:cs typeface="Arial"/>
              <a:sym typeface="Arial"/>
            </a:endParaRPr>
          </a:p>
        </p:txBody>
      </p:sp>
      <p:sp>
        <p:nvSpPr>
          <p:cNvPr id="1103" name="Google Shape;1103;p27"/>
          <p:cNvSpPr/>
          <p:nvPr/>
        </p:nvSpPr>
        <p:spPr>
          <a:xfrm>
            <a:off x="5897880" y="1965960"/>
            <a:ext cx="2487168" cy="777240"/>
          </a:xfrm>
          <a:prstGeom prst="roundRect">
            <a:avLst>
              <a:gd fmla="val 9412"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7"/>
          <p:cNvSpPr/>
          <p:nvPr/>
        </p:nvSpPr>
        <p:spPr>
          <a:xfrm>
            <a:off x="5897880" y="1965960"/>
            <a:ext cx="73152" cy="77724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7"/>
          <p:cNvSpPr txBox="1"/>
          <p:nvPr/>
        </p:nvSpPr>
        <p:spPr>
          <a:xfrm>
            <a:off x="6062472" y="2075688"/>
            <a:ext cx="2212848"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lastpos(c)</a:t>
            </a:r>
            <a:endParaRPr b="0" i="0" sz="1600" u="none" cap="none" strike="noStrike">
              <a:solidFill>
                <a:schemeClr val="dk1"/>
              </a:solidFill>
              <a:latin typeface="Arial"/>
              <a:ea typeface="Arial"/>
              <a:cs typeface="Arial"/>
              <a:sym typeface="Arial"/>
            </a:endParaRPr>
          </a:p>
        </p:txBody>
      </p:sp>
      <p:sp>
        <p:nvSpPr>
          <p:cNvPr id="1106" name="Google Shape;1106;p27"/>
          <p:cNvSpPr txBox="1"/>
          <p:nvPr/>
        </p:nvSpPr>
        <p:spPr>
          <a:xfrm>
            <a:off x="6062472" y="2450592"/>
            <a:ext cx="2212848" cy="2103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{1,2}</a:t>
            </a:r>
            <a:endParaRPr b="0" i="0" sz="1600" u="none" cap="none" strike="noStrike">
              <a:solidFill>
                <a:schemeClr val="dk1"/>
              </a:solidFill>
              <a:latin typeface="Arial"/>
              <a:ea typeface="Arial"/>
              <a:cs typeface="Arial"/>
              <a:sym typeface="Arial"/>
            </a:endParaRPr>
          </a:p>
        </p:txBody>
      </p:sp>
      <p:sp>
        <p:nvSpPr>
          <p:cNvPr id="1107" name="Google Shape;1107;p27"/>
          <p:cNvSpPr/>
          <p:nvPr/>
        </p:nvSpPr>
        <p:spPr>
          <a:xfrm>
            <a:off x="8732520" y="1965960"/>
            <a:ext cx="2560320" cy="777240"/>
          </a:xfrm>
          <a:prstGeom prst="roundRect">
            <a:avLst>
              <a:gd fmla="val 9412"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7"/>
          <p:cNvSpPr/>
          <p:nvPr/>
        </p:nvSpPr>
        <p:spPr>
          <a:xfrm>
            <a:off x="8732520" y="1965960"/>
            <a:ext cx="73152" cy="77724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7"/>
          <p:cNvSpPr txBox="1"/>
          <p:nvPr/>
        </p:nvSpPr>
        <p:spPr>
          <a:xfrm>
            <a:off x="8897112" y="2075688"/>
            <a:ext cx="22860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firstpos(c)</a:t>
            </a:r>
            <a:endParaRPr b="0" i="0" sz="1600" u="none" cap="none" strike="noStrike">
              <a:solidFill>
                <a:schemeClr val="dk1"/>
              </a:solidFill>
              <a:latin typeface="Arial"/>
              <a:ea typeface="Arial"/>
              <a:cs typeface="Arial"/>
              <a:sym typeface="Arial"/>
            </a:endParaRPr>
          </a:p>
        </p:txBody>
      </p:sp>
      <p:sp>
        <p:nvSpPr>
          <p:cNvPr id="1110" name="Google Shape;1110;p27"/>
          <p:cNvSpPr txBox="1"/>
          <p:nvPr/>
        </p:nvSpPr>
        <p:spPr>
          <a:xfrm>
            <a:off x="8897112" y="2450592"/>
            <a:ext cx="2286000" cy="2103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{1,2}</a:t>
            </a:r>
            <a:endParaRPr b="0" i="0" sz="1600" u="none" cap="none" strike="noStrike">
              <a:solidFill>
                <a:schemeClr val="dk1"/>
              </a:solidFill>
              <a:latin typeface="Arial"/>
              <a:ea typeface="Arial"/>
              <a:cs typeface="Arial"/>
              <a:sym typeface="Arial"/>
            </a:endParaRPr>
          </a:p>
        </p:txBody>
      </p:sp>
      <p:sp>
        <p:nvSpPr>
          <p:cNvPr id="1111" name="Google Shape;1111;p27"/>
          <p:cNvSpPr txBox="1"/>
          <p:nvPr/>
        </p:nvSpPr>
        <p:spPr>
          <a:xfrm>
            <a:off x="5897880" y="3063240"/>
            <a:ext cx="5394960" cy="5029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2100"/>
              <a:buFont typeface="Arial"/>
              <a:buNone/>
            </a:pPr>
            <a:r>
              <a:rPr b="1" i="0" lang="en-US" sz="2100" u="none" cap="none" strike="noStrike">
                <a:solidFill>
                  <a:srgbClr val="1D2A39"/>
                </a:solidFill>
                <a:latin typeface="Arial"/>
                <a:ea typeface="Arial"/>
                <a:cs typeface="Arial"/>
                <a:sym typeface="Arial"/>
              </a:rPr>
              <a:t>For each i ∈ {1,2}, add {1,2} to followpos(i).</a:t>
            </a:r>
            <a:endParaRPr b="0" i="0" sz="2100" u="none" cap="none" strike="noStrike">
              <a:solidFill>
                <a:schemeClr val="dk1"/>
              </a:solidFill>
              <a:latin typeface="Arial"/>
              <a:ea typeface="Arial"/>
              <a:cs typeface="Arial"/>
              <a:sym typeface="Arial"/>
            </a:endParaRPr>
          </a:p>
        </p:txBody>
      </p:sp>
      <p:sp>
        <p:nvSpPr>
          <p:cNvPr id="1112" name="Google Shape;1112;p27"/>
          <p:cNvSpPr/>
          <p:nvPr/>
        </p:nvSpPr>
        <p:spPr>
          <a:xfrm>
            <a:off x="5897880" y="3822192"/>
            <a:ext cx="5394960" cy="1234440"/>
          </a:xfrm>
          <a:prstGeom prst="roundRect">
            <a:avLst>
              <a:gd fmla="val 5926" name="adj"/>
            </a:avLst>
          </a:prstGeom>
          <a:solidFill>
            <a:srgbClr val="F0EBF8"/>
          </a:solidFill>
          <a:ln cap="flat" cmpd="sng" w="12700">
            <a:solidFill>
              <a:srgbClr val="7B6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7"/>
          <p:cNvSpPr txBox="1"/>
          <p:nvPr/>
        </p:nvSpPr>
        <p:spPr>
          <a:xfrm>
            <a:off x="6126480" y="4023360"/>
            <a:ext cx="4937760"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700"/>
              <a:buFont typeface="Arial"/>
              <a:buNone/>
            </a:pPr>
            <a:r>
              <a:rPr b="1" i="0" lang="en-US" sz="1700" u="none" cap="none" strike="noStrike">
                <a:solidFill>
                  <a:srgbClr val="7B61A8"/>
                </a:solidFill>
                <a:latin typeface="Arial"/>
                <a:ea typeface="Arial"/>
                <a:cs typeface="Arial"/>
                <a:sym typeface="Arial"/>
              </a:rPr>
              <a:t>Merge with the earlier {3}:</a:t>
            </a:r>
            <a:endParaRPr b="0" i="0" sz="1700" u="none" cap="none" strike="noStrike">
              <a:solidFill>
                <a:schemeClr val="dk1"/>
              </a:solidFill>
              <a:latin typeface="Arial"/>
              <a:ea typeface="Arial"/>
              <a:cs typeface="Arial"/>
              <a:sym typeface="Arial"/>
            </a:endParaRPr>
          </a:p>
        </p:txBody>
      </p:sp>
      <p:sp>
        <p:nvSpPr>
          <p:cNvPr id="1114" name="Google Shape;1114;p27"/>
          <p:cNvSpPr txBox="1"/>
          <p:nvPr/>
        </p:nvSpPr>
        <p:spPr>
          <a:xfrm>
            <a:off x="6126480" y="4407408"/>
            <a:ext cx="493776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200"/>
              <a:buFont typeface="Arial"/>
              <a:buNone/>
            </a:pPr>
            <a:r>
              <a:rPr b="1" i="0" lang="en-US" sz="2200" u="none" cap="none" strike="noStrike">
                <a:solidFill>
                  <a:srgbClr val="153A73"/>
                </a:solidFill>
                <a:latin typeface="Arial"/>
                <a:ea typeface="Arial"/>
                <a:cs typeface="Arial"/>
                <a:sym typeface="Arial"/>
              </a:rPr>
              <a:t>followpos(1) = followpos(2) = {1,2,3}</a:t>
            </a:r>
            <a:endParaRPr b="0" i="0" sz="2200" u="none" cap="none" strike="noStrike">
              <a:solidFill>
                <a:schemeClr val="dk1"/>
              </a:solidFill>
              <a:latin typeface="Arial"/>
              <a:ea typeface="Arial"/>
              <a:cs typeface="Arial"/>
              <a:sym typeface="Arial"/>
            </a:endParaRPr>
          </a:p>
        </p:txBody>
      </p:sp>
      <p:sp>
        <p:nvSpPr>
          <p:cNvPr id="1115" name="Google Shape;1115;p27"/>
          <p:cNvSpPr txBox="1"/>
          <p:nvPr/>
        </p:nvSpPr>
        <p:spPr>
          <a:xfrm>
            <a:off x="1920240" y="5532120"/>
            <a:ext cx="82296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950"/>
              <a:buFont typeface="Arial"/>
              <a:buNone/>
            </a:pPr>
            <a:r>
              <a:rPr b="1" i="0" lang="en-US" sz="1950" u="none" cap="none" strike="noStrike">
                <a:solidFill>
                  <a:srgbClr val="2A9D8F"/>
                </a:solidFill>
                <a:latin typeface="Arial"/>
                <a:ea typeface="Arial"/>
                <a:cs typeface="Arial"/>
                <a:sym typeface="Arial"/>
              </a:rPr>
              <a:t>This loop allows any number of a/b symbols before the final abb.</a:t>
            </a:r>
            <a:endParaRPr b="0" i="0" sz="195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120" name="Shape 1120"/>
        <p:cNvGrpSpPr/>
        <p:nvPr/>
      </p:nvGrpSpPr>
      <p:grpSpPr>
        <a:xfrm>
          <a:off x="0" y="0"/>
          <a:ext cx="0" cy="0"/>
          <a:chOff x="0" y="0"/>
          <a:chExt cx="0" cy="0"/>
        </a:xfrm>
      </p:grpSpPr>
      <p:sp>
        <p:nvSpPr>
          <p:cNvPr id="1121" name="Google Shape;1121;p28"/>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8"/>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Final followpos table</a:t>
            </a:r>
            <a:endParaRPr b="0" i="0" sz="2800" u="none" cap="none" strike="noStrike">
              <a:solidFill>
                <a:schemeClr val="dk1"/>
              </a:solidFill>
              <a:latin typeface="Arial"/>
              <a:ea typeface="Arial"/>
              <a:cs typeface="Arial"/>
              <a:sym typeface="Arial"/>
            </a:endParaRPr>
          </a:p>
        </p:txBody>
      </p:sp>
      <p:sp>
        <p:nvSpPr>
          <p:cNvPr id="1123" name="Google Shape;1123;p28"/>
          <p:cNvSpPr/>
          <p:nvPr/>
        </p:nvSpPr>
        <p:spPr>
          <a:xfrm>
            <a:off x="10195560" y="210312"/>
            <a:ext cx="1554480" cy="310896"/>
          </a:xfrm>
          <a:prstGeom prst="roundRect">
            <a:avLst>
              <a:gd fmla="val 47059" name="adj"/>
            </a:avLst>
          </a:prstGeom>
          <a:solidFill>
            <a:srgbClr val="E8F6F2"/>
          </a:solidFill>
          <a:ln cap="flat" cmpd="sng" w="12700">
            <a:solidFill>
              <a:srgbClr val="E8F6F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8"/>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Summary</a:t>
            </a:r>
            <a:endParaRPr b="0" i="0" sz="1150" u="none" cap="none" strike="noStrike">
              <a:solidFill>
                <a:schemeClr val="dk1"/>
              </a:solidFill>
              <a:latin typeface="Arial"/>
              <a:ea typeface="Arial"/>
              <a:cs typeface="Arial"/>
              <a:sym typeface="Arial"/>
            </a:endParaRPr>
          </a:p>
        </p:txBody>
      </p:sp>
      <p:sp>
        <p:nvSpPr>
          <p:cNvPr id="1125" name="Google Shape;1125;p28"/>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126" name="Google Shape;1126;p28"/>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28</a:t>
            </a:r>
            <a:endParaRPr b="0" i="0" sz="950" u="none" cap="none" strike="noStrike">
              <a:solidFill>
                <a:schemeClr val="dk1"/>
              </a:solidFill>
              <a:latin typeface="Arial"/>
              <a:ea typeface="Arial"/>
              <a:cs typeface="Arial"/>
              <a:sym typeface="Arial"/>
            </a:endParaRPr>
          </a:p>
        </p:txBody>
      </p:sp>
      <p:sp>
        <p:nvSpPr>
          <p:cNvPr id="1127" name="Google Shape;1127;p28"/>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8"/>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129" name="Google Shape;1129;p28"/>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8"/>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131" name="Google Shape;1131;p28"/>
          <p:cNvSpPr/>
          <p:nvPr/>
        </p:nvSpPr>
        <p:spPr>
          <a:xfrm>
            <a:off x="6121908" y="6665976"/>
            <a:ext cx="2786634" cy="118872"/>
          </a:xfrm>
          <a:prstGeom prst="roundRect">
            <a:avLst>
              <a:gd fmla="val 61538" name="adj"/>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8"/>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950"/>
              <a:buFont typeface="Arial"/>
              <a:buNone/>
            </a:pPr>
            <a:r>
              <a:rPr b="1" i="0" lang="en-US" sz="950" u="none" cap="none" strike="noStrike">
                <a:solidFill>
                  <a:srgbClr val="2A9D8F"/>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133" name="Google Shape;1133;p28"/>
          <p:cNvSpPr/>
          <p:nvPr/>
        </p:nvSpPr>
        <p:spPr>
          <a:xfrm>
            <a:off x="8972550"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8"/>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135" name="Google Shape;1135;p28"/>
          <p:cNvSpPr/>
          <p:nvPr/>
        </p:nvSpPr>
        <p:spPr>
          <a:xfrm>
            <a:off x="868680" y="1024128"/>
            <a:ext cx="1417320" cy="646611"/>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8"/>
          <p:cNvSpPr txBox="1"/>
          <p:nvPr/>
        </p:nvSpPr>
        <p:spPr>
          <a:xfrm>
            <a:off x="923544" y="1042416"/>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Position</a:t>
            </a:r>
            <a:endParaRPr b="0" i="0" sz="1800" u="none" cap="none" strike="noStrike">
              <a:solidFill>
                <a:schemeClr val="dk1"/>
              </a:solidFill>
              <a:latin typeface="Arial"/>
              <a:ea typeface="Arial"/>
              <a:cs typeface="Arial"/>
              <a:sym typeface="Arial"/>
            </a:endParaRPr>
          </a:p>
        </p:txBody>
      </p:sp>
      <p:sp>
        <p:nvSpPr>
          <p:cNvPr id="1137" name="Google Shape;1137;p28"/>
          <p:cNvSpPr/>
          <p:nvPr/>
        </p:nvSpPr>
        <p:spPr>
          <a:xfrm>
            <a:off x="2286000" y="1024128"/>
            <a:ext cx="1417320" cy="646611"/>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8"/>
          <p:cNvSpPr txBox="1"/>
          <p:nvPr/>
        </p:nvSpPr>
        <p:spPr>
          <a:xfrm>
            <a:off x="2340864" y="1042416"/>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Symbol</a:t>
            </a:r>
            <a:endParaRPr b="0" i="0" sz="1800" u="none" cap="none" strike="noStrike">
              <a:solidFill>
                <a:schemeClr val="dk1"/>
              </a:solidFill>
              <a:latin typeface="Arial"/>
              <a:ea typeface="Arial"/>
              <a:cs typeface="Arial"/>
              <a:sym typeface="Arial"/>
            </a:endParaRPr>
          </a:p>
        </p:txBody>
      </p:sp>
      <p:sp>
        <p:nvSpPr>
          <p:cNvPr id="1139" name="Google Shape;1139;p28"/>
          <p:cNvSpPr/>
          <p:nvPr/>
        </p:nvSpPr>
        <p:spPr>
          <a:xfrm>
            <a:off x="3703320" y="1024128"/>
            <a:ext cx="2834640" cy="646611"/>
          </a:xfrm>
          <a:prstGeom prst="rect">
            <a:avLst/>
          </a:prstGeom>
          <a:solidFill>
            <a:srgbClr val="153A73"/>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8"/>
          <p:cNvSpPr txBox="1"/>
          <p:nvPr/>
        </p:nvSpPr>
        <p:spPr>
          <a:xfrm>
            <a:off x="3758184" y="1042416"/>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followpos</a:t>
            </a:r>
            <a:endParaRPr b="0" i="0" sz="1800" u="none" cap="none" strike="noStrike">
              <a:solidFill>
                <a:schemeClr val="dk1"/>
              </a:solidFill>
              <a:latin typeface="Arial"/>
              <a:ea typeface="Arial"/>
              <a:cs typeface="Arial"/>
              <a:sym typeface="Arial"/>
            </a:endParaRPr>
          </a:p>
        </p:txBody>
      </p:sp>
      <p:sp>
        <p:nvSpPr>
          <p:cNvPr id="1141" name="Google Shape;1141;p28"/>
          <p:cNvSpPr/>
          <p:nvPr/>
        </p:nvSpPr>
        <p:spPr>
          <a:xfrm>
            <a:off x="868680" y="1670739"/>
            <a:ext cx="141732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8"/>
          <p:cNvSpPr txBox="1"/>
          <p:nvPr/>
        </p:nvSpPr>
        <p:spPr>
          <a:xfrm>
            <a:off x="923544" y="1689027"/>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1143" name="Google Shape;1143;p28"/>
          <p:cNvSpPr/>
          <p:nvPr/>
        </p:nvSpPr>
        <p:spPr>
          <a:xfrm>
            <a:off x="2286000" y="1670739"/>
            <a:ext cx="141732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8"/>
          <p:cNvSpPr txBox="1"/>
          <p:nvPr/>
        </p:nvSpPr>
        <p:spPr>
          <a:xfrm>
            <a:off x="2340864" y="1689027"/>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a</a:t>
            </a:r>
            <a:endParaRPr b="0" i="0" sz="1800" u="none" cap="none" strike="noStrike">
              <a:solidFill>
                <a:schemeClr val="dk1"/>
              </a:solidFill>
              <a:latin typeface="Arial"/>
              <a:ea typeface="Arial"/>
              <a:cs typeface="Arial"/>
              <a:sym typeface="Arial"/>
            </a:endParaRPr>
          </a:p>
        </p:txBody>
      </p:sp>
      <p:sp>
        <p:nvSpPr>
          <p:cNvPr id="1145" name="Google Shape;1145;p28"/>
          <p:cNvSpPr/>
          <p:nvPr/>
        </p:nvSpPr>
        <p:spPr>
          <a:xfrm>
            <a:off x="3703320" y="1670739"/>
            <a:ext cx="283464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8"/>
          <p:cNvSpPr txBox="1"/>
          <p:nvPr/>
        </p:nvSpPr>
        <p:spPr>
          <a:xfrm>
            <a:off x="3758184" y="1689027"/>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{1,2,3}</a:t>
            </a:r>
            <a:endParaRPr b="0" i="0" sz="1800" u="none" cap="none" strike="noStrike">
              <a:solidFill>
                <a:schemeClr val="dk1"/>
              </a:solidFill>
              <a:latin typeface="Arial"/>
              <a:ea typeface="Arial"/>
              <a:cs typeface="Arial"/>
              <a:sym typeface="Arial"/>
            </a:endParaRPr>
          </a:p>
        </p:txBody>
      </p:sp>
      <p:sp>
        <p:nvSpPr>
          <p:cNvPr id="1147" name="Google Shape;1147;p28"/>
          <p:cNvSpPr/>
          <p:nvPr/>
        </p:nvSpPr>
        <p:spPr>
          <a:xfrm>
            <a:off x="868680" y="2317351"/>
            <a:ext cx="141732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8"/>
          <p:cNvSpPr txBox="1"/>
          <p:nvPr/>
        </p:nvSpPr>
        <p:spPr>
          <a:xfrm>
            <a:off x="923544" y="2335639"/>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2</a:t>
            </a:r>
            <a:endParaRPr b="0" i="0" sz="1800" u="none" cap="none" strike="noStrike">
              <a:solidFill>
                <a:schemeClr val="dk1"/>
              </a:solidFill>
              <a:latin typeface="Arial"/>
              <a:ea typeface="Arial"/>
              <a:cs typeface="Arial"/>
              <a:sym typeface="Arial"/>
            </a:endParaRPr>
          </a:p>
        </p:txBody>
      </p:sp>
      <p:sp>
        <p:nvSpPr>
          <p:cNvPr id="1149" name="Google Shape;1149;p28"/>
          <p:cNvSpPr/>
          <p:nvPr/>
        </p:nvSpPr>
        <p:spPr>
          <a:xfrm>
            <a:off x="2286000" y="2317351"/>
            <a:ext cx="141732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8"/>
          <p:cNvSpPr txBox="1"/>
          <p:nvPr/>
        </p:nvSpPr>
        <p:spPr>
          <a:xfrm>
            <a:off x="2340864" y="2335639"/>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151" name="Google Shape;1151;p28"/>
          <p:cNvSpPr/>
          <p:nvPr/>
        </p:nvSpPr>
        <p:spPr>
          <a:xfrm>
            <a:off x="3703320" y="2317351"/>
            <a:ext cx="283464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8"/>
          <p:cNvSpPr txBox="1"/>
          <p:nvPr/>
        </p:nvSpPr>
        <p:spPr>
          <a:xfrm>
            <a:off x="3758184" y="2335639"/>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{1,2,3}</a:t>
            </a:r>
            <a:endParaRPr b="0" i="0" sz="1800" u="none" cap="none" strike="noStrike">
              <a:solidFill>
                <a:schemeClr val="dk1"/>
              </a:solidFill>
              <a:latin typeface="Arial"/>
              <a:ea typeface="Arial"/>
              <a:cs typeface="Arial"/>
              <a:sym typeface="Arial"/>
            </a:endParaRPr>
          </a:p>
        </p:txBody>
      </p:sp>
      <p:sp>
        <p:nvSpPr>
          <p:cNvPr id="1153" name="Google Shape;1153;p28"/>
          <p:cNvSpPr/>
          <p:nvPr/>
        </p:nvSpPr>
        <p:spPr>
          <a:xfrm>
            <a:off x="868680" y="2963962"/>
            <a:ext cx="141732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8"/>
          <p:cNvSpPr txBox="1"/>
          <p:nvPr/>
        </p:nvSpPr>
        <p:spPr>
          <a:xfrm>
            <a:off x="923544" y="2982250"/>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155" name="Google Shape;1155;p28"/>
          <p:cNvSpPr/>
          <p:nvPr/>
        </p:nvSpPr>
        <p:spPr>
          <a:xfrm>
            <a:off x="2286000" y="2963962"/>
            <a:ext cx="141732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8"/>
          <p:cNvSpPr txBox="1"/>
          <p:nvPr/>
        </p:nvSpPr>
        <p:spPr>
          <a:xfrm>
            <a:off x="2340864" y="2982250"/>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a</a:t>
            </a:r>
            <a:endParaRPr b="0" i="0" sz="1800" u="none" cap="none" strike="noStrike">
              <a:solidFill>
                <a:schemeClr val="dk1"/>
              </a:solidFill>
              <a:latin typeface="Arial"/>
              <a:ea typeface="Arial"/>
              <a:cs typeface="Arial"/>
              <a:sym typeface="Arial"/>
            </a:endParaRPr>
          </a:p>
        </p:txBody>
      </p:sp>
      <p:sp>
        <p:nvSpPr>
          <p:cNvPr id="1157" name="Google Shape;1157;p28"/>
          <p:cNvSpPr/>
          <p:nvPr/>
        </p:nvSpPr>
        <p:spPr>
          <a:xfrm>
            <a:off x="3703320" y="2963962"/>
            <a:ext cx="283464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8"/>
          <p:cNvSpPr txBox="1"/>
          <p:nvPr/>
        </p:nvSpPr>
        <p:spPr>
          <a:xfrm>
            <a:off x="3758184" y="2982250"/>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{4}</a:t>
            </a:r>
            <a:endParaRPr b="0" i="0" sz="1800" u="none" cap="none" strike="noStrike">
              <a:solidFill>
                <a:schemeClr val="dk1"/>
              </a:solidFill>
              <a:latin typeface="Arial"/>
              <a:ea typeface="Arial"/>
              <a:cs typeface="Arial"/>
              <a:sym typeface="Arial"/>
            </a:endParaRPr>
          </a:p>
        </p:txBody>
      </p:sp>
      <p:sp>
        <p:nvSpPr>
          <p:cNvPr id="1159" name="Google Shape;1159;p28"/>
          <p:cNvSpPr/>
          <p:nvPr/>
        </p:nvSpPr>
        <p:spPr>
          <a:xfrm>
            <a:off x="868680" y="3610574"/>
            <a:ext cx="141732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8"/>
          <p:cNvSpPr txBox="1"/>
          <p:nvPr/>
        </p:nvSpPr>
        <p:spPr>
          <a:xfrm>
            <a:off x="923544" y="3628862"/>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4</a:t>
            </a:r>
            <a:endParaRPr b="0" i="0" sz="1800" u="none" cap="none" strike="noStrike">
              <a:solidFill>
                <a:schemeClr val="dk1"/>
              </a:solidFill>
              <a:latin typeface="Arial"/>
              <a:ea typeface="Arial"/>
              <a:cs typeface="Arial"/>
              <a:sym typeface="Arial"/>
            </a:endParaRPr>
          </a:p>
        </p:txBody>
      </p:sp>
      <p:sp>
        <p:nvSpPr>
          <p:cNvPr id="1161" name="Google Shape;1161;p28"/>
          <p:cNvSpPr/>
          <p:nvPr/>
        </p:nvSpPr>
        <p:spPr>
          <a:xfrm>
            <a:off x="2286000" y="3610574"/>
            <a:ext cx="141732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8"/>
          <p:cNvSpPr txBox="1"/>
          <p:nvPr/>
        </p:nvSpPr>
        <p:spPr>
          <a:xfrm>
            <a:off x="2340864" y="3628862"/>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163" name="Google Shape;1163;p28"/>
          <p:cNvSpPr/>
          <p:nvPr/>
        </p:nvSpPr>
        <p:spPr>
          <a:xfrm>
            <a:off x="3703320" y="3610574"/>
            <a:ext cx="283464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8"/>
          <p:cNvSpPr txBox="1"/>
          <p:nvPr/>
        </p:nvSpPr>
        <p:spPr>
          <a:xfrm>
            <a:off x="3758184" y="3628862"/>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{5}</a:t>
            </a:r>
            <a:endParaRPr b="0" i="0" sz="1800" u="none" cap="none" strike="noStrike">
              <a:solidFill>
                <a:schemeClr val="dk1"/>
              </a:solidFill>
              <a:latin typeface="Arial"/>
              <a:ea typeface="Arial"/>
              <a:cs typeface="Arial"/>
              <a:sym typeface="Arial"/>
            </a:endParaRPr>
          </a:p>
        </p:txBody>
      </p:sp>
      <p:sp>
        <p:nvSpPr>
          <p:cNvPr id="1165" name="Google Shape;1165;p28"/>
          <p:cNvSpPr/>
          <p:nvPr/>
        </p:nvSpPr>
        <p:spPr>
          <a:xfrm>
            <a:off x="868680" y="4257185"/>
            <a:ext cx="141732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8"/>
          <p:cNvSpPr txBox="1"/>
          <p:nvPr/>
        </p:nvSpPr>
        <p:spPr>
          <a:xfrm>
            <a:off x="923544" y="4275473"/>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5</a:t>
            </a:r>
            <a:endParaRPr b="0" i="0" sz="1800" u="none" cap="none" strike="noStrike">
              <a:solidFill>
                <a:schemeClr val="dk1"/>
              </a:solidFill>
              <a:latin typeface="Arial"/>
              <a:ea typeface="Arial"/>
              <a:cs typeface="Arial"/>
              <a:sym typeface="Arial"/>
            </a:endParaRPr>
          </a:p>
        </p:txBody>
      </p:sp>
      <p:sp>
        <p:nvSpPr>
          <p:cNvPr id="1167" name="Google Shape;1167;p28"/>
          <p:cNvSpPr/>
          <p:nvPr/>
        </p:nvSpPr>
        <p:spPr>
          <a:xfrm>
            <a:off x="2286000" y="4257185"/>
            <a:ext cx="141732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8"/>
          <p:cNvSpPr txBox="1"/>
          <p:nvPr/>
        </p:nvSpPr>
        <p:spPr>
          <a:xfrm>
            <a:off x="2340864" y="4275473"/>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169" name="Google Shape;1169;p28"/>
          <p:cNvSpPr/>
          <p:nvPr/>
        </p:nvSpPr>
        <p:spPr>
          <a:xfrm>
            <a:off x="3703320" y="4257185"/>
            <a:ext cx="2834640" cy="646611"/>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8"/>
          <p:cNvSpPr txBox="1"/>
          <p:nvPr/>
        </p:nvSpPr>
        <p:spPr>
          <a:xfrm>
            <a:off x="3758184" y="4275473"/>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{6}</a:t>
            </a:r>
            <a:endParaRPr b="0" i="0" sz="1800" u="none" cap="none" strike="noStrike">
              <a:solidFill>
                <a:schemeClr val="dk1"/>
              </a:solidFill>
              <a:latin typeface="Arial"/>
              <a:ea typeface="Arial"/>
              <a:cs typeface="Arial"/>
              <a:sym typeface="Arial"/>
            </a:endParaRPr>
          </a:p>
        </p:txBody>
      </p:sp>
      <p:sp>
        <p:nvSpPr>
          <p:cNvPr id="1171" name="Google Shape;1171;p28"/>
          <p:cNvSpPr/>
          <p:nvPr/>
        </p:nvSpPr>
        <p:spPr>
          <a:xfrm>
            <a:off x="868680" y="4903797"/>
            <a:ext cx="141732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8"/>
          <p:cNvSpPr txBox="1"/>
          <p:nvPr/>
        </p:nvSpPr>
        <p:spPr>
          <a:xfrm>
            <a:off x="923544" y="4922085"/>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6</a:t>
            </a:r>
            <a:endParaRPr b="0" i="0" sz="1800" u="none" cap="none" strike="noStrike">
              <a:solidFill>
                <a:schemeClr val="dk1"/>
              </a:solidFill>
              <a:latin typeface="Arial"/>
              <a:ea typeface="Arial"/>
              <a:cs typeface="Arial"/>
              <a:sym typeface="Arial"/>
            </a:endParaRPr>
          </a:p>
        </p:txBody>
      </p:sp>
      <p:sp>
        <p:nvSpPr>
          <p:cNvPr id="1173" name="Google Shape;1173;p28"/>
          <p:cNvSpPr/>
          <p:nvPr/>
        </p:nvSpPr>
        <p:spPr>
          <a:xfrm>
            <a:off x="2286000" y="4903797"/>
            <a:ext cx="141732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8"/>
          <p:cNvSpPr txBox="1"/>
          <p:nvPr/>
        </p:nvSpPr>
        <p:spPr>
          <a:xfrm>
            <a:off x="2340864" y="4922085"/>
            <a:ext cx="130759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175" name="Google Shape;1175;p28"/>
          <p:cNvSpPr/>
          <p:nvPr/>
        </p:nvSpPr>
        <p:spPr>
          <a:xfrm>
            <a:off x="3703320" y="4903797"/>
            <a:ext cx="2834640" cy="646611"/>
          </a:xfrm>
          <a:prstGeom prst="rect">
            <a:avLst/>
          </a:prstGeom>
          <a:solidFill>
            <a:srgbClr val="EDF6FC"/>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8"/>
          <p:cNvSpPr txBox="1"/>
          <p:nvPr/>
        </p:nvSpPr>
        <p:spPr>
          <a:xfrm>
            <a:off x="3758184" y="4922085"/>
            <a:ext cx="2724912" cy="610035"/>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177" name="Google Shape;1177;p28"/>
          <p:cNvSpPr/>
          <p:nvPr/>
        </p:nvSpPr>
        <p:spPr>
          <a:xfrm>
            <a:off x="6903720" y="1024128"/>
            <a:ext cx="4480560" cy="2697480"/>
          </a:xfrm>
          <a:prstGeom prst="roundRect">
            <a:avLst>
              <a:gd fmla="val 2712"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8"/>
          <p:cNvSpPr/>
          <p:nvPr/>
        </p:nvSpPr>
        <p:spPr>
          <a:xfrm>
            <a:off x="6903720" y="1024128"/>
            <a:ext cx="73152" cy="2697480"/>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8"/>
          <p:cNvSpPr txBox="1"/>
          <p:nvPr/>
        </p:nvSpPr>
        <p:spPr>
          <a:xfrm>
            <a:off x="7068312" y="1133856"/>
            <a:ext cx="420624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How to check the table</a:t>
            </a:r>
            <a:endParaRPr b="0" i="0" sz="1600" u="none" cap="none" strike="noStrike">
              <a:solidFill>
                <a:schemeClr val="dk1"/>
              </a:solidFill>
              <a:latin typeface="Arial"/>
              <a:ea typeface="Arial"/>
              <a:cs typeface="Arial"/>
              <a:sym typeface="Arial"/>
            </a:endParaRPr>
          </a:p>
        </p:txBody>
      </p:sp>
      <p:sp>
        <p:nvSpPr>
          <p:cNvPr id="1180" name="Google Shape;1180;p28"/>
          <p:cNvSpPr txBox="1"/>
          <p:nvPr/>
        </p:nvSpPr>
        <p:spPr>
          <a:xfrm>
            <a:off x="7068312" y="1508760"/>
            <a:ext cx="4206240" cy="21305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1 and 2 loop inside (a|b)* and may move to 3.</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3 → 4 because a₃ is followed by b₄.</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4 → 5 because b₄ is followed by b₅.</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5 → 6 because b₅ is followed by #₆.</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6 has no successor.</a:t>
            </a:r>
            <a:endParaRPr b="0" i="0" sz="1600" u="none" cap="none" strike="noStrike">
              <a:solidFill>
                <a:schemeClr val="dk1"/>
              </a:solidFill>
              <a:latin typeface="Arial"/>
              <a:ea typeface="Arial"/>
              <a:cs typeface="Arial"/>
              <a:sym typeface="Arial"/>
            </a:endParaRPr>
          </a:p>
        </p:txBody>
      </p:sp>
      <p:sp>
        <p:nvSpPr>
          <p:cNvPr id="1181" name="Google Shape;1181;p28"/>
          <p:cNvSpPr/>
          <p:nvPr/>
        </p:nvSpPr>
        <p:spPr>
          <a:xfrm>
            <a:off x="6903720" y="4069080"/>
            <a:ext cx="4480560" cy="1188720"/>
          </a:xfrm>
          <a:prstGeom prst="roundRect">
            <a:avLst>
              <a:gd fmla="val 6154"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8"/>
          <p:cNvSpPr/>
          <p:nvPr/>
        </p:nvSpPr>
        <p:spPr>
          <a:xfrm>
            <a:off x="6903720" y="4069080"/>
            <a:ext cx="73152" cy="118872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8"/>
          <p:cNvSpPr txBox="1"/>
          <p:nvPr/>
        </p:nvSpPr>
        <p:spPr>
          <a:xfrm>
            <a:off x="7068312" y="4178808"/>
            <a:ext cx="420624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Why this matters</a:t>
            </a:r>
            <a:endParaRPr b="0" i="0" sz="1600" u="none" cap="none" strike="noStrike">
              <a:solidFill>
                <a:schemeClr val="dk1"/>
              </a:solidFill>
              <a:latin typeface="Arial"/>
              <a:ea typeface="Arial"/>
              <a:cs typeface="Arial"/>
              <a:sym typeface="Arial"/>
            </a:endParaRPr>
          </a:p>
        </p:txBody>
      </p:sp>
      <p:sp>
        <p:nvSpPr>
          <p:cNvPr id="1184" name="Google Shape;1184;p28"/>
          <p:cNvSpPr txBox="1"/>
          <p:nvPr/>
        </p:nvSpPr>
        <p:spPr>
          <a:xfrm>
            <a:off x="7068312" y="4553712"/>
            <a:ext cx="4206240" cy="62179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This table is the transition engine for the DFA. Every DFA transition is a union of selected followpos sets.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189" name="Shape 1189"/>
        <p:cNvGrpSpPr/>
        <p:nvPr/>
      </p:nvGrpSpPr>
      <p:grpSpPr>
        <a:xfrm>
          <a:off x="0" y="0"/>
          <a:ext cx="0" cy="0"/>
          <a:chOff x="0" y="0"/>
          <a:chExt cx="0" cy="0"/>
        </a:xfrm>
      </p:grpSpPr>
      <p:sp>
        <p:nvSpPr>
          <p:cNvPr id="1190" name="Google Shape;1190;p29"/>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9"/>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Construct DFA states from position sets</a:t>
            </a:r>
            <a:endParaRPr b="0" i="0" sz="2800" u="none" cap="none" strike="noStrike">
              <a:solidFill>
                <a:schemeClr val="dk1"/>
              </a:solidFill>
              <a:latin typeface="Arial"/>
              <a:ea typeface="Arial"/>
              <a:cs typeface="Arial"/>
              <a:sym typeface="Arial"/>
            </a:endParaRPr>
          </a:p>
        </p:txBody>
      </p:sp>
      <p:sp>
        <p:nvSpPr>
          <p:cNvPr id="1192" name="Google Shape;1192;p29"/>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9"/>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Step 5</a:t>
            </a:r>
            <a:endParaRPr b="0" i="0" sz="1150" u="none" cap="none" strike="noStrike">
              <a:solidFill>
                <a:schemeClr val="dk1"/>
              </a:solidFill>
              <a:latin typeface="Arial"/>
              <a:ea typeface="Arial"/>
              <a:cs typeface="Arial"/>
              <a:sym typeface="Arial"/>
            </a:endParaRPr>
          </a:p>
        </p:txBody>
      </p:sp>
      <p:sp>
        <p:nvSpPr>
          <p:cNvPr id="1194" name="Google Shape;1194;p29"/>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195" name="Google Shape;1195;p29"/>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29</a:t>
            </a:r>
            <a:endParaRPr b="0" i="0" sz="950" u="none" cap="none" strike="noStrike">
              <a:solidFill>
                <a:schemeClr val="dk1"/>
              </a:solidFill>
              <a:latin typeface="Arial"/>
              <a:ea typeface="Arial"/>
              <a:cs typeface="Arial"/>
              <a:sym typeface="Arial"/>
            </a:endParaRPr>
          </a:p>
        </p:txBody>
      </p:sp>
      <p:sp>
        <p:nvSpPr>
          <p:cNvPr id="1196" name="Google Shape;1196;p29"/>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9"/>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198" name="Google Shape;1198;p29"/>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9"/>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200" name="Google Shape;1200;p29"/>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9"/>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202" name="Google Shape;1202;p29"/>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9"/>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204" name="Google Shape;1204;p29"/>
          <p:cNvSpPr/>
          <p:nvPr/>
        </p:nvSpPr>
        <p:spPr>
          <a:xfrm>
            <a:off x="658368" y="914400"/>
            <a:ext cx="6537960" cy="4892040"/>
          </a:xfrm>
          <a:prstGeom prst="roundRect">
            <a:avLst>
              <a:gd fmla="val 1495"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9"/>
          <p:cNvSpPr txBox="1"/>
          <p:nvPr/>
        </p:nvSpPr>
        <p:spPr>
          <a:xfrm>
            <a:off x="914400" y="1170432"/>
            <a:ext cx="603504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61A8"/>
              </a:buClr>
              <a:buSzPts val="2100"/>
              <a:buFont typeface="Arial"/>
              <a:buNone/>
            </a:pPr>
            <a:r>
              <a:rPr b="1" i="0" lang="en-US" sz="2100" u="none" cap="none" strike="noStrike">
                <a:solidFill>
                  <a:srgbClr val="7B61A8"/>
                </a:solidFill>
                <a:latin typeface="Arial"/>
                <a:ea typeface="Arial"/>
                <a:cs typeface="Arial"/>
                <a:sym typeface="Arial"/>
              </a:rPr>
              <a:t>Algorithm</a:t>
            </a:r>
            <a:endParaRPr b="0" i="0" sz="2100" u="none" cap="none" strike="noStrike">
              <a:solidFill>
                <a:schemeClr val="dk1"/>
              </a:solidFill>
              <a:latin typeface="Arial"/>
              <a:ea typeface="Arial"/>
              <a:cs typeface="Arial"/>
              <a:sym typeface="Arial"/>
            </a:endParaRPr>
          </a:p>
        </p:txBody>
      </p:sp>
      <p:sp>
        <p:nvSpPr>
          <p:cNvPr id="1206" name="Google Shape;1206;p29"/>
          <p:cNvSpPr/>
          <p:nvPr/>
        </p:nvSpPr>
        <p:spPr>
          <a:xfrm>
            <a:off x="914400" y="1664208"/>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9"/>
          <p:cNvSpPr txBox="1"/>
          <p:nvPr/>
        </p:nvSpPr>
        <p:spPr>
          <a:xfrm>
            <a:off x="914400" y="1664208"/>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208" name="Google Shape;1208;p29"/>
          <p:cNvSpPr txBox="1"/>
          <p:nvPr/>
        </p:nvSpPr>
        <p:spPr>
          <a:xfrm>
            <a:off x="1444752" y="1655064"/>
            <a:ext cx="52760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Create the start state</a:t>
            </a:r>
            <a:endParaRPr b="0" i="0" sz="1800" u="none" cap="none" strike="noStrike">
              <a:solidFill>
                <a:schemeClr val="dk1"/>
              </a:solidFill>
              <a:latin typeface="Arial"/>
              <a:ea typeface="Arial"/>
              <a:cs typeface="Arial"/>
              <a:sym typeface="Arial"/>
            </a:endParaRPr>
          </a:p>
        </p:txBody>
      </p:sp>
      <p:sp>
        <p:nvSpPr>
          <p:cNvPr id="1209" name="Google Shape;1209;p29"/>
          <p:cNvSpPr txBox="1"/>
          <p:nvPr/>
        </p:nvSpPr>
        <p:spPr>
          <a:xfrm>
            <a:off x="1444752" y="1929384"/>
            <a:ext cx="52760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A = firstpos(root) = {1,2,3}</a:t>
            </a:r>
            <a:endParaRPr b="0" i="0" sz="1500" u="none" cap="none" strike="noStrike">
              <a:solidFill>
                <a:schemeClr val="dk1"/>
              </a:solidFill>
              <a:latin typeface="Arial"/>
              <a:ea typeface="Arial"/>
              <a:cs typeface="Arial"/>
              <a:sym typeface="Arial"/>
            </a:endParaRPr>
          </a:p>
        </p:txBody>
      </p:sp>
      <p:sp>
        <p:nvSpPr>
          <p:cNvPr id="1210" name="Google Shape;1210;p29"/>
          <p:cNvSpPr/>
          <p:nvPr/>
        </p:nvSpPr>
        <p:spPr>
          <a:xfrm>
            <a:off x="914400" y="2322576"/>
            <a:ext cx="384048" cy="384048"/>
          </a:xfrm>
          <a:prstGeom prst="ellipse">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9"/>
          <p:cNvSpPr txBox="1"/>
          <p:nvPr/>
        </p:nvSpPr>
        <p:spPr>
          <a:xfrm>
            <a:off x="914400" y="2322576"/>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2</a:t>
            </a:r>
            <a:endParaRPr b="0" i="0" sz="1700" u="none" cap="none" strike="noStrike">
              <a:solidFill>
                <a:schemeClr val="dk1"/>
              </a:solidFill>
              <a:latin typeface="Arial"/>
              <a:ea typeface="Arial"/>
              <a:cs typeface="Arial"/>
              <a:sym typeface="Arial"/>
            </a:endParaRPr>
          </a:p>
        </p:txBody>
      </p:sp>
      <p:sp>
        <p:nvSpPr>
          <p:cNvPr id="1212" name="Google Shape;1212;p29"/>
          <p:cNvSpPr txBox="1"/>
          <p:nvPr/>
        </p:nvSpPr>
        <p:spPr>
          <a:xfrm>
            <a:off x="1444752" y="2313432"/>
            <a:ext cx="52760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For each unmarked state S</a:t>
            </a:r>
            <a:endParaRPr b="0" i="0" sz="1800" u="none" cap="none" strike="noStrike">
              <a:solidFill>
                <a:schemeClr val="dk1"/>
              </a:solidFill>
              <a:latin typeface="Arial"/>
              <a:ea typeface="Arial"/>
              <a:cs typeface="Arial"/>
              <a:sym typeface="Arial"/>
            </a:endParaRPr>
          </a:p>
        </p:txBody>
      </p:sp>
      <p:sp>
        <p:nvSpPr>
          <p:cNvPr id="1213" name="Google Shape;1213;p29"/>
          <p:cNvSpPr txBox="1"/>
          <p:nvPr/>
        </p:nvSpPr>
        <p:spPr>
          <a:xfrm>
            <a:off x="1444752" y="2587752"/>
            <a:ext cx="52760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mark S and process every input symbol x</a:t>
            </a:r>
            <a:endParaRPr b="0" i="0" sz="1500" u="none" cap="none" strike="noStrike">
              <a:solidFill>
                <a:schemeClr val="dk1"/>
              </a:solidFill>
              <a:latin typeface="Arial"/>
              <a:ea typeface="Arial"/>
              <a:cs typeface="Arial"/>
              <a:sym typeface="Arial"/>
            </a:endParaRPr>
          </a:p>
        </p:txBody>
      </p:sp>
      <p:sp>
        <p:nvSpPr>
          <p:cNvPr id="1214" name="Google Shape;1214;p29"/>
          <p:cNvSpPr/>
          <p:nvPr/>
        </p:nvSpPr>
        <p:spPr>
          <a:xfrm>
            <a:off x="914400" y="2980944"/>
            <a:ext cx="384048" cy="384048"/>
          </a:xfrm>
          <a:prstGeom prst="ellipse">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9"/>
          <p:cNvSpPr txBox="1"/>
          <p:nvPr/>
        </p:nvSpPr>
        <p:spPr>
          <a:xfrm>
            <a:off x="914400" y="2980944"/>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3</a:t>
            </a:r>
            <a:endParaRPr b="0" i="0" sz="1700" u="none" cap="none" strike="noStrike">
              <a:solidFill>
                <a:schemeClr val="dk1"/>
              </a:solidFill>
              <a:latin typeface="Arial"/>
              <a:ea typeface="Arial"/>
              <a:cs typeface="Arial"/>
              <a:sym typeface="Arial"/>
            </a:endParaRPr>
          </a:p>
        </p:txBody>
      </p:sp>
      <p:sp>
        <p:nvSpPr>
          <p:cNvPr id="1216" name="Google Shape;1216;p29"/>
          <p:cNvSpPr txBox="1"/>
          <p:nvPr/>
        </p:nvSpPr>
        <p:spPr>
          <a:xfrm>
            <a:off x="1444752" y="2971800"/>
            <a:ext cx="52760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Select matching positions</a:t>
            </a:r>
            <a:endParaRPr b="0" i="0" sz="1800" u="none" cap="none" strike="noStrike">
              <a:solidFill>
                <a:schemeClr val="dk1"/>
              </a:solidFill>
              <a:latin typeface="Arial"/>
              <a:ea typeface="Arial"/>
              <a:cs typeface="Arial"/>
              <a:sym typeface="Arial"/>
            </a:endParaRPr>
          </a:p>
        </p:txBody>
      </p:sp>
      <p:sp>
        <p:nvSpPr>
          <p:cNvPr id="1217" name="Google Shape;1217;p29"/>
          <p:cNvSpPr txBox="1"/>
          <p:nvPr/>
        </p:nvSpPr>
        <p:spPr>
          <a:xfrm>
            <a:off x="1444752" y="3246120"/>
            <a:ext cx="52760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choose p ∈ S whose leaf is labeled x</a:t>
            </a:r>
            <a:endParaRPr b="0" i="0" sz="1500" u="none" cap="none" strike="noStrike">
              <a:solidFill>
                <a:schemeClr val="dk1"/>
              </a:solidFill>
              <a:latin typeface="Arial"/>
              <a:ea typeface="Arial"/>
              <a:cs typeface="Arial"/>
              <a:sym typeface="Arial"/>
            </a:endParaRPr>
          </a:p>
        </p:txBody>
      </p:sp>
      <p:sp>
        <p:nvSpPr>
          <p:cNvPr id="1218" name="Google Shape;1218;p29"/>
          <p:cNvSpPr/>
          <p:nvPr/>
        </p:nvSpPr>
        <p:spPr>
          <a:xfrm>
            <a:off x="914400" y="3639312"/>
            <a:ext cx="384048" cy="384048"/>
          </a:xfrm>
          <a:prstGeom prst="ellipse">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9"/>
          <p:cNvSpPr txBox="1"/>
          <p:nvPr/>
        </p:nvSpPr>
        <p:spPr>
          <a:xfrm>
            <a:off x="914400" y="3639312"/>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4</a:t>
            </a:r>
            <a:endParaRPr b="0" i="0" sz="1700" u="none" cap="none" strike="noStrike">
              <a:solidFill>
                <a:schemeClr val="dk1"/>
              </a:solidFill>
              <a:latin typeface="Arial"/>
              <a:ea typeface="Arial"/>
              <a:cs typeface="Arial"/>
              <a:sym typeface="Arial"/>
            </a:endParaRPr>
          </a:p>
        </p:txBody>
      </p:sp>
      <p:sp>
        <p:nvSpPr>
          <p:cNvPr id="1220" name="Google Shape;1220;p29"/>
          <p:cNvSpPr txBox="1"/>
          <p:nvPr/>
        </p:nvSpPr>
        <p:spPr>
          <a:xfrm>
            <a:off x="1444752" y="3630168"/>
            <a:ext cx="52760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Take a union</a:t>
            </a:r>
            <a:endParaRPr b="0" i="0" sz="1800" u="none" cap="none" strike="noStrike">
              <a:solidFill>
                <a:schemeClr val="dk1"/>
              </a:solidFill>
              <a:latin typeface="Arial"/>
              <a:ea typeface="Arial"/>
              <a:cs typeface="Arial"/>
              <a:sym typeface="Arial"/>
            </a:endParaRPr>
          </a:p>
        </p:txBody>
      </p:sp>
      <p:sp>
        <p:nvSpPr>
          <p:cNvPr id="1221" name="Google Shape;1221;p29"/>
          <p:cNvSpPr txBox="1"/>
          <p:nvPr/>
        </p:nvSpPr>
        <p:spPr>
          <a:xfrm>
            <a:off x="1444752" y="3904488"/>
            <a:ext cx="52760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U = ⋃ followpos(p) for the selected positions</a:t>
            </a:r>
            <a:endParaRPr b="0" i="0" sz="1500" u="none" cap="none" strike="noStrike">
              <a:solidFill>
                <a:schemeClr val="dk1"/>
              </a:solidFill>
              <a:latin typeface="Arial"/>
              <a:ea typeface="Arial"/>
              <a:cs typeface="Arial"/>
              <a:sym typeface="Arial"/>
            </a:endParaRPr>
          </a:p>
        </p:txBody>
      </p:sp>
      <p:sp>
        <p:nvSpPr>
          <p:cNvPr id="1222" name="Google Shape;1222;p29"/>
          <p:cNvSpPr/>
          <p:nvPr/>
        </p:nvSpPr>
        <p:spPr>
          <a:xfrm>
            <a:off x="914400" y="4297680"/>
            <a:ext cx="384048" cy="384048"/>
          </a:xfrm>
          <a:prstGeom prst="ellipse">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9"/>
          <p:cNvSpPr txBox="1"/>
          <p:nvPr/>
        </p:nvSpPr>
        <p:spPr>
          <a:xfrm>
            <a:off x="914400" y="4297680"/>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5</a:t>
            </a:r>
            <a:endParaRPr b="0" i="0" sz="1700" u="none" cap="none" strike="noStrike">
              <a:solidFill>
                <a:schemeClr val="dk1"/>
              </a:solidFill>
              <a:latin typeface="Arial"/>
              <a:ea typeface="Arial"/>
              <a:cs typeface="Arial"/>
              <a:sym typeface="Arial"/>
            </a:endParaRPr>
          </a:p>
        </p:txBody>
      </p:sp>
      <p:sp>
        <p:nvSpPr>
          <p:cNvPr id="1224" name="Google Shape;1224;p29"/>
          <p:cNvSpPr txBox="1"/>
          <p:nvPr/>
        </p:nvSpPr>
        <p:spPr>
          <a:xfrm>
            <a:off x="1444752" y="4288536"/>
            <a:ext cx="52760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Add a transition</a:t>
            </a:r>
            <a:endParaRPr b="0" i="0" sz="1800" u="none" cap="none" strike="noStrike">
              <a:solidFill>
                <a:schemeClr val="dk1"/>
              </a:solidFill>
              <a:latin typeface="Arial"/>
              <a:ea typeface="Arial"/>
              <a:cs typeface="Arial"/>
              <a:sym typeface="Arial"/>
            </a:endParaRPr>
          </a:p>
        </p:txBody>
      </p:sp>
      <p:sp>
        <p:nvSpPr>
          <p:cNvPr id="1225" name="Google Shape;1225;p29"/>
          <p:cNvSpPr txBox="1"/>
          <p:nvPr/>
        </p:nvSpPr>
        <p:spPr>
          <a:xfrm>
            <a:off x="1444752" y="4562856"/>
            <a:ext cx="52760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δ(S,x) = U; create U if it is new</a:t>
            </a:r>
            <a:endParaRPr b="0" i="0" sz="1500" u="none" cap="none" strike="noStrike">
              <a:solidFill>
                <a:schemeClr val="dk1"/>
              </a:solidFill>
              <a:latin typeface="Arial"/>
              <a:ea typeface="Arial"/>
              <a:cs typeface="Arial"/>
              <a:sym typeface="Arial"/>
            </a:endParaRPr>
          </a:p>
        </p:txBody>
      </p:sp>
      <p:sp>
        <p:nvSpPr>
          <p:cNvPr id="1226" name="Google Shape;1226;p29"/>
          <p:cNvSpPr/>
          <p:nvPr/>
        </p:nvSpPr>
        <p:spPr>
          <a:xfrm>
            <a:off x="914400" y="4956048"/>
            <a:ext cx="384048" cy="384048"/>
          </a:xfrm>
          <a:prstGeom prst="ellipse">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9"/>
          <p:cNvSpPr txBox="1"/>
          <p:nvPr/>
        </p:nvSpPr>
        <p:spPr>
          <a:xfrm>
            <a:off x="914400" y="4956048"/>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6</a:t>
            </a:r>
            <a:endParaRPr b="0" i="0" sz="1700" u="none" cap="none" strike="noStrike">
              <a:solidFill>
                <a:schemeClr val="dk1"/>
              </a:solidFill>
              <a:latin typeface="Arial"/>
              <a:ea typeface="Arial"/>
              <a:cs typeface="Arial"/>
              <a:sym typeface="Arial"/>
            </a:endParaRPr>
          </a:p>
        </p:txBody>
      </p:sp>
      <p:sp>
        <p:nvSpPr>
          <p:cNvPr id="1228" name="Google Shape;1228;p29"/>
          <p:cNvSpPr txBox="1"/>
          <p:nvPr/>
        </p:nvSpPr>
        <p:spPr>
          <a:xfrm>
            <a:off x="1444752" y="4946904"/>
            <a:ext cx="52760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Mark accepting states</a:t>
            </a:r>
            <a:endParaRPr b="0" i="0" sz="1800" u="none" cap="none" strike="noStrike">
              <a:solidFill>
                <a:schemeClr val="dk1"/>
              </a:solidFill>
              <a:latin typeface="Arial"/>
              <a:ea typeface="Arial"/>
              <a:cs typeface="Arial"/>
              <a:sym typeface="Arial"/>
            </a:endParaRPr>
          </a:p>
        </p:txBody>
      </p:sp>
      <p:sp>
        <p:nvSpPr>
          <p:cNvPr id="1229" name="Google Shape;1229;p29"/>
          <p:cNvSpPr txBox="1"/>
          <p:nvPr/>
        </p:nvSpPr>
        <p:spPr>
          <a:xfrm>
            <a:off x="1444752" y="5221224"/>
            <a:ext cx="52760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any state containing position 6 (#)</a:t>
            </a:r>
            <a:endParaRPr b="0" i="0" sz="1500" u="none" cap="none" strike="noStrike">
              <a:solidFill>
                <a:schemeClr val="dk1"/>
              </a:solidFill>
              <a:latin typeface="Arial"/>
              <a:ea typeface="Arial"/>
              <a:cs typeface="Arial"/>
              <a:sym typeface="Arial"/>
            </a:endParaRPr>
          </a:p>
        </p:txBody>
      </p:sp>
      <p:sp>
        <p:nvSpPr>
          <p:cNvPr id="1230" name="Google Shape;1230;p29"/>
          <p:cNvSpPr/>
          <p:nvPr/>
        </p:nvSpPr>
        <p:spPr>
          <a:xfrm>
            <a:off x="7498080" y="914400"/>
            <a:ext cx="4023360" cy="2240280"/>
          </a:xfrm>
          <a:prstGeom prst="roundRect">
            <a:avLst>
              <a:gd fmla="val 3265" name="adj"/>
            </a:avLst>
          </a:prstGeom>
          <a:solidFill>
            <a:srgbClr val="F0EBF8"/>
          </a:solidFill>
          <a:ln cap="flat" cmpd="sng" w="12700">
            <a:solidFill>
              <a:srgbClr val="7B6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9"/>
          <p:cNvSpPr txBox="1"/>
          <p:nvPr/>
        </p:nvSpPr>
        <p:spPr>
          <a:xfrm>
            <a:off x="7772400" y="1207008"/>
            <a:ext cx="347472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2000"/>
              <a:buFont typeface="Arial"/>
              <a:buNone/>
            </a:pPr>
            <a:r>
              <a:rPr b="1" i="0" lang="en-US" sz="2000" u="none" cap="none" strike="noStrike">
                <a:solidFill>
                  <a:srgbClr val="7B61A8"/>
                </a:solidFill>
                <a:latin typeface="Arial"/>
                <a:ea typeface="Arial"/>
                <a:cs typeface="Arial"/>
                <a:sym typeface="Arial"/>
              </a:rPr>
              <a:t>Transition formula</a:t>
            </a:r>
            <a:endParaRPr b="0" i="0" sz="2000" u="none" cap="none" strike="noStrike">
              <a:solidFill>
                <a:schemeClr val="dk1"/>
              </a:solidFill>
              <a:latin typeface="Arial"/>
              <a:ea typeface="Arial"/>
              <a:cs typeface="Arial"/>
              <a:sym typeface="Arial"/>
            </a:endParaRPr>
          </a:p>
        </p:txBody>
      </p:sp>
      <p:sp>
        <p:nvSpPr>
          <p:cNvPr id="1232" name="Google Shape;1232;p29"/>
          <p:cNvSpPr txBox="1"/>
          <p:nvPr/>
        </p:nvSpPr>
        <p:spPr>
          <a:xfrm>
            <a:off x="7754112" y="1755648"/>
            <a:ext cx="3520440" cy="43891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400"/>
              <a:buFont typeface="Arial"/>
              <a:buNone/>
            </a:pPr>
            <a:r>
              <a:rPr b="1" i="0" lang="en-US" sz="2400" u="none" cap="none" strike="noStrike">
                <a:solidFill>
                  <a:srgbClr val="153A73"/>
                </a:solidFill>
                <a:latin typeface="Arial"/>
                <a:ea typeface="Arial"/>
                <a:cs typeface="Arial"/>
                <a:sym typeface="Arial"/>
              </a:rPr>
              <a:t>δ(S,x) = ⋃ followpos(p)</a:t>
            </a:r>
            <a:endParaRPr b="0" i="0" sz="2400" u="none" cap="none" strike="noStrike">
              <a:solidFill>
                <a:schemeClr val="dk1"/>
              </a:solidFill>
              <a:latin typeface="Arial"/>
              <a:ea typeface="Arial"/>
              <a:cs typeface="Arial"/>
              <a:sym typeface="Arial"/>
            </a:endParaRPr>
          </a:p>
        </p:txBody>
      </p:sp>
      <p:sp>
        <p:nvSpPr>
          <p:cNvPr id="1233" name="Google Shape;1233;p29"/>
          <p:cNvSpPr txBox="1"/>
          <p:nvPr/>
        </p:nvSpPr>
        <p:spPr>
          <a:xfrm>
            <a:off x="7754112" y="2240280"/>
            <a:ext cx="3520440" cy="32918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700"/>
              <a:buFont typeface="Arial"/>
              <a:buNone/>
            </a:pPr>
            <a:r>
              <a:rPr b="0" i="0" lang="en-US" sz="1700" u="none" cap="none" strike="noStrike">
                <a:solidFill>
                  <a:srgbClr val="1D2A39"/>
                </a:solidFill>
                <a:latin typeface="Arial"/>
                <a:ea typeface="Arial"/>
                <a:cs typeface="Arial"/>
                <a:sym typeface="Arial"/>
              </a:rPr>
              <a:t>for p ∈ S labeled x</a:t>
            </a:r>
            <a:endParaRPr b="0" i="0" sz="1700" u="none" cap="none" strike="noStrike">
              <a:solidFill>
                <a:schemeClr val="dk1"/>
              </a:solidFill>
              <a:latin typeface="Arial"/>
              <a:ea typeface="Arial"/>
              <a:cs typeface="Arial"/>
              <a:sym typeface="Arial"/>
            </a:endParaRPr>
          </a:p>
        </p:txBody>
      </p:sp>
      <p:sp>
        <p:nvSpPr>
          <p:cNvPr id="1234" name="Google Shape;1234;p29"/>
          <p:cNvSpPr/>
          <p:nvPr/>
        </p:nvSpPr>
        <p:spPr>
          <a:xfrm>
            <a:off x="7498080" y="3474720"/>
            <a:ext cx="4023360" cy="1463040"/>
          </a:xfrm>
          <a:prstGeom prst="roundRect">
            <a:avLst>
              <a:gd fmla="val 5000" name="adj"/>
            </a:avLst>
          </a:prstGeom>
          <a:solidFill>
            <a:srgbClr val="E8F6F2"/>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9"/>
          <p:cNvSpPr/>
          <p:nvPr/>
        </p:nvSpPr>
        <p:spPr>
          <a:xfrm>
            <a:off x="7498080" y="3474720"/>
            <a:ext cx="73152" cy="1463040"/>
          </a:xfrm>
          <a:prstGeom prst="rect">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9"/>
          <p:cNvSpPr txBox="1"/>
          <p:nvPr/>
        </p:nvSpPr>
        <p:spPr>
          <a:xfrm>
            <a:off x="7662672" y="3584448"/>
            <a:ext cx="374904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For this example</a:t>
            </a:r>
            <a:endParaRPr b="0" i="0" sz="1600" u="none" cap="none" strike="noStrike">
              <a:solidFill>
                <a:schemeClr val="dk1"/>
              </a:solidFill>
              <a:latin typeface="Arial"/>
              <a:ea typeface="Arial"/>
              <a:cs typeface="Arial"/>
              <a:sym typeface="Arial"/>
            </a:endParaRPr>
          </a:p>
        </p:txBody>
      </p:sp>
      <p:sp>
        <p:nvSpPr>
          <p:cNvPr id="1237" name="Google Shape;1237;p29"/>
          <p:cNvSpPr txBox="1"/>
          <p:nvPr/>
        </p:nvSpPr>
        <p:spPr>
          <a:xfrm>
            <a:off x="7662672" y="3959352"/>
            <a:ext cx="3749040" cy="89611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Alphabet = {a,b}</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Start state A = {1,2,3}</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Accepting states contain 6</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242" name="Shape 1242"/>
        <p:cNvGrpSpPr/>
        <p:nvPr/>
      </p:nvGrpSpPr>
      <p:grpSpPr>
        <a:xfrm>
          <a:off x="0" y="0"/>
          <a:ext cx="0" cy="0"/>
          <a:chOff x="0" y="0"/>
          <a:chExt cx="0" cy="0"/>
        </a:xfrm>
      </p:grpSpPr>
      <p:sp>
        <p:nvSpPr>
          <p:cNvPr id="1243" name="Google Shape;1243;p30"/>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0"/>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State A = {1,2,3}: calculate its transitions</a:t>
            </a:r>
            <a:endParaRPr b="0" i="0" sz="2800" u="none" cap="none" strike="noStrike">
              <a:solidFill>
                <a:schemeClr val="dk1"/>
              </a:solidFill>
              <a:latin typeface="Arial"/>
              <a:ea typeface="Arial"/>
              <a:cs typeface="Arial"/>
              <a:sym typeface="Arial"/>
            </a:endParaRPr>
          </a:p>
        </p:txBody>
      </p:sp>
      <p:sp>
        <p:nvSpPr>
          <p:cNvPr id="1245" name="Google Shape;1245;p30"/>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0"/>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State A</a:t>
            </a:r>
            <a:endParaRPr b="0" i="0" sz="1150" u="none" cap="none" strike="noStrike">
              <a:solidFill>
                <a:schemeClr val="dk1"/>
              </a:solidFill>
              <a:latin typeface="Arial"/>
              <a:ea typeface="Arial"/>
              <a:cs typeface="Arial"/>
              <a:sym typeface="Arial"/>
            </a:endParaRPr>
          </a:p>
        </p:txBody>
      </p:sp>
      <p:sp>
        <p:nvSpPr>
          <p:cNvPr id="1247" name="Google Shape;1247;p30"/>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248" name="Google Shape;1248;p30"/>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30</a:t>
            </a:r>
            <a:endParaRPr b="0" i="0" sz="950" u="none" cap="none" strike="noStrike">
              <a:solidFill>
                <a:schemeClr val="dk1"/>
              </a:solidFill>
              <a:latin typeface="Arial"/>
              <a:ea typeface="Arial"/>
              <a:cs typeface="Arial"/>
              <a:sym typeface="Arial"/>
            </a:endParaRPr>
          </a:p>
        </p:txBody>
      </p:sp>
      <p:sp>
        <p:nvSpPr>
          <p:cNvPr id="1249" name="Google Shape;1249;p30"/>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0"/>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251" name="Google Shape;1251;p30"/>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0"/>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253" name="Google Shape;1253;p30"/>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0"/>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255" name="Google Shape;1255;p30"/>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0"/>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257" name="Google Shape;1257;p30"/>
          <p:cNvSpPr/>
          <p:nvPr/>
        </p:nvSpPr>
        <p:spPr>
          <a:xfrm>
            <a:off x="868680" y="932688"/>
            <a:ext cx="370332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0"/>
          <p:cNvSpPr txBox="1"/>
          <p:nvPr/>
        </p:nvSpPr>
        <p:spPr>
          <a:xfrm>
            <a:off x="914400" y="941832"/>
            <a:ext cx="36118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A = firstpos(root) = {1,2,3}</a:t>
            </a:r>
            <a:endParaRPr b="0" i="0" sz="1600" u="none" cap="none" strike="noStrike">
              <a:solidFill>
                <a:schemeClr val="dk1"/>
              </a:solidFill>
              <a:latin typeface="Arial"/>
              <a:ea typeface="Arial"/>
              <a:cs typeface="Arial"/>
              <a:sym typeface="Arial"/>
            </a:endParaRPr>
          </a:p>
        </p:txBody>
      </p:sp>
      <p:sp>
        <p:nvSpPr>
          <p:cNvPr id="1259" name="Google Shape;1259;p30"/>
          <p:cNvSpPr/>
          <p:nvPr/>
        </p:nvSpPr>
        <p:spPr>
          <a:xfrm>
            <a:off x="658368" y="1536192"/>
            <a:ext cx="5349240" cy="3611880"/>
          </a:xfrm>
          <a:prstGeom prst="roundRect">
            <a:avLst>
              <a:gd fmla="val 2025"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0"/>
          <p:cNvSpPr txBox="1"/>
          <p:nvPr/>
        </p:nvSpPr>
        <p:spPr>
          <a:xfrm>
            <a:off x="932688" y="1810512"/>
            <a:ext cx="20116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F75BB"/>
              </a:buClr>
              <a:buSzPts val="2200"/>
              <a:buFont typeface="Arial"/>
              <a:buNone/>
            </a:pPr>
            <a:r>
              <a:rPr b="1" i="0" lang="en-US" sz="2200" u="none" cap="none" strike="noStrike">
                <a:solidFill>
                  <a:srgbClr val="1F75BB"/>
                </a:solidFill>
                <a:latin typeface="Arial"/>
                <a:ea typeface="Arial"/>
                <a:cs typeface="Arial"/>
                <a:sym typeface="Arial"/>
              </a:rPr>
              <a:t>Input a</a:t>
            </a:r>
            <a:endParaRPr b="0" i="0" sz="2200" u="none" cap="none" strike="noStrike">
              <a:solidFill>
                <a:schemeClr val="dk1"/>
              </a:solidFill>
              <a:latin typeface="Arial"/>
              <a:ea typeface="Arial"/>
              <a:cs typeface="Arial"/>
              <a:sym typeface="Arial"/>
            </a:endParaRPr>
          </a:p>
        </p:txBody>
      </p:sp>
      <p:sp>
        <p:nvSpPr>
          <p:cNvPr id="1261" name="Google Shape;1261;p30"/>
          <p:cNvSpPr txBox="1"/>
          <p:nvPr/>
        </p:nvSpPr>
        <p:spPr>
          <a:xfrm>
            <a:off x="932688" y="2331720"/>
            <a:ext cx="457200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Positions in A labeled a: 1 and 3</a:t>
            </a:r>
            <a:endParaRPr b="0" i="0" sz="1900" u="none" cap="none" strike="noStrike">
              <a:solidFill>
                <a:schemeClr val="dk1"/>
              </a:solidFill>
              <a:latin typeface="Arial"/>
              <a:ea typeface="Arial"/>
              <a:cs typeface="Arial"/>
              <a:sym typeface="Arial"/>
            </a:endParaRPr>
          </a:p>
        </p:txBody>
      </p:sp>
      <p:sp>
        <p:nvSpPr>
          <p:cNvPr id="1262" name="Google Shape;1262;p30"/>
          <p:cNvSpPr txBox="1"/>
          <p:nvPr/>
        </p:nvSpPr>
        <p:spPr>
          <a:xfrm>
            <a:off x="932688" y="2834640"/>
            <a:ext cx="45720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1900"/>
              <a:buFont typeface="Arial"/>
              <a:buNone/>
            </a:pPr>
            <a:r>
              <a:rPr b="1" i="0" lang="en-US" sz="1900" u="none" cap="none" strike="noStrike">
                <a:solidFill>
                  <a:srgbClr val="153A73"/>
                </a:solidFill>
                <a:latin typeface="Arial"/>
                <a:ea typeface="Arial"/>
                <a:cs typeface="Arial"/>
                <a:sym typeface="Arial"/>
              </a:rPr>
              <a:t>followpos(1) ∪ followpos(3)</a:t>
            </a:r>
            <a:endParaRPr b="0" i="0" sz="1900" u="none" cap="none" strike="noStrike">
              <a:solidFill>
                <a:schemeClr val="dk1"/>
              </a:solidFill>
              <a:latin typeface="Arial"/>
              <a:ea typeface="Arial"/>
              <a:cs typeface="Arial"/>
              <a:sym typeface="Arial"/>
            </a:endParaRPr>
          </a:p>
        </p:txBody>
      </p:sp>
      <p:sp>
        <p:nvSpPr>
          <p:cNvPr id="1263" name="Google Shape;1263;p30"/>
          <p:cNvSpPr txBox="1"/>
          <p:nvPr/>
        </p:nvSpPr>
        <p:spPr>
          <a:xfrm>
            <a:off x="932688" y="3328416"/>
            <a:ext cx="457200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000"/>
              <a:buFont typeface="Arial"/>
              <a:buNone/>
            </a:pPr>
            <a:r>
              <a:rPr b="1" i="0" lang="en-US" sz="2000" u="none" cap="none" strike="noStrike">
                <a:solidFill>
                  <a:srgbClr val="1F75BB"/>
                </a:solidFill>
                <a:latin typeface="Arial"/>
                <a:ea typeface="Arial"/>
                <a:cs typeface="Arial"/>
                <a:sym typeface="Arial"/>
              </a:rPr>
              <a:t>= {1,2,3} ∪ {4} = {1,2,3,4}</a:t>
            </a:r>
            <a:endParaRPr b="0" i="0" sz="2000" u="none" cap="none" strike="noStrike">
              <a:solidFill>
                <a:schemeClr val="dk1"/>
              </a:solidFill>
              <a:latin typeface="Arial"/>
              <a:ea typeface="Arial"/>
              <a:cs typeface="Arial"/>
              <a:sym typeface="Arial"/>
            </a:endParaRPr>
          </a:p>
        </p:txBody>
      </p:sp>
      <p:sp>
        <p:nvSpPr>
          <p:cNvPr id="1264" name="Google Shape;1264;p30"/>
          <p:cNvSpPr/>
          <p:nvPr/>
        </p:nvSpPr>
        <p:spPr>
          <a:xfrm>
            <a:off x="1901952" y="4096512"/>
            <a:ext cx="278892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0"/>
          <p:cNvSpPr txBox="1"/>
          <p:nvPr/>
        </p:nvSpPr>
        <p:spPr>
          <a:xfrm>
            <a:off x="1947672" y="4105656"/>
            <a:ext cx="26974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700"/>
              <a:buFont typeface="Arial"/>
              <a:buNone/>
            </a:pPr>
            <a:r>
              <a:rPr b="1" i="0" lang="en-US" sz="1700" u="none" cap="none" strike="noStrike">
                <a:solidFill>
                  <a:srgbClr val="1F75BB"/>
                </a:solidFill>
                <a:latin typeface="Arial"/>
                <a:ea typeface="Arial"/>
                <a:cs typeface="Arial"/>
                <a:sym typeface="Arial"/>
              </a:rPr>
              <a:t>δ(A,a) = B</a:t>
            </a:r>
            <a:endParaRPr b="0" i="0" sz="1700" u="none" cap="none" strike="noStrike">
              <a:solidFill>
                <a:schemeClr val="dk1"/>
              </a:solidFill>
              <a:latin typeface="Arial"/>
              <a:ea typeface="Arial"/>
              <a:cs typeface="Arial"/>
              <a:sym typeface="Arial"/>
            </a:endParaRPr>
          </a:p>
        </p:txBody>
      </p:sp>
      <p:sp>
        <p:nvSpPr>
          <p:cNvPr id="1266" name="Google Shape;1266;p30"/>
          <p:cNvSpPr/>
          <p:nvPr/>
        </p:nvSpPr>
        <p:spPr>
          <a:xfrm>
            <a:off x="6236208" y="1536192"/>
            <a:ext cx="5303520" cy="3611880"/>
          </a:xfrm>
          <a:prstGeom prst="roundRect">
            <a:avLst>
              <a:gd fmla="val 2025"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0"/>
          <p:cNvSpPr txBox="1"/>
          <p:nvPr/>
        </p:nvSpPr>
        <p:spPr>
          <a:xfrm>
            <a:off x="6510528" y="1810512"/>
            <a:ext cx="201168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A261"/>
              </a:buClr>
              <a:buSzPts val="2200"/>
              <a:buFont typeface="Arial"/>
              <a:buNone/>
            </a:pPr>
            <a:r>
              <a:rPr b="1" i="0" lang="en-US" sz="2200" u="none" cap="none" strike="noStrike">
                <a:solidFill>
                  <a:srgbClr val="F4A261"/>
                </a:solidFill>
                <a:latin typeface="Arial"/>
                <a:ea typeface="Arial"/>
                <a:cs typeface="Arial"/>
                <a:sym typeface="Arial"/>
              </a:rPr>
              <a:t>Input b</a:t>
            </a:r>
            <a:endParaRPr b="0" i="0" sz="2200" u="none" cap="none" strike="noStrike">
              <a:solidFill>
                <a:schemeClr val="dk1"/>
              </a:solidFill>
              <a:latin typeface="Arial"/>
              <a:ea typeface="Arial"/>
              <a:cs typeface="Arial"/>
              <a:sym typeface="Arial"/>
            </a:endParaRPr>
          </a:p>
        </p:txBody>
      </p:sp>
      <p:sp>
        <p:nvSpPr>
          <p:cNvPr id="1268" name="Google Shape;1268;p30"/>
          <p:cNvSpPr txBox="1"/>
          <p:nvPr/>
        </p:nvSpPr>
        <p:spPr>
          <a:xfrm>
            <a:off x="6510528" y="2331720"/>
            <a:ext cx="448056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Position in A labeled b: 2</a:t>
            </a:r>
            <a:endParaRPr b="0" i="0" sz="1900" u="none" cap="none" strike="noStrike">
              <a:solidFill>
                <a:schemeClr val="dk1"/>
              </a:solidFill>
              <a:latin typeface="Arial"/>
              <a:ea typeface="Arial"/>
              <a:cs typeface="Arial"/>
              <a:sym typeface="Arial"/>
            </a:endParaRPr>
          </a:p>
        </p:txBody>
      </p:sp>
      <p:sp>
        <p:nvSpPr>
          <p:cNvPr id="1269" name="Google Shape;1269;p30"/>
          <p:cNvSpPr txBox="1"/>
          <p:nvPr/>
        </p:nvSpPr>
        <p:spPr>
          <a:xfrm>
            <a:off x="6510528" y="2834640"/>
            <a:ext cx="448056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1900"/>
              <a:buFont typeface="Arial"/>
              <a:buNone/>
            </a:pPr>
            <a:r>
              <a:rPr b="1" i="0" lang="en-US" sz="1900" u="none" cap="none" strike="noStrike">
                <a:solidFill>
                  <a:srgbClr val="153A73"/>
                </a:solidFill>
                <a:latin typeface="Arial"/>
                <a:ea typeface="Arial"/>
                <a:cs typeface="Arial"/>
                <a:sym typeface="Arial"/>
              </a:rPr>
              <a:t>followpos(2)</a:t>
            </a:r>
            <a:endParaRPr b="0" i="0" sz="1900" u="none" cap="none" strike="noStrike">
              <a:solidFill>
                <a:schemeClr val="dk1"/>
              </a:solidFill>
              <a:latin typeface="Arial"/>
              <a:ea typeface="Arial"/>
              <a:cs typeface="Arial"/>
              <a:sym typeface="Arial"/>
            </a:endParaRPr>
          </a:p>
        </p:txBody>
      </p:sp>
      <p:sp>
        <p:nvSpPr>
          <p:cNvPr id="1270" name="Google Shape;1270;p30"/>
          <p:cNvSpPr txBox="1"/>
          <p:nvPr/>
        </p:nvSpPr>
        <p:spPr>
          <a:xfrm>
            <a:off x="6510528" y="3328416"/>
            <a:ext cx="448056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000"/>
              <a:buFont typeface="Arial"/>
              <a:buNone/>
            </a:pPr>
            <a:r>
              <a:rPr b="1" i="0" lang="en-US" sz="2000" u="none" cap="none" strike="noStrike">
                <a:solidFill>
                  <a:srgbClr val="F4A261"/>
                </a:solidFill>
                <a:latin typeface="Arial"/>
                <a:ea typeface="Arial"/>
                <a:cs typeface="Arial"/>
                <a:sym typeface="Arial"/>
              </a:rPr>
              <a:t>= {1,2,3}</a:t>
            </a:r>
            <a:endParaRPr b="0" i="0" sz="2000" u="none" cap="none" strike="noStrike">
              <a:solidFill>
                <a:schemeClr val="dk1"/>
              </a:solidFill>
              <a:latin typeface="Arial"/>
              <a:ea typeface="Arial"/>
              <a:cs typeface="Arial"/>
              <a:sym typeface="Arial"/>
            </a:endParaRPr>
          </a:p>
        </p:txBody>
      </p:sp>
      <p:sp>
        <p:nvSpPr>
          <p:cNvPr id="1271" name="Google Shape;1271;p30"/>
          <p:cNvSpPr/>
          <p:nvPr/>
        </p:nvSpPr>
        <p:spPr>
          <a:xfrm>
            <a:off x="7479792" y="4096512"/>
            <a:ext cx="278892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0"/>
          <p:cNvSpPr txBox="1"/>
          <p:nvPr/>
        </p:nvSpPr>
        <p:spPr>
          <a:xfrm>
            <a:off x="7525512" y="4105656"/>
            <a:ext cx="26974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700"/>
              <a:buFont typeface="Arial"/>
              <a:buNone/>
            </a:pPr>
            <a:r>
              <a:rPr b="1" i="0" lang="en-US" sz="1700" u="none" cap="none" strike="noStrike">
                <a:solidFill>
                  <a:srgbClr val="F4A261"/>
                </a:solidFill>
                <a:latin typeface="Arial"/>
                <a:ea typeface="Arial"/>
                <a:cs typeface="Arial"/>
                <a:sym typeface="Arial"/>
              </a:rPr>
              <a:t>δ(A,b) = A</a:t>
            </a:r>
            <a:endParaRPr b="0" i="0" sz="1700" u="none" cap="none" strike="noStrike">
              <a:solidFill>
                <a:schemeClr val="dk1"/>
              </a:solidFill>
              <a:latin typeface="Arial"/>
              <a:ea typeface="Arial"/>
              <a:cs typeface="Arial"/>
              <a:sym typeface="Arial"/>
            </a:endParaRPr>
          </a:p>
        </p:txBody>
      </p:sp>
      <p:sp>
        <p:nvSpPr>
          <p:cNvPr id="1273" name="Google Shape;1273;p30"/>
          <p:cNvSpPr txBox="1"/>
          <p:nvPr/>
        </p:nvSpPr>
        <p:spPr>
          <a:xfrm>
            <a:off x="3611880" y="5468112"/>
            <a:ext cx="493776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2100"/>
              <a:buFont typeface="Arial"/>
              <a:buNone/>
            </a:pPr>
            <a:r>
              <a:rPr b="1" i="0" lang="en-US" sz="2100" u="none" cap="none" strike="noStrike">
                <a:solidFill>
                  <a:srgbClr val="7B61A8"/>
                </a:solidFill>
                <a:latin typeface="Arial"/>
                <a:ea typeface="Arial"/>
                <a:cs typeface="Arial"/>
                <a:sym typeface="Arial"/>
              </a:rPr>
              <a:t>New state discovered: B = {1,2,3,4}</a:t>
            </a:r>
            <a:endParaRPr b="0" i="0" sz="2100" u="none" cap="none" strike="noStrik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278" name="Shape 1278"/>
        <p:cNvGrpSpPr/>
        <p:nvPr/>
      </p:nvGrpSpPr>
      <p:grpSpPr>
        <a:xfrm>
          <a:off x="0" y="0"/>
          <a:ext cx="0" cy="0"/>
          <a:chOff x="0" y="0"/>
          <a:chExt cx="0" cy="0"/>
        </a:xfrm>
      </p:grpSpPr>
      <p:sp>
        <p:nvSpPr>
          <p:cNvPr id="1279" name="Google Shape;1279;p31"/>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1"/>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State B = {1,2,3,4}: calculate its transitions</a:t>
            </a:r>
            <a:endParaRPr b="0" i="0" sz="2800" u="none" cap="none" strike="noStrike">
              <a:solidFill>
                <a:schemeClr val="dk1"/>
              </a:solidFill>
              <a:latin typeface="Arial"/>
              <a:ea typeface="Arial"/>
              <a:cs typeface="Arial"/>
              <a:sym typeface="Arial"/>
            </a:endParaRPr>
          </a:p>
        </p:txBody>
      </p:sp>
      <p:sp>
        <p:nvSpPr>
          <p:cNvPr id="1281" name="Google Shape;1281;p31"/>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1"/>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State B</a:t>
            </a:r>
            <a:endParaRPr b="0" i="0" sz="1150" u="none" cap="none" strike="noStrike">
              <a:solidFill>
                <a:schemeClr val="dk1"/>
              </a:solidFill>
              <a:latin typeface="Arial"/>
              <a:ea typeface="Arial"/>
              <a:cs typeface="Arial"/>
              <a:sym typeface="Arial"/>
            </a:endParaRPr>
          </a:p>
        </p:txBody>
      </p:sp>
      <p:sp>
        <p:nvSpPr>
          <p:cNvPr id="1283" name="Google Shape;1283;p31"/>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284" name="Google Shape;1284;p31"/>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31</a:t>
            </a:r>
            <a:endParaRPr b="0" i="0" sz="950" u="none" cap="none" strike="noStrike">
              <a:solidFill>
                <a:schemeClr val="dk1"/>
              </a:solidFill>
              <a:latin typeface="Arial"/>
              <a:ea typeface="Arial"/>
              <a:cs typeface="Arial"/>
              <a:sym typeface="Arial"/>
            </a:endParaRPr>
          </a:p>
        </p:txBody>
      </p:sp>
      <p:sp>
        <p:nvSpPr>
          <p:cNvPr id="1285" name="Google Shape;1285;p31"/>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1"/>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287" name="Google Shape;1287;p31"/>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1"/>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289" name="Google Shape;1289;p31"/>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1"/>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291" name="Google Shape;1291;p31"/>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1"/>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293" name="Google Shape;1293;p31"/>
          <p:cNvSpPr/>
          <p:nvPr/>
        </p:nvSpPr>
        <p:spPr>
          <a:xfrm>
            <a:off x="658368" y="1024128"/>
            <a:ext cx="5394960" cy="4343400"/>
          </a:xfrm>
          <a:prstGeom prst="roundRect">
            <a:avLst>
              <a:gd fmla="val 1684"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1"/>
          <p:cNvSpPr txBox="1"/>
          <p:nvPr/>
        </p:nvSpPr>
        <p:spPr>
          <a:xfrm>
            <a:off x="932688" y="1325880"/>
            <a:ext cx="48463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200"/>
              <a:buFont typeface="Arial"/>
              <a:buNone/>
            </a:pPr>
            <a:r>
              <a:rPr b="1" i="0" lang="en-US" sz="2200" u="none" cap="none" strike="noStrike">
                <a:solidFill>
                  <a:srgbClr val="1F75BB"/>
                </a:solidFill>
                <a:latin typeface="Arial"/>
                <a:ea typeface="Arial"/>
                <a:cs typeface="Arial"/>
                <a:sym typeface="Arial"/>
              </a:rPr>
              <a:t>On input a</a:t>
            </a:r>
            <a:endParaRPr b="0" i="0" sz="2200" u="none" cap="none" strike="noStrike">
              <a:solidFill>
                <a:schemeClr val="dk1"/>
              </a:solidFill>
              <a:latin typeface="Arial"/>
              <a:ea typeface="Arial"/>
              <a:cs typeface="Arial"/>
              <a:sym typeface="Arial"/>
            </a:endParaRPr>
          </a:p>
        </p:txBody>
      </p:sp>
      <p:sp>
        <p:nvSpPr>
          <p:cNvPr id="1295" name="Google Shape;1295;p31"/>
          <p:cNvSpPr txBox="1"/>
          <p:nvPr/>
        </p:nvSpPr>
        <p:spPr>
          <a:xfrm>
            <a:off x="932688" y="1938528"/>
            <a:ext cx="48463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a-labeled positions in B: 1 and 3</a:t>
            </a:r>
            <a:endParaRPr b="0" i="0" sz="1900" u="none" cap="none" strike="noStrike">
              <a:solidFill>
                <a:schemeClr val="dk1"/>
              </a:solidFill>
              <a:latin typeface="Arial"/>
              <a:ea typeface="Arial"/>
              <a:cs typeface="Arial"/>
              <a:sym typeface="Arial"/>
            </a:endParaRPr>
          </a:p>
        </p:txBody>
      </p:sp>
      <p:sp>
        <p:nvSpPr>
          <p:cNvPr id="1296" name="Google Shape;1296;p31"/>
          <p:cNvSpPr txBox="1"/>
          <p:nvPr/>
        </p:nvSpPr>
        <p:spPr>
          <a:xfrm>
            <a:off x="932688" y="2560320"/>
            <a:ext cx="484632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100"/>
              <a:buFont typeface="Arial"/>
              <a:buNone/>
            </a:pPr>
            <a:r>
              <a:rPr b="1" i="0" lang="en-US" sz="2100" u="none" cap="none" strike="noStrike">
                <a:solidFill>
                  <a:srgbClr val="1F75BB"/>
                </a:solidFill>
                <a:latin typeface="Arial"/>
                <a:ea typeface="Arial"/>
                <a:cs typeface="Arial"/>
                <a:sym typeface="Arial"/>
              </a:rPr>
              <a:t>{1,2,3} ∪ {4} = {1,2,3,4}</a:t>
            </a:r>
            <a:endParaRPr b="0" i="0" sz="2100" u="none" cap="none" strike="noStrike">
              <a:solidFill>
                <a:schemeClr val="dk1"/>
              </a:solidFill>
              <a:latin typeface="Arial"/>
              <a:ea typeface="Arial"/>
              <a:cs typeface="Arial"/>
              <a:sym typeface="Arial"/>
            </a:endParaRPr>
          </a:p>
        </p:txBody>
      </p:sp>
      <p:sp>
        <p:nvSpPr>
          <p:cNvPr id="1297" name="Google Shape;1297;p31"/>
          <p:cNvSpPr/>
          <p:nvPr/>
        </p:nvSpPr>
        <p:spPr>
          <a:xfrm>
            <a:off x="1938528" y="3273552"/>
            <a:ext cx="283464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1"/>
          <p:cNvSpPr txBox="1"/>
          <p:nvPr/>
        </p:nvSpPr>
        <p:spPr>
          <a:xfrm>
            <a:off x="1984248" y="3282696"/>
            <a:ext cx="27432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700"/>
              <a:buFont typeface="Arial"/>
              <a:buNone/>
            </a:pPr>
            <a:r>
              <a:rPr b="1" i="0" lang="en-US" sz="1700" u="none" cap="none" strike="noStrike">
                <a:solidFill>
                  <a:srgbClr val="1F75BB"/>
                </a:solidFill>
                <a:latin typeface="Arial"/>
                <a:ea typeface="Arial"/>
                <a:cs typeface="Arial"/>
                <a:sym typeface="Arial"/>
              </a:rPr>
              <a:t>δ(B,a) = B</a:t>
            </a:r>
            <a:endParaRPr b="0" i="0" sz="1700" u="none" cap="none" strike="noStrike">
              <a:solidFill>
                <a:schemeClr val="dk1"/>
              </a:solidFill>
              <a:latin typeface="Arial"/>
              <a:ea typeface="Arial"/>
              <a:cs typeface="Arial"/>
              <a:sym typeface="Arial"/>
            </a:endParaRPr>
          </a:p>
        </p:txBody>
      </p:sp>
      <p:sp>
        <p:nvSpPr>
          <p:cNvPr id="1299" name="Google Shape;1299;p31"/>
          <p:cNvSpPr txBox="1"/>
          <p:nvPr/>
        </p:nvSpPr>
        <p:spPr>
          <a:xfrm>
            <a:off x="1417320" y="4069080"/>
            <a:ext cx="384048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B has a self-loop on a.</a:t>
            </a:r>
            <a:endParaRPr b="0" i="0" sz="1800" u="none" cap="none" strike="noStrike">
              <a:solidFill>
                <a:schemeClr val="dk1"/>
              </a:solidFill>
              <a:latin typeface="Arial"/>
              <a:ea typeface="Arial"/>
              <a:cs typeface="Arial"/>
              <a:sym typeface="Arial"/>
            </a:endParaRPr>
          </a:p>
        </p:txBody>
      </p:sp>
      <p:sp>
        <p:nvSpPr>
          <p:cNvPr id="1300" name="Google Shape;1300;p31"/>
          <p:cNvSpPr/>
          <p:nvPr/>
        </p:nvSpPr>
        <p:spPr>
          <a:xfrm>
            <a:off x="6327648" y="1024128"/>
            <a:ext cx="5212080" cy="4343400"/>
          </a:xfrm>
          <a:prstGeom prst="roundRect">
            <a:avLst>
              <a:gd fmla="val 1684"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1"/>
          <p:cNvSpPr txBox="1"/>
          <p:nvPr/>
        </p:nvSpPr>
        <p:spPr>
          <a:xfrm>
            <a:off x="6601968" y="1325880"/>
            <a:ext cx="466344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200"/>
              <a:buFont typeface="Arial"/>
              <a:buNone/>
            </a:pPr>
            <a:r>
              <a:rPr b="1" i="0" lang="en-US" sz="2200" u="none" cap="none" strike="noStrike">
                <a:solidFill>
                  <a:srgbClr val="F4A261"/>
                </a:solidFill>
                <a:latin typeface="Arial"/>
                <a:ea typeface="Arial"/>
                <a:cs typeface="Arial"/>
                <a:sym typeface="Arial"/>
              </a:rPr>
              <a:t>On input b</a:t>
            </a:r>
            <a:endParaRPr b="0" i="0" sz="2200" u="none" cap="none" strike="noStrike">
              <a:solidFill>
                <a:schemeClr val="dk1"/>
              </a:solidFill>
              <a:latin typeface="Arial"/>
              <a:ea typeface="Arial"/>
              <a:cs typeface="Arial"/>
              <a:sym typeface="Arial"/>
            </a:endParaRPr>
          </a:p>
        </p:txBody>
      </p:sp>
      <p:sp>
        <p:nvSpPr>
          <p:cNvPr id="1302" name="Google Shape;1302;p31"/>
          <p:cNvSpPr txBox="1"/>
          <p:nvPr/>
        </p:nvSpPr>
        <p:spPr>
          <a:xfrm>
            <a:off x="6601968" y="1938528"/>
            <a:ext cx="466344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b-labeled positions in B: 2 and 4</a:t>
            </a:r>
            <a:endParaRPr b="0" i="0" sz="1900" u="none" cap="none" strike="noStrike">
              <a:solidFill>
                <a:schemeClr val="dk1"/>
              </a:solidFill>
              <a:latin typeface="Arial"/>
              <a:ea typeface="Arial"/>
              <a:cs typeface="Arial"/>
              <a:sym typeface="Arial"/>
            </a:endParaRPr>
          </a:p>
        </p:txBody>
      </p:sp>
      <p:sp>
        <p:nvSpPr>
          <p:cNvPr id="1303" name="Google Shape;1303;p31"/>
          <p:cNvSpPr txBox="1"/>
          <p:nvPr/>
        </p:nvSpPr>
        <p:spPr>
          <a:xfrm>
            <a:off x="6601968" y="2560320"/>
            <a:ext cx="466344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100"/>
              <a:buFont typeface="Arial"/>
              <a:buNone/>
            </a:pPr>
            <a:r>
              <a:rPr b="1" i="0" lang="en-US" sz="2100" u="none" cap="none" strike="noStrike">
                <a:solidFill>
                  <a:srgbClr val="F4A261"/>
                </a:solidFill>
                <a:latin typeface="Arial"/>
                <a:ea typeface="Arial"/>
                <a:cs typeface="Arial"/>
                <a:sym typeface="Arial"/>
              </a:rPr>
              <a:t>{1,2,3} ∪ {5} = {1,2,3,5}</a:t>
            </a:r>
            <a:endParaRPr b="0" i="0" sz="2100" u="none" cap="none" strike="noStrike">
              <a:solidFill>
                <a:schemeClr val="dk1"/>
              </a:solidFill>
              <a:latin typeface="Arial"/>
              <a:ea typeface="Arial"/>
              <a:cs typeface="Arial"/>
              <a:sym typeface="Arial"/>
            </a:endParaRPr>
          </a:p>
        </p:txBody>
      </p:sp>
      <p:sp>
        <p:nvSpPr>
          <p:cNvPr id="1304" name="Google Shape;1304;p31"/>
          <p:cNvSpPr/>
          <p:nvPr/>
        </p:nvSpPr>
        <p:spPr>
          <a:xfrm>
            <a:off x="7571232" y="3273552"/>
            <a:ext cx="283464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1"/>
          <p:cNvSpPr txBox="1"/>
          <p:nvPr/>
        </p:nvSpPr>
        <p:spPr>
          <a:xfrm>
            <a:off x="7616952" y="3282696"/>
            <a:ext cx="27432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700"/>
              <a:buFont typeface="Arial"/>
              <a:buNone/>
            </a:pPr>
            <a:r>
              <a:rPr b="1" i="0" lang="en-US" sz="1700" u="none" cap="none" strike="noStrike">
                <a:solidFill>
                  <a:srgbClr val="F4A261"/>
                </a:solidFill>
                <a:latin typeface="Arial"/>
                <a:ea typeface="Arial"/>
                <a:cs typeface="Arial"/>
                <a:sym typeface="Arial"/>
              </a:rPr>
              <a:t>δ(B,b) = C</a:t>
            </a:r>
            <a:endParaRPr b="0" i="0" sz="1700" u="none" cap="none" strike="noStrike">
              <a:solidFill>
                <a:schemeClr val="dk1"/>
              </a:solidFill>
              <a:latin typeface="Arial"/>
              <a:ea typeface="Arial"/>
              <a:cs typeface="Arial"/>
              <a:sym typeface="Arial"/>
            </a:endParaRPr>
          </a:p>
        </p:txBody>
      </p:sp>
      <p:sp>
        <p:nvSpPr>
          <p:cNvPr id="1306" name="Google Shape;1306;p31"/>
          <p:cNvSpPr txBox="1"/>
          <p:nvPr/>
        </p:nvSpPr>
        <p:spPr>
          <a:xfrm>
            <a:off x="6839712" y="4069080"/>
            <a:ext cx="416052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800"/>
              <a:buFont typeface="Arial"/>
              <a:buNone/>
            </a:pPr>
            <a:r>
              <a:rPr b="1" i="0" lang="en-US" sz="1800" u="none" cap="none" strike="noStrike">
                <a:solidFill>
                  <a:srgbClr val="7B61A8"/>
                </a:solidFill>
                <a:latin typeface="Arial"/>
                <a:ea typeface="Arial"/>
                <a:cs typeface="Arial"/>
                <a:sym typeface="Arial"/>
              </a:rPr>
              <a:t>New state: C = {1,2,3,5}</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311" name="Shape 1311"/>
        <p:cNvGrpSpPr/>
        <p:nvPr/>
      </p:nvGrpSpPr>
      <p:grpSpPr>
        <a:xfrm>
          <a:off x="0" y="0"/>
          <a:ext cx="0" cy="0"/>
          <a:chOff x="0" y="0"/>
          <a:chExt cx="0" cy="0"/>
        </a:xfrm>
      </p:grpSpPr>
      <p:sp>
        <p:nvSpPr>
          <p:cNvPr id="1312" name="Google Shape;1312;p32"/>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2"/>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State C = {1,2,3,5}: calculate its transitions</a:t>
            </a:r>
            <a:endParaRPr b="0" i="0" sz="2800" u="none" cap="none" strike="noStrike">
              <a:solidFill>
                <a:schemeClr val="dk1"/>
              </a:solidFill>
              <a:latin typeface="Arial"/>
              <a:ea typeface="Arial"/>
              <a:cs typeface="Arial"/>
              <a:sym typeface="Arial"/>
            </a:endParaRPr>
          </a:p>
        </p:txBody>
      </p:sp>
      <p:sp>
        <p:nvSpPr>
          <p:cNvPr id="1314" name="Google Shape;1314;p32"/>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2"/>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State C</a:t>
            </a:r>
            <a:endParaRPr b="0" i="0" sz="1150" u="none" cap="none" strike="noStrike">
              <a:solidFill>
                <a:schemeClr val="dk1"/>
              </a:solidFill>
              <a:latin typeface="Arial"/>
              <a:ea typeface="Arial"/>
              <a:cs typeface="Arial"/>
              <a:sym typeface="Arial"/>
            </a:endParaRPr>
          </a:p>
        </p:txBody>
      </p:sp>
      <p:sp>
        <p:nvSpPr>
          <p:cNvPr id="1316" name="Google Shape;1316;p32"/>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317" name="Google Shape;1317;p32"/>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32</a:t>
            </a:r>
            <a:endParaRPr b="0" i="0" sz="950" u="none" cap="none" strike="noStrike">
              <a:solidFill>
                <a:schemeClr val="dk1"/>
              </a:solidFill>
              <a:latin typeface="Arial"/>
              <a:ea typeface="Arial"/>
              <a:cs typeface="Arial"/>
              <a:sym typeface="Arial"/>
            </a:endParaRPr>
          </a:p>
        </p:txBody>
      </p:sp>
      <p:sp>
        <p:nvSpPr>
          <p:cNvPr id="1318" name="Google Shape;1318;p32"/>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2"/>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320" name="Google Shape;1320;p32"/>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2"/>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322" name="Google Shape;1322;p32"/>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2"/>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324" name="Google Shape;1324;p32"/>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2"/>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326" name="Google Shape;1326;p32"/>
          <p:cNvSpPr/>
          <p:nvPr/>
        </p:nvSpPr>
        <p:spPr>
          <a:xfrm>
            <a:off x="658368" y="1024128"/>
            <a:ext cx="5394960" cy="4343400"/>
          </a:xfrm>
          <a:prstGeom prst="roundRect">
            <a:avLst>
              <a:gd fmla="val 1684"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2"/>
          <p:cNvSpPr txBox="1"/>
          <p:nvPr/>
        </p:nvSpPr>
        <p:spPr>
          <a:xfrm>
            <a:off x="932688" y="1325880"/>
            <a:ext cx="48463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200"/>
              <a:buFont typeface="Arial"/>
              <a:buNone/>
            </a:pPr>
            <a:r>
              <a:rPr b="1" i="0" lang="en-US" sz="2200" u="none" cap="none" strike="noStrike">
                <a:solidFill>
                  <a:srgbClr val="1F75BB"/>
                </a:solidFill>
                <a:latin typeface="Arial"/>
                <a:ea typeface="Arial"/>
                <a:cs typeface="Arial"/>
                <a:sym typeface="Arial"/>
              </a:rPr>
              <a:t>On input a</a:t>
            </a:r>
            <a:endParaRPr b="0" i="0" sz="2200" u="none" cap="none" strike="noStrike">
              <a:solidFill>
                <a:schemeClr val="dk1"/>
              </a:solidFill>
              <a:latin typeface="Arial"/>
              <a:ea typeface="Arial"/>
              <a:cs typeface="Arial"/>
              <a:sym typeface="Arial"/>
            </a:endParaRPr>
          </a:p>
        </p:txBody>
      </p:sp>
      <p:sp>
        <p:nvSpPr>
          <p:cNvPr id="1328" name="Google Shape;1328;p32"/>
          <p:cNvSpPr txBox="1"/>
          <p:nvPr/>
        </p:nvSpPr>
        <p:spPr>
          <a:xfrm>
            <a:off x="932688" y="1938528"/>
            <a:ext cx="484632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a-labeled positions in C: 1 and 3</a:t>
            </a:r>
            <a:endParaRPr b="0" i="0" sz="1900" u="none" cap="none" strike="noStrike">
              <a:solidFill>
                <a:schemeClr val="dk1"/>
              </a:solidFill>
              <a:latin typeface="Arial"/>
              <a:ea typeface="Arial"/>
              <a:cs typeface="Arial"/>
              <a:sym typeface="Arial"/>
            </a:endParaRPr>
          </a:p>
        </p:txBody>
      </p:sp>
      <p:sp>
        <p:nvSpPr>
          <p:cNvPr id="1329" name="Google Shape;1329;p32"/>
          <p:cNvSpPr txBox="1"/>
          <p:nvPr/>
        </p:nvSpPr>
        <p:spPr>
          <a:xfrm>
            <a:off x="932688" y="2560320"/>
            <a:ext cx="484632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100"/>
              <a:buFont typeface="Arial"/>
              <a:buNone/>
            </a:pPr>
            <a:r>
              <a:rPr b="1" i="0" lang="en-US" sz="2100" u="none" cap="none" strike="noStrike">
                <a:solidFill>
                  <a:srgbClr val="1F75BB"/>
                </a:solidFill>
                <a:latin typeface="Arial"/>
                <a:ea typeface="Arial"/>
                <a:cs typeface="Arial"/>
                <a:sym typeface="Arial"/>
              </a:rPr>
              <a:t>{1,2,3} ∪ {4} = {1,2,3,4}</a:t>
            </a:r>
            <a:endParaRPr b="0" i="0" sz="2100" u="none" cap="none" strike="noStrike">
              <a:solidFill>
                <a:schemeClr val="dk1"/>
              </a:solidFill>
              <a:latin typeface="Arial"/>
              <a:ea typeface="Arial"/>
              <a:cs typeface="Arial"/>
              <a:sym typeface="Arial"/>
            </a:endParaRPr>
          </a:p>
        </p:txBody>
      </p:sp>
      <p:sp>
        <p:nvSpPr>
          <p:cNvPr id="1330" name="Google Shape;1330;p32"/>
          <p:cNvSpPr/>
          <p:nvPr/>
        </p:nvSpPr>
        <p:spPr>
          <a:xfrm>
            <a:off x="1938528" y="3273552"/>
            <a:ext cx="283464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2"/>
          <p:cNvSpPr txBox="1"/>
          <p:nvPr/>
        </p:nvSpPr>
        <p:spPr>
          <a:xfrm>
            <a:off x="1984248" y="3282696"/>
            <a:ext cx="27432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700"/>
              <a:buFont typeface="Arial"/>
              <a:buNone/>
            </a:pPr>
            <a:r>
              <a:rPr b="1" i="0" lang="en-US" sz="1700" u="none" cap="none" strike="noStrike">
                <a:solidFill>
                  <a:srgbClr val="1F75BB"/>
                </a:solidFill>
                <a:latin typeface="Arial"/>
                <a:ea typeface="Arial"/>
                <a:cs typeface="Arial"/>
                <a:sym typeface="Arial"/>
              </a:rPr>
              <a:t>δ(C,a) = B</a:t>
            </a:r>
            <a:endParaRPr b="0" i="0" sz="1700" u="none" cap="none" strike="noStrike">
              <a:solidFill>
                <a:schemeClr val="dk1"/>
              </a:solidFill>
              <a:latin typeface="Arial"/>
              <a:ea typeface="Arial"/>
              <a:cs typeface="Arial"/>
              <a:sym typeface="Arial"/>
            </a:endParaRPr>
          </a:p>
        </p:txBody>
      </p:sp>
      <p:sp>
        <p:nvSpPr>
          <p:cNvPr id="1332" name="Google Shape;1332;p32"/>
          <p:cNvSpPr/>
          <p:nvPr/>
        </p:nvSpPr>
        <p:spPr>
          <a:xfrm>
            <a:off x="6327648" y="1024128"/>
            <a:ext cx="5212080" cy="4343400"/>
          </a:xfrm>
          <a:prstGeom prst="roundRect">
            <a:avLst>
              <a:gd fmla="val 1684"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2"/>
          <p:cNvSpPr txBox="1"/>
          <p:nvPr/>
        </p:nvSpPr>
        <p:spPr>
          <a:xfrm>
            <a:off x="6601968" y="1325880"/>
            <a:ext cx="466344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200"/>
              <a:buFont typeface="Arial"/>
              <a:buNone/>
            </a:pPr>
            <a:r>
              <a:rPr b="1" i="0" lang="en-US" sz="2200" u="none" cap="none" strike="noStrike">
                <a:solidFill>
                  <a:srgbClr val="F4A261"/>
                </a:solidFill>
                <a:latin typeface="Arial"/>
                <a:ea typeface="Arial"/>
                <a:cs typeface="Arial"/>
                <a:sym typeface="Arial"/>
              </a:rPr>
              <a:t>On input b</a:t>
            </a:r>
            <a:endParaRPr b="0" i="0" sz="2200" u="none" cap="none" strike="noStrike">
              <a:solidFill>
                <a:schemeClr val="dk1"/>
              </a:solidFill>
              <a:latin typeface="Arial"/>
              <a:ea typeface="Arial"/>
              <a:cs typeface="Arial"/>
              <a:sym typeface="Arial"/>
            </a:endParaRPr>
          </a:p>
        </p:txBody>
      </p:sp>
      <p:sp>
        <p:nvSpPr>
          <p:cNvPr id="1334" name="Google Shape;1334;p32"/>
          <p:cNvSpPr txBox="1"/>
          <p:nvPr/>
        </p:nvSpPr>
        <p:spPr>
          <a:xfrm>
            <a:off x="6601968" y="1938528"/>
            <a:ext cx="466344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b-labeled positions in C: 2 and 5</a:t>
            </a:r>
            <a:endParaRPr b="0" i="0" sz="1900" u="none" cap="none" strike="noStrike">
              <a:solidFill>
                <a:schemeClr val="dk1"/>
              </a:solidFill>
              <a:latin typeface="Arial"/>
              <a:ea typeface="Arial"/>
              <a:cs typeface="Arial"/>
              <a:sym typeface="Arial"/>
            </a:endParaRPr>
          </a:p>
        </p:txBody>
      </p:sp>
      <p:sp>
        <p:nvSpPr>
          <p:cNvPr id="1335" name="Google Shape;1335;p32"/>
          <p:cNvSpPr txBox="1"/>
          <p:nvPr/>
        </p:nvSpPr>
        <p:spPr>
          <a:xfrm>
            <a:off x="6601968" y="2560320"/>
            <a:ext cx="466344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2100"/>
              <a:buFont typeface="Arial"/>
              <a:buNone/>
            </a:pPr>
            <a:r>
              <a:rPr b="1" i="0" lang="en-US" sz="2100" u="none" cap="none" strike="noStrike">
                <a:solidFill>
                  <a:srgbClr val="F4A261"/>
                </a:solidFill>
                <a:latin typeface="Arial"/>
                <a:ea typeface="Arial"/>
                <a:cs typeface="Arial"/>
                <a:sym typeface="Arial"/>
              </a:rPr>
              <a:t>{1,2,3} ∪ {6} = {1,2,3,6}</a:t>
            </a:r>
            <a:endParaRPr b="0" i="0" sz="2100" u="none" cap="none" strike="noStrike">
              <a:solidFill>
                <a:schemeClr val="dk1"/>
              </a:solidFill>
              <a:latin typeface="Arial"/>
              <a:ea typeface="Arial"/>
              <a:cs typeface="Arial"/>
              <a:sym typeface="Arial"/>
            </a:endParaRPr>
          </a:p>
        </p:txBody>
      </p:sp>
      <p:sp>
        <p:nvSpPr>
          <p:cNvPr id="1336" name="Google Shape;1336;p32"/>
          <p:cNvSpPr/>
          <p:nvPr/>
        </p:nvSpPr>
        <p:spPr>
          <a:xfrm>
            <a:off x="7571232" y="3273552"/>
            <a:ext cx="2834640" cy="310896"/>
          </a:xfrm>
          <a:prstGeom prst="roundRect">
            <a:avLst>
              <a:gd fmla="val 47059" name="adj"/>
            </a:avLst>
          </a:prstGeom>
          <a:solidFill>
            <a:srgbClr val="FFF3E6"/>
          </a:solidFill>
          <a:ln cap="flat" cmpd="sng" w="12700">
            <a:solidFill>
              <a:srgbClr val="FFF3E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2"/>
          <p:cNvSpPr txBox="1"/>
          <p:nvPr/>
        </p:nvSpPr>
        <p:spPr>
          <a:xfrm>
            <a:off x="7616952" y="3282696"/>
            <a:ext cx="27432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700"/>
              <a:buFont typeface="Arial"/>
              <a:buNone/>
            </a:pPr>
            <a:r>
              <a:rPr b="1" i="0" lang="en-US" sz="1700" u="none" cap="none" strike="noStrike">
                <a:solidFill>
                  <a:srgbClr val="F4A261"/>
                </a:solidFill>
                <a:latin typeface="Arial"/>
                <a:ea typeface="Arial"/>
                <a:cs typeface="Arial"/>
                <a:sym typeface="Arial"/>
              </a:rPr>
              <a:t>δ(C,b) = D</a:t>
            </a:r>
            <a:endParaRPr b="0" i="0" sz="1700" u="none" cap="none" strike="noStrike">
              <a:solidFill>
                <a:schemeClr val="dk1"/>
              </a:solidFill>
              <a:latin typeface="Arial"/>
              <a:ea typeface="Arial"/>
              <a:cs typeface="Arial"/>
              <a:sym typeface="Arial"/>
            </a:endParaRPr>
          </a:p>
        </p:txBody>
      </p:sp>
      <p:sp>
        <p:nvSpPr>
          <p:cNvPr id="1338" name="Google Shape;1338;p32"/>
          <p:cNvSpPr txBox="1"/>
          <p:nvPr/>
        </p:nvSpPr>
        <p:spPr>
          <a:xfrm>
            <a:off x="6656832" y="4069080"/>
            <a:ext cx="457200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800"/>
              <a:buFont typeface="Arial"/>
              <a:buNone/>
            </a:pPr>
            <a:r>
              <a:rPr b="1" i="0" lang="en-US" sz="1800" u="none" cap="none" strike="noStrike">
                <a:solidFill>
                  <a:srgbClr val="C94C4C"/>
                </a:solidFill>
                <a:latin typeface="Arial"/>
                <a:ea typeface="Arial"/>
                <a:cs typeface="Arial"/>
                <a:sym typeface="Arial"/>
              </a:rPr>
              <a:t>D contains position 6 → accepting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343" name="Shape 1343"/>
        <p:cNvGrpSpPr/>
        <p:nvPr/>
      </p:nvGrpSpPr>
      <p:grpSpPr>
        <a:xfrm>
          <a:off x="0" y="0"/>
          <a:ext cx="0" cy="0"/>
          <a:chOff x="0" y="0"/>
          <a:chExt cx="0" cy="0"/>
        </a:xfrm>
      </p:grpSpPr>
      <p:sp>
        <p:nvSpPr>
          <p:cNvPr id="1344" name="Google Shape;1344;p33"/>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3"/>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State D and the complete transition table</a:t>
            </a:r>
            <a:endParaRPr b="0" i="0" sz="2800" u="none" cap="none" strike="noStrike">
              <a:solidFill>
                <a:schemeClr val="dk1"/>
              </a:solidFill>
              <a:latin typeface="Arial"/>
              <a:ea typeface="Arial"/>
              <a:cs typeface="Arial"/>
              <a:sym typeface="Arial"/>
            </a:endParaRPr>
          </a:p>
        </p:txBody>
      </p:sp>
      <p:sp>
        <p:nvSpPr>
          <p:cNvPr id="1346" name="Google Shape;1346;p33"/>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3"/>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State D</a:t>
            </a:r>
            <a:endParaRPr b="0" i="0" sz="1150" u="none" cap="none" strike="noStrike">
              <a:solidFill>
                <a:schemeClr val="dk1"/>
              </a:solidFill>
              <a:latin typeface="Arial"/>
              <a:ea typeface="Arial"/>
              <a:cs typeface="Arial"/>
              <a:sym typeface="Arial"/>
            </a:endParaRPr>
          </a:p>
        </p:txBody>
      </p:sp>
      <p:sp>
        <p:nvSpPr>
          <p:cNvPr id="1348" name="Google Shape;1348;p33"/>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349" name="Google Shape;1349;p33"/>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33</a:t>
            </a:r>
            <a:endParaRPr b="0" i="0" sz="950" u="none" cap="none" strike="noStrike">
              <a:solidFill>
                <a:schemeClr val="dk1"/>
              </a:solidFill>
              <a:latin typeface="Arial"/>
              <a:ea typeface="Arial"/>
              <a:cs typeface="Arial"/>
              <a:sym typeface="Arial"/>
            </a:endParaRPr>
          </a:p>
        </p:txBody>
      </p:sp>
      <p:sp>
        <p:nvSpPr>
          <p:cNvPr id="1350" name="Google Shape;1350;p33"/>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3"/>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352" name="Google Shape;1352;p33"/>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3"/>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354" name="Google Shape;1354;p33"/>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3"/>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356" name="Google Shape;1356;p33"/>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3"/>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358" name="Google Shape;1358;p33"/>
          <p:cNvSpPr/>
          <p:nvPr/>
        </p:nvSpPr>
        <p:spPr>
          <a:xfrm>
            <a:off x="658368" y="960120"/>
            <a:ext cx="3886200" cy="4480560"/>
          </a:xfrm>
          <a:prstGeom prst="roundRect">
            <a:avLst>
              <a:gd fmla="val 1882" name="adj"/>
            </a:avLst>
          </a:prstGeom>
          <a:solidFill>
            <a:srgbClr val="F0EBF8"/>
          </a:solidFill>
          <a:ln cap="flat" cmpd="sng" w="12700">
            <a:solidFill>
              <a:srgbClr val="7B6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3"/>
          <p:cNvSpPr txBox="1"/>
          <p:nvPr/>
        </p:nvSpPr>
        <p:spPr>
          <a:xfrm>
            <a:off x="932688" y="1280160"/>
            <a:ext cx="333756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2500"/>
              <a:buFont typeface="Arial"/>
              <a:buNone/>
            </a:pPr>
            <a:r>
              <a:rPr b="1" i="0" lang="en-US" sz="2500" u="none" cap="none" strike="noStrike">
                <a:solidFill>
                  <a:srgbClr val="7B61A8"/>
                </a:solidFill>
                <a:latin typeface="Arial"/>
                <a:ea typeface="Arial"/>
                <a:cs typeface="Arial"/>
                <a:sym typeface="Arial"/>
              </a:rPr>
              <a:t>D = {1,2,3,6}</a:t>
            </a:r>
            <a:endParaRPr b="0" i="0" sz="2500" u="none" cap="none" strike="noStrike">
              <a:solidFill>
                <a:schemeClr val="dk1"/>
              </a:solidFill>
              <a:latin typeface="Arial"/>
              <a:ea typeface="Arial"/>
              <a:cs typeface="Arial"/>
              <a:sym typeface="Arial"/>
            </a:endParaRPr>
          </a:p>
        </p:txBody>
      </p:sp>
      <p:sp>
        <p:nvSpPr>
          <p:cNvPr id="1360" name="Google Shape;1360;p33"/>
          <p:cNvSpPr/>
          <p:nvPr/>
        </p:nvSpPr>
        <p:spPr>
          <a:xfrm>
            <a:off x="1508760" y="1874520"/>
            <a:ext cx="2148840" cy="310896"/>
          </a:xfrm>
          <a:prstGeom prst="roundRect">
            <a:avLst>
              <a:gd fmla="val 47059" name="adj"/>
            </a:avLst>
          </a:prstGeom>
          <a:solidFill>
            <a:srgbClr val="FBECEC"/>
          </a:solidFill>
          <a:ln cap="flat" cmpd="sng" w="12700">
            <a:solidFill>
              <a:srgbClr val="FBECE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3"/>
          <p:cNvSpPr txBox="1"/>
          <p:nvPr/>
        </p:nvSpPr>
        <p:spPr>
          <a:xfrm>
            <a:off x="1554480" y="1883664"/>
            <a:ext cx="205740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Accepting state</a:t>
            </a:r>
            <a:endParaRPr b="0" i="0" sz="1600" u="none" cap="none" strike="noStrike">
              <a:solidFill>
                <a:schemeClr val="dk1"/>
              </a:solidFill>
              <a:latin typeface="Arial"/>
              <a:ea typeface="Arial"/>
              <a:cs typeface="Arial"/>
              <a:sym typeface="Arial"/>
            </a:endParaRPr>
          </a:p>
        </p:txBody>
      </p:sp>
      <p:sp>
        <p:nvSpPr>
          <p:cNvPr id="1362" name="Google Shape;1362;p33"/>
          <p:cNvSpPr txBox="1"/>
          <p:nvPr/>
        </p:nvSpPr>
        <p:spPr>
          <a:xfrm>
            <a:off x="1005840" y="2514600"/>
            <a:ext cx="3154680" cy="65836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D2A39"/>
              </a:buClr>
              <a:buSzPts val="1900"/>
              <a:buFont typeface="Arial"/>
              <a:buNone/>
            </a:pPr>
            <a:r>
              <a:rPr b="1" i="0" lang="en-US" sz="1900" u="none" cap="none" strike="noStrike">
                <a:solidFill>
                  <a:srgbClr val="1D2A39"/>
                </a:solidFill>
                <a:latin typeface="Arial"/>
                <a:ea typeface="Arial"/>
                <a:cs typeface="Arial"/>
                <a:sym typeface="Arial"/>
              </a:rPr>
              <a:t>It contains position 6, the position of #.</a:t>
            </a:r>
            <a:endParaRPr b="0" i="0" sz="1900" u="none" cap="none" strike="noStrike">
              <a:solidFill>
                <a:schemeClr val="dk1"/>
              </a:solidFill>
              <a:latin typeface="Arial"/>
              <a:ea typeface="Arial"/>
              <a:cs typeface="Arial"/>
              <a:sym typeface="Arial"/>
            </a:endParaRPr>
          </a:p>
        </p:txBody>
      </p:sp>
      <p:sp>
        <p:nvSpPr>
          <p:cNvPr id="1363" name="Google Shape;1363;p33"/>
          <p:cNvSpPr txBox="1"/>
          <p:nvPr/>
        </p:nvSpPr>
        <p:spPr>
          <a:xfrm>
            <a:off x="1005840" y="3429000"/>
            <a:ext cx="315468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850"/>
              <a:buFont typeface="Arial"/>
              <a:buNone/>
            </a:pPr>
            <a:r>
              <a:rPr b="0" i="0" lang="en-US" sz="1850" u="none" cap="none" strike="noStrike">
                <a:solidFill>
                  <a:srgbClr val="1F75BB"/>
                </a:solidFill>
                <a:latin typeface="Arial"/>
                <a:ea typeface="Arial"/>
                <a:cs typeface="Arial"/>
                <a:sym typeface="Arial"/>
              </a:rPr>
              <a:t>On a: positions 1 and 3 → B</a:t>
            </a:r>
            <a:endParaRPr b="0" i="0" sz="1850" u="none" cap="none" strike="noStrike">
              <a:solidFill>
                <a:schemeClr val="dk1"/>
              </a:solidFill>
              <a:latin typeface="Arial"/>
              <a:ea typeface="Arial"/>
              <a:cs typeface="Arial"/>
              <a:sym typeface="Arial"/>
            </a:endParaRPr>
          </a:p>
        </p:txBody>
      </p:sp>
      <p:sp>
        <p:nvSpPr>
          <p:cNvPr id="1364" name="Google Shape;1364;p33"/>
          <p:cNvSpPr txBox="1"/>
          <p:nvPr/>
        </p:nvSpPr>
        <p:spPr>
          <a:xfrm>
            <a:off x="1005840" y="4069080"/>
            <a:ext cx="315468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A261"/>
              </a:buClr>
              <a:buSzPts val="1850"/>
              <a:buFont typeface="Arial"/>
              <a:buNone/>
            </a:pPr>
            <a:r>
              <a:rPr b="0" i="0" lang="en-US" sz="1850" u="none" cap="none" strike="noStrike">
                <a:solidFill>
                  <a:srgbClr val="F4A261"/>
                </a:solidFill>
                <a:latin typeface="Arial"/>
                <a:ea typeface="Arial"/>
                <a:cs typeface="Arial"/>
                <a:sym typeface="Arial"/>
              </a:rPr>
              <a:t>On b: position 2 → A</a:t>
            </a:r>
            <a:endParaRPr b="0" i="0" sz="1850" u="none" cap="none" strike="noStrike">
              <a:solidFill>
                <a:schemeClr val="dk1"/>
              </a:solidFill>
              <a:latin typeface="Arial"/>
              <a:ea typeface="Arial"/>
              <a:cs typeface="Arial"/>
              <a:sym typeface="Arial"/>
            </a:endParaRPr>
          </a:p>
        </p:txBody>
      </p:sp>
      <p:sp>
        <p:nvSpPr>
          <p:cNvPr id="1365" name="Google Shape;1365;p33"/>
          <p:cNvSpPr/>
          <p:nvPr/>
        </p:nvSpPr>
        <p:spPr>
          <a:xfrm>
            <a:off x="4892040" y="960120"/>
            <a:ext cx="1053389" cy="896112"/>
          </a:xfrm>
          <a:prstGeom prst="rect">
            <a:avLst/>
          </a:prstGeom>
          <a:solidFill>
            <a:srgbClr val="7B61A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3"/>
          <p:cNvSpPr txBox="1"/>
          <p:nvPr/>
        </p:nvSpPr>
        <p:spPr>
          <a:xfrm>
            <a:off x="4946904" y="978408"/>
            <a:ext cx="943661"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750"/>
              <a:buFont typeface="Arial"/>
              <a:buNone/>
            </a:pPr>
            <a:r>
              <a:rPr b="1" i="0" lang="en-US" sz="1750" u="none" cap="none" strike="noStrike">
                <a:solidFill>
                  <a:srgbClr val="FFFFFF"/>
                </a:solidFill>
                <a:latin typeface="Arial"/>
                <a:ea typeface="Arial"/>
                <a:cs typeface="Arial"/>
                <a:sym typeface="Arial"/>
              </a:rPr>
              <a:t>State</a:t>
            </a:r>
            <a:endParaRPr b="0" i="0" sz="1750" u="none" cap="none" strike="noStrike">
              <a:solidFill>
                <a:schemeClr val="dk1"/>
              </a:solidFill>
              <a:latin typeface="Arial"/>
              <a:ea typeface="Arial"/>
              <a:cs typeface="Arial"/>
              <a:sym typeface="Arial"/>
            </a:endParaRPr>
          </a:p>
        </p:txBody>
      </p:sp>
      <p:sp>
        <p:nvSpPr>
          <p:cNvPr id="1367" name="Google Shape;1367;p33"/>
          <p:cNvSpPr/>
          <p:nvPr/>
        </p:nvSpPr>
        <p:spPr>
          <a:xfrm>
            <a:off x="5945429" y="960120"/>
            <a:ext cx="2501798" cy="896112"/>
          </a:xfrm>
          <a:prstGeom prst="rect">
            <a:avLst/>
          </a:prstGeom>
          <a:solidFill>
            <a:srgbClr val="7B61A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3"/>
          <p:cNvSpPr txBox="1"/>
          <p:nvPr/>
        </p:nvSpPr>
        <p:spPr>
          <a:xfrm>
            <a:off x="6000293" y="978408"/>
            <a:ext cx="2392070"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750"/>
              <a:buFont typeface="Arial"/>
              <a:buNone/>
            </a:pPr>
            <a:r>
              <a:rPr b="1" i="0" lang="en-US" sz="1750" u="none" cap="none" strike="noStrike">
                <a:solidFill>
                  <a:srgbClr val="FFFFFF"/>
                </a:solidFill>
                <a:latin typeface="Arial"/>
                <a:ea typeface="Arial"/>
                <a:cs typeface="Arial"/>
                <a:sym typeface="Arial"/>
              </a:rPr>
              <a:t>Position set</a:t>
            </a:r>
            <a:endParaRPr b="0" i="0" sz="1750" u="none" cap="none" strike="noStrike">
              <a:solidFill>
                <a:schemeClr val="dk1"/>
              </a:solidFill>
              <a:latin typeface="Arial"/>
              <a:ea typeface="Arial"/>
              <a:cs typeface="Arial"/>
              <a:sym typeface="Arial"/>
            </a:endParaRPr>
          </a:p>
        </p:txBody>
      </p:sp>
      <p:sp>
        <p:nvSpPr>
          <p:cNvPr id="1369" name="Google Shape;1369;p33"/>
          <p:cNvSpPr/>
          <p:nvPr/>
        </p:nvSpPr>
        <p:spPr>
          <a:xfrm>
            <a:off x="8447227" y="960120"/>
            <a:ext cx="1514246" cy="896112"/>
          </a:xfrm>
          <a:prstGeom prst="rect">
            <a:avLst/>
          </a:prstGeom>
          <a:solidFill>
            <a:srgbClr val="7B61A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3"/>
          <p:cNvSpPr txBox="1"/>
          <p:nvPr/>
        </p:nvSpPr>
        <p:spPr>
          <a:xfrm>
            <a:off x="8502091" y="978408"/>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750"/>
              <a:buFont typeface="Arial"/>
              <a:buNone/>
            </a:pPr>
            <a:r>
              <a:rPr b="1" i="0" lang="en-US" sz="1750" u="none" cap="none" strike="noStrike">
                <a:solidFill>
                  <a:srgbClr val="FFFFFF"/>
                </a:solidFill>
                <a:latin typeface="Arial"/>
                <a:ea typeface="Arial"/>
                <a:cs typeface="Arial"/>
                <a:sym typeface="Arial"/>
              </a:rPr>
              <a:t>on a</a:t>
            </a:r>
            <a:endParaRPr b="0" i="0" sz="1750" u="none" cap="none" strike="noStrike">
              <a:solidFill>
                <a:schemeClr val="dk1"/>
              </a:solidFill>
              <a:latin typeface="Arial"/>
              <a:ea typeface="Arial"/>
              <a:cs typeface="Arial"/>
              <a:sym typeface="Arial"/>
            </a:endParaRPr>
          </a:p>
        </p:txBody>
      </p:sp>
      <p:sp>
        <p:nvSpPr>
          <p:cNvPr id="1371" name="Google Shape;1371;p33"/>
          <p:cNvSpPr/>
          <p:nvPr/>
        </p:nvSpPr>
        <p:spPr>
          <a:xfrm>
            <a:off x="9961474" y="960120"/>
            <a:ext cx="1514246" cy="896112"/>
          </a:xfrm>
          <a:prstGeom prst="rect">
            <a:avLst/>
          </a:prstGeom>
          <a:solidFill>
            <a:srgbClr val="7B61A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txBox="1"/>
          <p:nvPr/>
        </p:nvSpPr>
        <p:spPr>
          <a:xfrm>
            <a:off x="10016338" y="978408"/>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FFFFF"/>
              </a:buClr>
              <a:buSzPts val="1750"/>
              <a:buFont typeface="Arial"/>
              <a:buNone/>
            </a:pPr>
            <a:r>
              <a:rPr b="1" i="0" lang="en-US" sz="1750" u="none" cap="none" strike="noStrike">
                <a:solidFill>
                  <a:srgbClr val="FFFFFF"/>
                </a:solidFill>
                <a:latin typeface="Arial"/>
                <a:ea typeface="Arial"/>
                <a:cs typeface="Arial"/>
                <a:sym typeface="Arial"/>
              </a:rPr>
              <a:t>on b</a:t>
            </a:r>
            <a:endParaRPr b="0" i="0" sz="1750" u="none" cap="none" strike="noStrike">
              <a:solidFill>
                <a:schemeClr val="dk1"/>
              </a:solidFill>
              <a:latin typeface="Arial"/>
              <a:ea typeface="Arial"/>
              <a:cs typeface="Arial"/>
              <a:sym typeface="Arial"/>
            </a:endParaRPr>
          </a:p>
        </p:txBody>
      </p:sp>
      <p:sp>
        <p:nvSpPr>
          <p:cNvPr id="1373" name="Google Shape;1373;p33"/>
          <p:cNvSpPr/>
          <p:nvPr/>
        </p:nvSpPr>
        <p:spPr>
          <a:xfrm>
            <a:off x="4892040" y="1856232"/>
            <a:ext cx="1053389"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3"/>
          <p:cNvSpPr txBox="1"/>
          <p:nvPr/>
        </p:nvSpPr>
        <p:spPr>
          <a:xfrm>
            <a:off x="4946904" y="1874520"/>
            <a:ext cx="943661"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A</a:t>
            </a:r>
            <a:endParaRPr b="0" i="0" sz="1800" u="none" cap="none" strike="noStrike">
              <a:solidFill>
                <a:schemeClr val="dk1"/>
              </a:solidFill>
              <a:latin typeface="Arial"/>
              <a:ea typeface="Arial"/>
              <a:cs typeface="Arial"/>
              <a:sym typeface="Arial"/>
            </a:endParaRPr>
          </a:p>
        </p:txBody>
      </p:sp>
      <p:sp>
        <p:nvSpPr>
          <p:cNvPr id="1375" name="Google Shape;1375;p33"/>
          <p:cNvSpPr/>
          <p:nvPr/>
        </p:nvSpPr>
        <p:spPr>
          <a:xfrm>
            <a:off x="5945429" y="1856232"/>
            <a:ext cx="2501798"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txBox="1"/>
          <p:nvPr/>
        </p:nvSpPr>
        <p:spPr>
          <a:xfrm>
            <a:off x="6000293" y="1874520"/>
            <a:ext cx="2392070"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{1,2,3}</a:t>
            </a:r>
            <a:endParaRPr b="0" i="0" sz="1800" u="none" cap="none" strike="noStrike">
              <a:solidFill>
                <a:schemeClr val="dk1"/>
              </a:solidFill>
              <a:latin typeface="Arial"/>
              <a:ea typeface="Arial"/>
              <a:cs typeface="Arial"/>
              <a:sym typeface="Arial"/>
            </a:endParaRPr>
          </a:p>
        </p:txBody>
      </p:sp>
      <p:sp>
        <p:nvSpPr>
          <p:cNvPr id="1377" name="Google Shape;1377;p33"/>
          <p:cNvSpPr/>
          <p:nvPr/>
        </p:nvSpPr>
        <p:spPr>
          <a:xfrm>
            <a:off x="8447227" y="1856232"/>
            <a:ext cx="1514246"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3"/>
          <p:cNvSpPr txBox="1"/>
          <p:nvPr/>
        </p:nvSpPr>
        <p:spPr>
          <a:xfrm>
            <a:off x="8502091" y="1874520"/>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379" name="Google Shape;1379;p33"/>
          <p:cNvSpPr/>
          <p:nvPr/>
        </p:nvSpPr>
        <p:spPr>
          <a:xfrm>
            <a:off x="9961474" y="1856232"/>
            <a:ext cx="1514246"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3"/>
          <p:cNvSpPr txBox="1"/>
          <p:nvPr/>
        </p:nvSpPr>
        <p:spPr>
          <a:xfrm>
            <a:off x="10016338" y="1874520"/>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A</a:t>
            </a:r>
            <a:endParaRPr b="0" i="0" sz="1800" u="none" cap="none" strike="noStrike">
              <a:solidFill>
                <a:schemeClr val="dk1"/>
              </a:solidFill>
              <a:latin typeface="Arial"/>
              <a:ea typeface="Arial"/>
              <a:cs typeface="Arial"/>
              <a:sym typeface="Arial"/>
            </a:endParaRPr>
          </a:p>
        </p:txBody>
      </p:sp>
      <p:sp>
        <p:nvSpPr>
          <p:cNvPr id="1381" name="Google Shape;1381;p33"/>
          <p:cNvSpPr/>
          <p:nvPr/>
        </p:nvSpPr>
        <p:spPr>
          <a:xfrm>
            <a:off x="4892040" y="2752344"/>
            <a:ext cx="1053389"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txBox="1"/>
          <p:nvPr/>
        </p:nvSpPr>
        <p:spPr>
          <a:xfrm>
            <a:off x="4946904" y="2770632"/>
            <a:ext cx="943661"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383" name="Google Shape;1383;p33"/>
          <p:cNvSpPr/>
          <p:nvPr/>
        </p:nvSpPr>
        <p:spPr>
          <a:xfrm>
            <a:off x="5945429" y="2752344"/>
            <a:ext cx="2501798"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3"/>
          <p:cNvSpPr txBox="1"/>
          <p:nvPr/>
        </p:nvSpPr>
        <p:spPr>
          <a:xfrm>
            <a:off x="6000293" y="2770632"/>
            <a:ext cx="2392070"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{1,2,3,4}</a:t>
            </a:r>
            <a:endParaRPr b="0" i="0" sz="1800" u="none" cap="none" strike="noStrike">
              <a:solidFill>
                <a:schemeClr val="dk1"/>
              </a:solidFill>
              <a:latin typeface="Arial"/>
              <a:ea typeface="Arial"/>
              <a:cs typeface="Arial"/>
              <a:sym typeface="Arial"/>
            </a:endParaRPr>
          </a:p>
        </p:txBody>
      </p:sp>
      <p:sp>
        <p:nvSpPr>
          <p:cNvPr id="1385" name="Google Shape;1385;p33"/>
          <p:cNvSpPr/>
          <p:nvPr/>
        </p:nvSpPr>
        <p:spPr>
          <a:xfrm>
            <a:off x="8447227" y="2752344"/>
            <a:ext cx="1514246"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txBox="1"/>
          <p:nvPr/>
        </p:nvSpPr>
        <p:spPr>
          <a:xfrm>
            <a:off x="8502091" y="2770632"/>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387" name="Google Shape;1387;p33"/>
          <p:cNvSpPr/>
          <p:nvPr/>
        </p:nvSpPr>
        <p:spPr>
          <a:xfrm>
            <a:off x="9961474" y="2752344"/>
            <a:ext cx="1514246"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3"/>
          <p:cNvSpPr txBox="1"/>
          <p:nvPr/>
        </p:nvSpPr>
        <p:spPr>
          <a:xfrm>
            <a:off x="10016338" y="2770632"/>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C</a:t>
            </a:r>
            <a:endParaRPr b="0" i="0" sz="1800" u="none" cap="none" strike="noStrike">
              <a:solidFill>
                <a:schemeClr val="dk1"/>
              </a:solidFill>
              <a:latin typeface="Arial"/>
              <a:ea typeface="Arial"/>
              <a:cs typeface="Arial"/>
              <a:sym typeface="Arial"/>
            </a:endParaRPr>
          </a:p>
        </p:txBody>
      </p:sp>
      <p:sp>
        <p:nvSpPr>
          <p:cNvPr id="1389" name="Google Shape;1389;p33"/>
          <p:cNvSpPr/>
          <p:nvPr/>
        </p:nvSpPr>
        <p:spPr>
          <a:xfrm>
            <a:off x="4892040" y="3648456"/>
            <a:ext cx="1053389"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3"/>
          <p:cNvSpPr txBox="1"/>
          <p:nvPr/>
        </p:nvSpPr>
        <p:spPr>
          <a:xfrm>
            <a:off x="4946904" y="3666744"/>
            <a:ext cx="943661"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C</a:t>
            </a:r>
            <a:endParaRPr b="0" i="0" sz="1800" u="none" cap="none" strike="noStrike">
              <a:solidFill>
                <a:schemeClr val="dk1"/>
              </a:solidFill>
              <a:latin typeface="Arial"/>
              <a:ea typeface="Arial"/>
              <a:cs typeface="Arial"/>
              <a:sym typeface="Arial"/>
            </a:endParaRPr>
          </a:p>
        </p:txBody>
      </p:sp>
      <p:sp>
        <p:nvSpPr>
          <p:cNvPr id="1391" name="Google Shape;1391;p33"/>
          <p:cNvSpPr/>
          <p:nvPr/>
        </p:nvSpPr>
        <p:spPr>
          <a:xfrm>
            <a:off x="5945429" y="3648456"/>
            <a:ext cx="2501798"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txBox="1"/>
          <p:nvPr/>
        </p:nvSpPr>
        <p:spPr>
          <a:xfrm>
            <a:off x="6000293" y="3666744"/>
            <a:ext cx="2392070"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{1,2,3,5}</a:t>
            </a:r>
            <a:endParaRPr b="0" i="0" sz="1800" u="none" cap="none" strike="noStrike">
              <a:solidFill>
                <a:schemeClr val="dk1"/>
              </a:solidFill>
              <a:latin typeface="Arial"/>
              <a:ea typeface="Arial"/>
              <a:cs typeface="Arial"/>
              <a:sym typeface="Arial"/>
            </a:endParaRPr>
          </a:p>
        </p:txBody>
      </p:sp>
      <p:sp>
        <p:nvSpPr>
          <p:cNvPr id="1393" name="Google Shape;1393;p33"/>
          <p:cNvSpPr/>
          <p:nvPr/>
        </p:nvSpPr>
        <p:spPr>
          <a:xfrm>
            <a:off x="8447227" y="3648456"/>
            <a:ext cx="1514246"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3"/>
          <p:cNvSpPr txBox="1"/>
          <p:nvPr/>
        </p:nvSpPr>
        <p:spPr>
          <a:xfrm>
            <a:off x="8502091" y="3666744"/>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395" name="Google Shape;1395;p33"/>
          <p:cNvSpPr/>
          <p:nvPr/>
        </p:nvSpPr>
        <p:spPr>
          <a:xfrm>
            <a:off x="9961474" y="3648456"/>
            <a:ext cx="1514246" cy="896112"/>
          </a:xfrm>
          <a:prstGeom prst="rect">
            <a:avLst/>
          </a:prstGeom>
          <a:solidFill>
            <a:srgbClr val="FFFFFF"/>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txBox="1"/>
          <p:nvPr/>
        </p:nvSpPr>
        <p:spPr>
          <a:xfrm>
            <a:off x="10016338" y="3666744"/>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D</a:t>
            </a:r>
            <a:endParaRPr b="0" i="0" sz="1800" u="none" cap="none" strike="noStrike">
              <a:solidFill>
                <a:schemeClr val="dk1"/>
              </a:solidFill>
              <a:latin typeface="Arial"/>
              <a:ea typeface="Arial"/>
              <a:cs typeface="Arial"/>
              <a:sym typeface="Arial"/>
            </a:endParaRPr>
          </a:p>
        </p:txBody>
      </p:sp>
      <p:sp>
        <p:nvSpPr>
          <p:cNvPr id="1397" name="Google Shape;1397;p33"/>
          <p:cNvSpPr/>
          <p:nvPr/>
        </p:nvSpPr>
        <p:spPr>
          <a:xfrm>
            <a:off x="4892040" y="4544568"/>
            <a:ext cx="1053389"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3"/>
          <p:cNvSpPr txBox="1"/>
          <p:nvPr/>
        </p:nvSpPr>
        <p:spPr>
          <a:xfrm>
            <a:off x="4946904" y="4562856"/>
            <a:ext cx="943661"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1" i="0" lang="en-US" sz="1800" u="none" cap="none" strike="noStrike">
                <a:solidFill>
                  <a:srgbClr val="1D2A39"/>
                </a:solidFill>
                <a:latin typeface="Arial"/>
                <a:ea typeface="Arial"/>
                <a:cs typeface="Arial"/>
                <a:sym typeface="Arial"/>
              </a:rPr>
              <a:t>D*</a:t>
            </a:r>
            <a:endParaRPr b="0" i="0" sz="1800" u="none" cap="none" strike="noStrike">
              <a:solidFill>
                <a:schemeClr val="dk1"/>
              </a:solidFill>
              <a:latin typeface="Arial"/>
              <a:ea typeface="Arial"/>
              <a:cs typeface="Arial"/>
              <a:sym typeface="Arial"/>
            </a:endParaRPr>
          </a:p>
        </p:txBody>
      </p:sp>
      <p:sp>
        <p:nvSpPr>
          <p:cNvPr id="1399" name="Google Shape;1399;p33"/>
          <p:cNvSpPr/>
          <p:nvPr/>
        </p:nvSpPr>
        <p:spPr>
          <a:xfrm>
            <a:off x="5945429" y="4544568"/>
            <a:ext cx="2501798"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3"/>
          <p:cNvSpPr txBox="1"/>
          <p:nvPr/>
        </p:nvSpPr>
        <p:spPr>
          <a:xfrm>
            <a:off x="6000293" y="4562856"/>
            <a:ext cx="2392070"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{1,2,3,6}</a:t>
            </a:r>
            <a:endParaRPr b="0" i="0" sz="1800" u="none" cap="none" strike="noStrike">
              <a:solidFill>
                <a:schemeClr val="dk1"/>
              </a:solidFill>
              <a:latin typeface="Arial"/>
              <a:ea typeface="Arial"/>
              <a:cs typeface="Arial"/>
              <a:sym typeface="Arial"/>
            </a:endParaRPr>
          </a:p>
        </p:txBody>
      </p:sp>
      <p:sp>
        <p:nvSpPr>
          <p:cNvPr id="1401" name="Google Shape;1401;p33"/>
          <p:cNvSpPr/>
          <p:nvPr/>
        </p:nvSpPr>
        <p:spPr>
          <a:xfrm>
            <a:off x="8447227" y="4544568"/>
            <a:ext cx="1514246"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3"/>
          <p:cNvSpPr txBox="1"/>
          <p:nvPr/>
        </p:nvSpPr>
        <p:spPr>
          <a:xfrm>
            <a:off x="8502091" y="4562856"/>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B</a:t>
            </a:r>
            <a:endParaRPr b="0" i="0" sz="1800" u="none" cap="none" strike="noStrike">
              <a:solidFill>
                <a:schemeClr val="dk1"/>
              </a:solidFill>
              <a:latin typeface="Arial"/>
              <a:ea typeface="Arial"/>
              <a:cs typeface="Arial"/>
              <a:sym typeface="Arial"/>
            </a:endParaRPr>
          </a:p>
        </p:txBody>
      </p:sp>
      <p:sp>
        <p:nvSpPr>
          <p:cNvPr id="1403" name="Google Shape;1403;p33"/>
          <p:cNvSpPr/>
          <p:nvPr/>
        </p:nvSpPr>
        <p:spPr>
          <a:xfrm>
            <a:off x="9961474" y="4544568"/>
            <a:ext cx="1514246" cy="896112"/>
          </a:xfrm>
          <a:prstGeom prst="rect">
            <a:avLst/>
          </a:prstGeom>
          <a:solidFill>
            <a:srgbClr val="F0EBF8"/>
          </a:solidFill>
          <a:ln cap="flat" cmpd="sng" w="1015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3"/>
          <p:cNvSpPr txBox="1"/>
          <p:nvPr/>
        </p:nvSpPr>
        <p:spPr>
          <a:xfrm>
            <a:off x="10016338" y="4562856"/>
            <a:ext cx="1404518" cy="85953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D2A39"/>
              </a:buClr>
              <a:buSzPts val="1800"/>
              <a:buFont typeface="Arial"/>
              <a:buNone/>
            </a:pPr>
            <a:r>
              <a:rPr b="0" i="0" lang="en-US" sz="1800" u="none" cap="none" strike="noStrike">
                <a:solidFill>
                  <a:srgbClr val="1D2A39"/>
                </a:solidFill>
                <a:latin typeface="Arial"/>
                <a:ea typeface="Arial"/>
                <a:cs typeface="Arial"/>
                <a:sym typeface="Arial"/>
              </a:rPr>
              <a:t>A</a:t>
            </a:r>
            <a:endParaRPr b="0" i="0" sz="1800" u="none" cap="none" strike="noStrike">
              <a:solidFill>
                <a:schemeClr val="dk1"/>
              </a:solidFill>
              <a:latin typeface="Arial"/>
              <a:ea typeface="Arial"/>
              <a:cs typeface="Arial"/>
              <a:sym typeface="Arial"/>
            </a:endParaRPr>
          </a:p>
        </p:txBody>
      </p:sp>
      <p:sp>
        <p:nvSpPr>
          <p:cNvPr id="1405" name="Google Shape;1405;p33"/>
          <p:cNvSpPr txBox="1"/>
          <p:nvPr/>
        </p:nvSpPr>
        <p:spPr>
          <a:xfrm>
            <a:off x="5074920" y="5614416"/>
            <a:ext cx="6217920"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650"/>
              <a:buFont typeface="Arial"/>
              <a:buNone/>
            </a:pPr>
            <a:r>
              <a:rPr b="1" i="0" lang="en-US" sz="1650" u="none" cap="none" strike="noStrike">
                <a:solidFill>
                  <a:srgbClr val="C94C4C"/>
                </a:solidFill>
                <a:latin typeface="Arial"/>
                <a:ea typeface="Arial"/>
                <a:cs typeface="Arial"/>
                <a:sym typeface="Arial"/>
              </a:rPr>
              <a:t>* D is accepting because its set contains 6.</a:t>
            </a:r>
            <a:endParaRPr b="0" i="0" sz="1650" u="none" cap="none" strike="noStrik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410" name="Shape 1410"/>
        <p:cNvGrpSpPr/>
        <p:nvPr/>
      </p:nvGrpSpPr>
      <p:grpSpPr>
        <a:xfrm>
          <a:off x="0" y="0"/>
          <a:ext cx="0" cy="0"/>
          <a:chOff x="0" y="0"/>
          <a:chExt cx="0" cy="0"/>
        </a:xfrm>
      </p:grpSpPr>
      <p:sp>
        <p:nvSpPr>
          <p:cNvPr id="1411" name="Google Shape;1411;p34"/>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Final DFA</a:t>
            </a:r>
            <a:endParaRPr b="0" i="0" sz="2800" u="none" cap="none" strike="noStrike">
              <a:solidFill>
                <a:schemeClr val="dk1"/>
              </a:solidFill>
              <a:latin typeface="Arial"/>
              <a:ea typeface="Arial"/>
              <a:cs typeface="Arial"/>
              <a:sym typeface="Arial"/>
            </a:endParaRPr>
          </a:p>
        </p:txBody>
      </p:sp>
      <p:sp>
        <p:nvSpPr>
          <p:cNvPr id="1413" name="Google Shape;1413;p34"/>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4"/>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Result</a:t>
            </a:r>
            <a:endParaRPr b="0" i="0" sz="1150" u="none" cap="none" strike="noStrike">
              <a:solidFill>
                <a:schemeClr val="dk1"/>
              </a:solidFill>
              <a:latin typeface="Arial"/>
              <a:ea typeface="Arial"/>
              <a:cs typeface="Arial"/>
              <a:sym typeface="Arial"/>
            </a:endParaRPr>
          </a:p>
        </p:txBody>
      </p:sp>
      <p:sp>
        <p:nvSpPr>
          <p:cNvPr id="1415" name="Google Shape;1415;p34"/>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416" name="Google Shape;1416;p34"/>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34</a:t>
            </a:r>
            <a:endParaRPr b="0" i="0" sz="950" u="none" cap="none" strike="noStrike">
              <a:solidFill>
                <a:schemeClr val="dk1"/>
              </a:solidFill>
              <a:latin typeface="Arial"/>
              <a:ea typeface="Arial"/>
              <a:cs typeface="Arial"/>
              <a:sym typeface="Arial"/>
            </a:endParaRPr>
          </a:p>
        </p:txBody>
      </p:sp>
      <p:sp>
        <p:nvSpPr>
          <p:cNvPr id="1417" name="Google Shape;1417;p34"/>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4"/>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419" name="Google Shape;1419;p34"/>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4"/>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421" name="Google Shape;1421;p34"/>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4"/>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423" name="Google Shape;1423;p34"/>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4"/>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pic>
        <p:nvPicPr>
          <p:cNvPr descr="preencoded.png" id="1425" name="Google Shape;1425;p34"/>
          <p:cNvPicPr preferRelativeResize="0"/>
          <p:nvPr/>
        </p:nvPicPr>
        <p:blipFill rotWithShape="1">
          <a:blip r:embed="rId3">
            <a:alphaModFix/>
          </a:blip>
          <a:srcRect b="0" l="0" r="0" t="0"/>
          <a:stretch/>
        </p:blipFill>
        <p:spPr>
          <a:xfrm>
            <a:off x="685800" y="932688"/>
            <a:ext cx="10835640" cy="4407408"/>
          </a:xfrm>
          <a:prstGeom prst="rect">
            <a:avLst/>
          </a:prstGeom>
          <a:noFill/>
          <a:ln>
            <a:noFill/>
          </a:ln>
        </p:spPr>
      </p:pic>
      <p:sp>
        <p:nvSpPr>
          <p:cNvPr id="1426" name="Google Shape;1426;p34"/>
          <p:cNvSpPr/>
          <p:nvPr/>
        </p:nvSpPr>
        <p:spPr>
          <a:xfrm>
            <a:off x="868680" y="5230368"/>
            <a:ext cx="3977640" cy="896112"/>
          </a:xfrm>
          <a:prstGeom prst="roundRect">
            <a:avLst>
              <a:gd fmla="val 8163" name="adj"/>
            </a:avLst>
          </a:prstGeom>
          <a:solidFill>
            <a:srgbClr val="EDF6F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4"/>
          <p:cNvSpPr/>
          <p:nvPr/>
        </p:nvSpPr>
        <p:spPr>
          <a:xfrm>
            <a:off x="868680" y="5230368"/>
            <a:ext cx="73152" cy="896112"/>
          </a:xfrm>
          <a:prstGeom prst="rect">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4"/>
          <p:cNvSpPr txBox="1"/>
          <p:nvPr/>
        </p:nvSpPr>
        <p:spPr>
          <a:xfrm>
            <a:off x="1033272" y="5340096"/>
            <a:ext cx="37033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State interpretation</a:t>
            </a:r>
            <a:endParaRPr b="0" i="0" sz="1600" u="none" cap="none" strike="noStrike">
              <a:solidFill>
                <a:schemeClr val="dk1"/>
              </a:solidFill>
              <a:latin typeface="Arial"/>
              <a:ea typeface="Arial"/>
              <a:cs typeface="Arial"/>
              <a:sym typeface="Arial"/>
            </a:endParaRPr>
          </a:p>
        </p:txBody>
      </p:sp>
      <p:sp>
        <p:nvSpPr>
          <p:cNvPr id="1429" name="Google Shape;1429;p34"/>
          <p:cNvSpPr txBox="1"/>
          <p:nvPr/>
        </p:nvSpPr>
        <p:spPr>
          <a:xfrm>
            <a:off x="1033272" y="5715000"/>
            <a:ext cx="3703320" cy="329184"/>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A: no useful suffix matched</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B: suffix a matched</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C: suffix ab matched</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D: suffix abb matched</a:t>
            </a:r>
            <a:endParaRPr b="0" i="0" sz="1600" u="none" cap="none" strike="noStrike">
              <a:solidFill>
                <a:schemeClr val="dk1"/>
              </a:solidFill>
              <a:latin typeface="Arial"/>
              <a:ea typeface="Arial"/>
              <a:cs typeface="Arial"/>
              <a:sym typeface="Arial"/>
            </a:endParaRPr>
          </a:p>
        </p:txBody>
      </p:sp>
      <p:sp>
        <p:nvSpPr>
          <p:cNvPr id="1430" name="Google Shape;1430;p34"/>
          <p:cNvSpPr/>
          <p:nvPr/>
        </p:nvSpPr>
        <p:spPr>
          <a:xfrm>
            <a:off x="7360920" y="5230368"/>
            <a:ext cx="3977640" cy="896112"/>
          </a:xfrm>
          <a:prstGeom prst="roundRect">
            <a:avLst>
              <a:gd fmla="val 8163" name="adj"/>
            </a:avLst>
          </a:prstGeom>
          <a:solidFill>
            <a:srgbClr val="FBECEC"/>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4"/>
          <p:cNvSpPr/>
          <p:nvPr/>
        </p:nvSpPr>
        <p:spPr>
          <a:xfrm>
            <a:off x="7360920" y="5230368"/>
            <a:ext cx="73152" cy="896112"/>
          </a:xfrm>
          <a:prstGeom prst="rect">
            <a:avLst/>
          </a:prstGeom>
          <a:solidFill>
            <a:srgbClr val="C94C4C"/>
          </a:solidFill>
          <a:ln cap="flat" cmpd="sng" w="12700">
            <a:solidFill>
              <a:srgbClr val="C94C4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4"/>
          <p:cNvSpPr txBox="1"/>
          <p:nvPr/>
        </p:nvSpPr>
        <p:spPr>
          <a:xfrm>
            <a:off x="7525512" y="5340096"/>
            <a:ext cx="370332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Accepting condition</a:t>
            </a:r>
            <a:endParaRPr b="0" i="0" sz="1600" u="none" cap="none" strike="noStrike">
              <a:solidFill>
                <a:schemeClr val="dk1"/>
              </a:solidFill>
              <a:latin typeface="Arial"/>
              <a:ea typeface="Arial"/>
              <a:cs typeface="Arial"/>
              <a:sym typeface="Arial"/>
            </a:endParaRPr>
          </a:p>
        </p:txBody>
      </p:sp>
      <p:sp>
        <p:nvSpPr>
          <p:cNvPr id="1433" name="Google Shape;1433;p34"/>
          <p:cNvSpPr txBox="1"/>
          <p:nvPr/>
        </p:nvSpPr>
        <p:spPr>
          <a:xfrm>
            <a:off x="7525512" y="5715000"/>
            <a:ext cx="3703320" cy="329184"/>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D is a double-circle state because it contains position 6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438" name="Shape 1438"/>
        <p:cNvGrpSpPr/>
        <p:nvPr/>
      </p:nvGrpSpPr>
      <p:grpSpPr>
        <a:xfrm>
          <a:off x="0" y="0"/>
          <a:ext cx="0" cy="0"/>
          <a:chOff x="0" y="0"/>
          <a:chExt cx="0" cy="0"/>
        </a:xfrm>
      </p:grpSpPr>
      <p:sp>
        <p:nvSpPr>
          <p:cNvPr id="1439" name="Google Shape;1439;p35"/>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Test the DFA with sample strings</a:t>
            </a:r>
            <a:endParaRPr b="0" i="0" sz="2800" u="none" cap="none" strike="noStrike">
              <a:solidFill>
                <a:schemeClr val="dk1"/>
              </a:solidFill>
              <a:latin typeface="Arial"/>
              <a:ea typeface="Arial"/>
              <a:cs typeface="Arial"/>
              <a:sym typeface="Arial"/>
            </a:endParaRPr>
          </a:p>
        </p:txBody>
      </p:sp>
      <p:sp>
        <p:nvSpPr>
          <p:cNvPr id="1441" name="Google Shape;1441;p35"/>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Validation</a:t>
            </a:r>
            <a:endParaRPr b="0" i="0" sz="1150" u="none" cap="none" strike="noStrike">
              <a:solidFill>
                <a:schemeClr val="dk1"/>
              </a:solidFill>
              <a:latin typeface="Arial"/>
              <a:ea typeface="Arial"/>
              <a:cs typeface="Arial"/>
              <a:sym typeface="Arial"/>
            </a:endParaRPr>
          </a:p>
        </p:txBody>
      </p:sp>
      <p:sp>
        <p:nvSpPr>
          <p:cNvPr id="1443" name="Google Shape;1443;p35"/>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444" name="Google Shape;1444;p35"/>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35</a:t>
            </a:r>
            <a:endParaRPr b="0" i="0" sz="950" u="none" cap="none" strike="noStrike">
              <a:solidFill>
                <a:schemeClr val="dk1"/>
              </a:solidFill>
              <a:latin typeface="Arial"/>
              <a:ea typeface="Arial"/>
              <a:cs typeface="Arial"/>
              <a:sym typeface="Arial"/>
            </a:endParaRPr>
          </a:p>
        </p:txBody>
      </p:sp>
      <p:sp>
        <p:nvSpPr>
          <p:cNvPr id="1445" name="Google Shape;1445;p35"/>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447" name="Google Shape;1447;p35"/>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449" name="Google Shape;1449;p35"/>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451" name="Google Shape;1451;p35"/>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453" name="Google Shape;1453;p35"/>
          <p:cNvSpPr/>
          <p:nvPr/>
        </p:nvSpPr>
        <p:spPr>
          <a:xfrm>
            <a:off x="658368" y="932688"/>
            <a:ext cx="5486400" cy="4526280"/>
          </a:xfrm>
          <a:prstGeom prst="roundRect">
            <a:avLst>
              <a:gd fmla="val 1616" name="adj"/>
            </a:avLst>
          </a:prstGeom>
          <a:solidFill>
            <a:srgbClr val="E8F6F2"/>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txBox="1"/>
          <p:nvPr/>
        </p:nvSpPr>
        <p:spPr>
          <a:xfrm>
            <a:off x="932688" y="1234440"/>
            <a:ext cx="493776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2200"/>
              <a:buFont typeface="Arial"/>
              <a:buNone/>
            </a:pPr>
            <a:r>
              <a:rPr b="1" i="0" lang="en-US" sz="2200" u="none" cap="none" strike="noStrike">
                <a:solidFill>
                  <a:srgbClr val="2A9D8F"/>
                </a:solidFill>
                <a:latin typeface="Arial"/>
                <a:ea typeface="Arial"/>
                <a:cs typeface="Arial"/>
                <a:sym typeface="Arial"/>
              </a:rPr>
              <a:t>Accepted examples</a:t>
            </a:r>
            <a:endParaRPr b="0" i="0" sz="2200" u="none" cap="none" strike="noStrike">
              <a:solidFill>
                <a:schemeClr val="dk1"/>
              </a:solidFill>
              <a:latin typeface="Arial"/>
              <a:ea typeface="Arial"/>
              <a:cs typeface="Arial"/>
              <a:sym typeface="Arial"/>
            </a:endParaRPr>
          </a:p>
        </p:txBody>
      </p:sp>
      <p:sp>
        <p:nvSpPr>
          <p:cNvPr id="1455" name="Google Shape;1455;p35"/>
          <p:cNvSpPr txBox="1"/>
          <p:nvPr/>
        </p:nvSpPr>
        <p:spPr>
          <a:xfrm>
            <a:off x="1078992" y="1847088"/>
            <a:ext cx="731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abb</a:t>
            </a:r>
            <a:endParaRPr b="0" i="0" sz="2000" u="none" cap="none" strike="noStrike">
              <a:solidFill>
                <a:schemeClr val="dk1"/>
              </a:solidFill>
              <a:latin typeface="Arial"/>
              <a:ea typeface="Arial"/>
              <a:cs typeface="Arial"/>
              <a:sym typeface="Arial"/>
            </a:endParaRPr>
          </a:p>
        </p:txBody>
      </p:sp>
      <p:sp>
        <p:nvSpPr>
          <p:cNvPr id="1456" name="Google Shape;1456;p35"/>
          <p:cNvSpPr txBox="1"/>
          <p:nvPr/>
        </p:nvSpPr>
        <p:spPr>
          <a:xfrm>
            <a:off x="1874520" y="1801368"/>
            <a:ext cx="379476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A —a→ B —b→ C —b→ D ✓</a:t>
            </a:r>
            <a:endParaRPr b="0" i="0" sz="1900" u="none" cap="none" strike="noStrike">
              <a:solidFill>
                <a:schemeClr val="dk1"/>
              </a:solidFill>
              <a:latin typeface="Arial"/>
              <a:ea typeface="Arial"/>
              <a:cs typeface="Arial"/>
              <a:sym typeface="Arial"/>
            </a:endParaRPr>
          </a:p>
        </p:txBody>
      </p:sp>
      <p:sp>
        <p:nvSpPr>
          <p:cNvPr id="1457" name="Google Shape;1457;p35"/>
          <p:cNvSpPr txBox="1"/>
          <p:nvPr/>
        </p:nvSpPr>
        <p:spPr>
          <a:xfrm>
            <a:off x="1078992" y="2697480"/>
            <a:ext cx="731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aabb</a:t>
            </a:r>
            <a:endParaRPr b="0" i="0" sz="2000" u="none" cap="none" strike="noStrike">
              <a:solidFill>
                <a:schemeClr val="dk1"/>
              </a:solidFill>
              <a:latin typeface="Arial"/>
              <a:ea typeface="Arial"/>
              <a:cs typeface="Arial"/>
              <a:sym typeface="Arial"/>
            </a:endParaRPr>
          </a:p>
        </p:txBody>
      </p:sp>
      <p:sp>
        <p:nvSpPr>
          <p:cNvPr id="1458" name="Google Shape;1458;p35"/>
          <p:cNvSpPr txBox="1"/>
          <p:nvPr/>
        </p:nvSpPr>
        <p:spPr>
          <a:xfrm>
            <a:off x="1874520" y="2651760"/>
            <a:ext cx="379476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820"/>
              <a:buFont typeface="Arial"/>
              <a:buNone/>
            </a:pPr>
            <a:r>
              <a:rPr b="0" i="0" lang="en-US" sz="1820" u="none" cap="none" strike="noStrike">
                <a:solidFill>
                  <a:srgbClr val="1D2A39"/>
                </a:solidFill>
                <a:latin typeface="Arial"/>
                <a:ea typeface="Arial"/>
                <a:cs typeface="Arial"/>
                <a:sym typeface="Arial"/>
              </a:rPr>
              <a:t>A —a→ B —a→ B —b→ C —b→ D ✓</a:t>
            </a:r>
            <a:endParaRPr b="0" i="0" sz="1820" u="none" cap="none" strike="noStrike">
              <a:solidFill>
                <a:schemeClr val="dk1"/>
              </a:solidFill>
              <a:latin typeface="Arial"/>
              <a:ea typeface="Arial"/>
              <a:cs typeface="Arial"/>
              <a:sym typeface="Arial"/>
            </a:endParaRPr>
          </a:p>
        </p:txBody>
      </p:sp>
      <p:sp>
        <p:nvSpPr>
          <p:cNvPr id="1459" name="Google Shape;1459;p35"/>
          <p:cNvSpPr txBox="1"/>
          <p:nvPr/>
        </p:nvSpPr>
        <p:spPr>
          <a:xfrm>
            <a:off x="1078992" y="3547872"/>
            <a:ext cx="731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babb</a:t>
            </a:r>
            <a:endParaRPr b="0" i="0" sz="2000" u="none" cap="none" strike="noStrike">
              <a:solidFill>
                <a:schemeClr val="dk1"/>
              </a:solidFill>
              <a:latin typeface="Arial"/>
              <a:ea typeface="Arial"/>
              <a:cs typeface="Arial"/>
              <a:sym typeface="Arial"/>
            </a:endParaRPr>
          </a:p>
        </p:txBody>
      </p:sp>
      <p:sp>
        <p:nvSpPr>
          <p:cNvPr id="1460" name="Google Shape;1460;p35"/>
          <p:cNvSpPr txBox="1"/>
          <p:nvPr/>
        </p:nvSpPr>
        <p:spPr>
          <a:xfrm>
            <a:off x="1874520" y="3502152"/>
            <a:ext cx="379476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820"/>
              <a:buFont typeface="Arial"/>
              <a:buNone/>
            </a:pPr>
            <a:r>
              <a:rPr b="0" i="0" lang="en-US" sz="1820" u="none" cap="none" strike="noStrike">
                <a:solidFill>
                  <a:srgbClr val="1D2A39"/>
                </a:solidFill>
                <a:latin typeface="Arial"/>
                <a:ea typeface="Arial"/>
                <a:cs typeface="Arial"/>
                <a:sym typeface="Arial"/>
              </a:rPr>
              <a:t>A —b→ A —a→ B —b→ C —b→ D ✓</a:t>
            </a:r>
            <a:endParaRPr b="0" i="0" sz="1820" u="none" cap="none" strike="noStrike">
              <a:solidFill>
                <a:schemeClr val="dk1"/>
              </a:solidFill>
              <a:latin typeface="Arial"/>
              <a:ea typeface="Arial"/>
              <a:cs typeface="Arial"/>
              <a:sym typeface="Arial"/>
            </a:endParaRPr>
          </a:p>
        </p:txBody>
      </p:sp>
      <p:sp>
        <p:nvSpPr>
          <p:cNvPr id="1461" name="Google Shape;1461;p35"/>
          <p:cNvSpPr/>
          <p:nvPr/>
        </p:nvSpPr>
        <p:spPr>
          <a:xfrm>
            <a:off x="2011680" y="4443984"/>
            <a:ext cx="274320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txBox="1"/>
          <p:nvPr/>
        </p:nvSpPr>
        <p:spPr>
          <a:xfrm>
            <a:off x="2057400" y="4453128"/>
            <a:ext cx="26517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A9D8F"/>
              </a:buClr>
              <a:buSzPts val="1600"/>
              <a:buFont typeface="Arial"/>
              <a:buNone/>
            </a:pPr>
            <a:r>
              <a:rPr b="1" i="0" lang="en-US" sz="1600" u="none" cap="none" strike="noStrike">
                <a:solidFill>
                  <a:srgbClr val="2A9D8F"/>
                </a:solidFill>
                <a:latin typeface="Arial"/>
                <a:ea typeface="Arial"/>
                <a:cs typeface="Arial"/>
                <a:sym typeface="Arial"/>
              </a:rPr>
              <a:t>All end with abb</a:t>
            </a:r>
            <a:endParaRPr b="0" i="0" sz="1600" u="none" cap="none" strike="noStrike">
              <a:solidFill>
                <a:schemeClr val="dk1"/>
              </a:solidFill>
              <a:latin typeface="Arial"/>
              <a:ea typeface="Arial"/>
              <a:cs typeface="Arial"/>
              <a:sym typeface="Arial"/>
            </a:endParaRPr>
          </a:p>
        </p:txBody>
      </p:sp>
      <p:sp>
        <p:nvSpPr>
          <p:cNvPr id="1463" name="Google Shape;1463;p35"/>
          <p:cNvSpPr/>
          <p:nvPr/>
        </p:nvSpPr>
        <p:spPr>
          <a:xfrm>
            <a:off x="6355080" y="932688"/>
            <a:ext cx="5184648" cy="4526280"/>
          </a:xfrm>
          <a:prstGeom prst="roundRect">
            <a:avLst>
              <a:gd fmla="val 1616" name="adj"/>
            </a:avLst>
          </a:prstGeom>
          <a:solidFill>
            <a:srgbClr val="FBECEC"/>
          </a:solidFill>
          <a:ln cap="flat" cmpd="sng" w="12700">
            <a:solidFill>
              <a:srgbClr val="C94C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5"/>
          <p:cNvSpPr txBox="1"/>
          <p:nvPr/>
        </p:nvSpPr>
        <p:spPr>
          <a:xfrm>
            <a:off x="6629400" y="1234440"/>
            <a:ext cx="4636008"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2200"/>
              <a:buFont typeface="Arial"/>
              <a:buNone/>
            </a:pPr>
            <a:r>
              <a:rPr b="1" i="0" lang="en-US" sz="2200" u="none" cap="none" strike="noStrike">
                <a:solidFill>
                  <a:srgbClr val="C94C4C"/>
                </a:solidFill>
                <a:latin typeface="Arial"/>
                <a:ea typeface="Arial"/>
                <a:cs typeface="Arial"/>
                <a:sym typeface="Arial"/>
              </a:rPr>
              <a:t>Rejected examples</a:t>
            </a:r>
            <a:endParaRPr b="0" i="0" sz="2200" u="none" cap="none" strike="noStrike">
              <a:solidFill>
                <a:schemeClr val="dk1"/>
              </a:solidFill>
              <a:latin typeface="Arial"/>
              <a:ea typeface="Arial"/>
              <a:cs typeface="Arial"/>
              <a:sym typeface="Arial"/>
            </a:endParaRPr>
          </a:p>
        </p:txBody>
      </p:sp>
      <p:sp>
        <p:nvSpPr>
          <p:cNvPr id="1465" name="Google Shape;1465;p35"/>
          <p:cNvSpPr txBox="1"/>
          <p:nvPr/>
        </p:nvSpPr>
        <p:spPr>
          <a:xfrm>
            <a:off x="6784848" y="1847088"/>
            <a:ext cx="731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ab</a:t>
            </a:r>
            <a:endParaRPr b="0" i="0" sz="2000" u="none" cap="none" strike="noStrike">
              <a:solidFill>
                <a:schemeClr val="dk1"/>
              </a:solidFill>
              <a:latin typeface="Arial"/>
              <a:ea typeface="Arial"/>
              <a:cs typeface="Arial"/>
              <a:sym typeface="Arial"/>
            </a:endParaRPr>
          </a:p>
        </p:txBody>
      </p:sp>
      <p:sp>
        <p:nvSpPr>
          <p:cNvPr id="1466" name="Google Shape;1466;p35"/>
          <p:cNvSpPr txBox="1"/>
          <p:nvPr/>
        </p:nvSpPr>
        <p:spPr>
          <a:xfrm>
            <a:off x="7543800" y="1801368"/>
            <a:ext cx="342900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900"/>
              <a:buFont typeface="Arial"/>
              <a:buNone/>
            </a:pPr>
            <a:r>
              <a:rPr b="0" i="0" lang="en-US" sz="1900" u="none" cap="none" strike="noStrike">
                <a:solidFill>
                  <a:srgbClr val="1D2A39"/>
                </a:solidFill>
                <a:latin typeface="Arial"/>
                <a:ea typeface="Arial"/>
                <a:cs typeface="Arial"/>
                <a:sym typeface="Arial"/>
              </a:rPr>
              <a:t>A —a→ B —b→ C  ✗</a:t>
            </a:r>
            <a:endParaRPr b="0" i="0" sz="1900" u="none" cap="none" strike="noStrike">
              <a:solidFill>
                <a:schemeClr val="dk1"/>
              </a:solidFill>
              <a:latin typeface="Arial"/>
              <a:ea typeface="Arial"/>
              <a:cs typeface="Arial"/>
              <a:sym typeface="Arial"/>
            </a:endParaRPr>
          </a:p>
        </p:txBody>
      </p:sp>
      <p:sp>
        <p:nvSpPr>
          <p:cNvPr id="1467" name="Google Shape;1467;p35"/>
          <p:cNvSpPr txBox="1"/>
          <p:nvPr/>
        </p:nvSpPr>
        <p:spPr>
          <a:xfrm>
            <a:off x="6784848" y="2697480"/>
            <a:ext cx="731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abba</a:t>
            </a:r>
            <a:endParaRPr b="0" i="0" sz="2000" u="none" cap="none" strike="noStrike">
              <a:solidFill>
                <a:schemeClr val="dk1"/>
              </a:solidFill>
              <a:latin typeface="Arial"/>
              <a:ea typeface="Arial"/>
              <a:cs typeface="Arial"/>
              <a:sym typeface="Arial"/>
            </a:endParaRPr>
          </a:p>
        </p:txBody>
      </p:sp>
      <p:sp>
        <p:nvSpPr>
          <p:cNvPr id="1468" name="Google Shape;1468;p35"/>
          <p:cNvSpPr txBox="1"/>
          <p:nvPr/>
        </p:nvSpPr>
        <p:spPr>
          <a:xfrm>
            <a:off x="7543800" y="2651760"/>
            <a:ext cx="342900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40"/>
              <a:buFont typeface="Arial"/>
              <a:buNone/>
            </a:pPr>
            <a:r>
              <a:rPr b="0" i="0" lang="en-US" sz="1740" u="none" cap="none" strike="noStrike">
                <a:solidFill>
                  <a:srgbClr val="1D2A39"/>
                </a:solidFill>
                <a:latin typeface="Arial"/>
                <a:ea typeface="Arial"/>
                <a:cs typeface="Arial"/>
                <a:sym typeface="Arial"/>
              </a:rPr>
              <a:t>A —a→ B —b→ C —b→ D —a→ B  ✗</a:t>
            </a:r>
            <a:endParaRPr b="0" i="0" sz="1740" u="none" cap="none" strike="noStrike">
              <a:solidFill>
                <a:schemeClr val="dk1"/>
              </a:solidFill>
              <a:latin typeface="Arial"/>
              <a:ea typeface="Arial"/>
              <a:cs typeface="Arial"/>
              <a:sym typeface="Arial"/>
            </a:endParaRPr>
          </a:p>
        </p:txBody>
      </p:sp>
      <p:sp>
        <p:nvSpPr>
          <p:cNvPr id="1469" name="Google Shape;1469;p35"/>
          <p:cNvSpPr txBox="1"/>
          <p:nvPr/>
        </p:nvSpPr>
        <p:spPr>
          <a:xfrm>
            <a:off x="6784848" y="3547872"/>
            <a:ext cx="731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bbb</a:t>
            </a:r>
            <a:endParaRPr b="0" i="0" sz="2000" u="none" cap="none" strike="noStrike">
              <a:solidFill>
                <a:schemeClr val="dk1"/>
              </a:solidFill>
              <a:latin typeface="Arial"/>
              <a:ea typeface="Arial"/>
              <a:cs typeface="Arial"/>
              <a:sym typeface="Arial"/>
            </a:endParaRPr>
          </a:p>
        </p:txBody>
      </p:sp>
      <p:sp>
        <p:nvSpPr>
          <p:cNvPr id="1470" name="Google Shape;1470;p35"/>
          <p:cNvSpPr txBox="1"/>
          <p:nvPr/>
        </p:nvSpPr>
        <p:spPr>
          <a:xfrm>
            <a:off x="7543800" y="3502152"/>
            <a:ext cx="342900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820"/>
              <a:buFont typeface="Arial"/>
              <a:buNone/>
            </a:pPr>
            <a:r>
              <a:rPr b="0" i="0" lang="en-US" sz="1820" u="none" cap="none" strike="noStrike">
                <a:solidFill>
                  <a:srgbClr val="1D2A39"/>
                </a:solidFill>
                <a:latin typeface="Arial"/>
                <a:ea typeface="Arial"/>
                <a:cs typeface="Arial"/>
                <a:sym typeface="Arial"/>
              </a:rPr>
              <a:t>A —b→ A —b→ A —b→ A  ✗</a:t>
            </a:r>
            <a:endParaRPr b="0" i="0" sz="1820" u="none" cap="none" strike="noStrike">
              <a:solidFill>
                <a:schemeClr val="dk1"/>
              </a:solidFill>
              <a:latin typeface="Arial"/>
              <a:ea typeface="Arial"/>
              <a:cs typeface="Arial"/>
              <a:sym typeface="Arial"/>
            </a:endParaRPr>
          </a:p>
        </p:txBody>
      </p:sp>
      <p:sp>
        <p:nvSpPr>
          <p:cNvPr id="1471" name="Google Shape;1471;p35"/>
          <p:cNvSpPr/>
          <p:nvPr/>
        </p:nvSpPr>
        <p:spPr>
          <a:xfrm>
            <a:off x="7635240" y="4443984"/>
            <a:ext cx="274320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txBox="1"/>
          <p:nvPr/>
        </p:nvSpPr>
        <p:spPr>
          <a:xfrm>
            <a:off x="7680960" y="4453128"/>
            <a:ext cx="26517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C94C4C"/>
              </a:buClr>
              <a:buSzPts val="1600"/>
              <a:buFont typeface="Arial"/>
              <a:buNone/>
            </a:pPr>
            <a:r>
              <a:rPr b="1" i="0" lang="en-US" sz="1600" u="none" cap="none" strike="noStrike">
                <a:solidFill>
                  <a:srgbClr val="C94C4C"/>
                </a:solidFill>
                <a:latin typeface="Arial"/>
                <a:ea typeface="Arial"/>
                <a:cs typeface="Arial"/>
                <a:sym typeface="Arial"/>
              </a:rPr>
              <a:t>Final state is not D</a:t>
            </a:r>
            <a:endParaRPr b="0" i="0" sz="1600" u="none" cap="none" strike="noStrike">
              <a:solidFill>
                <a:schemeClr val="dk1"/>
              </a:solidFill>
              <a:latin typeface="Arial"/>
              <a:ea typeface="Arial"/>
              <a:cs typeface="Arial"/>
              <a:sym typeface="Arial"/>
            </a:endParaRPr>
          </a:p>
        </p:txBody>
      </p:sp>
      <p:sp>
        <p:nvSpPr>
          <p:cNvPr id="1473" name="Google Shape;1473;p35"/>
          <p:cNvSpPr txBox="1"/>
          <p:nvPr/>
        </p:nvSpPr>
        <p:spPr>
          <a:xfrm>
            <a:off x="1371600" y="5687568"/>
            <a:ext cx="9418320"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100"/>
              <a:buFont typeface="Arial"/>
              <a:buNone/>
            </a:pPr>
            <a:r>
              <a:rPr b="1" i="0" lang="en-US" sz="2100" u="none" cap="none" strike="noStrike">
                <a:solidFill>
                  <a:srgbClr val="153A73"/>
                </a:solidFill>
                <a:latin typeface="Arial"/>
                <a:ea typeface="Arial"/>
                <a:cs typeface="Arial"/>
                <a:sym typeface="Arial"/>
              </a:rPr>
              <a:t>Recognized language: all strings over {a,b} ending in abb.</a:t>
            </a:r>
            <a:endParaRPr b="0" i="0" sz="21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478" name="Shape 1478"/>
        <p:cNvGrpSpPr/>
        <p:nvPr/>
      </p:nvGrpSpPr>
      <p:grpSpPr>
        <a:xfrm>
          <a:off x="0" y="0"/>
          <a:ext cx="0" cy="0"/>
          <a:chOff x="0" y="0"/>
          <a:chExt cx="0" cy="0"/>
        </a:xfrm>
      </p:grpSpPr>
      <p:sp>
        <p:nvSpPr>
          <p:cNvPr id="1479" name="Google Shape;1479;p36"/>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6"/>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Where this method fits and where it is used</a:t>
            </a:r>
            <a:endParaRPr b="0" i="0" sz="2800" u="none" cap="none" strike="noStrike">
              <a:solidFill>
                <a:schemeClr val="dk1"/>
              </a:solidFill>
              <a:latin typeface="Arial"/>
              <a:ea typeface="Arial"/>
              <a:cs typeface="Arial"/>
              <a:sym typeface="Arial"/>
            </a:endParaRPr>
          </a:p>
        </p:txBody>
      </p:sp>
      <p:sp>
        <p:nvSpPr>
          <p:cNvPr id="1481" name="Google Shape;1481;p36"/>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6"/>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Context</a:t>
            </a:r>
            <a:endParaRPr b="0" i="0" sz="1150" u="none" cap="none" strike="noStrike">
              <a:solidFill>
                <a:schemeClr val="dk1"/>
              </a:solidFill>
              <a:latin typeface="Arial"/>
              <a:ea typeface="Arial"/>
              <a:cs typeface="Arial"/>
              <a:sym typeface="Arial"/>
            </a:endParaRPr>
          </a:p>
        </p:txBody>
      </p:sp>
      <p:sp>
        <p:nvSpPr>
          <p:cNvPr id="1483" name="Google Shape;1483;p36"/>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484" name="Google Shape;1484;p36"/>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36</a:t>
            </a:r>
            <a:endParaRPr b="0" i="0" sz="950" u="none" cap="none" strike="noStrike">
              <a:solidFill>
                <a:schemeClr val="dk1"/>
              </a:solidFill>
              <a:latin typeface="Arial"/>
              <a:ea typeface="Arial"/>
              <a:cs typeface="Arial"/>
              <a:sym typeface="Arial"/>
            </a:endParaRPr>
          </a:p>
        </p:txBody>
      </p:sp>
      <p:sp>
        <p:nvSpPr>
          <p:cNvPr id="1485" name="Google Shape;1485;p36"/>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6"/>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487" name="Google Shape;1487;p36"/>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6"/>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489" name="Google Shape;1489;p36"/>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6"/>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491" name="Google Shape;1491;p36"/>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6"/>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493" name="Google Shape;1493;p36"/>
          <p:cNvSpPr/>
          <p:nvPr/>
        </p:nvSpPr>
        <p:spPr>
          <a:xfrm>
            <a:off x="658368" y="960120"/>
            <a:ext cx="5257800" cy="4251960"/>
          </a:xfrm>
          <a:prstGeom prst="roundRect">
            <a:avLst>
              <a:gd fmla="val 1720" name="adj"/>
            </a:avLst>
          </a:prstGeom>
          <a:solidFill>
            <a:srgbClr val="F0EBF8"/>
          </a:solidFill>
          <a:ln cap="flat" cmpd="sng" w="12700">
            <a:solidFill>
              <a:srgbClr val="7B61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6"/>
          <p:cNvSpPr txBox="1"/>
          <p:nvPr/>
        </p:nvSpPr>
        <p:spPr>
          <a:xfrm>
            <a:off x="932688" y="1234440"/>
            <a:ext cx="470916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2200"/>
              <a:buFont typeface="Arial"/>
              <a:buNone/>
            </a:pPr>
            <a:r>
              <a:rPr b="1" i="0" lang="en-US" sz="2200" u="none" cap="none" strike="noStrike">
                <a:solidFill>
                  <a:srgbClr val="7B61A8"/>
                </a:solidFill>
                <a:latin typeface="Arial"/>
                <a:ea typeface="Arial"/>
                <a:cs typeface="Arial"/>
                <a:sym typeface="Arial"/>
              </a:rPr>
              <a:t>Direct syntax-tree route</a:t>
            </a:r>
            <a:endParaRPr b="0" i="0" sz="2200" u="none" cap="none" strike="noStrike">
              <a:solidFill>
                <a:schemeClr val="dk1"/>
              </a:solidFill>
              <a:latin typeface="Arial"/>
              <a:ea typeface="Arial"/>
              <a:cs typeface="Arial"/>
              <a:sym typeface="Arial"/>
            </a:endParaRPr>
          </a:p>
        </p:txBody>
      </p:sp>
      <p:sp>
        <p:nvSpPr>
          <p:cNvPr id="1495" name="Google Shape;1495;p36"/>
          <p:cNvSpPr/>
          <p:nvPr/>
        </p:nvSpPr>
        <p:spPr>
          <a:xfrm>
            <a:off x="1005840" y="1965960"/>
            <a:ext cx="105156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6"/>
          <p:cNvSpPr txBox="1"/>
          <p:nvPr/>
        </p:nvSpPr>
        <p:spPr>
          <a:xfrm>
            <a:off x="1051560" y="1975104"/>
            <a:ext cx="9601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Regex</a:t>
            </a:r>
            <a:endParaRPr b="0" i="0" sz="1600" u="none" cap="none" strike="noStrike">
              <a:solidFill>
                <a:schemeClr val="dk1"/>
              </a:solidFill>
              <a:latin typeface="Arial"/>
              <a:ea typeface="Arial"/>
              <a:cs typeface="Arial"/>
              <a:sym typeface="Arial"/>
            </a:endParaRPr>
          </a:p>
        </p:txBody>
      </p:sp>
      <p:sp>
        <p:nvSpPr>
          <p:cNvPr id="1497" name="Google Shape;1497;p36"/>
          <p:cNvSpPr/>
          <p:nvPr/>
        </p:nvSpPr>
        <p:spPr>
          <a:xfrm>
            <a:off x="2176272" y="2011680"/>
            <a:ext cx="731520" cy="365760"/>
          </a:xfrm>
          <a:prstGeom prst="rightArrow">
            <a:avLst>
              <a:gd fmla="val 50000" name="adj1"/>
              <a:gd fmla="val 50000" name="adj2"/>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6"/>
          <p:cNvSpPr/>
          <p:nvPr/>
        </p:nvSpPr>
        <p:spPr>
          <a:xfrm>
            <a:off x="2999232" y="1965960"/>
            <a:ext cx="228600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6"/>
          <p:cNvSpPr txBox="1"/>
          <p:nvPr/>
        </p:nvSpPr>
        <p:spPr>
          <a:xfrm>
            <a:off x="3044952" y="1975104"/>
            <a:ext cx="21945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500"/>
              <a:buFont typeface="Arial"/>
              <a:buNone/>
            </a:pPr>
            <a:r>
              <a:rPr b="1" i="0" lang="en-US" sz="1500" u="none" cap="none" strike="noStrike">
                <a:solidFill>
                  <a:srgbClr val="7B61A8"/>
                </a:solidFill>
                <a:latin typeface="Arial"/>
                <a:ea typeface="Arial"/>
                <a:cs typeface="Arial"/>
                <a:sym typeface="Arial"/>
              </a:rPr>
              <a:t>Syntax tree + functions</a:t>
            </a:r>
            <a:endParaRPr b="0" i="0" sz="1500" u="none" cap="none" strike="noStrike">
              <a:solidFill>
                <a:schemeClr val="dk1"/>
              </a:solidFill>
              <a:latin typeface="Arial"/>
              <a:ea typeface="Arial"/>
              <a:cs typeface="Arial"/>
              <a:sym typeface="Arial"/>
            </a:endParaRPr>
          </a:p>
        </p:txBody>
      </p:sp>
      <p:sp>
        <p:nvSpPr>
          <p:cNvPr id="1500" name="Google Shape;1500;p36"/>
          <p:cNvSpPr/>
          <p:nvPr/>
        </p:nvSpPr>
        <p:spPr>
          <a:xfrm>
            <a:off x="3913632" y="2606040"/>
            <a:ext cx="502920" cy="594360"/>
          </a:xfrm>
          <a:prstGeom prst="downArrow">
            <a:avLst>
              <a:gd fmla="val 50000" name="adj1"/>
              <a:gd fmla="val 50000" name="adj2"/>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6"/>
          <p:cNvSpPr/>
          <p:nvPr/>
        </p:nvSpPr>
        <p:spPr>
          <a:xfrm>
            <a:off x="3447288" y="3410712"/>
            <a:ext cx="1417320" cy="310896"/>
          </a:xfrm>
          <a:prstGeom prst="roundRect">
            <a:avLst>
              <a:gd fmla="val 47059" name="adj"/>
            </a:avLst>
          </a:prstGeom>
          <a:solidFill>
            <a:srgbClr val="FFFFFF"/>
          </a:solidFill>
          <a:ln cap="flat" cmpd="sng" w="12700">
            <a:solidFill>
              <a:srgbClr val="FFFF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6"/>
          <p:cNvSpPr txBox="1"/>
          <p:nvPr/>
        </p:nvSpPr>
        <p:spPr>
          <a:xfrm>
            <a:off x="3493008" y="3419856"/>
            <a:ext cx="132588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700"/>
              <a:buFont typeface="Arial"/>
              <a:buNone/>
            </a:pPr>
            <a:r>
              <a:rPr b="1" i="0" lang="en-US" sz="1700" u="none" cap="none" strike="noStrike">
                <a:solidFill>
                  <a:srgbClr val="7B61A8"/>
                </a:solidFill>
                <a:latin typeface="Arial"/>
                <a:ea typeface="Arial"/>
                <a:cs typeface="Arial"/>
                <a:sym typeface="Arial"/>
              </a:rPr>
              <a:t>DFA</a:t>
            </a:r>
            <a:endParaRPr b="0" i="0" sz="1700" u="none" cap="none" strike="noStrike">
              <a:solidFill>
                <a:schemeClr val="dk1"/>
              </a:solidFill>
              <a:latin typeface="Arial"/>
              <a:ea typeface="Arial"/>
              <a:cs typeface="Arial"/>
              <a:sym typeface="Arial"/>
            </a:endParaRPr>
          </a:p>
        </p:txBody>
      </p:sp>
      <p:sp>
        <p:nvSpPr>
          <p:cNvPr id="1503" name="Google Shape;1503;p36"/>
          <p:cNvSpPr txBox="1"/>
          <p:nvPr/>
        </p:nvSpPr>
        <p:spPr>
          <a:xfrm>
            <a:off x="1325880" y="4315968"/>
            <a:ext cx="397764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1850"/>
              <a:buFont typeface="Arial"/>
              <a:buNone/>
            </a:pPr>
            <a:r>
              <a:rPr b="1" i="0" lang="en-US" sz="1850" u="none" cap="none" strike="noStrike">
                <a:solidFill>
                  <a:srgbClr val="153A73"/>
                </a:solidFill>
                <a:latin typeface="Arial"/>
                <a:ea typeface="Arial"/>
                <a:cs typeface="Arial"/>
                <a:sym typeface="Arial"/>
              </a:rPr>
              <a:t>No intermediate NFA is required.</a:t>
            </a:r>
            <a:endParaRPr b="0" i="0" sz="1850" u="none" cap="none" strike="noStrike">
              <a:solidFill>
                <a:schemeClr val="dk1"/>
              </a:solidFill>
              <a:latin typeface="Arial"/>
              <a:ea typeface="Arial"/>
              <a:cs typeface="Arial"/>
              <a:sym typeface="Arial"/>
            </a:endParaRPr>
          </a:p>
        </p:txBody>
      </p:sp>
      <p:sp>
        <p:nvSpPr>
          <p:cNvPr id="1504" name="Google Shape;1504;p36"/>
          <p:cNvSpPr/>
          <p:nvPr/>
        </p:nvSpPr>
        <p:spPr>
          <a:xfrm>
            <a:off x="6263640" y="960120"/>
            <a:ext cx="5257800" cy="4251960"/>
          </a:xfrm>
          <a:prstGeom prst="roundRect">
            <a:avLst>
              <a:gd fmla="val 1720"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6"/>
          <p:cNvSpPr txBox="1"/>
          <p:nvPr/>
        </p:nvSpPr>
        <p:spPr>
          <a:xfrm>
            <a:off x="6537960" y="1234440"/>
            <a:ext cx="470916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2200"/>
              <a:buFont typeface="Arial"/>
              <a:buNone/>
            </a:pPr>
            <a:r>
              <a:rPr b="1" i="0" lang="en-US" sz="2200" u="none" cap="none" strike="noStrike">
                <a:solidFill>
                  <a:srgbClr val="1F75BB"/>
                </a:solidFill>
                <a:latin typeface="Arial"/>
                <a:ea typeface="Arial"/>
                <a:cs typeface="Arial"/>
                <a:sym typeface="Arial"/>
              </a:rPr>
              <a:t>Traditional route</a:t>
            </a:r>
            <a:endParaRPr b="0" i="0" sz="2200" u="none" cap="none" strike="noStrike">
              <a:solidFill>
                <a:schemeClr val="dk1"/>
              </a:solidFill>
              <a:latin typeface="Arial"/>
              <a:ea typeface="Arial"/>
              <a:cs typeface="Arial"/>
              <a:sym typeface="Arial"/>
            </a:endParaRPr>
          </a:p>
        </p:txBody>
      </p:sp>
      <p:sp>
        <p:nvSpPr>
          <p:cNvPr id="1506" name="Google Shape;1506;p36"/>
          <p:cNvSpPr/>
          <p:nvPr/>
        </p:nvSpPr>
        <p:spPr>
          <a:xfrm>
            <a:off x="6629400" y="1965960"/>
            <a:ext cx="105156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6"/>
          <p:cNvSpPr txBox="1"/>
          <p:nvPr/>
        </p:nvSpPr>
        <p:spPr>
          <a:xfrm>
            <a:off x="6675120" y="1975104"/>
            <a:ext cx="9601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Regex</a:t>
            </a:r>
            <a:endParaRPr b="0" i="0" sz="1600" u="none" cap="none" strike="noStrike">
              <a:solidFill>
                <a:schemeClr val="dk1"/>
              </a:solidFill>
              <a:latin typeface="Arial"/>
              <a:ea typeface="Arial"/>
              <a:cs typeface="Arial"/>
              <a:sym typeface="Arial"/>
            </a:endParaRPr>
          </a:p>
        </p:txBody>
      </p:sp>
      <p:sp>
        <p:nvSpPr>
          <p:cNvPr id="1508" name="Google Shape;1508;p36"/>
          <p:cNvSpPr/>
          <p:nvPr/>
        </p:nvSpPr>
        <p:spPr>
          <a:xfrm>
            <a:off x="7790688" y="2011680"/>
            <a:ext cx="640080" cy="365760"/>
          </a:xfrm>
          <a:prstGeom prst="rightArrow">
            <a:avLst>
              <a:gd fmla="val 50000" name="adj1"/>
              <a:gd fmla="val 50000" name="adj2"/>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6"/>
          <p:cNvSpPr/>
          <p:nvPr/>
        </p:nvSpPr>
        <p:spPr>
          <a:xfrm>
            <a:off x="8522208" y="1965960"/>
            <a:ext cx="105156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6"/>
          <p:cNvSpPr txBox="1"/>
          <p:nvPr/>
        </p:nvSpPr>
        <p:spPr>
          <a:xfrm>
            <a:off x="8567928" y="1975104"/>
            <a:ext cx="96012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NFA</a:t>
            </a:r>
            <a:endParaRPr b="0" i="0" sz="1600" u="none" cap="none" strike="noStrike">
              <a:solidFill>
                <a:schemeClr val="dk1"/>
              </a:solidFill>
              <a:latin typeface="Arial"/>
              <a:ea typeface="Arial"/>
              <a:cs typeface="Arial"/>
              <a:sym typeface="Arial"/>
            </a:endParaRPr>
          </a:p>
        </p:txBody>
      </p:sp>
      <p:sp>
        <p:nvSpPr>
          <p:cNvPr id="1511" name="Google Shape;1511;p36"/>
          <p:cNvSpPr/>
          <p:nvPr/>
        </p:nvSpPr>
        <p:spPr>
          <a:xfrm>
            <a:off x="9674352" y="2011680"/>
            <a:ext cx="640080" cy="365760"/>
          </a:xfrm>
          <a:prstGeom prst="rightArrow">
            <a:avLst>
              <a:gd fmla="val 50000" name="adj1"/>
              <a:gd fmla="val 50000" name="adj2"/>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10424160" y="1965960"/>
            <a:ext cx="914400" cy="310896"/>
          </a:xfrm>
          <a:prstGeom prst="roundRect">
            <a:avLst>
              <a:gd fmla="val 47059" name="adj"/>
            </a:avLst>
          </a:prstGeom>
          <a:solidFill>
            <a:srgbClr val="EDF6FC"/>
          </a:solidFill>
          <a:ln cap="flat" cmpd="sng" w="12700">
            <a:solidFill>
              <a:srgbClr val="EDF6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txBox="1"/>
          <p:nvPr/>
        </p:nvSpPr>
        <p:spPr>
          <a:xfrm>
            <a:off x="10469880" y="1975104"/>
            <a:ext cx="82296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F75BB"/>
              </a:buClr>
              <a:buSzPts val="1600"/>
              <a:buFont typeface="Arial"/>
              <a:buNone/>
            </a:pPr>
            <a:r>
              <a:rPr b="1" i="0" lang="en-US" sz="1600" u="none" cap="none" strike="noStrike">
                <a:solidFill>
                  <a:srgbClr val="1F75BB"/>
                </a:solidFill>
                <a:latin typeface="Arial"/>
                <a:ea typeface="Arial"/>
                <a:cs typeface="Arial"/>
                <a:sym typeface="Arial"/>
              </a:rPr>
              <a:t>DFA</a:t>
            </a:r>
            <a:endParaRPr b="0" i="0" sz="1600" u="none" cap="none" strike="noStrike">
              <a:solidFill>
                <a:schemeClr val="dk1"/>
              </a:solidFill>
              <a:latin typeface="Arial"/>
              <a:ea typeface="Arial"/>
              <a:cs typeface="Arial"/>
              <a:sym typeface="Arial"/>
            </a:endParaRPr>
          </a:p>
        </p:txBody>
      </p:sp>
      <p:sp>
        <p:nvSpPr>
          <p:cNvPr id="1514" name="Google Shape;1514;p36"/>
          <p:cNvSpPr txBox="1"/>
          <p:nvPr/>
        </p:nvSpPr>
        <p:spPr>
          <a:xfrm>
            <a:off x="6629400" y="2926080"/>
            <a:ext cx="91440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Uses</a:t>
            </a:r>
            <a:endParaRPr b="0" i="0" sz="2000" u="none" cap="none" strike="noStrike">
              <a:solidFill>
                <a:schemeClr val="dk1"/>
              </a:solidFill>
              <a:latin typeface="Arial"/>
              <a:ea typeface="Arial"/>
              <a:cs typeface="Arial"/>
              <a:sym typeface="Arial"/>
            </a:endParaRPr>
          </a:p>
        </p:txBody>
      </p:sp>
      <p:sp>
        <p:nvSpPr>
          <p:cNvPr id="1515" name="Google Shape;1515;p36"/>
          <p:cNvSpPr/>
          <p:nvPr/>
        </p:nvSpPr>
        <p:spPr>
          <a:xfrm>
            <a:off x="6629400" y="3456432"/>
            <a:ext cx="100584" cy="100584"/>
          </a:xfrm>
          <a:prstGeom prst="ellipse">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6"/>
          <p:cNvSpPr txBox="1"/>
          <p:nvPr/>
        </p:nvSpPr>
        <p:spPr>
          <a:xfrm>
            <a:off x="6830568" y="3337560"/>
            <a:ext cx="4233672" cy="50292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lexical analysis in compilers</a:t>
            </a:r>
            <a:endParaRPr b="0" i="0" sz="1750" u="none" cap="none" strike="noStrike">
              <a:solidFill>
                <a:schemeClr val="dk1"/>
              </a:solidFill>
              <a:latin typeface="Arial"/>
              <a:ea typeface="Arial"/>
              <a:cs typeface="Arial"/>
              <a:sym typeface="Arial"/>
            </a:endParaRPr>
          </a:p>
        </p:txBody>
      </p:sp>
      <p:sp>
        <p:nvSpPr>
          <p:cNvPr id="1517" name="Google Shape;1517;p36"/>
          <p:cNvSpPr/>
          <p:nvPr/>
        </p:nvSpPr>
        <p:spPr>
          <a:xfrm>
            <a:off x="6629400" y="3959352"/>
            <a:ext cx="100584" cy="100584"/>
          </a:xfrm>
          <a:prstGeom prst="ellipse">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6"/>
          <p:cNvSpPr txBox="1"/>
          <p:nvPr/>
        </p:nvSpPr>
        <p:spPr>
          <a:xfrm>
            <a:off x="6830568" y="3840480"/>
            <a:ext cx="4233672" cy="50292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grep-like pattern matching utilities</a:t>
            </a:r>
            <a:endParaRPr b="0" i="0" sz="1750" u="none" cap="none" strike="noStrike">
              <a:solidFill>
                <a:schemeClr val="dk1"/>
              </a:solidFill>
              <a:latin typeface="Arial"/>
              <a:ea typeface="Arial"/>
              <a:cs typeface="Arial"/>
              <a:sym typeface="Arial"/>
            </a:endParaRPr>
          </a:p>
        </p:txBody>
      </p:sp>
      <p:sp>
        <p:nvSpPr>
          <p:cNvPr id="1519" name="Google Shape;1519;p36"/>
          <p:cNvSpPr/>
          <p:nvPr/>
        </p:nvSpPr>
        <p:spPr>
          <a:xfrm>
            <a:off x="6629400" y="4462272"/>
            <a:ext cx="100584" cy="100584"/>
          </a:xfrm>
          <a:prstGeom prst="ellipse">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6"/>
          <p:cNvSpPr txBox="1"/>
          <p:nvPr/>
        </p:nvSpPr>
        <p:spPr>
          <a:xfrm>
            <a:off x="6830568" y="4343400"/>
            <a:ext cx="4233672" cy="50292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1D2A39"/>
              </a:buClr>
              <a:buSzPts val="1750"/>
              <a:buFont typeface="Arial"/>
              <a:buNone/>
            </a:pPr>
            <a:r>
              <a:rPr b="0" i="0" lang="en-US" sz="1750" u="none" cap="none" strike="noStrike">
                <a:solidFill>
                  <a:srgbClr val="1D2A39"/>
                </a:solidFill>
                <a:latin typeface="Arial"/>
                <a:ea typeface="Arial"/>
                <a:cs typeface="Arial"/>
                <a:sym typeface="Arial"/>
              </a:rPr>
              <a:t>regular-expression libraries and engines</a:t>
            </a:r>
            <a:endParaRPr b="0" i="0" sz="1750" u="none" cap="none" strike="noStrike">
              <a:solidFill>
                <a:schemeClr val="dk1"/>
              </a:solidFill>
              <a:latin typeface="Arial"/>
              <a:ea typeface="Arial"/>
              <a:cs typeface="Arial"/>
              <a:sym typeface="Arial"/>
            </a:endParaRPr>
          </a:p>
        </p:txBody>
      </p:sp>
      <p:sp>
        <p:nvSpPr>
          <p:cNvPr id="1521" name="Google Shape;1521;p36"/>
          <p:cNvSpPr txBox="1"/>
          <p:nvPr/>
        </p:nvSpPr>
        <p:spPr>
          <a:xfrm>
            <a:off x="2148840" y="5596128"/>
            <a:ext cx="790956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000"/>
              <a:buFont typeface="Arial"/>
              <a:buNone/>
            </a:pPr>
            <a:r>
              <a:rPr b="1" i="0" lang="en-US" sz="2000" u="none" cap="none" strike="noStrike">
                <a:solidFill>
                  <a:srgbClr val="153A73"/>
                </a:solidFill>
                <a:latin typeface="Arial"/>
                <a:ea typeface="Arial"/>
                <a:cs typeface="Arial"/>
                <a:sym typeface="Arial"/>
              </a:rPr>
              <a:t>Both approaches produce equivalent automata.</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526" name="Shape 1526"/>
        <p:cNvGrpSpPr/>
        <p:nvPr/>
      </p:nvGrpSpPr>
      <p:grpSpPr>
        <a:xfrm>
          <a:off x="0" y="0"/>
          <a:ext cx="0" cy="0"/>
          <a:chOff x="0" y="0"/>
          <a:chExt cx="0" cy="0"/>
        </a:xfrm>
      </p:grpSpPr>
      <p:sp>
        <p:nvSpPr>
          <p:cNvPr id="1527" name="Google Shape;1527;p37"/>
          <p:cNvSpPr/>
          <p:nvPr/>
        </p:nvSpPr>
        <p:spPr>
          <a:xfrm>
            <a:off x="0" y="0"/>
            <a:ext cx="12191695" cy="91440"/>
          </a:xfrm>
          <a:prstGeom prst="rect">
            <a:avLst/>
          </a:prstGeom>
          <a:solidFill>
            <a:srgbClr val="153A73"/>
          </a:solidFill>
          <a:ln cap="flat" cmpd="sng" w="12700">
            <a:solidFill>
              <a:srgbClr val="153A7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7"/>
          <p:cNvSpPr txBox="1"/>
          <p:nvPr/>
        </p:nvSpPr>
        <p:spPr>
          <a:xfrm>
            <a:off x="438912" y="201168"/>
            <a:ext cx="96926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2800"/>
              <a:buFont typeface="Arial"/>
              <a:buNone/>
            </a:pPr>
            <a:r>
              <a:rPr b="1" i="0" lang="en-US" sz="2800" u="none" cap="none" strike="noStrike">
                <a:solidFill>
                  <a:srgbClr val="153A73"/>
                </a:solidFill>
                <a:latin typeface="Arial"/>
                <a:ea typeface="Arial"/>
                <a:cs typeface="Arial"/>
                <a:sym typeface="Arial"/>
              </a:rPr>
              <a:t>Exam-ready checklist and classwork</a:t>
            </a:r>
            <a:endParaRPr b="0" i="0" sz="2800" u="none" cap="none" strike="noStrike">
              <a:solidFill>
                <a:schemeClr val="dk1"/>
              </a:solidFill>
              <a:latin typeface="Arial"/>
              <a:ea typeface="Arial"/>
              <a:cs typeface="Arial"/>
              <a:sym typeface="Arial"/>
            </a:endParaRPr>
          </a:p>
        </p:txBody>
      </p:sp>
      <p:sp>
        <p:nvSpPr>
          <p:cNvPr id="1529" name="Google Shape;1529;p37"/>
          <p:cNvSpPr/>
          <p:nvPr/>
        </p:nvSpPr>
        <p:spPr>
          <a:xfrm>
            <a:off x="10195560" y="210312"/>
            <a:ext cx="1554480" cy="310896"/>
          </a:xfrm>
          <a:prstGeom prst="roundRect">
            <a:avLst>
              <a:gd fmla="val 47059" name="adj"/>
            </a:avLst>
          </a:prstGeom>
          <a:solidFill>
            <a:srgbClr val="F0EBF8"/>
          </a:solidFill>
          <a:ln cap="flat" cmpd="sng" w="12700">
            <a:solidFill>
              <a:srgbClr val="F0EBF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7"/>
          <p:cNvSpPr txBox="1"/>
          <p:nvPr/>
        </p:nvSpPr>
        <p:spPr>
          <a:xfrm>
            <a:off x="10241280" y="219456"/>
            <a:ext cx="1463040" cy="26517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1150"/>
              <a:buFont typeface="Arial"/>
              <a:buNone/>
            </a:pPr>
            <a:r>
              <a:rPr b="1" i="0" lang="en-US" sz="1150" u="none" cap="none" strike="noStrike">
                <a:solidFill>
                  <a:srgbClr val="7B61A8"/>
                </a:solidFill>
                <a:latin typeface="Arial"/>
                <a:ea typeface="Arial"/>
                <a:cs typeface="Arial"/>
                <a:sym typeface="Arial"/>
              </a:rPr>
              <a:t>Recap</a:t>
            </a:r>
            <a:endParaRPr b="0" i="0" sz="1150" u="none" cap="none" strike="noStrike">
              <a:solidFill>
                <a:schemeClr val="dk1"/>
              </a:solidFill>
              <a:latin typeface="Arial"/>
              <a:ea typeface="Arial"/>
              <a:cs typeface="Arial"/>
              <a:sym typeface="Arial"/>
            </a:endParaRPr>
          </a:p>
        </p:txBody>
      </p:sp>
      <p:sp>
        <p:nvSpPr>
          <p:cNvPr id="1531" name="Google Shape;1531;p37"/>
          <p:cNvSpPr txBox="1"/>
          <p:nvPr/>
        </p:nvSpPr>
        <p:spPr>
          <a:xfrm>
            <a:off x="438912" y="6172200"/>
            <a:ext cx="56692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Principles of Compiler Design | Direct Regex-to-DFA Method</a:t>
            </a:r>
            <a:endParaRPr b="0" i="0" sz="950" u="none" cap="none" strike="noStrike">
              <a:solidFill>
                <a:schemeClr val="dk1"/>
              </a:solidFill>
              <a:latin typeface="Arial"/>
              <a:ea typeface="Arial"/>
              <a:cs typeface="Arial"/>
              <a:sym typeface="Arial"/>
            </a:endParaRPr>
          </a:p>
        </p:txBody>
      </p:sp>
      <p:sp>
        <p:nvSpPr>
          <p:cNvPr id="1532" name="Google Shape;1532;p37"/>
          <p:cNvSpPr txBox="1"/>
          <p:nvPr/>
        </p:nvSpPr>
        <p:spPr>
          <a:xfrm>
            <a:off x="11475720" y="6163056"/>
            <a:ext cx="27432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7B8B98"/>
              </a:buClr>
              <a:buSzPts val="950"/>
              <a:buFont typeface="Arial"/>
              <a:buNone/>
            </a:pPr>
            <a:r>
              <a:rPr b="0" i="0" lang="en-US" sz="950" u="none" cap="none" strike="noStrike">
                <a:solidFill>
                  <a:srgbClr val="7B8B98"/>
                </a:solidFill>
                <a:latin typeface="Arial"/>
                <a:ea typeface="Arial"/>
                <a:cs typeface="Arial"/>
                <a:sym typeface="Arial"/>
              </a:rPr>
              <a:t>37</a:t>
            </a:r>
            <a:endParaRPr b="0" i="0" sz="950" u="none" cap="none" strike="noStrike">
              <a:solidFill>
                <a:schemeClr val="dk1"/>
              </a:solidFill>
              <a:latin typeface="Arial"/>
              <a:ea typeface="Arial"/>
              <a:cs typeface="Arial"/>
              <a:sym typeface="Arial"/>
            </a:endParaRPr>
          </a:p>
        </p:txBody>
      </p:sp>
      <p:sp>
        <p:nvSpPr>
          <p:cNvPr id="1533" name="Google Shape;1533;p37"/>
          <p:cNvSpPr/>
          <p:nvPr/>
        </p:nvSpPr>
        <p:spPr>
          <a:xfrm>
            <a:off x="420624"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7"/>
          <p:cNvSpPr txBox="1"/>
          <p:nvPr/>
        </p:nvSpPr>
        <p:spPr>
          <a:xfrm>
            <a:off x="420624"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1  Syntax tree</a:t>
            </a:r>
            <a:endParaRPr b="0" i="0" sz="950" u="none" cap="none" strike="noStrike">
              <a:solidFill>
                <a:schemeClr val="dk1"/>
              </a:solidFill>
              <a:latin typeface="Arial"/>
              <a:ea typeface="Arial"/>
              <a:cs typeface="Arial"/>
              <a:sym typeface="Arial"/>
            </a:endParaRPr>
          </a:p>
        </p:txBody>
      </p:sp>
      <p:sp>
        <p:nvSpPr>
          <p:cNvPr id="1535" name="Google Shape;1535;p37"/>
          <p:cNvSpPr/>
          <p:nvPr/>
        </p:nvSpPr>
        <p:spPr>
          <a:xfrm>
            <a:off x="3271266"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7"/>
          <p:cNvSpPr txBox="1"/>
          <p:nvPr/>
        </p:nvSpPr>
        <p:spPr>
          <a:xfrm>
            <a:off x="3271266"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2  Nullable / firstpos / lastpos</a:t>
            </a:r>
            <a:endParaRPr b="0" i="0" sz="950" u="none" cap="none" strike="noStrike">
              <a:solidFill>
                <a:schemeClr val="dk1"/>
              </a:solidFill>
              <a:latin typeface="Arial"/>
              <a:ea typeface="Arial"/>
              <a:cs typeface="Arial"/>
              <a:sym typeface="Arial"/>
            </a:endParaRPr>
          </a:p>
        </p:txBody>
      </p:sp>
      <p:sp>
        <p:nvSpPr>
          <p:cNvPr id="1537" name="Google Shape;1537;p37"/>
          <p:cNvSpPr/>
          <p:nvPr/>
        </p:nvSpPr>
        <p:spPr>
          <a:xfrm>
            <a:off x="6121908" y="6665976"/>
            <a:ext cx="2786634" cy="118872"/>
          </a:xfrm>
          <a:prstGeom prst="roundRect">
            <a:avLst>
              <a:gd fmla="val 61538" name="adj"/>
            </a:avLst>
          </a:prstGeom>
          <a:solidFill>
            <a:srgbClr val="DFE7ED"/>
          </a:solidFill>
          <a:ln cap="flat" cmpd="sng" w="12700">
            <a:solidFill>
              <a:srgbClr val="DFE7E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7"/>
          <p:cNvSpPr txBox="1"/>
          <p:nvPr/>
        </p:nvSpPr>
        <p:spPr>
          <a:xfrm>
            <a:off x="6121908"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8B9AA7"/>
              </a:buClr>
              <a:buSzPts val="950"/>
              <a:buFont typeface="Arial"/>
              <a:buNone/>
            </a:pPr>
            <a:r>
              <a:rPr b="0" i="0" lang="en-US" sz="950" u="none" cap="none" strike="noStrike">
                <a:solidFill>
                  <a:srgbClr val="8B9AA7"/>
                </a:solidFill>
                <a:latin typeface="Arial"/>
                <a:ea typeface="Arial"/>
                <a:cs typeface="Arial"/>
                <a:sym typeface="Arial"/>
              </a:rPr>
              <a:t>3  Followpos</a:t>
            </a:r>
            <a:endParaRPr b="0" i="0" sz="950" u="none" cap="none" strike="noStrike">
              <a:solidFill>
                <a:schemeClr val="dk1"/>
              </a:solidFill>
              <a:latin typeface="Arial"/>
              <a:ea typeface="Arial"/>
              <a:cs typeface="Arial"/>
              <a:sym typeface="Arial"/>
            </a:endParaRPr>
          </a:p>
        </p:txBody>
      </p:sp>
      <p:sp>
        <p:nvSpPr>
          <p:cNvPr id="1539" name="Google Shape;1539;p37"/>
          <p:cNvSpPr/>
          <p:nvPr/>
        </p:nvSpPr>
        <p:spPr>
          <a:xfrm>
            <a:off x="8972550" y="6665976"/>
            <a:ext cx="2786634" cy="118872"/>
          </a:xfrm>
          <a:prstGeom prst="roundRect">
            <a:avLst>
              <a:gd fmla="val 61538" name="adj"/>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7"/>
          <p:cNvSpPr txBox="1"/>
          <p:nvPr/>
        </p:nvSpPr>
        <p:spPr>
          <a:xfrm>
            <a:off x="8972550" y="6409944"/>
            <a:ext cx="2786634" cy="16459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7B61A8"/>
              </a:buClr>
              <a:buSzPts val="950"/>
              <a:buFont typeface="Arial"/>
              <a:buNone/>
            </a:pPr>
            <a:r>
              <a:rPr b="1" i="0" lang="en-US" sz="950" u="none" cap="none" strike="noStrike">
                <a:solidFill>
                  <a:srgbClr val="7B61A8"/>
                </a:solidFill>
                <a:latin typeface="Arial"/>
                <a:ea typeface="Arial"/>
                <a:cs typeface="Arial"/>
                <a:sym typeface="Arial"/>
              </a:rPr>
              <a:t>4  DFA construction</a:t>
            </a:r>
            <a:endParaRPr b="0" i="0" sz="950" u="none" cap="none" strike="noStrike">
              <a:solidFill>
                <a:schemeClr val="dk1"/>
              </a:solidFill>
              <a:latin typeface="Arial"/>
              <a:ea typeface="Arial"/>
              <a:cs typeface="Arial"/>
              <a:sym typeface="Arial"/>
            </a:endParaRPr>
          </a:p>
        </p:txBody>
      </p:sp>
      <p:sp>
        <p:nvSpPr>
          <p:cNvPr id="1541" name="Google Shape;1541;p37"/>
          <p:cNvSpPr/>
          <p:nvPr/>
        </p:nvSpPr>
        <p:spPr>
          <a:xfrm>
            <a:off x="658368" y="914400"/>
            <a:ext cx="5623560" cy="4709160"/>
          </a:xfrm>
          <a:prstGeom prst="roundRect">
            <a:avLst>
              <a:gd fmla="val 1553" name="adj"/>
            </a:avLst>
          </a:prstGeom>
          <a:solidFill>
            <a:srgbClr val="FFFFFF"/>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7"/>
          <p:cNvSpPr txBox="1"/>
          <p:nvPr/>
        </p:nvSpPr>
        <p:spPr>
          <a:xfrm>
            <a:off x="932688" y="1188720"/>
            <a:ext cx="507492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200"/>
              <a:buFont typeface="Arial"/>
              <a:buNone/>
            </a:pPr>
            <a:r>
              <a:rPr b="1" i="0" lang="en-US" sz="2200" u="none" cap="none" strike="noStrike">
                <a:solidFill>
                  <a:srgbClr val="153A73"/>
                </a:solidFill>
                <a:latin typeface="Arial"/>
                <a:ea typeface="Arial"/>
                <a:cs typeface="Arial"/>
                <a:sym typeface="Arial"/>
              </a:rPr>
              <a:t>Six-step checklist</a:t>
            </a:r>
            <a:endParaRPr b="0" i="0" sz="2200" u="none" cap="none" strike="noStrike">
              <a:solidFill>
                <a:schemeClr val="dk1"/>
              </a:solidFill>
              <a:latin typeface="Arial"/>
              <a:ea typeface="Arial"/>
              <a:cs typeface="Arial"/>
              <a:sym typeface="Arial"/>
            </a:endParaRPr>
          </a:p>
        </p:txBody>
      </p:sp>
      <p:sp>
        <p:nvSpPr>
          <p:cNvPr id="1543" name="Google Shape;1543;p37"/>
          <p:cNvSpPr/>
          <p:nvPr/>
        </p:nvSpPr>
        <p:spPr>
          <a:xfrm>
            <a:off x="960120" y="1783080"/>
            <a:ext cx="310896" cy="310896"/>
          </a:xfrm>
          <a:prstGeom prst="ellipse">
            <a:avLst/>
          </a:prstGeom>
          <a:solidFill>
            <a:srgbClr val="F4A26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7"/>
          <p:cNvSpPr txBox="1"/>
          <p:nvPr/>
        </p:nvSpPr>
        <p:spPr>
          <a:xfrm>
            <a:off x="960120" y="1783080"/>
            <a:ext cx="3108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545" name="Google Shape;1545;p37"/>
          <p:cNvSpPr txBox="1"/>
          <p:nvPr/>
        </p:nvSpPr>
        <p:spPr>
          <a:xfrm>
            <a:off x="1417320" y="1746504"/>
            <a:ext cx="4526280"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20"/>
              <a:buFont typeface="Arial"/>
              <a:buNone/>
            </a:pPr>
            <a:r>
              <a:rPr b="0" i="0" lang="en-US" sz="1720" u="none" cap="none" strike="noStrike">
                <a:solidFill>
                  <a:srgbClr val="1D2A39"/>
                </a:solidFill>
                <a:latin typeface="Arial"/>
                <a:ea typeface="Arial"/>
                <a:cs typeface="Arial"/>
                <a:sym typeface="Arial"/>
              </a:rPr>
              <a:t>Append # to the regular expression.</a:t>
            </a:r>
            <a:endParaRPr b="0" i="0" sz="1720" u="none" cap="none" strike="noStrike">
              <a:solidFill>
                <a:schemeClr val="dk1"/>
              </a:solidFill>
              <a:latin typeface="Arial"/>
              <a:ea typeface="Arial"/>
              <a:cs typeface="Arial"/>
              <a:sym typeface="Arial"/>
            </a:endParaRPr>
          </a:p>
        </p:txBody>
      </p:sp>
      <p:sp>
        <p:nvSpPr>
          <p:cNvPr id="1546" name="Google Shape;1546;p37"/>
          <p:cNvSpPr/>
          <p:nvPr/>
        </p:nvSpPr>
        <p:spPr>
          <a:xfrm>
            <a:off x="960120" y="2350008"/>
            <a:ext cx="310896" cy="310896"/>
          </a:xfrm>
          <a:prstGeom prst="ellipse">
            <a:avLst/>
          </a:prstGeom>
          <a:solidFill>
            <a:srgbClr val="F4A26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txBox="1"/>
          <p:nvPr/>
        </p:nvSpPr>
        <p:spPr>
          <a:xfrm>
            <a:off x="960120" y="2350008"/>
            <a:ext cx="3108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548" name="Google Shape;1548;p37"/>
          <p:cNvSpPr txBox="1"/>
          <p:nvPr/>
        </p:nvSpPr>
        <p:spPr>
          <a:xfrm>
            <a:off x="1417320" y="2313432"/>
            <a:ext cx="4526280"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20"/>
              <a:buFont typeface="Arial"/>
              <a:buNone/>
            </a:pPr>
            <a:r>
              <a:rPr b="0" i="0" lang="en-US" sz="1720" u="none" cap="none" strike="noStrike">
                <a:solidFill>
                  <a:srgbClr val="1D2A39"/>
                </a:solidFill>
                <a:latin typeface="Arial"/>
                <a:ea typeface="Arial"/>
                <a:cs typeface="Arial"/>
                <a:sym typeface="Arial"/>
              </a:rPr>
              <a:t>Build the syntax tree and number every non-ε leaf.</a:t>
            </a:r>
            <a:endParaRPr b="0" i="0" sz="1720" u="none" cap="none" strike="noStrike">
              <a:solidFill>
                <a:schemeClr val="dk1"/>
              </a:solidFill>
              <a:latin typeface="Arial"/>
              <a:ea typeface="Arial"/>
              <a:cs typeface="Arial"/>
              <a:sym typeface="Arial"/>
            </a:endParaRPr>
          </a:p>
        </p:txBody>
      </p:sp>
      <p:sp>
        <p:nvSpPr>
          <p:cNvPr id="1549" name="Google Shape;1549;p37"/>
          <p:cNvSpPr/>
          <p:nvPr/>
        </p:nvSpPr>
        <p:spPr>
          <a:xfrm>
            <a:off x="960120" y="2916936"/>
            <a:ext cx="310896" cy="310896"/>
          </a:xfrm>
          <a:prstGeom prst="ellipse">
            <a:avLst/>
          </a:prstGeom>
          <a:solidFill>
            <a:srgbClr val="1F75BB"/>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txBox="1"/>
          <p:nvPr/>
        </p:nvSpPr>
        <p:spPr>
          <a:xfrm>
            <a:off x="960120" y="2916936"/>
            <a:ext cx="3108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551" name="Google Shape;1551;p37"/>
          <p:cNvSpPr txBox="1"/>
          <p:nvPr/>
        </p:nvSpPr>
        <p:spPr>
          <a:xfrm>
            <a:off x="1417320" y="2880360"/>
            <a:ext cx="4526280"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20"/>
              <a:buFont typeface="Arial"/>
              <a:buNone/>
            </a:pPr>
            <a:r>
              <a:rPr b="0" i="0" lang="en-US" sz="1720" u="none" cap="none" strike="noStrike">
                <a:solidFill>
                  <a:srgbClr val="1D2A39"/>
                </a:solidFill>
                <a:latin typeface="Arial"/>
                <a:ea typeface="Arial"/>
                <a:cs typeface="Arial"/>
                <a:sym typeface="Arial"/>
              </a:rPr>
              <a:t>Compute nullable, firstpos, and lastpos bottom-up.</a:t>
            </a:r>
            <a:endParaRPr b="0" i="0" sz="1720" u="none" cap="none" strike="noStrike">
              <a:solidFill>
                <a:schemeClr val="dk1"/>
              </a:solidFill>
              <a:latin typeface="Arial"/>
              <a:ea typeface="Arial"/>
              <a:cs typeface="Arial"/>
              <a:sym typeface="Arial"/>
            </a:endParaRPr>
          </a:p>
        </p:txBody>
      </p:sp>
      <p:sp>
        <p:nvSpPr>
          <p:cNvPr id="1552" name="Google Shape;1552;p37"/>
          <p:cNvSpPr/>
          <p:nvPr/>
        </p:nvSpPr>
        <p:spPr>
          <a:xfrm>
            <a:off x="960120" y="3483864"/>
            <a:ext cx="310896" cy="310896"/>
          </a:xfrm>
          <a:prstGeom prst="ellipse">
            <a:avLst/>
          </a:prstGeom>
          <a:solidFill>
            <a:srgbClr val="2A9D8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txBox="1"/>
          <p:nvPr/>
        </p:nvSpPr>
        <p:spPr>
          <a:xfrm>
            <a:off x="960120" y="3483864"/>
            <a:ext cx="3108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554" name="Google Shape;1554;p37"/>
          <p:cNvSpPr txBox="1"/>
          <p:nvPr/>
        </p:nvSpPr>
        <p:spPr>
          <a:xfrm>
            <a:off x="1417320" y="3447288"/>
            <a:ext cx="4526280"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20"/>
              <a:buFont typeface="Arial"/>
              <a:buNone/>
            </a:pPr>
            <a:r>
              <a:rPr b="0" i="0" lang="en-US" sz="1720" u="none" cap="none" strike="noStrike">
                <a:solidFill>
                  <a:srgbClr val="1D2A39"/>
                </a:solidFill>
                <a:latin typeface="Arial"/>
                <a:ea typeface="Arial"/>
                <a:cs typeface="Arial"/>
                <a:sym typeface="Arial"/>
              </a:rPr>
              <a:t>Apply followpos rules at every cat-node and star-node.</a:t>
            </a:r>
            <a:endParaRPr b="0" i="0" sz="1720" u="none" cap="none" strike="noStrike">
              <a:solidFill>
                <a:schemeClr val="dk1"/>
              </a:solidFill>
              <a:latin typeface="Arial"/>
              <a:ea typeface="Arial"/>
              <a:cs typeface="Arial"/>
              <a:sym typeface="Arial"/>
            </a:endParaRPr>
          </a:p>
        </p:txBody>
      </p:sp>
      <p:sp>
        <p:nvSpPr>
          <p:cNvPr id="1555" name="Google Shape;1555;p37"/>
          <p:cNvSpPr/>
          <p:nvPr/>
        </p:nvSpPr>
        <p:spPr>
          <a:xfrm>
            <a:off x="960120" y="4050792"/>
            <a:ext cx="310896" cy="310896"/>
          </a:xfrm>
          <a:prstGeom prst="ellipse">
            <a:avLst/>
          </a:prstGeom>
          <a:solidFill>
            <a:srgbClr val="7B61A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7"/>
          <p:cNvSpPr txBox="1"/>
          <p:nvPr/>
        </p:nvSpPr>
        <p:spPr>
          <a:xfrm>
            <a:off x="960120" y="4050792"/>
            <a:ext cx="3108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557" name="Google Shape;1557;p37"/>
          <p:cNvSpPr txBox="1"/>
          <p:nvPr/>
        </p:nvSpPr>
        <p:spPr>
          <a:xfrm>
            <a:off x="1417320" y="4014216"/>
            <a:ext cx="4526280"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20"/>
              <a:buFont typeface="Arial"/>
              <a:buNone/>
            </a:pPr>
            <a:r>
              <a:rPr b="0" i="0" lang="en-US" sz="1720" u="none" cap="none" strike="noStrike">
                <a:solidFill>
                  <a:srgbClr val="1D2A39"/>
                </a:solidFill>
                <a:latin typeface="Arial"/>
                <a:ea typeface="Arial"/>
                <a:cs typeface="Arial"/>
                <a:sym typeface="Arial"/>
              </a:rPr>
              <a:t>Use firstpos(root) as the start state and build transitions.</a:t>
            </a:r>
            <a:endParaRPr b="0" i="0" sz="1720" u="none" cap="none" strike="noStrike">
              <a:solidFill>
                <a:schemeClr val="dk1"/>
              </a:solidFill>
              <a:latin typeface="Arial"/>
              <a:ea typeface="Arial"/>
              <a:cs typeface="Arial"/>
              <a:sym typeface="Arial"/>
            </a:endParaRPr>
          </a:p>
        </p:txBody>
      </p:sp>
      <p:sp>
        <p:nvSpPr>
          <p:cNvPr id="1558" name="Google Shape;1558;p37"/>
          <p:cNvSpPr/>
          <p:nvPr/>
        </p:nvSpPr>
        <p:spPr>
          <a:xfrm>
            <a:off x="960120" y="4617720"/>
            <a:ext cx="310896" cy="310896"/>
          </a:xfrm>
          <a:prstGeom prst="ellipse">
            <a:avLst/>
          </a:prstGeom>
          <a:solidFill>
            <a:srgbClr val="7B61A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txBox="1"/>
          <p:nvPr/>
        </p:nvSpPr>
        <p:spPr>
          <a:xfrm>
            <a:off x="960120" y="4617720"/>
            <a:ext cx="310896" cy="31089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sp>
        <p:nvSpPr>
          <p:cNvPr id="1560" name="Google Shape;1560;p37"/>
          <p:cNvSpPr txBox="1"/>
          <p:nvPr/>
        </p:nvSpPr>
        <p:spPr>
          <a:xfrm>
            <a:off x="1417320" y="4581144"/>
            <a:ext cx="4526280" cy="3931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A39"/>
              </a:buClr>
              <a:buSzPts val="1720"/>
              <a:buFont typeface="Arial"/>
              <a:buNone/>
            </a:pPr>
            <a:r>
              <a:rPr b="0" i="0" lang="en-US" sz="1720" u="none" cap="none" strike="noStrike">
                <a:solidFill>
                  <a:srgbClr val="1D2A39"/>
                </a:solidFill>
                <a:latin typeface="Arial"/>
                <a:ea typeface="Arial"/>
                <a:cs typeface="Arial"/>
                <a:sym typeface="Arial"/>
              </a:rPr>
              <a:t>Mark each state containing the position of # as accepting.</a:t>
            </a:r>
            <a:endParaRPr b="0" i="0" sz="1720" u="none" cap="none" strike="noStrike">
              <a:solidFill>
                <a:schemeClr val="dk1"/>
              </a:solidFill>
              <a:latin typeface="Arial"/>
              <a:ea typeface="Arial"/>
              <a:cs typeface="Arial"/>
              <a:sym typeface="Arial"/>
            </a:endParaRPr>
          </a:p>
        </p:txBody>
      </p:sp>
      <p:sp>
        <p:nvSpPr>
          <p:cNvPr id="1561" name="Google Shape;1561;p37"/>
          <p:cNvSpPr/>
          <p:nvPr/>
        </p:nvSpPr>
        <p:spPr>
          <a:xfrm>
            <a:off x="6537960" y="914400"/>
            <a:ext cx="4983480" cy="4709160"/>
          </a:xfrm>
          <a:prstGeom prst="roundRect">
            <a:avLst>
              <a:gd fmla="val 1553" name="adj"/>
            </a:avLst>
          </a:prstGeom>
          <a:solidFill>
            <a:srgbClr val="FFF8DE"/>
          </a:solidFill>
          <a:ln cap="flat" cmpd="sng" w="12700">
            <a:solidFill>
              <a:srgbClr val="F6C4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txBox="1"/>
          <p:nvPr/>
        </p:nvSpPr>
        <p:spPr>
          <a:xfrm>
            <a:off x="6839712" y="1188720"/>
            <a:ext cx="4389120" cy="34747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9A6A00"/>
              </a:buClr>
              <a:buSzPts val="2200"/>
              <a:buFont typeface="Arial"/>
              <a:buNone/>
            </a:pPr>
            <a:r>
              <a:rPr b="1" i="0" lang="en-US" sz="2200" u="none" cap="none" strike="noStrike">
                <a:solidFill>
                  <a:srgbClr val="9A6A00"/>
                </a:solidFill>
                <a:latin typeface="Arial"/>
                <a:ea typeface="Arial"/>
                <a:cs typeface="Arial"/>
                <a:sym typeface="Arial"/>
              </a:rPr>
              <a:t>Classwork</a:t>
            </a:r>
            <a:endParaRPr b="0" i="0" sz="2200" u="none" cap="none" strike="noStrike">
              <a:solidFill>
                <a:schemeClr val="dk1"/>
              </a:solidFill>
              <a:latin typeface="Arial"/>
              <a:ea typeface="Arial"/>
              <a:cs typeface="Arial"/>
              <a:sym typeface="Arial"/>
            </a:endParaRPr>
          </a:p>
        </p:txBody>
      </p:sp>
      <p:sp>
        <p:nvSpPr>
          <p:cNvPr id="1563" name="Google Shape;1563;p37"/>
          <p:cNvSpPr/>
          <p:nvPr/>
        </p:nvSpPr>
        <p:spPr>
          <a:xfrm>
            <a:off x="6839712" y="1847088"/>
            <a:ext cx="384048" cy="384048"/>
          </a:xfrm>
          <a:prstGeom prst="ellipse">
            <a:avLst/>
          </a:prstGeom>
          <a:solidFill>
            <a:srgbClr val="F4A261"/>
          </a:solidFill>
          <a:ln cap="flat" cmpd="sng" w="12700">
            <a:solidFill>
              <a:srgbClr val="F4A26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7"/>
          <p:cNvSpPr txBox="1"/>
          <p:nvPr/>
        </p:nvSpPr>
        <p:spPr>
          <a:xfrm>
            <a:off x="6839712" y="1847088"/>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1</a:t>
            </a:r>
            <a:endParaRPr b="0" i="0" sz="1700" u="none" cap="none" strike="noStrike">
              <a:solidFill>
                <a:schemeClr val="dk1"/>
              </a:solidFill>
              <a:latin typeface="Arial"/>
              <a:ea typeface="Arial"/>
              <a:cs typeface="Arial"/>
              <a:sym typeface="Arial"/>
            </a:endParaRPr>
          </a:p>
        </p:txBody>
      </p:sp>
      <p:sp>
        <p:nvSpPr>
          <p:cNvPr id="1565" name="Google Shape;1565;p37"/>
          <p:cNvSpPr txBox="1"/>
          <p:nvPr/>
        </p:nvSpPr>
        <p:spPr>
          <a:xfrm>
            <a:off x="7370064" y="1837944"/>
            <a:ext cx="36758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Trace a string</a:t>
            </a:r>
            <a:endParaRPr b="0" i="0" sz="1800" u="none" cap="none" strike="noStrike">
              <a:solidFill>
                <a:schemeClr val="dk1"/>
              </a:solidFill>
              <a:latin typeface="Arial"/>
              <a:ea typeface="Arial"/>
              <a:cs typeface="Arial"/>
              <a:sym typeface="Arial"/>
            </a:endParaRPr>
          </a:p>
        </p:txBody>
      </p:sp>
      <p:sp>
        <p:nvSpPr>
          <p:cNvPr id="1566" name="Google Shape;1566;p37"/>
          <p:cNvSpPr txBox="1"/>
          <p:nvPr/>
        </p:nvSpPr>
        <p:spPr>
          <a:xfrm>
            <a:off x="7370064" y="2112264"/>
            <a:ext cx="36758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Verify that babb ends in the accepting state.</a:t>
            </a:r>
            <a:endParaRPr b="0" i="0" sz="1500" u="none" cap="none" strike="noStrike">
              <a:solidFill>
                <a:schemeClr val="dk1"/>
              </a:solidFill>
              <a:latin typeface="Arial"/>
              <a:ea typeface="Arial"/>
              <a:cs typeface="Arial"/>
              <a:sym typeface="Arial"/>
            </a:endParaRPr>
          </a:p>
        </p:txBody>
      </p:sp>
      <p:sp>
        <p:nvSpPr>
          <p:cNvPr id="1567" name="Google Shape;1567;p37"/>
          <p:cNvSpPr/>
          <p:nvPr/>
        </p:nvSpPr>
        <p:spPr>
          <a:xfrm>
            <a:off x="6839712" y="2788920"/>
            <a:ext cx="384048" cy="384048"/>
          </a:xfrm>
          <a:prstGeom prst="ellipse">
            <a:avLst/>
          </a:prstGeom>
          <a:solidFill>
            <a:srgbClr val="1F75BB"/>
          </a:solidFill>
          <a:ln cap="flat" cmpd="sng" w="12700">
            <a:solidFill>
              <a:srgbClr val="1F75BB">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7"/>
          <p:cNvSpPr txBox="1"/>
          <p:nvPr/>
        </p:nvSpPr>
        <p:spPr>
          <a:xfrm>
            <a:off x="6839712" y="2788920"/>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2</a:t>
            </a:r>
            <a:endParaRPr b="0" i="0" sz="1700" u="none" cap="none" strike="noStrike">
              <a:solidFill>
                <a:schemeClr val="dk1"/>
              </a:solidFill>
              <a:latin typeface="Arial"/>
              <a:ea typeface="Arial"/>
              <a:cs typeface="Arial"/>
              <a:sym typeface="Arial"/>
            </a:endParaRPr>
          </a:p>
        </p:txBody>
      </p:sp>
      <p:sp>
        <p:nvSpPr>
          <p:cNvPr id="1569" name="Google Shape;1569;p37"/>
          <p:cNvSpPr txBox="1"/>
          <p:nvPr/>
        </p:nvSpPr>
        <p:spPr>
          <a:xfrm>
            <a:off x="7370064" y="2779776"/>
            <a:ext cx="36758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Explain the marker</a:t>
            </a:r>
            <a:endParaRPr b="0" i="0" sz="1800" u="none" cap="none" strike="noStrike">
              <a:solidFill>
                <a:schemeClr val="dk1"/>
              </a:solidFill>
              <a:latin typeface="Arial"/>
              <a:ea typeface="Arial"/>
              <a:cs typeface="Arial"/>
              <a:sym typeface="Arial"/>
            </a:endParaRPr>
          </a:p>
        </p:txBody>
      </p:sp>
      <p:sp>
        <p:nvSpPr>
          <p:cNvPr id="1570" name="Google Shape;1570;p37"/>
          <p:cNvSpPr txBox="1"/>
          <p:nvPr/>
        </p:nvSpPr>
        <p:spPr>
          <a:xfrm>
            <a:off x="7370064" y="3054096"/>
            <a:ext cx="36758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Why is # not included in the DFA input alphabet?</a:t>
            </a:r>
            <a:endParaRPr b="0" i="0" sz="1500" u="none" cap="none" strike="noStrike">
              <a:solidFill>
                <a:schemeClr val="dk1"/>
              </a:solidFill>
              <a:latin typeface="Arial"/>
              <a:ea typeface="Arial"/>
              <a:cs typeface="Arial"/>
              <a:sym typeface="Arial"/>
            </a:endParaRPr>
          </a:p>
        </p:txBody>
      </p:sp>
      <p:sp>
        <p:nvSpPr>
          <p:cNvPr id="1571" name="Google Shape;1571;p37"/>
          <p:cNvSpPr/>
          <p:nvPr/>
        </p:nvSpPr>
        <p:spPr>
          <a:xfrm>
            <a:off x="6839712" y="3730752"/>
            <a:ext cx="384048" cy="384048"/>
          </a:xfrm>
          <a:prstGeom prst="ellipse">
            <a:avLst/>
          </a:prstGeom>
          <a:solidFill>
            <a:srgbClr val="2A9D8F"/>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7"/>
          <p:cNvSpPr txBox="1"/>
          <p:nvPr/>
        </p:nvSpPr>
        <p:spPr>
          <a:xfrm>
            <a:off x="6839712" y="3730752"/>
            <a:ext cx="384048" cy="38404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3</a:t>
            </a:r>
            <a:endParaRPr b="0" i="0" sz="1700" u="none" cap="none" strike="noStrike">
              <a:solidFill>
                <a:schemeClr val="dk1"/>
              </a:solidFill>
              <a:latin typeface="Arial"/>
              <a:ea typeface="Arial"/>
              <a:cs typeface="Arial"/>
              <a:sym typeface="Arial"/>
            </a:endParaRPr>
          </a:p>
        </p:txBody>
      </p:sp>
      <p:sp>
        <p:nvSpPr>
          <p:cNvPr id="1573" name="Google Shape;1573;p37"/>
          <p:cNvSpPr txBox="1"/>
          <p:nvPr/>
        </p:nvSpPr>
        <p:spPr>
          <a:xfrm>
            <a:off x="7370064" y="3721608"/>
            <a:ext cx="3675888"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53A73"/>
              </a:buClr>
              <a:buSzPts val="1800"/>
              <a:buFont typeface="Arial"/>
              <a:buNone/>
            </a:pPr>
            <a:r>
              <a:rPr b="1" i="0" lang="en-US" sz="1800" u="none" cap="none" strike="noStrike">
                <a:solidFill>
                  <a:srgbClr val="153A73"/>
                </a:solidFill>
                <a:latin typeface="Arial"/>
                <a:ea typeface="Arial"/>
                <a:cs typeface="Arial"/>
                <a:sym typeface="Arial"/>
              </a:rPr>
              <a:t>New construction</a:t>
            </a:r>
            <a:endParaRPr b="0" i="0" sz="1800" u="none" cap="none" strike="noStrike">
              <a:solidFill>
                <a:schemeClr val="dk1"/>
              </a:solidFill>
              <a:latin typeface="Arial"/>
              <a:ea typeface="Arial"/>
              <a:cs typeface="Arial"/>
              <a:sym typeface="Arial"/>
            </a:endParaRPr>
          </a:p>
        </p:txBody>
      </p:sp>
      <p:sp>
        <p:nvSpPr>
          <p:cNvPr id="1574" name="Google Shape;1574;p37"/>
          <p:cNvSpPr txBox="1"/>
          <p:nvPr/>
        </p:nvSpPr>
        <p:spPr>
          <a:xfrm>
            <a:off x="7370064" y="3995928"/>
            <a:ext cx="3675888" cy="43891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657789"/>
              </a:buClr>
              <a:buSzPts val="1500"/>
              <a:buFont typeface="Arial"/>
              <a:buNone/>
            </a:pPr>
            <a:r>
              <a:rPr b="0" i="0" lang="en-US" sz="1500" u="none" cap="none" strike="noStrike">
                <a:solidFill>
                  <a:srgbClr val="657789"/>
                </a:solidFill>
                <a:latin typeface="Arial"/>
                <a:ea typeface="Arial"/>
                <a:cs typeface="Arial"/>
                <a:sym typeface="Arial"/>
              </a:rPr>
              <a:t>Apply the same method to (a|b)*aba.</a:t>
            </a:r>
            <a:endParaRPr b="0" i="0" sz="1500" u="none" cap="none" strike="noStrike">
              <a:solidFill>
                <a:schemeClr val="dk1"/>
              </a:solidFill>
              <a:latin typeface="Arial"/>
              <a:ea typeface="Arial"/>
              <a:cs typeface="Arial"/>
              <a:sym typeface="Arial"/>
            </a:endParaRPr>
          </a:p>
        </p:txBody>
      </p:sp>
      <p:sp>
        <p:nvSpPr>
          <p:cNvPr id="1575" name="Google Shape;1575;p37"/>
          <p:cNvSpPr/>
          <p:nvPr/>
        </p:nvSpPr>
        <p:spPr>
          <a:xfrm>
            <a:off x="6839712" y="4736592"/>
            <a:ext cx="4160520" cy="640080"/>
          </a:xfrm>
          <a:prstGeom prst="roundRect">
            <a:avLst>
              <a:gd fmla="val 11429" name="adj"/>
            </a:avLst>
          </a:prstGeom>
          <a:solidFill>
            <a:srgbClr val="F0EBF8"/>
          </a:solidFill>
          <a:ln cap="flat" cmpd="sng" w="12700">
            <a:solidFill>
              <a:srgbClr val="D6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7"/>
          <p:cNvSpPr/>
          <p:nvPr/>
        </p:nvSpPr>
        <p:spPr>
          <a:xfrm>
            <a:off x="6839712" y="4736592"/>
            <a:ext cx="73152" cy="640080"/>
          </a:xfrm>
          <a:prstGeom prst="rect">
            <a:avLst/>
          </a:prstGeom>
          <a:solidFill>
            <a:srgbClr val="7B61A8"/>
          </a:solidFill>
          <a:ln cap="flat" cmpd="sng" w="12700">
            <a:solidFill>
              <a:srgbClr val="7B61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7"/>
          <p:cNvSpPr txBox="1"/>
          <p:nvPr/>
        </p:nvSpPr>
        <p:spPr>
          <a:xfrm>
            <a:off x="7004304" y="4846320"/>
            <a:ext cx="3886200" cy="310896"/>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Clr>
                <a:srgbClr val="7B61A8"/>
              </a:buClr>
              <a:buSzPts val="1600"/>
              <a:buFont typeface="Arial"/>
              <a:buNone/>
            </a:pPr>
            <a:r>
              <a:rPr b="1" i="0" lang="en-US" sz="1600" u="none" cap="none" strike="noStrike">
                <a:solidFill>
                  <a:srgbClr val="7B61A8"/>
                </a:solidFill>
                <a:latin typeface="Arial"/>
                <a:ea typeface="Arial"/>
                <a:cs typeface="Arial"/>
                <a:sym typeface="Arial"/>
              </a:rPr>
              <a:t>One-line summary</a:t>
            </a:r>
            <a:endParaRPr b="0" i="0" sz="1600" u="none" cap="none" strike="noStrike">
              <a:solidFill>
                <a:schemeClr val="dk1"/>
              </a:solidFill>
              <a:latin typeface="Arial"/>
              <a:ea typeface="Arial"/>
              <a:cs typeface="Arial"/>
              <a:sym typeface="Arial"/>
            </a:endParaRPr>
          </a:p>
        </p:txBody>
      </p:sp>
      <p:sp>
        <p:nvSpPr>
          <p:cNvPr id="1578" name="Google Shape;1578;p37"/>
          <p:cNvSpPr txBox="1"/>
          <p:nvPr/>
        </p:nvSpPr>
        <p:spPr>
          <a:xfrm>
            <a:off x="7004304" y="5221224"/>
            <a:ext cx="3886200" cy="73152"/>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1D2A39"/>
              </a:buClr>
              <a:buSzPts val="1600"/>
              <a:buFont typeface="Arial"/>
              <a:buNone/>
            </a:pPr>
            <a:r>
              <a:rPr b="0" i="0" lang="en-US" sz="1600" u="none" cap="none" strike="noStrike">
                <a:solidFill>
                  <a:srgbClr val="1D2A39"/>
                </a:solidFill>
                <a:latin typeface="Arial"/>
                <a:ea typeface="Arial"/>
                <a:cs typeface="Arial"/>
                <a:sym typeface="Arial"/>
              </a:rPr>
              <a:t>followpos tells the DFA where it can move next.</a:t>
            </a:r>
            <a:endParaRPr b="0" i="0" sz="1600" u="none" cap="none" strike="noStrike">
              <a:solidFill>
                <a:schemeClr val="dk1"/>
              </a:solidFill>
              <a:latin typeface="Arial"/>
              <a:ea typeface="Arial"/>
              <a:cs typeface="Arial"/>
              <a:sym typeface="Arial"/>
            </a:endParaRPr>
          </a:p>
        </p:txBody>
      </p:sp>
      <p:sp>
        <p:nvSpPr>
          <p:cNvPr id="1579" name="Google Shape;1579;p37"/>
          <p:cNvSpPr txBox="1"/>
          <p:nvPr/>
        </p:nvSpPr>
        <p:spPr>
          <a:xfrm>
            <a:off x="3977640" y="5806440"/>
            <a:ext cx="4297680" cy="36576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53A73"/>
              </a:buClr>
              <a:buSzPts val="2300"/>
              <a:buFont typeface="Arial"/>
              <a:buNone/>
            </a:pPr>
            <a:r>
              <a:rPr b="1" i="0" lang="en-US" sz="2300" u="none" cap="none" strike="noStrike">
                <a:solidFill>
                  <a:srgbClr val="153A73"/>
                </a:solidFill>
                <a:latin typeface="Arial"/>
                <a:ea typeface="Arial"/>
                <a:cs typeface="Arial"/>
                <a:sym typeface="Arial"/>
              </a:rPr>
              <a:t>End of lesson</a:t>
            </a:r>
            <a:endParaRPr b="0" i="0" sz="23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2026-08-10T10:35:19Z</dcterms:created>
  <dc:creator>OpenAI</dc:creator>
</cp:coreProperties>
</file>