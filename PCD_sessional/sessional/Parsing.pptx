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notesMasterIdLst>
    <p:notesMasterId r:id="rId39"/>
  </p:notesMasterIdLst>
  <p:sldIdLst>
    <p:sldId id="295" r:id="rId2"/>
    <p:sldId id="259" r:id="rId3"/>
    <p:sldId id="260" r:id="rId4"/>
    <p:sldId id="300" r:id="rId5"/>
    <p:sldId id="294" r:id="rId6"/>
    <p:sldId id="301" r:id="rId7"/>
    <p:sldId id="264" r:id="rId8"/>
    <p:sldId id="296" r:id="rId9"/>
    <p:sldId id="302" r:id="rId10"/>
    <p:sldId id="303" r:id="rId11"/>
    <p:sldId id="312" r:id="rId12"/>
    <p:sldId id="313" r:id="rId13"/>
    <p:sldId id="315" r:id="rId14"/>
    <p:sldId id="304" r:id="rId15"/>
    <p:sldId id="318" r:id="rId16"/>
    <p:sldId id="316" r:id="rId17"/>
    <p:sldId id="319" r:id="rId18"/>
    <p:sldId id="305" r:id="rId19"/>
    <p:sldId id="284" r:id="rId20"/>
    <p:sldId id="320" r:id="rId21"/>
    <p:sldId id="321" r:id="rId22"/>
    <p:sldId id="322" r:id="rId23"/>
    <p:sldId id="299" r:id="rId24"/>
    <p:sldId id="323" r:id="rId25"/>
    <p:sldId id="268" r:id="rId26"/>
    <p:sldId id="325" r:id="rId27"/>
    <p:sldId id="324" r:id="rId28"/>
    <p:sldId id="270" r:id="rId29"/>
    <p:sldId id="271" r:id="rId30"/>
    <p:sldId id="269" r:id="rId31"/>
    <p:sldId id="272" r:id="rId32"/>
    <p:sldId id="363" r:id="rId33"/>
    <p:sldId id="273" r:id="rId34"/>
    <p:sldId id="335" r:id="rId35"/>
    <p:sldId id="274" r:id="rId36"/>
    <p:sldId id="275" r:id="rId37"/>
    <p:sldId id="276" r:id="rId38"/>
  </p:sldIdLst>
  <p:sldSz cx="21674138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>
    <p:restoredLeft sz="15875" autoAdjust="0"/>
    <p:restoredTop sz="94374" autoAdjust="0"/>
  </p:normalViewPr>
  <p:slideViewPr>
    <p:cSldViewPr snapToGrid="0">
      <p:cViewPr varScale="1">
        <p:scale>
          <a:sx n="31" d="100"/>
          <a:sy n="31" d="100"/>
        </p:scale>
        <p:origin x="13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16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96A78-0CC1-46B8-A64E-02C7D5AAE197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1143000"/>
            <a:ext cx="4876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B0F3F-98DC-45CC-8ADD-1D12CF5EA3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919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B0F3F-98DC-45CC-8ADD-1D12CF5EA39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20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30104" y="0"/>
            <a:ext cx="21743754" cy="13712428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86370" y="3742263"/>
            <a:ext cx="12116449" cy="3031066"/>
          </a:xfrm>
        </p:spPr>
        <p:txBody>
          <a:bodyPr anchor="b">
            <a:noAutofit/>
          </a:bodyPr>
          <a:lstStyle>
            <a:lvl1pPr algn="ctr">
              <a:defRPr sz="96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86370" y="7315194"/>
            <a:ext cx="12116449" cy="2641604"/>
          </a:xfrm>
        </p:spPr>
        <p:txBody>
          <a:bodyPr anchor="t">
            <a:normAutofit/>
          </a:bodyPr>
          <a:lstStyle>
            <a:lvl1pPr marL="0" indent="0" algn="ctr">
              <a:buNone/>
              <a:defRPr sz="3733">
                <a:solidFill>
                  <a:schemeClr val="tx1"/>
                </a:solidFill>
              </a:defRPr>
            </a:lvl1pPr>
            <a:lvl2pPr marL="8127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255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382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510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638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765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6893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021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192067" y="10075326"/>
            <a:ext cx="1595458" cy="558800"/>
          </a:xfrm>
        </p:spPr>
        <p:txBody>
          <a:bodyPr/>
          <a:lstStyle/>
          <a:p>
            <a:fld id="{BC23CF3D-43E4-4297-BC77-7E3F078A31FD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86368" y="10075326"/>
            <a:ext cx="9270236" cy="558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922990" y="10075326"/>
            <a:ext cx="979829" cy="558800"/>
          </a:xfrm>
        </p:spPr>
        <p:txBody>
          <a:bodyPr/>
          <a:lstStyle/>
          <a:p>
            <a:fld id="{06590C90-D026-435E-83A9-85DE0A9455C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4786370" y="7044262"/>
            <a:ext cx="121164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4755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177B5-FA82-46DB-B8B0-71D541754ABD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Monika shah. Nirma University Institute of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901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2258" y="3505212"/>
            <a:ext cx="14503980" cy="3645028"/>
          </a:xfrm>
        </p:spPr>
        <p:txBody>
          <a:bodyPr anchor="b">
            <a:normAutofit/>
          </a:bodyPr>
          <a:lstStyle>
            <a:lvl1pPr algn="ctr">
              <a:defRPr sz="7822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82254" y="7692103"/>
            <a:ext cx="14503984" cy="1909094"/>
          </a:xfrm>
        </p:spPr>
        <p:txBody>
          <a:bodyPr anchor="t">
            <a:normAutofit/>
          </a:bodyPr>
          <a:lstStyle>
            <a:lvl1pPr marL="0" indent="0" algn="ctr">
              <a:buNone/>
              <a:defRPr sz="4266">
                <a:solidFill>
                  <a:schemeClr val="tx1"/>
                </a:solidFill>
              </a:defRPr>
            </a:lvl1pPr>
            <a:lvl2pPr marL="81276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529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293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058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3822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587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3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116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11F67-CCF7-4FAB-A364-2D8856326503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90C90-D026-435E-83A9-85DE0A9455C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3578087" y="7421170"/>
            <a:ext cx="1451232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9727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2482018" y="4842932"/>
            <a:ext cx="1672367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08296" y="5120640"/>
            <a:ext cx="8387891" cy="662025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88788" y="5120640"/>
            <a:ext cx="8387891" cy="662025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3D584-ED89-49D6-8AE1-9D2D64456D5C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Monika shah. Nirma University Institute of Technology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90C90-D026-435E-83A9-85DE0A9455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608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2877" y="5317066"/>
            <a:ext cx="8387891" cy="1152524"/>
          </a:xfrm>
        </p:spPr>
        <p:txBody>
          <a:bodyPr anchor="b">
            <a:noAutofit/>
          </a:bodyPr>
          <a:lstStyle>
            <a:lvl1pPr marL="0" indent="0">
              <a:spcBef>
                <a:spcPts val="1195"/>
              </a:spcBef>
              <a:spcAft>
                <a:spcPts val="1067"/>
              </a:spcAft>
              <a:buNone/>
              <a:defRPr sz="4978" b="0">
                <a:solidFill>
                  <a:schemeClr val="accent1"/>
                </a:solidFill>
              </a:defRPr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02877" y="6486525"/>
            <a:ext cx="8387891" cy="526521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87590" y="5317066"/>
            <a:ext cx="8387891" cy="1152524"/>
          </a:xfrm>
        </p:spPr>
        <p:txBody>
          <a:bodyPr anchor="b">
            <a:noAutofit/>
          </a:bodyPr>
          <a:lstStyle>
            <a:lvl1pPr marL="0" indent="0">
              <a:spcBef>
                <a:spcPts val="1195"/>
              </a:spcBef>
              <a:spcAft>
                <a:spcPts val="1067"/>
              </a:spcAft>
              <a:buNone/>
              <a:defRPr sz="4978" b="0">
                <a:solidFill>
                  <a:schemeClr val="accent1"/>
                </a:solidFill>
              </a:defRPr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87590" y="6486525"/>
            <a:ext cx="8387891" cy="526521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5F473-140F-47A3-B57A-86A1796B652B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Monika shah. Nirma University Institute of Technology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90C90-D026-435E-83A9-85DE0A9455C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2482018" y="4842932"/>
            <a:ext cx="1672367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9930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D0BB-92B6-42D7-BA1E-C1AC62933F22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Monika shah. Nirma University Institute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90C90-D026-435E-83A9-85DE0A9455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468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0D3D0-66E2-42DC-9CFB-6822D8BFB4D4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90C90-D026-435E-83A9-85DE0A9455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518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0053" y="2777068"/>
            <a:ext cx="6610425" cy="2743200"/>
          </a:xfrm>
        </p:spPr>
        <p:txBody>
          <a:bodyPr anchor="b">
            <a:normAutofit/>
          </a:bodyPr>
          <a:lstStyle>
            <a:lvl1pPr algn="ctr">
              <a:defRPr sz="4266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2953" y="1964263"/>
            <a:ext cx="9723258" cy="978747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0053" y="6062130"/>
            <a:ext cx="6610425" cy="4876808"/>
          </a:xfrm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764" indent="0">
              <a:buNone/>
              <a:defRPr sz="2133"/>
            </a:lvl2pPr>
            <a:lvl3pPr marL="1625529" indent="0">
              <a:buNone/>
              <a:defRPr sz="1778"/>
            </a:lvl3pPr>
            <a:lvl4pPr marL="2438293" indent="0">
              <a:buNone/>
              <a:defRPr sz="1600"/>
            </a:lvl4pPr>
            <a:lvl5pPr marL="3251058" indent="0">
              <a:buNone/>
              <a:defRPr sz="1600"/>
            </a:lvl5pPr>
            <a:lvl6pPr marL="4063822" indent="0">
              <a:buNone/>
              <a:defRPr sz="1600"/>
            </a:lvl6pPr>
            <a:lvl7pPr marL="4876587" indent="0">
              <a:buNone/>
              <a:defRPr sz="1600"/>
            </a:lvl7pPr>
            <a:lvl8pPr marL="5689351" indent="0">
              <a:buNone/>
              <a:defRPr sz="1600"/>
            </a:lvl8pPr>
            <a:lvl9pPr marL="6502116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1FDDC-DADE-4F0E-9F1C-84AEB3CDB748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90C90-D026-435E-83A9-85DE0A9455C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482018" y="5825066"/>
            <a:ext cx="62478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223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2875" y="3767664"/>
            <a:ext cx="11096291" cy="2743200"/>
          </a:xfrm>
        </p:spPr>
        <p:txBody>
          <a:bodyPr anchor="b">
            <a:normAutofit/>
          </a:bodyPr>
          <a:lstStyle>
            <a:lvl1pPr algn="ctr">
              <a:defRPr sz="4978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390461" y="2082800"/>
            <a:ext cx="5445817" cy="95504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764" indent="0">
              <a:buNone/>
              <a:defRPr sz="2844"/>
            </a:lvl2pPr>
            <a:lvl3pPr marL="1625529" indent="0">
              <a:buNone/>
              <a:defRPr sz="2844"/>
            </a:lvl3pPr>
            <a:lvl4pPr marL="2438293" indent="0">
              <a:buNone/>
              <a:defRPr sz="2844"/>
            </a:lvl4pPr>
            <a:lvl5pPr marL="3251058" indent="0">
              <a:buNone/>
              <a:defRPr sz="2844"/>
            </a:lvl5pPr>
            <a:lvl6pPr marL="4063822" indent="0">
              <a:buNone/>
              <a:defRPr sz="2844"/>
            </a:lvl6pPr>
            <a:lvl7pPr marL="4876587" indent="0">
              <a:buNone/>
              <a:defRPr sz="2844"/>
            </a:lvl7pPr>
            <a:lvl8pPr marL="5689351" indent="0">
              <a:buNone/>
              <a:defRPr sz="2844"/>
            </a:lvl8pPr>
            <a:lvl9pPr marL="6502116" indent="0">
              <a:buNone/>
              <a:defRPr sz="2844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2875" y="6510864"/>
            <a:ext cx="11096291" cy="3657600"/>
          </a:xfrm>
        </p:spPr>
        <p:txBody>
          <a:bodyPr anchor="t">
            <a:normAutofit/>
          </a:bodyPr>
          <a:lstStyle>
            <a:lvl1pPr marL="0" indent="0" algn="ctr">
              <a:buNone/>
              <a:defRPr sz="3200"/>
            </a:lvl1pPr>
            <a:lvl2pPr marL="812764" indent="0">
              <a:buNone/>
              <a:defRPr sz="2133"/>
            </a:lvl2pPr>
            <a:lvl3pPr marL="1625529" indent="0">
              <a:buNone/>
              <a:defRPr sz="1778"/>
            </a:lvl3pPr>
            <a:lvl4pPr marL="2438293" indent="0">
              <a:buNone/>
              <a:defRPr sz="1600"/>
            </a:lvl4pPr>
            <a:lvl5pPr marL="3251058" indent="0">
              <a:buNone/>
              <a:defRPr sz="1600"/>
            </a:lvl5pPr>
            <a:lvl6pPr marL="4063822" indent="0">
              <a:buNone/>
              <a:defRPr sz="1600"/>
            </a:lvl6pPr>
            <a:lvl7pPr marL="4876587" indent="0">
              <a:buNone/>
              <a:defRPr sz="1600"/>
            </a:lvl7pPr>
            <a:lvl8pPr marL="5689351" indent="0">
              <a:buNone/>
              <a:defRPr sz="1600"/>
            </a:lvl8pPr>
            <a:lvl9pPr marL="6502116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76A0F-C340-4CFD-8395-8BE88A4111A5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90C90-D026-435E-83A9-85DE0A9455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276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2879" y="9630830"/>
            <a:ext cx="17083434" cy="1133476"/>
          </a:xfrm>
        </p:spPr>
        <p:txBody>
          <a:bodyPr anchor="b">
            <a:normAutofit/>
          </a:bodyPr>
          <a:lstStyle>
            <a:lvl1pPr algn="ctr">
              <a:defRPr sz="4266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51381" y="2082799"/>
            <a:ext cx="17965734" cy="6671738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764" indent="0">
              <a:buNone/>
              <a:defRPr sz="2844"/>
            </a:lvl2pPr>
            <a:lvl3pPr marL="1625529" indent="0">
              <a:buNone/>
              <a:defRPr sz="2844"/>
            </a:lvl3pPr>
            <a:lvl4pPr marL="2438293" indent="0">
              <a:buNone/>
              <a:defRPr sz="2844"/>
            </a:lvl4pPr>
            <a:lvl5pPr marL="3251058" indent="0">
              <a:buNone/>
              <a:defRPr sz="2844"/>
            </a:lvl5pPr>
            <a:lvl6pPr marL="4063822" indent="0">
              <a:buNone/>
              <a:defRPr sz="2844"/>
            </a:lvl6pPr>
            <a:lvl7pPr marL="4876587" indent="0">
              <a:buNone/>
              <a:defRPr sz="2844"/>
            </a:lvl7pPr>
            <a:lvl8pPr marL="5689351" indent="0">
              <a:buNone/>
              <a:defRPr sz="2844"/>
            </a:lvl8pPr>
            <a:lvl9pPr marL="6502116" indent="0">
              <a:buNone/>
              <a:defRPr sz="2844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2879" y="10764306"/>
            <a:ext cx="17083434" cy="987424"/>
          </a:xfrm>
        </p:spPr>
        <p:txBody>
          <a:bodyPr>
            <a:normAutofit/>
          </a:bodyPr>
          <a:lstStyle>
            <a:lvl1pPr marL="0" indent="0" algn="ctr">
              <a:buNone/>
              <a:defRPr sz="2489"/>
            </a:lvl1pPr>
            <a:lvl2pPr marL="812764" indent="0">
              <a:buNone/>
              <a:defRPr sz="2133"/>
            </a:lvl2pPr>
            <a:lvl3pPr marL="1625529" indent="0">
              <a:buNone/>
              <a:defRPr sz="1778"/>
            </a:lvl3pPr>
            <a:lvl4pPr marL="2438293" indent="0">
              <a:buNone/>
              <a:defRPr sz="1600"/>
            </a:lvl4pPr>
            <a:lvl5pPr marL="3251058" indent="0">
              <a:buNone/>
              <a:defRPr sz="1600"/>
            </a:lvl5pPr>
            <a:lvl6pPr marL="4063822" indent="0">
              <a:buNone/>
              <a:defRPr sz="1600"/>
            </a:lvl6pPr>
            <a:lvl7pPr marL="4876587" indent="0">
              <a:buNone/>
              <a:defRPr sz="1600"/>
            </a:lvl7pPr>
            <a:lvl8pPr marL="5689351" indent="0">
              <a:buNone/>
              <a:defRPr sz="1600"/>
            </a:lvl8pPr>
            <a:lvl9pPr marL="6502116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17F8A-A690-4622-80FB-4AB83DCB63B6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90C90-D026-435E-83A9-85DE0A9455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340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7931" y="1964264"/>
            <a:ext cx="17053330" cy="5909736"/>
          </a:xfrm>
        </p:spPr>
        <p:txBody>
          <a:bodyPr anchor="ctr">
            <a:normAutofit/>
          </a:bodyPr>
          <a:lstStyle>
            <a:lvl1pPr algn="ctr">
              <a:defRPr sz="568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17931" y="8686799"/>
            <a:ext cx="17053330" cy="3064934"/>
          </a:xfrm>
        </p:spPr>
        <p:txBody>
          <a:bodyPr anchor="ctr">
            <a:normAutofit/>
          </a:bodyPr>
          <a:lstStyle>
            <a:lvl1pPr marL="0" indent="0" algn="ctr">
              <a:buNone/>
              <a:defRPr sz="3555">
                <a:solidFill>
                  <a:schemeClr val="tx1"/>
                </a:solidFill>
              </a:defRPr>
            </a:lvl1pPr>
            <a:lvl2pPr marL="81276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529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293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058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3822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587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3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116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C7D0-998A-4342-B9C5-83C54B3AFDE9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90C90-D026-435E-83A9-85DE0A9455C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82018" y="8280398"/>
            <a:ext cx="1672367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84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0982" y="1964264"/>
            <a:ext cx="16526527" cy="4741336"/>
          </a:xfrm>
        </p:spPr>
        <p:txBody>
          <a:bodyPr anchor="ctr">
            <a:normAutofit/>
          </a:bodyPr>
          <a:lstStyle>
            <a:lvl1pPr algn="ctr">
              <a:defRPr sz="568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977371" y="6705600"/>
            <a:ext cx="15713754" cy="11684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3555"/>
            </a:lvl1pPr>
            <a:lvl2pPr marL="812764" indent="0">
              <a:buFontTx/>
              <a:buNone/>
              <a:defRPr/>
            </a:lvl2pPr>
            <a:lvl3pPr marL="1625529" indent="0">
              <a:buFontTx/>
              <a:buNone/>
              <a:defRPr/>
            </a:lvl3pPr>
            <a:lvl4pPr marL="2438293" indent="0">
              <a:buFontTx/>
              <a:buNone/>
              <a:defRPr/>
            </a:lvl4pPr>
            <a:lvl5pPr marL="3251058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2879" y="8686799"/>
            <a:ext cx="17083434" cy="3064934"/>
          </a:xfrm>
        </p:spPr>
        <p:txBody>
          <a:bodyPr anchor="ctr">
            <a:normAutofit/>
          </a:bodyPr>
          <a:lstStyle>
            <a:lvl1pPr marL="0" indent="0" algn="ctr">
              <a:buNone/>
              <a:defRPr sz="3555">
                <a:solidFill>
                  <a:schemeClr val="tx1"/>
                </a:solidFill>
              </a:defRPr>
            </a:lvl1pPr>
            <a:lvl2pPr marL="81276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529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293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058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3822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587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3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116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074D0-4B33-4D35-B678-2664331EF544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90C90-D026-435E-83A9-85DE0A9455C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532430" y="1759922"/>
            <a:ext cx="1083707" cy="1169552"/>
          </a:xfrm>
          <a:prstGeom prst="rect">
            <a:avLst/>
          </a:prstGeom>
        </p:spPr>
        <p:txBody>
          <a:bodyPr vert="horz" lIns="162556" tIns="81278" rIns="162556" bIns="81278" rtlCol="0" anchor="ctr">
            <a:noAutofit/>
          </a:bodyPr>
          <a:lstStyle/>
          <a:p>
            <a:pPr lvl="0"/>
            <a:r>
              <a:rPr lang="en-US" sz="14222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844459" y="5655740"/>
            <a:ext cx="1083707" cy="1169552"/>
          </a:xfrm>
          <a:prstGeom prst="rect">
            <a:avLst/>
          </a:prstGeom>
        </p:spPr>
        <p:txBody>
          <a:bodyPr vert="horz" lIns="162556" tIns="81278" rIns="162556" bIns="81278" rtlCol="0" anchor="ctr">
            <a:noAutofit/>
          </a:bodyPr>
          <a:lstStyle/>
          <a:p>
            <a:pPr lvl="0" algn="r"/>
            <a:r>
              <a:rPr lang="en-US" sz="14222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482018" y="8280398"/>
            <a:ext cx="1672367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52994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2880" y="6617162"/>
            <a:ext cx="17083438" cy="2937600"/>
          </a:xfrm>
        </p:spPr>
        <p:txBody>
          <a:bodyPr anchor="b">
            <a:normAutofit/>
          </a:bodyPr>
          <a:lstStyle>
            <a:lvl1pPr algn="l">
              <a:defRPr sz="568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2879" y="9554762"/>
            <a:ext cx="17083438" cy="1720800"/>
          </a:xfrm>
        </p:spPr>
        <p:txBody>
          <a:bodyPr anchor="t">
            <a:normAutofit/>
          </a:bodyPr>
          <a:lstStyle>
            <a:lvl1pPr marL="0" indent="0" algn="l">
              <a:buNone/>
              <a:defRPr sz="3555">
                <a:solidFill>
                  <a:schemeClr val="tx1"/>
                </a:solidFill>
              </a:defRPr>
            </a:lvl1pPr>
            <a:lvl2pPr marL="81276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529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293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058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3822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587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3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116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9FB5-A215-4ED6-8366-B100DDA16107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90C90-D026-435E-83A9-85DE0A9455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2173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0982" y="1964264"/>
            <a:ext cx="16526527" cy="4487336"/>
          </a:xfrm>
        </p:spPr>
        <p:txBody>
          <a:bodyPr anchor="ctr">
            <a:normAutofit/>
          </a:bodyPr>
          <a:lstStyle>
            <a:lvl1pPr algn="ctr">
              <a:defRPr sz="568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2302879" y="7278624"/>
            <a:ext cx="17083438" cy="177393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4266">
                <a:solidFill>
                  <a:schemeClr val="tx1"/>
                </a:solidFill>
              </a:defRPr>
            </a:lvl1pPr>
            <a:lvl2pPr marL="81276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529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293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058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3822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587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3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116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2879" y="9059334"/>
            <a:ext cx="17083438" cy="2692400"/>
          </a:xfrm>
        </p:spPr>
        <p:txBody>
          <a:bodyPr anchor="t"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</a:defRPr>
            </a:lvl1pPr>
            <a:lvl2pPr marL="81276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529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293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058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3822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587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3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116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B99D5-0C81-48C6-8602-F51F7BA1E3B3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90C90-D026-435E-83A9-85DE0A9455C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532430" y="1759922"/>
            <a:ext cx="1083707" cy="1169552"/>
          </a:xfrm>
          <a:prstGeom prst="rect">
            <a:avLst/>
          </a:prstGeom>
        </p:spPr>
        <p:txBody>
          <a:bodyPr vert="horz" lIns="162556" tIns="81278" rIns="162556" bIns="81278" rtlCol="0" anchor="ctr">
            <a:noAutofit/>
          </a:bodyPr>
          <a:lstStyle/>
          <a:p>
            <a:pPr lvl="0"/>
            <a:r>
              <a:rPr lang="en-US" sz="14222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844459" y="5198522"/>
            <a:ext cx="1083707" cy="1169552"/>
          </a:xfrm>
          <a:prstGeom prst="rect">
            <a:avLst/>
          </a:prstGeom>
        </p:spPr>
        <p:txBody>
          <a:bodyPr vert="horz" lIns="162556" tIns="81278" rIns="162556" bIns="81278" rtlCol="0" anchor="ctr">
            <a:noAutofit/>
          </a:bodyPr>
          <a:lstStyle/>
          <a:p>
            <a:pPr lvl="0" algn="r"/>
            <a:r>
              <a:rPr lang="en-US" sz="14222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482018" y="6858000"/>
            <a:ext cx="1672367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854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2879" y="1964264"/>
            <a:ext cx="17083434" cy="448733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2302879" y="7260336"/>
            <a:ext cx="17083438" cy="168249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4978">
                <a:solidFill>
                  <a:schemeClr val="tx1"/>
                </a:solidFill>
              </a:defRPr>
            </a:lvl1pPr>
            <a:lvl2pPr marL="81276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529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293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058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3822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587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3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116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2877" y="8940799"/>
            <a:ext cx="17083441" cy="2810934"/>
          </a:xfrm>
        </p:spPr>
        <p:txBody>
          <a:bodyPr anchor="t"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</a:defRPr>
            </a:lvl1pPr>
            <a:lvl2pPr marL="81276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529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293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058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3822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587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3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116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6CCCE-DC0C-4FAF-A29C-468D84477BC5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90C90-D026-435E-83A9-85DE0A9455C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82018" y="6858000"/>
            <a:ext cx="1672367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0439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ADB70-5700-4800-B43E-3BBEE9A143B1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90C90-D026-435E-83A9-85DE0A9455C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2482018" y="4842932"/>
            <a:ext cx="1672367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86439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998466" y="1964263"/>
            <a:ext cx="3361509" cy="9787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02875" y="1964264"/>
            <a:ext cx="13213944" cy="9787468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7411A-C6EE-4570-8376-E44606785970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90C90-D026-435E-83A9-85DE0A9455C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5757642" y="1981200"/>
            <a:ext cx="0" cy="97536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5487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7974" y="0"/>
            <a:ext cx="21741624" cy="13712428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02881" y="1964265"/>
            <a:ext cx="17068377" cy="260773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2879" y="5113864"/>
            <a:ext cx="17068377" cy="663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26292" y="11938000"/>
            <a:ext cx="2844731" cy="558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8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76823B0-67A5-4CB5-9CD5-AC619C0B260D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02879" y="11938000"/>
            <a:ext cx="12987950" cy="558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8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406487" y="11938000"/>
            <a:ext cx="964771" cy="558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8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6590C90-D026-435E-83A9-85DE0A9455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39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</p:sldLayoutIdLst>
  <p:hf hdr="0" ftr="0" dt="0"/>
  <p:txStyles>
    <p:titleStyle>
      <a:lvl1pPr algn="ctr" defTabSz="812764" rtl="0" eaLnBrk="1" latinLnBrk="0" hangingPunct="1">
        <a:spcBef>
          <a:spcPct val="0"/>
        </a:spcBef>
        <a:buNone/>
        <a:defRPr sz="7822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07978" indent="-507978" algn="l" defTabSz="812764" rtl="0" eaLnBrk="1" latinLnBrk="0" hangingPunct="1">
        <a:spcBef>
          <a:spcPct val="20000"/>
        </a:spcBef>
        <a:spcAft>
          <a:spcPts val="1067"/>
        </a:spcAft>
        <a:buClr>
          <a:schemeClr val="accent1"/>
        </a:buClr>
        <a:buSzPct val="115000"/>
        <a:buFont typeface="Arial"/>
        <a:buChar char="•"/>
        <a:defRPr sz="4266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1320742" indent="-507978" algn="l" defTabSz="812764" rtl="0" eaLnBrk="1" latinLnBrk="0" hangingPunct="1">
        <a:spcBef>
          <a:spcPct val="20000"/>
        </a:spcBef>
        <a:spcAft>
          <a:spcPts val="1067"/>
        </a:spcAft>
        <a:buClr>
          <a:schemeClr val="accent1"/>
        </a:buClr>
        <a:buSzPct val="115000"/>
        <a:buFont typeface="Arial"/>
        <a:buChar char="•"/>
        <a:defRPr sz="3555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2133507" indent="-507978" algn="l" defTabSz="812764" rtl="0" eaLnBrk="1" latinLnBrk="0" hangingPunct="1">
        <a:spcBef>
          <a:spcPct val="20000"/>
        </a:spcBef>
        <a:spcAft>
          <a:spcPts val="1067"/>
        </a:spcAft>
        <a:buClr>
          <a:schemeClr val="accent1"/>
        </a:buClr>
        <a:buSzPct val="115000"/>
        <a:buFont typeface="Arial"/>
        <a:buChar char="•"/>
        <a:defRPr sz="32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2743080" indent="-304787" algn="l" defTabSz="812764" rtl="0" eaLnBrk="1" latinLnBrk="0" hangingPunct="1">
        <a:spcBef>
          <a:spcPct val="20000"/>
        </a:spcBef>
        <a:spcAft>
          <a:spcPts val="1067"/>
        </a:spcAft>
        <a:buClr>
          <a:schemeClr val="accent1"/>
        </a:buClr>
        <a:buSzPct val="115000"/>
        <a:buFont typeface="Arial"/>
        <a:buChar char="•"/>
        <a:defRPr sz="2844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3555844" indent="-304787" algn="l" defTabSz="812764" rtl="0" eaLnBrk="1" latinLnBrk="0" hangingPunct="1">
        <a:spcBef>
          <a:spcPct val="20000"/>
        </a:spcBef>
        <a:spcAft>
          <a:spcPts val="1067"/>
        </a:spcAft>
        <a:buClr>
          <a:schemeClr val="accent1"/>
        </a:buClr>
        <a:buSzPct val="115000"/>
        <a:buFont typeface="Arial"/>
        <a:buChar char="•"/>
        <a:defRPr sz="248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4470204" indent="-406382" algn="l" defTabSz="812764" rtl="0" eaLnBrk="1" latinLnBrk="0" hangingPunct="1">
        <a:spcBef>
          <a:spcPct val="20000"/>
        </a:spcBef>
        <a:spcAft>
          <a:spcPts val="1067"/>
        </a:spcAft>
        <a:buClr>
          <a:schemeClr val="accent1"/>
        </a:buClr>
        <a:buSzPct val="115000"/>
        <a:buFont typeface="Arial"/>
        <a:buChar char="•"/>
        <a:defRPr sz="248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5282969" indent="-406382" algn="l" defTabSz="812764" rtl="0" eaLnBrk="1" latinLnBrk="0" hangingPunct="1">
        <a:spcBef>
          <a:spcPct val="20000"/>
        </a:spcBef>
        <a:spcAft>
          <a:spcPts val="1067"/>
        </a:spcAft>
        <a:buClr>
          <a:schemeClr val="accent1"/>
        </a:buClr>
        <a:buSzPct val="115000"/>
        <a:buFont typeface="Arial"/>
        <a:buChar char="•"/>
        <a:defRPr sz="248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6095733" indent="-406382" algn="l" defTabSz="812764" rtl="0" eaLnBrk="1" latinLnBrk="0" hangingPunct="1">
        <a:spcBef>
          <a:spcPct val="20000"/>
        </a:spcBef>
        <a:spcAft>
          <a:spcPts val="1067"/>
        </a:spcAft>
        <a:buClr>
          <a:schemeClr val="accent1"/>
        </a:buClr>
        <a:buSzPct val="115000"/>
        <a:buFont typeface="Arial"/>
        <a:buChar char="•"/>
        <a:defRPr sz="248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6908498" indent="-406382" algn="l" defTabSz="812764" rtl="0" eaLnBrk="1" latinLnBrk="0" hangingPunct="1">
        <a:spcBef>
          <a:spcPct val="20000"/>
        </a:spcBef>
        <a:spcAft>
          <a:spcPts val="1067"/>
        </a:spcAft>
        <a:buClr>
          <a:schemeClr val="accent1"/>
        </a:buClr>
        <a:buSzPct val="115000"/>
        <a:buFont typeface="Arial"/>
        <a:buChar char="•"/>
        <a:defRPr sz="248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276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764" algn="l" defTabSz="81276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529" algn="l" defTabSz="81276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293" algn="l" defTabSz="81276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058" algn="l" defTabSz="81276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3822" algn="l" defTabSz="81276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587" algn="l" defTabSz="81276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351" algn="l" defTabSz="81276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116" algn="l" defTabSz="81276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2302882" y="2094540"/>
            <a:ext cx="17068377" cy="1577681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Position </a:t>
            </a:r>
            <a:r>
              <a:rPr lang="en-US" altLang="en-US" dirty="0">
                <a:ea typeface="ＭＳ Ｐゴシック" panose="020B0600070205080204" pitchFamily="34" charset="-128"/>
              </a:rPr>
              <a:t>of </a:t>
            </a:r>
            <a:r>
              <a:rPr lang="en-US" altLang="en-US">
                <a:ea typeface="ＭＳ Ｐゴシック" panose="020B0600070205080204" pitchFamily="34" charset="-128"/>
              </a:rPr>
              <a:t>a Parser </a:t>
            </a:r>
            <a:r>
              <a:rPr lang="en-US" altLang="en-US" dirty="0">
                <a:ea typeface="ＭＳ Ｐゴシック" panose="020B0600070205080204" pitchFamily="34" charset="-128"/>
              </a:rPr>
              <a:t>in the Compiler Model</a:t>
            </a:r>
          </a:p>
        </p:txBody>
      </p:sp>
      <p:sp>
        <p:nvSpPr>
          <p:cNvPr id="307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672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1446375" indent="-556298">
              <a:defRPr sz="4672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2225192" indent="-445038">
              <a:defRPr sz="4672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3115269" indent="-445038">
              <a:defRPr sz="4672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4005346" indent="-445038">
              <a:defRPr sz="4672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895423" indent="-445038" eaLnBrk="0" fontAlgn="base" hangingPunct="0">
              <a:spcBef>
                <a:spcPct val="0"/>
              </a:spcBef>
              <a:spcAft>
                <a:spcPct val="0"/>
              </a:spcAft>
              <a:defRPr sz="4672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5785500" indent="-445038" eaLnBrk="0" fontAlgn="base" hangingPunct="0">
              <a:spcBef>
                <a:spcPct val="0"/>
              </a:spcBef>
              <a:spcAft>
                <a:spcPct val="0"/>
              </a:spcAft>
              <a:defRPr sz="4672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6675577" indent="-445038" eaLnBrk="0" fontAlgn="base" hangingPunct="0">
              <a:spcBef>
                <a:spcPct val="0"/>
              </a:spcBef>
              <a:spcAft>
                <a:spcPct val="0"/>
              </a:spcAft>
              <a:defRPr sz="4672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7565654" indent="-445038" eaLnBrk="0" fontAlgn="base" hangingPunct="0">
              <a:spcBef>
                <a:spcPct val="0"/>
              </a:spcBef>
              <a:spcAft>
                <a:spcPct val="0"/>
              </a:spcAft>
              <a:defRPr sz="4672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362100F-E861-4F1F-BC6F-57ED9631A019}" type="slidenum">
              <a:rPr lang="en-US" altLang="en-US" sz="2726"/>
              <a:pPr/>
              <a:t>1</a:t>
            </a:fld>
            <a:endParaRPr lang="en-US" altLang="en-US" sz="2726"/>
          </a:p>
        </p:txBody>
      </p:sp>
      <p:sp>
        <p:nvSpPr>
          <p:cNvPr id="3076" name="Rectangle 3"/>
          <p:cNvSpPr>
            <a:spLocks noChangeArrowheads="1"/>
          </p:cNvSpPr>
          <p:nvPr/>
        </p:nvSpPr>
        <p:spPr bwMode="auto">
          <a:xfrm>
            <a:off x="4773547" y="5077884"/>
            <a:ext cx="4301949" cy="207680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672"/>
              <a:t>Lexical</a:t>
            </a:r>
            <a:br>
              <a:rPr lang="en-US" altLang="en-US" sz="4672"/>
            </a:br>
            <a:r>
              <a:rPr lang="en-US" altLang="en-US" sz="4672"/>
              <a:t>Analyzer</a:t>
            </a:r>
          </a:p>
        </p:txBody>
      </p:sp>
      <p:sp>
        <p:nvSpPr>
          <p:cNvPr id="3077" name="Rectangle 4"/>
          <p:cNvSpPr>
            <a:spLocks noChangeArrowheads="1"/>
          </p:cNvSpPr>
          <p:nvPr/>
        </p:nvSpPr>
        <p:spPr bwMode="auto">
          <a:xfrm>
            <a:off x="11597328" y="5077884"/>
            <a:ext cx="4301949" cy="207680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672"/>
              <a:t>Parser</a:t>
            </a:r>
            <a:br>
              <a:rPr lang="en-US" altLang="en-US" sz="4672" dirty="0"/>
            </a:br>
            <a:r>
              <a:rPr lang="en-US" altLang="en-US" sz="4672"/>
              <a:t>and rest </a:t>
            </a:r>
            <a:r>
              <a:rPr lang="en-US" altLang="en-US" sz="4672" dirty="0"/>
              <a:t>of</a:t>
            </a:r>
            <a:br>
              <a:rPr lang="en-US" altLang="en-US" sz="4672" dirty="0"/>
            </a:br>
            <a:r>
              <a:rPr lang="en-US" altLang="en-US" sz="4672" dirty="0"/>
              <a:t>front-end</a:t>
            </a:r>
          </a:p>
        </p:txBody>
      </p:sp>
      <p:sp>
        <p:nvSpPr>
          <p:cNvPr id="3078" name="Text Box 5"/>
          <p:cNvSpPr txBox="1">
            <a:spLocks noChangeArrowheads="1"/>
          </p:cNvSpPr>
          <p:nvPr/>
        </p:nvSpPr>
        <p:spPr bwMode="auto">
          <a:xfrm>
            <a:off x="2133802" y="5226228"/>
            <a:ext cx="2247730" cy="1530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672"/>
              <a:t>Source</a:t>
            </a:r>
            <a:br>
              <a:rPr lang="en-US" altLang="en-US" sz="4672" dirty="0"/>
            </a:br>
            <a:r>
              <a:rPr lang="en-US" altLang="en-US" sz="4672" dirty="0"/>
              <a:t>Program</a:t>
            </a:r>
          </a:p>
        </p:txBody>
      </p:sp>
      <p:sp>
        <p:nvSpPr>
          <p:cNvPr id="3079" name="Text Box 6"/>
          <p:cNvSpPr txBox="1">
            <a:spLocks noChangeArrowheads="1"/>
          </p:cNvSpPr>
          <p:nvPr/>
        </p:nvSpPr>
        <p:spPr bwMode="auto">
          <a:xfrm>
            <a:off x="9069316" y="5089533"/>
            <a:ext cx="233612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000" dirty="0"/>
              <a:t>Token,</a:t>
            </a:r>
            <a:br>
              <a:rPr lang="en-US" altLang="en-US" sz="4000" dirty="0"/>
            </a:br>
            <a:r>
              <a:rPr lang="en-US" altLang="en-US" sz="4000" dirty="0" err="1"/>
              <a:t>tokenval</a:t>
            </a:r>
            <a:endParaRPr lang="en-US" altLang="en-US" sz="4000" dirty="0"/>
          </a:p>
        </p:txBody>
      </p:sp>
      <p:sp>
        <p:nvSpPr>
          <p:cNvPr id="3080" name="Line 7"/>
          <p:cNvSpPr>
            <a:spLocks noChangeShapeType="1"/>
          </p:cNvSpPr>
          <p:nvPr/>
        </p:nvSpPr>
        <p:spPr bwMode="auto">
          <a:xfrm>
            <a:off x="9075495" y="5819599"/>
            <a:ext cx="25218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3504"/>
          </a:p>
        </p:txBody>
      </p:sp>
      <p:sp>
        <p:nvSpPr>
          <p:cNvPr id="3081" name="Line 8"/>
          <p:cNvSpPr>
            <a:spLocks noChangeShapeType="1"/>
          </p:cNvSpPr>
          <p:nvPr/>
        </p:nvSpPr>
        <p:spPr bwMode="auto">
          <a:xfrm>
            <a:off x="15899277" y="6116285"/>
            <a:ext cx="74171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3504"/>
          </a:p>
        </p:txBody>
      </p:sp>
      <p:sp>
        <p:nvSpPr>
          <p:cNvPr id="3082" name="Line 9"/>
          <p:cNvSpPr>
            <a:spLocks noChangeShapeType="1"/>
          </p:cNvSpPr>
          <p:nvPr/>
        </p:nvSpPr>
        <p:spPr bwMode="auto">
          <a:xfrm>
            <a:off x="4031832" y="6116285"/>
            <a:ext cx="74171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3504"/>
          </a:p>
        </p:txBody>
      </p:sp>
      <p:sp>
        <p:nvSpPr>
          <p:cNvPr id="3083" name="Rectangle 10"/>
          <p:cNvSpPr>
            <a:spLocks noChangeArrowheads="1"/>
          </p:cNvSpPr>
          <p:nvPr/>
        </p:nvSpPr>
        <p:spPr bwMode="auto">
          <a:xfrm>
            <a:off x="7918091" y="8904427"/>
            <a:ext cx="5043664" cy="237348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672"/>
              <a:t>Symbol </a:t>
            </a:r>
            <a:r>
              <a:rPr lang="en-US" altLang="en-US" sz="4672" dirty="0"/>
              <a:t>Table</a:t>
            </a:r>
          </a:p>
        </p:txBody>
      </p:sp>
      <p:sp>
        <p:nvSpPr>
          <p:cNvPr id="3084" name="Line 11"/>
          <p:cNvSpPr>
            <a:spLocks noChangeShapeType="1"/>
          </p:cNvSpPr>
          <p:nvPr/>
        </p:nvSpPr>
        <p:spPr bwMode="auto">
          <a:xfrm flipV="1">
            <a:off x="12190699" y="7154687"/>
            <a:ext cx="1335088" cy="2966861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3504"/>
          </a:p>
        </p:txBody>
      </p:sp>
      <p:sp>
        <p:nvSpPr>
          <p:cNvPr id="3085" name="Line 12"/>
          <p:cNvSpPr>
            <a:spLocks noChangeShapeType="1"/>
          </p:cNvSpPr>
          <p:nvPr/>
        </p:nvSpPr>
        <p:spPr bwMode="auto">
          <a:xfrm flipH="1" flipV="1">
            <a:off x="7147035" y="7154687"/>
            <a:ext cx="1631774" cy="2966861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3504"/>
          </a:p>
        </p:txBody>
      </p:sp>
      <p:sp>
        <p:nvSpPr>
          <p:cNvPr id="3086" name="Line 13"/>
          <p:cNvSpPr>
            <a:spLocks noChangeShapeType="1"/>
          </p:cNvSpPr>
          <p:nvPr/>
        </p:nvSpPr>
        <p:spPr bwMode="auto">
          <a:xfrm flipH="1">
            <a:off x="9075495" y="6412971"/>
            <a:ext cx="25218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3504"/>
          </a:p>
        </p:txBody>
      </p:sp>
      <p:sp>
        <p:nvSpPr>
          <p:cNvPr id="3087" name="Text Box 14"/>
          <p:cNvSpPr txBox="1">
            <a:spLocks noChangeArrowheads="1"/>
          </p:cNvSpPr>
          <p:nvPr/>
        </p:nvSpPr>
        <p:spPr bwMode="auto">
          <a:xfrm>
            <a:off x="9234302" y="6443878"/>
            <a:ext cx="2198038" cy="1530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672" i="1"/>
              <a:t>Get next</a:t>
            </a:r>
            <a:br>
              <a:rPr lang="en-US" altLang="en-US" sz="4672" i="1"/>
            </a:br>
            <a:r>
              <a:rPr lang="en-US" altLang="en-US" sz="4672" i="1"/>
              <a:t>token</a:t>
            </a:r>
          </a:p>
        </p:txBody>
      </p:sp>
      <p:sp>
        <p:nvSpPr>
          <p:cNvPr id="3088" name="Line 15"/>
          <p:cNvSpPr>
            <a:spLocks noChangeShapeType="1"/>
          </p:cNvSpPr>
          <p:nvPr/>
        </p:nvSpPr>
        <p:spPr bwMode="auto">
          <a:xfrm flipH="1">
            <a:off x="6405320" y="7154686"/>
            <a:ext cx="0" cy="13350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3504"/>
          </a:p>
        </p:txBody>
      </p:sp>
      <p:sp>
        <p:nvSpPr>
          <p:cNvPr id="3089" name="Line 16"/>
          <p:cNvSpPr>
            <a:spLocks noChangeShapeType="1"/>
          </p:cNvSpPr>
          <p:nvPr/>
        </p:nvSpPr>
        <p:spPr bwMode="auto">
          <a:xfrm flipH="1">
            <a:off x="14564188" y="7154686"/>
            <a:ext cx="0" cy="13350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3504"/>
          </a:p>
        </p:txBody>
      </p:sp>
      <p:sp>
        <p:nvSpPr>
          <p:cNvPr id="3090" name="Text Box 17"/>
          <p:cNvSpPr txBox="1">
            <a:spLocks noChangeArrowheads="1"/>
          </p:cNvSpPr>
          <p:nvPr/>
        </p:nvSpPr>
        <p:spPr bwMode="auto">
          <a:xfrm>
            <a:off x="4231951" y="8341431"/>
            <a:ext cx="3292888" cy="81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672"/>
              <a:t>Lexical error</a:t>
            </a:r>
          </a:p>
        </p:txBody>
      </p:sp>
      <p:sp>
        <p:nvSpPr>
          <p:cNvPr id="3091" name="Text Box 18"/>
          <p:cNvSpPr txBox="1">
            <a:spLocks noChangeArrowheads="1"/>
          </p:cNvSpPr>
          <p:nvPr/>
        </p:nvSpPr>
        <p:spPr bwMode="auto">
          <a:xfrm>
            <a:off x="13123934" y="8341433"/>
            <a:ext cx="3727302" cy="1530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672"/>
              <a:t>Syntax </a:t>
            </a:r>
            <a:r>
              <a:rPr lang="en-US" altLang="en-US" sz="4672" dirty="0"/>
              <a:t>error</a:t>
            </a:r>
            <a:br>
              <a:rPr lang="en-US" altLang="en-US" sz="4672"/>
            </a:br>
            <a:r>
              <a:rPr lang="en-US" altLang="en-US" sz="4672"/>
              <a:t>Semantic </a:t>
            </a:r>
            <a:r>
              <a:rPr lang="en-US" altLang="en-US" sz="4672" dirty="0"/>
              <a:t>error</a:t>
            </a:r>
          </a:p>
        </p:txBody>
      </p:sp>
      <p:sp>
        <p:nvSpPr>
          <p:cNvPr id="3092" name="Text Box 19"/>
          <p:cNvSpPr txBox="1">
            <a:spLocks noChangeArrowheads="1"/>
          </p:cNvSpPr>
          <p:nvPr/>
        </p:nvSpPr>
        <p:spPr bwMode="auto">
          <a:xfrm>
            <a:off x="16091164" y="5374572"/>
            <a:ext cx="3578223" cy="1530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672" dirty="0"/>
              <a:t>Intermediate</a:t>
            </a:r>
            <a:br>
              <a:rPr lang="en-US" altLang="en-US" sz="4672"/>
            </a:br>
            <a:r>
              <a:rPr lang="en-US" altLang="en-US" sz="4672"/>
              <a:t>representation</a:t>
            </a:r>
            <a:endParaRPr lang="en-US" altLang="en-US" sz="4672" dirty="0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C12EF781-7095-402B-82B9-8D25564E7158}"/>
              </a:ext>
            </a:extLst>
          </p:cNvPr>
          <p:cNvSpPr txBox="1">
            <a:spLocks/>
          </p:cNvSpPr>
          <p:nvPr/>
        </p:nvSpPr>
        <p:spPr>
          <a:xfrm>
            <a:off x="7524839" y="11926388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  <p:extLst>
      <p:ext uri="{BB962C8B-B14F-4D97-AF65-F5344CB8AC3E}">
        <p14:creationId xmlns:p14="http://schemas.microsoft.com/office/powerpoint/2010/main" val="2604574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5350058" y="3130985"/>
            <a:ext cx="4749285" cy="2162984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384"/>
              <a:t>Lexical</a:t>
            </a:r>
            <a:br>
              <a:rPr lang="en-US" altLang="en-US" sz="4384"/>
            </a:br>
            <a:r>
              <a:rPr lang="en-US" altLang="en-US" sz="4384"/>
              <a:t>Analyzer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2883407" y="3130985"/>
            <a:ext cx="4749285" cy="2162984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384"/>
              <a:t>Parser </a:t>
            </a:r>
            <a:endParaRPr lang="en-US" altLang="en-US" sz="4384" dirty="0"/>
          </a:p>
          <a:p>
            <a:pPr algn="ctr"/>
            <a:r>
              <a:rPr lang="en-US" altLang="en-US" sz="4384"/>
              <a:t>(Syntax </a:t>
            </a:r>
            <a:r>
              <a:rPr lang="en-US" altLang="en-US" sz="4384" dirty="0"/>
              <a:t>Analyzer)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482949" y="3285484"/>
            <a:ext cx="2121093" cy="1441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384"/>
              <a:t>Source</a:t>
            </a:r>
            <a:br>
              <a:rPr lang="en-US" altLang="en-US" sz="4384" dirty="0"/>
            </a:br>
            <a:r>
              <a:rPr lang="en-US" altLang="en-US" sz="4384" dirty="0"/>
              <a:t>Program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0456374" y="3090727"/>
            <a:ext cx="2117887" cy="1441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384" dirty="0">
                <a:solidFill>
                  <a:schemeClr val="accent1"/>
                </a:solidFill>
              </a:rPr>
              <a:t>Token,</a:t>
            </a:r>
            <a:br>
              <a:rPr lang="en-US" altLang="en-US" sz="4384" dirty="0">
                <a:solidFill>
                  <a:schemeClr val="accent1"/>
                </a:solidFill>
              </a:rPr>
            </a:br>
            <a:r>
              <a:rPr lang="en-US" altLang="en-US" sz="4384" dirty="0" err="1">
                <a:solidFill>
                  <a:schemeClr val="accent1"/>
                </a:solidFill>
              </a:rPr>
              <a:t>tokenval</a:t>
            </a:r>
            <a:endParaRPr lang="en-US" altLang="en-US" sz="4384" dirty="0">
              <a:solidFill>
                <a:schemeClr val="accent1"/>
              </a:solidFill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>
            <a:off x="10099343" y="3903478"/>
            <a:ext cx="278406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3653"/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17632692" y="4212477"/>
            <a:ext cx="81884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3653"/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>
            <a:off x="4531216" y="4212477"/>
            <a:ext cx="81884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3653"/>
          </a:p>
        </p:txBody>
      </p:sp>
      <p:sp>
        <p:nvSpPr>
          <p:cNvPr id="12" name="Line 16"/>
          <p:cNvSpPr>
            <a:spLocks noChangeShapeType="1"/>
          </p:cNvSpPr>
          <p:nvPr/>
        </p:nvSpPr>
        <p:spPr bwMode="auto">
          <a:xfrm flipH="1">
            <a:off x="10099343" y="4521474"/>
            <a:ext cx="278406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3653"/>
          </a:p>
        </p:txBody>
      </p: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10453168" y="4553662"/>
            <a:ext cx="2073003" cy="1441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384" i="1"/>
              <a:t>Get next</a:t>
            </a:r>
            <a:br>
              <a:rPr lang="en-US" altLang="en-US" sz="4384" i="1"/>
            </a:br>
            <a:r>
              <a:rPr lang="en-US" altLang="en-US" sz="4384" i="1"/>
              <a:t>token</a:t>
            </a:r>
          </a:p>
        </p:txBody>
      </p:sp>
      <p:sp>
        <p:nvSpPr>
          <p:cNvPr id="14" name="Line 18"/>
          <p:cNvSpPr>
            <a:spLocks noChangeShapeType="1"/>
          </p:cNvSpPr>
          <p:nvPr/>
        </p:nvSpPr>
        <p:spPr bwMode="auto">
          <a:xfrm flipH="1">
            <a:off x="7151511" y="5293969"/>
            <a:ext cx="0" cy="139049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3653"/>
          </a:p>
        </p:txBody>
      </p:sp>
      <p:sp>
        <p:nvSpPr>
          <p:cNvPr id="15" name="Line 19"/>
          <p:cNvSpPr>
            <a:spLocks noChangeShapeType="1"/>
          </p:cNvSpPr>
          <p:nvPr/>
        </p:nvSpPr>
        <p:spPr bwMode="auto">
          <a:xfrm flipH="1">
            <a:off x="16158776" y="5293969"/>
            <a:ext cx="0" cy="139049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3653"/>
          </a:p>
        </p:txBody>
      </p:sp>
      <p:sp>
        <p:nvSpPr>
          <p:cNvPr id="16" name="Text Box 20"/>
          <p:cNvSpPr txBox="1">
            <a:spLocks noChangeArrowheads="1"/>
          </p:cNvSpPr>
          <p:nvPr/>
        </p:nvSpPr>
        <p:spPr bwMode="auto">
          <a:xfrm>
            <a:off x="6527915" y="6529961"/>
            <a:ext cx="1277914" cy="767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384"/>
              <a:t>error</a:t>
            </a:r>
          </a:p>
        </p:txBody>
      </p:sp>
      <p:sp>
        <p:nvSpPr>
          <p:cNvPr id="17" name="Text Box 21"/>
          <p:cNvSpPr txBox="1">
            <a:spLocks noChangeArrowheads="1"/>
          </p:cNvSpPr>
          <p:nvPr/>
        </p:nvSpPr>
        <p:spPr bwMode="auto">
          <a:xfrm>
            <a:off x="15535175" y="6529961"/>
            <a:ext cx="1277914" cy="767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384"/>
              <a:t>error</a:t>
            </a:r>
          </a:p>
        </p:txBody>
      </p:sp>
      <p:sp>
        <p:nvSpPr>
          <p:cNvPr id="19" name="Text Box 5"/>
          <p:cNvSpPr txBox="1">
            <a:spLocks noChangeArrowheads="1"/>
          </p:cNvSpPr>
          <p:nvPr/>
        </p:nvSpPr>
        <p:spPr bwMode="auto">
          <a:xfrm>
            <a:off x="2062156" y="4718860"/>
            <a:ext cx="2962671" cy="598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3287">
                <a:solidFill>
                  <a:schemeClr val="accent1"/>
                </a:solidFill>
              </a:rPr>
              <a:t>character stream</a:t>
            </a:r>
            <a:endParaRPr lang="en-US" altLang="en-US" sz="3287" dirty="0">
              <a:solidFill>
                <a:schemeClr val="accent1"/>
              </a:solidFill>
            </a:endParaRPr>
          </a:p>
        </p:txBody>
      </p:sp>
      <p:sp>
        <p:nvSpPr>
          <p:cNvPr id="21" name="Date Placeholder 3"/>
          <p:cNvSpPr txBox="1">
            <a:spLocks/>
          </p:cNvSpPr>
          <p:nvPr/>
        </p:nvSpPr>
        <p:spPr>
          <a:xfrm>
            <a:off x="8779219" y="11369497"/>
            <a:ext cx="5198600" cy="496699"/>
          </a:xfrm>
          <a:prstGeom prst="rect">
            <a:avLst/>
          </a:prstGeom>
        </p:spPr>
        <p:txBody>
          <a:bodyPr vert="horz" lIns="83500" tIns="41750" rIns="83500" bIns="4175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56" dirty="0"/>
              <a:t>Prof </a:t>
            </a:r>
            <a:r>
              <a:rPr lang="en-US" sz="2556"/>
              <a:t>Monika Shah </a:t>
            </a:r>
            <a:r>
              <a:rPr lang="en-US" sz="2556" dirty="0"/>
              <a:t>(</a:t>
            </a:r>
            <a:r>
              <a:rPr lang="en-US" sz="2556"/>
              <a:t>Nirma University</a:t>
            </a:r>
            <a:r>
              <a:rPr lang="en-US" sz="2556" dirty="0"/>
              <a:t>)</a:t>
            </a:r>
          </a:p>
        </p:txBody>
      </p:sp>
      <p:sp>
        <p:nvSpPr>
          <p:cNvPr id="22" name="Slide Number Placeholder 4"/>
          <p:cNvSpPr txBox="1">
            <a:spLocks/>
          </p:cNvSpPr>
          <p:nvPr/>
        </p:nvSpPr>
        <p:spPr>
          <a:xfrm>
            <a:off x="2045397" y="11535064"/>
            <a:ext cx="881006" cy="44932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4672" kern="12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  <a:cs typeface="+mn-cs"/>
              </a:defRPr>
            </a:lvl1pPr>
            <a:lvl2pPr marL="51206400" indent="-51206400" algn="l" defTabSz="914400" rtl="0" eaLnBrk="1" latinLnBrk="0" hangingPunct="1">
              <a:defRPr sz="4672" kern="12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  <a:cs typeface="+mn-cs"/>
              </a:defRPr>
            </a:lvl2pPr>
            <a:lvl3pPr marL="2225192" indent="-445038" algn="l" defTabSz="914400" rtl="0" eaLnBrk="1" latinLnBrk="0" hangingPunct="1">
              <a:defRPr sz="4672" kern="12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  <a:cs typeface="+mn-cs"/>
              </a:defRPr>
            </a:lvl3pPr>
            <a:lvl4pPr marL="3115269" indent="-445038" algn="l" defTabSz="914400" rtl="0" eaLnBrk="1" latinLnBrk="0" hangingPunct="1">
              <a:defRPr sz="4672" kern="12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  <a:cs typeface="+mn-cs"/>
              </a:defRPr>
            </a:lvl4pPr>
            <a:lvl5pPr marL="4005346" indent="-445038" algn="l" defTabSz="914400" rtl="0" eaLnBrk="1" latinLnBrk="0" hangingPunct="1">
              <a:defRPr sz="4672" kern="12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  <a:cs typeface="+mn-cs"/>
              </a:defRPr>
            </a:lvl5pPr>
            <a:lvl6pPr marL="4895423" indent="-445038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4672" kern="12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  <a:cs typeface="+mn-cs"/>
              </a:defRPr>
            </a:lvl6pPr>
            <a:lvl7pPr marL="5785500" indent="-445038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4672" kern="12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  <a:cs typeface="+mn-cs"/>
              </a:defRPr>
            </a:lvl7pPr>
            <a:lvl8pPr marL="6675577" indent="-445038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4672" kern="12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  <a:cs typeface="+mn-cs"/>
              </a:defRPr>
            </a:lvl8pPr>
            <a:lvl9pPr marL="7565654" indent="-445038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4672" kern="12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fld id="{7C42485F-5772-47C1-A7C4-36FE58B3D72A}" type="slidenum">
              <a:rPr lang="en-US" altLang="en-US" sz="2489"/>
              <a:t>2</a:t>
            </a:fld>
            <a:endParaRPr lang="en-US" altLang="en-US" sz="2489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90C90-D026-435E-83A9-85DE0A9455CC}" type="slidenum">
              <a:rPr lang="en-US" smtClean="0"/>
              <a:t>2</a:t>
            </a:fld>
            <a:endParaRPr lang="en-US"/>
          </a:p>
        </p:txBody>
      </p:sp>
      <p:sp>
        <p:nvSpPr>
          <p:cNvPr id="24" name="Text Box 5">
            <a:extLst>
              <a:ext uri="{FF2B5EF4-FFF2-40B4-BE49-F238E27FC236}">
                <a16:creationId xmlns:a16="http://schemas.microsoft.com/office/drawing/2014/main" id="{F99D30F0-DCB9-4C49-A6EB-9702310BC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4628" y="6099139"/>
            <a:ext cx="3808095" cy="3127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87" dirty="0">
                <a:solidFill>
                  <a:schemeClr val="accent1"/>
                </a:solidFill>
              </a:rPr>
              <a:t>int main(){</a:t>
            </a:r>
          </a:p>
          <a:p>
            <a:r>
              <a:rPr lang="en-US" altLang="en-US" sz="3287" dirty="0">
                <a:solidFill>
                  <a:schemeClr val="accent1"/>
                </a:solidFill>
              </a:rPr>
              <a:t> int </a:t>
            </a:r>
            <a:r>
              <a:rPr lang="en-US" altLang="en-US" sz="3287" dirty="0" err="1">
                <a:solidFill>
                  <a:schemeClr val="accent1"/>
                </a:solidFill>
              </a:rPr>
              <a:t>a,b</a:t>
            </a:r>
            <a:r>
              <a:rPr lang="en-US" altLang="en-US" sz="3287" dirty="0">
                <a:solidFill>
                  <a:schemeClr val="accent1"/>
                </a:solidFill>
              </a:rPr>
              <a:t>;</a:t>
            </a:r>
          </a:p>
          <a:p>
            <a:r>
              <a:rPr lang="en-US" altLang="en-US" sz="3287" dirty="0">
                <a:solidFill>
                  <a:schemeClr val="accent1"/>
                </a:solidFill>
              </a:rPr>
              <a:t>total =  a + b </a:t>
            </a:r>
          </a:p>
          <a:p>
            <a:r>
              <a:rPr lang="en-US" altLang="en-US" sz="3287" dirty="0">
                <a:solidFill>
                  <a:schemeClr val="accent1"/>
                </a:solidFill>
              </a:rPr>
              <a:t>per  = total |3.0;</a:t>
            </a:r>
          </a:p>
          <a:p>
            <a:r>
              <a:rPr lang="en-US" altLang="en-US" sz="3287" dirty="0">
                <a:solidFill>
                  <a:schemeClr val="accent1"/>
                </a:solidFill>
              </a:rPr>
              <a:t>}</a:t>
            </a:r>
          </a:p>
          <a:p>
            <a:pPr algn="ctr"/>
            <a:endParaRPr lang="en-US" altLang="en-US" sz="3287" dirty="0">
              <a:solidFill>
                <a:schemeClr val="accent1"/>
              </a:solidFill>
            </a:endParaRPr>
          </a:p>
        </p:txBody>
      </p:sp>
      <p:sp>
        <p:nvSpPr>
          <p:cNvPr id="25" name="Text Box 5">
            <a:extLst>
              <a:ext uri="{FF2B5EF4-FFF2-40B4-BE49-F238E27FC236}">
                <a16:creationId xmlns:a16="http://schemas.microsoft.com/office/drawing/2014/main" id="{5B89305B-A0A8-48DC-93FA-56E581CE0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15133" y="6099785"/>
            <a:ext cx="3808095" cy="3127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87" dirty="0">
                <a:solidFill>
                  <a:schemeClr val="accent1"/>
                </a:solidFill>
              </a:rPr>
              <a:t>DT ID(){</a:t>
            </a:r>
          </a:p>
          <a:p>
            <a:r>
              <a:rPr lang="en-US" altLang="en-US" sz="3287" dirty="0">
                <a:solidFill>
                  <a:schemeClr val="accent1"/>
                </a:solidFill>
              </a:rPr>
              <a:t> DT ID, ID;</a:t>
            </a:r>
          </a:p>
          <a:p>
            <a:r>
              <a:rPr lang="en-US" altLang="en-US" sz="3287" dirty="0">
                <a:solidFill>
                  <a:schemeClr val="accent1"/>
                </a:solidFill>
              </a:rPr>
              <a:t>ID = ID + ID </a:t>
            </a:r>
          </a:p>
          <a:p>
            <a:r>
              <a:rPr lang="en-US" altLang="en-US" sz="3287" dirty="0">
                <a:solidFill>
                  <a:schemeClr val="accent1"/>
                </a:solidFill>
              </a:rPr>
              <a:t>ID = ID | FNUM ;</a:t>
            </a:r>
          </a:p>
          <a:p>
            <a:r>
              <a:rPr lang="en-US" altLang="en-US" sz="3287" dirty="0">
                <a:solidFill>
                  <a:schemeClr val="accent1"/>
                </a:solidFill>
              </a:rPr>
              <a:t>}</a:t>
            </a:r>
          </a:p>
          <a:p>
            <a:pPr algn="ctr"/>
            <a:endParaRPr lang="en-US" altLang="en-US" sz="3287" dirty="0">
              <a:solidFill>
                <a:schemeClr val="accent1"/>
              </a:solidFill>
            </a:endParaRPr>
          </a:p>
        </p:txBody>
      </p:sp>
      <p:sp>
        <p:nvSpPr>
          <p:cNvPr id="26" name="Text Box 5">
            <a:extLst>
              <a:ext uri="{FF2B5EF4-FFF2-40B4-BE49-F238E27FC236}">
                <a16:creationId xmlns:a16="http://schemas.microsoft.com/office/drawing/2014/main" id="{B9C6696E-BFEE-4342-84C0-0806E9DEF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2801" y="7301034"/>
            <a:ext cx="3808095" cy="1609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87" dirty="0">
                <a:solidFill>
                  <a:schemeClr val="accent1"/>
                </a:solidFill>
              </a:rPr>
              <a:t>SYNTAX ERROR:</a:t>
            </a:r>
          </a:p>
          <a:p>
            <a:r>
              <a:rPr lang="en-US" altLang="en-US" sz="3287" dirty="0">
                <a:solidFill>
                  <a:schemeClr val="accent1"/>
                </a:solidFill>
              </a:rPr>
              <a:t>||Semicolon missing at line 3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079DE705-2728-4FB7-910B-6F3ADDD70BD8}"/>
              </a:ext>
            </a:extLst>
          </p:cNvPr>
          <p:cNvSpPr txBox="1">
            <a:spLocks/>
          </p:cNvSpPr>
          <p:nvPr/>
        </p:nvSpPr>
        <p:spPr>
          <a:xfrm>
            <a:off x="1490097" y="1411245"/>
            <a:ext cx="18693944" cy="235649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822" dirty="0"/>
              <a:t>Introduction </a:t>
            </a:r>
            <a:r>
              <a:rPr lang="en-US" sz="7822"/>
              <a:t>to Parser </a:t>
            </a:r>
            <a:r>
              <a:rPr lang="en-US" sz="7822" dirty="0"/>
              <a:t>(</a:t>
            </a:r>
            <a:r>
              <a:rPr lang="en-US" sz="7822"/>
              <a:t>validate syntax</a:t>
            </a:r>
            <a:r>
              <a:rPr lang="en-US" sz="7822" dirty="0"/>
              <a:t>)</a:t>
            </a:r>
          </a:p>
        </p:txBody>
      </p:sp>
      <p:sp>
        <p:nvSpPr>
          <p:cNvPr id="28" name="Text Box 5">
            <a:extLst>
              <a:ext uri="{FF2B5EF4-FFF2-40B4-BE49-F238E27FC236}">
                <a16:creationId xmlns:a16="http://schemas.microsoft.com/office/drawing/2014/main" id="{649099F7-5361-4C6A-9538-C696D6B30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06487" y="3372687"/>
            <a:ext cx="3808095" cy="110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87">
                <a:solidFill>
                  <a:schemeClr val="accent1"/>
                </a:solidFill>
              </a:rPr>
              <a:t>SYNTAX </a:t>
            </a:r>
            <a:endParaRPr lang="en-US" altLang="en-US" sz="3287" dirty="0">
              <a:solidFill>
                <a:schemeClr val="accent1"/>
              </a:solidFill>
            </a:endParaRPr>
          </a:p>
          <a:p>
            <a:r>
              <a:rPr lang="en-US" altLang="en-US" sz="3287" dirty="0">
                <a:solidFill>
                  <a:schemeClr val="accent1"/>
                </a:solidFill>
              </a:rPr>
              <a:t>Tree</a:t>
            </a:r>
          </a:p>
        </p:txBody>
      </p:sp>
    </p:spTree>
    <p:extLst>
      <p:ext uri="{BB962C8B-B14F-4D97-AF65-F5344CB8AC3E}">
        <p14:creationId xmlns:p14="http://schemas.microsoft.com/office/powerpoint/2010/main" val="80480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Where is Syntax Analysis?</a:t>
            </a:r>
            <a:endParaRPr lang="en-US" altLang="en-US" dirty="0"/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7340834" y="4303060"/>
            <a:ext cx="5782235" cy="59111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3176">
                <a:solidFill>
                  <a:schemeClr val="accent1"/>
                </a:solidFill>
              </a:rPr>
              <a:t>Lexical Analysis or Scanner</a:t>
            </a:r>
            <a:endParaRPr lang="en-US" altLang="en-US" sz="3176" dirty="0">
              <a:solidFill>
                <a:schemeClr val="accent1"/>
              </a:solidFill>
            </a:endParaRPr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>
            <a:off x="10164716" y="3496235"/>
            <a:ext cx="0" cy="80682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8819701" y="1673735"/>
            <a:ext cx="2916183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176" dirty="0"/>
              <a:t>if (b == 0) a = b;</a:t>
            </a:r>
          </a:p>
        </p:txBody>
      </p:sp>
      <p:sp>
        <p:nvSpPr>
          <p:cNvPr id="12294" name="Line 7"/>
          <p:cNvSpPr>
            <a:spLocks noChangeShapeType="1"/>
          </p:cNvSpPr>
          <p:nvPr/>
        </p:nvSpPr>
        <p:spPr bwMode="auto">
          <a:xfrm>
            <a:off x="10161915" y="4894170"/>
            <a:ext cx="0" cy="80682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grpSp>
        <p:nvGrpSpPr>
          <p:cNvPr id="12295" name="Group 1"/>
          <p:cNvGrpSpPr>
            <a:grpSpLocks/>
          </p:cNvGrpSpPr>
          <p:nvPr/>
        </p:nvGrpSpPr>
        <p:grpSpPr bwMode="auto">
          <a:xfrm>
            <a:off x="4382481" y="5983941"/>
            <a:ext cx="13447059" cy="672353"/>
            <a:chOff x="1371600" y="3657600"/>
            <a:chExt cx="7620000" cy="381000"/>
          </a:xfrm>
        </p:grpSpPr>
        <p:sp>
          <p:nvSpPr>
            <p:cNvPr id="12324" name="Rectangle 8"/>
            <p:cNvSpPr>
              <a:spLocks noChangeArrowheads="1"/>
            </p:cNvSpPr>
            <p:nvPr/>
          </p:nvSpPr>
          <p:spPr bwMode="auto">
            <a:xfrm>
              <a:off x="1371600" y="3657600"/>
              <a:ext cx="762000" cy="381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3176"/>
                <a:t>if</a:t>
              </a:r>
            </a:p>
          </p:txBody>
        </p:sp>
        <p:sp>
          <p:nvSpPr>
            <p:cNvPr id="12325" name="Rectangle 9"/>
            <p:cNvSpPr>
              <a:spLocks noChangeArrowheads="1"/>
            </p:cNvSpPr>
            <p:nvPr/>
          </p:nvSpPr>
          <p:spPr bwMode="auto">
            <a:xfrm>
              <a:off x="2133600" y="3657600"/>
              <a:ext cx="762000" cy="381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3176"/>
                <a:t>(</a:t>
              </a:r>
            </a:p>
          </p:txBody>
        </p:sp>
        <p:sp>
          <p:nvSpPr>
            <p:cNvPr id="12326" name="Rectangle 10"/>
            <p:cNvSpPr>
              <a:spLocks noChangeArrowheads="1"/>
            </p:cNvSpPr>
            <p:nvPr/>
          </p:nvSpPr>
          <p:spPr bwMode="auto">
            <a:xfrm>
              <a:off x="2895600" y="3657600"/>
              <a:ext cx="762000" cy="381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3176"/>
                <a:t>b</a:t>
              </a:r>
            </a:p>
          </p:txBody>
        </p:sp>
        <p:sp>
          <p:nvSpPr>
            <p:cNvPr id="12327" name="Rectangle 11"/>
            <p:cNvSpPr>
              <a:spLocks noChangeArrowheads="1"/>
            </p:cNvSpPr>
            <p:nvPr/>
          </p:nvSpPr>
          <p:spPr bwMode="auto">
            <a:xfrm>
              <a:off x="3657600" y="3657600"/>
              <a:ext cx="762000" cy="381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3176"/>
                <a:t>= =</a:t>
              </a:r>
            </a:p>
          </p:txBody>
        </p:sp>
        <p:sp>
          <p:nvSpPr>
            <p:cNvPr id="12328" name="Rectangle 12"/>
            <p:cNvSpPr>
              <a:spLocks noChangeArrowheads="1"/>
            </p:cNvSpPr>
            <p:nvPr/>
          </p:nvSpPr>
          <p:spPr bwMode="auto">
            <a:xfrm>
              <a:off x="4419600" y="3657600"/>
              <a:ext cx="762000" cy="381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3176"/>
                <a:t>0</a:t>
              </a:r>
            </a:p>
          </p:txBody>
        </p:sp>
        <p:sp>
          <p:nvSpPr>
            <p:cNvPr id="12329" name="Rectangle 13"/>
            <p:cNvSpPr>
              <a:spLocks noChangeArrowheads="1"/>
            </p:cNvSpPr>
            <p:nvPr/>
          </p:nvSpPr>
          <p:spPr bwMode="auto">
            <a:xfrm>
              <a:off x="5181600" y="3657600"/>
              <a:ext cx="762000" cy="381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3176"/>
                <a:t>)</a:t>
              </a:r>
            </a:p>
          </p:txBody>
        </p:sp>
        <p:sp>
          <p:nvSpPr>
            <p:cNvPr id="12330" name="Rectangle 14"/>
            <p:cNvSpPr>
              <a:spLocks noChangeArrowheads="1"/>
            </p:cNvSpPr>
            <p:nvPr/>
          </p:nvSpPr>
          <p:spPr bwMode="auto">
            <a:xfrm>
              <a:off x="5943600" y="3657600"/>
              <a:ext cx="762000" cy="381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3176"/>
                <a:t>a</a:t>
              </a:r>
            </a:p>
          </p:txBody>
        </p:sp>
        <p:sp>
          <p:nvSpPr>
            <p:cNvPr id="12331" name="Rectangle 15"/>
            <p:cNvSpPr>
              <a:spLocks noChangeArrowheads="1"/>
            </p:cNvSpPr>
            <p:nvPr/>
          </p:nvSpPr>
          <p:spPr bwMode="auto">
            <a:xfrm>
              <a:off x="6705600" y="3657600"/>
              <a:ext cx="762000" cy="381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3176"/>
                <a:t>=</a:t>
              </a:r>
            </a:p>
          </p:txBody>
        </p:sp>
        <p:sp>
          <p:nvSpPr>
            <p:cNvPr id="12332" name="Rectangle 16"/>
            <p:cNvSpPr>
              <a:spLocks noChangeArrowheads="1"/>
            </p:cNvSpPr>
            <p:nvPr/>
          </p:nvSpPr>
          <p:spPr bwMode="auto">
            <a:xfrm>
              <a:off x="7467600" y="3657600"/>
              <a:ext cx="762000" cy="381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3176"/>
                <a:t>b</a:t>
              </a:r>
            </a:p>
          </p:txBody>
        </p:sp>
        <p:sp>
          <p:nvSpPr>
            <p:cNvPr id="12333" name="Rectangle 17"/>
            <p:cNvSpPr>
              <a:spLocks noChangeArrowheads="1"/>
            </p:cNvSpPr>
            <p:nvPr/>
          </p:nvSpPr>
          <p:spPr bwMode="auto">
            <a:xfrm>
              <a:off x="8229600" y="3657600"/>
              <a:ext cx="762000" cy="381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3176"/>
                <a:t>;</a:t>
              </a:r>
            </a:p>
          </p:txBody>
        </p:sp>
      </p:grpSp>
      <p:sp>
        <p:nvSpPr>
          <p:cNvPr id="12296" name="Rectangle 19"/>
          <p:cNvSpPr>
            <a:spLocks noChangeArrowheads="1"/>
          </p:cNvSpPr>
          <p:nvPr/>
        </p:nvSpPr>
        <p:spPr bwMode="auto">
          <a:xfrm>
            <a:off x="7270798" y="8678957"/>
            <a:ext cx="5782235" cy="59951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3176">
                <a:solidFill>
                  <a:schemeClr val="accent1"/>
                </a:solidFill>
              </a:rPr>
              <a:t>Syntax Analysis or Parsing</a:t>
            </a:r>
            <a:endParaRPr lang="en-US" altLang="en-US" sz="3176" dirty="0">
              <a:solidFill>
                <a:schemeClr val="accent1"/>
              </a:solidFill>
            </a:endParaRPr>
          </a:p>
        </p:txBody>
      </p:sp>
      <p:sp>
        <p:nvSpPr>
          <p:cNvPr id="12297" name="Line 20"/>
          <p:cNvSpPr>
            <a:spLocks noChangeShapeType="1"/>
          </p:cNvSpPr>
          <p:nvPr/>
        </p:nvSpPr>
        <p:spPr bwMode="auto">
          <a:xfrm flipH="1">
            <a:off x="10161915" y="8121464"/>
            <a:ext cx="0" cy="55749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2298" name="Text Box 21"/>
          <p:cNvSpPr txBox="1">
            <a:spLocks noChangeArrowheads="1"/>
          </p:cNvSpPr>
          <p:nvPr/>
        </p:nvSpPr>
        <p:spPr bwMode="auto">
          <a:xfrm>
            <a:off x="9761305" y="9547412"/>
            <a:ext cx="516488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if</a:t>
            </a:r>
          </a:p>
        </p:txBody>
      </p:sp>
      <p:sp>
        <p:nvSpPr>
          <p:cNvPr id="12299" name="Text Box 22"/>
          <p:cNvSpPr txBox="1">
            <a:spLocks noChangeArrowheads="1"/>
          </p:cNvSpPr>
          <p:nvPr/>
        </p:nvSpPr>
        <p:spPr bwMode="auto">
          <a:xfrm>
            <a:off x="8282129" y="10488706"/>
            <a:ext cx="933269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= =</a:t>
            </a:r>
          </a:p>
        </p:txBody>
      </p:sp>
      <p:sp>
        <p:nvSpPr>
          <p:cNvPr id="12300" name="Text Box 23"/>
          <p:cNvSpPr txBox="1">
            <a:spLocks noChangeArrowheads="1"/>
          </p:cNvSpPr>
          <p:nvPr/>
        </p:nvSpPr>
        <p:spPr bwMode="auto">
          <a:xfrm>
            <a:off x="10971540" y="10488706"/>
            <a:ext cx="490840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=</a:t>
            </a:r>
          </a:p>
        </p:txBody>
      </p:sp>
      <p:sp>
        <p:nvSpPr>
          <p:cNvPr id="12301" name="Text Box 24"/>
          <p:cNvSpPr txBox="1">
            <a:spLocks noChangeArrowheads="1"/>
          </p:cNvSpPr>
          <p:nvPr/>
        </p:nvSpPr>
        <p:spPr bwMode="auto">
          <a:xfrm>
            <a:off x="7609775" y="11295530"/>
            <a:ext cx="455574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b</a:t>
            </a:r>
          </a:p>
        </p:txBody>
      </p:sp>
      <p:sp>
        <p:nvSpPr>
          <p:cNvPr id="12302" name="Text Box 25"/>
          <p:cNvSpPr txBox="1">
            <a:spLocks noChangeArrowheads="1"/>
          </p:cNvSpPr>
          <p:nvPr/>
        </p:nvSpPr>
        <p:spPr bwMode="auto">
          <a:xfrm>
            <a:off x="9223422" y="11295530"/>
            <a:ext cx="455574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0</a:t>
            </a:r>
          </a:p>
        </p:txBody>
      </p:sp>
      <p:sp>
        <p:nvSpPr>
          <p:cNvPr id="12303" name="Text Box 26"/>
          <p:cNvSpPr txBox="1">
            <a:spLocks noChangeArrowheads="1"/>
          </p:cNvSpPr>
          <p:nvPr/>
        </p:nvSpPr>
        <p:spPr bwMode="auto">
          <a:xfrm>
            <a:off x="10433657" y="11295530"/>
            <a:ext cx="425116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a</a:t>
            </a:r>
          </a:p>
        </p:txBody>
      </p:sp>
      <p:sp>
        <p:nvSpPr>
          <p:cNvPr id="12304" name="Text Box 27"/>
          <p:cNvSpPr txBox="1">
            <a:spLocks noChangeArrowheads="1"/>
          </p:cNvSpPr>
          <p:nvPr/>
        </p:nvSpPr>
        <p:spPr bwMode="auto">
          <a:xfrm>
            <a:off x="11509422" y="11295530"/>
            <a:ext cx="455574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b</a:t>
            </a:r>
          </a:p>
        </p:txBody>
      </p:sp>
      <p:sp>
        <p:nvSpPr>
          <p:cNvPr id="12305" name="Line 28"/>
          <p:cNvSpPr>
            <a:spLocks noChangeShapeType="1"/>
          </p:cNvSpPr>
          <p:nvPr/>
        </p:nvSpPr>
        <p:spPr bwMode="auto">
          <a:xfrm flipH="1">
            <a:off x="8954481" y="10219765"/>
            <a:ext cx="941294" cy="403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2306" name="Line 29"/>
          <p:cNvSpPr>
            <a:spLocks noChangeShapeType="1"/>
          </p:cNvSpPr>
          <p:nvPr/>
        </p:nvSpPr>
        <p:spPr bwMode="auto">
          <a:xfrm flipH="1">
            <a:off x="8013187" y="11026588"/>
            <a:ext cx="537882" cy="403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2307" name="Line 30"/>
          <p:cNvSpPr>
            <a:spLocks noChangeShapeType="1"/>
          </p:cNvSpPr>
          <p:nvPr/>
        </p:nvSpPr>
        <p:spPr bwMode="auto">
          <a:xfrm>
            <a:off x="8954481" y="11026588"/>
            <a:ext cx="537882" cy="403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2308" name="Line 31"/>
          <p:cNvSpPr>
            <a:spLocks noChangeShapeType="1"/>
          </p:cNvSpPr>
          <p:nvPr/>
        </p:nvSpPr>
        <p:spPr bwMode="auto">
          <a:xfrm flipH="1">
            <a:off x="10702598" y="11026588"/>
            <a:ext cx="403412" cy="403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2309" name="Line 32"/>
          <p:cNvSpPr>
            <a:spLocks noChangeShapeType="1"/>
          </p:cNvSpPr>
          <p:nvPr/>
        </p:nvSpPr>
        <p:spPr bwMode="auto">
          <a:xfrm>
            <a:off x="11374951" y="11026588"/>
            <a:ext cx="403412" cy="403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2310" name="Line 33"/>
          <p:cNvSpPr>
            <a:spLocks noChangeShapeType="1"/>
          </p:cNvSpPr>
          <p:nvPr/>
        </p:nvSpPr>
        <p:spPr bwMode="auto">
          <a:xfrm>
            <a:off x="10164716" y="10219765"/>
            <a:ext cx="941294" cy="403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2311" name="Text Box 34"/>
          <p:cNvSpPr txBox="1">
            <a:spLocks noChangeArrowheads="1"/>
          </p:cNvSpPr>
          <p:nvPr/>
        </p:nvSpPr>
        <p:spPr bwMode="auto">
          <a:xfrm>
            <a:off x="13363996" y="9889192"/>
            <a:ext cx="4371710" cy="2047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abstract syntax </a:t>
            </a:r>
            <a:r>
              <a:rPr lang="en-US" altLang="en-US" sz="4235" dirty="0"/>
              <a:t>tree</a:t>
            </a:r>
          </a:p>
          <a:p>
            <a:r>
              <a:rPr lang="en-US" altLang="en-US" sz="4235"/>
              <a:t>or parse </a:t>
            </a:r>
            <a:r>
              <a:rPr lang="en-US" altLang="en-US" sz="4235" dirty="0"/>
              <a:t>tree </a:t>
            </a:r>
          </a:p>
          <a:p>
            <a:r>
              <a:rPr lang="en-US" altLang="en-US" sz="4235" b="1" dirty="0"/>
              <a:t>If </a:t>
            </a:r>
            <a:r>
              <a:rPr lang="en-US" altLang="en-US" sz="4235" b="1"/>
              <a:t>no syntax </a:t>
            </a:r>
            <a:r>
              <a:rPr lang="en-US" altLang="en-US" sz="4235" b="1" dirty="0"/>
              <a:t>Error</a:t>
            </a:r>
          </a:p>
        </p:txBody>
      </p:sp>
      <p:sp>
        <p:nvSpPr>
          <p:cNvPr id="12312" name="Line 35"/>
          <p:cNvSpPr>
            <a:spLocks noChangeShapeType="1"/>
          </p:cNvSpPr>
          <p:nvPr/>
        </p:nvSpPr>
        <p:spPr bwMode="auto">
          <a:xfrm>
            <a:off x="10164716" y="9278470"/>
            <a:ext cx="0" cy="403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grpSp>
        <p:nvGrpSpPr>
          <p:cNvPr id="12313" name="Group 36"/>
          <p:cNvGrpSpPr>
            <a:grpSpLocks/>
          </p:cNvGrpSpPr>
          <p:nvPr/>
        </p:nvGrpSpPr>
        <p:grpSpPr bwMode="auto">
          <a:xfrm>
            <a:off x="4413298" y="7351059"/>
            <a:ext cx="13447059" cy="672353"/>
            <a:chOff x="1371600" y="3657600"/>
            <a:chExt cx="7620000" cy="381000"/>
          </a:xfrm>
        </p:grpSpPr>
        <p:sp>
          <p:nvSpPr>
            <p:cNvPr id="12314" name="Rectangle 8"/>
            <p:cNvSpPr>
              <a:spLocks noChangeArrowheads="1"/>
            </p:cNvSpPr>
            <p:nvPr/>
          </p:nvSpPr>
          <p:spPr bwMode="auto">
            <a:xfrm>
              <a:off x="1371600" y="3657600"/>
              <a:ext cx="762000" cy="381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3176"/>
                <a:t>IF</a:t>
              </a:r>
            </a:p>
          </p:txBody>
        </p:sp>
        <p:sp>
          <p:nvSpPr>
            <p:cNvPr id="12315" name="Rectangle 9"/>
            <p:cNvSpPr>
              <a:spLocks noChangeArrowheads="1"/>
            </p:cNvSpPr>
            <p:nvPr/>
          </p:nvSpPr>
          <p:spPr bwMode="auto">
            <a:xfrm>
              <a:off x="2133600" y="3657600"/>
              <a:ext cx="762000" cy="381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3176"/>
                <a:t>(</a:t>
              </a:r>
            </a:p>
          </p:txBody>
        </p:sp>
        <p:sp>
          <p:nvSpPr>
            <p:cNvPr id="12316" name="Rectangle 10"/>
            <p:cNvSpPr>
              <a:spLocks noChangeArrowheads="1"/>
            </p:cNvSpPr>
            <p:nvPr/>
          </p:nvSpPr>
          <p:spPr bwMode="auto">
            <a:xfrm>
              <a:off x="2895600" y="3657600"/>
              <a:ext cx="762000" cy="381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3176"/>
                <a:t>ID</a:t>
              </a:r>
            </a:p>
          </p:txBody>
        </p:sp>
        <p:sp>
          <p:nvSpPr>
            <p:cNvPr id="12317" name="Rectangle 11"/>
            <p:cNvSpPr>
              <a:spLocks noChangeArrowheads="1"/>
            </p:cNvSpPr>
            <p:nvPr/>
          </p:nvSpPr>
          <p:spPr bwMode="auto">
            <a:xfrm>
              <a:off x="3657600" y="3657600"/>
              <a:ext cx="762000" cy="381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3176"/>
                <a:t>= =</a:t>
              </a:r>
            </a:p>
          </p:txBody>
        </p:sp>
        <p:sp>
          <p:nvSpPr>
            <p:cNvPr id="12318" name="Rectangle 12"/>
            <p:cNvSpPr>
              <a:spLocks noChangeArrowheads="1"/>
            </p:cNvSpPr>
            <p:nvPr/>
          </p:nvSpPr>
          <p:spPr bwMode="auto">
            <a:xfrm>
              <a:off x="4419600" y="3657600"/>
              <a:ext cx="762000" cy="381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3176"/>
                <a:t>NUM</a:t>
              </a:r>
            </a:p>
          </p:txBody>
        </p:sp>
        <p:sp>
          <p:nvSpPr>
            <p:cNvPr id="12319" name="Rectangle 13"/>
            <p:cNvSpPr>
              <a:spLocks noChangeArrowheads="1"/>
            </p:cNvSpPr>
            <p:nvPr/>
          </p:nvSpPr>
          <p:spPr bwMode="auto">
            <a:xfrm>
              <a:off x="5181600" y="3657600"/>
              <a:ext cx="762000" cy="381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3176"/>
                <a:t>)</a:t>
              </a:r>
            </a:p>
          </p:txBody>
        </p:sp>
        <p:sp>
          <p:nvSpPr>
            <p:cNvPr id="12320" name="Rectangle 14"/>
            <p:cNvSpPr>
              <a:spLocks noChangeArrowheads="1"/>
            </p:cNvSpPr>
            <p:nvPr/>
          </p:nvSpPr>
          <p:spPr bwMode="auto">
            <a:xfrm>
              <a:off x="5943600" y="3657600"/>
              <a:ext cx="762000" cy="381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3176"/>
                <a:t>ID</a:t>
              </a:r>
            </a:p>
          </p:txBody>
        </p:sp>
        <p:sp>
          <p:nvSpPr>
            <p:cNvPr id="12321" name="Rectangle 15"/>
            <p:cNvSpPr>
              <a:spLocks noChangeArrowheads="1"/>
            </p:cNvSpPr>
            <p:nvPr/>
          </p:nvSpPr>
          <p:spPr bwMode="auto">
            <a:xfrm>
              <a:off x="6705600" y="3657600"/>
              <a:ext cx="762000" cy="381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3176"/>
                <a:t>=</a:t>
              </a:r>
            </a:p>
          </p:txBody>
        </p:sp>
        <p:sp>
          <p:nvSpPr>
            <p:cNvPr id="12322" name="Rectangle 16"/>
            <p:cNvSpPr>
              <a:spLocks noChangeArrowheads="1"/>
            </p:cNvSpPr>
            <p:nvPr/>
          </p:nvSpPr>
          <p:spPr bwMode="auto">
            <a:xfrm>
              <a:off x="7467600" y="3657600"/>
              <a:ext cx="762000" cy="381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3176"/>
                <a:t>ID</a:t>
              </a:r>
            </a:p>
          </p:txBody>
        </p:sp>
        <p:sp>
          <p:nvSpPr>
            <p:cNvPr id="12323" name="Rectangle 17"/>
            <p:cNvSpPr>
              <a:spLocks noChangeArrowheads="1"/>
            </p:cNvSpPr>
            <p:nvPr/>
          </p:nvSpPr>
          <p:spPr bwMode="auto">
            <a:xfrm>
              <a:off x="8229600" y="3657600"/>
              <a:ext cx="762000" cy="381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3176"/>
                <a:t>;</a:t>
              </a:r>
            </a:p>
          </p:txBody>
        </p:sp>
      </p:grpSp>
      <p:sp>
        <p:nvSpPr>
          <p:cNvPr id="46" name="Date Placeholder 3">
            <a:extLst>
              <a:ext uri="{FF2B5EF4-FFF2-40B4-BE49-F238E27FC236}">
                <a16:creationId xmlns:a16="http://schemas.microsoft.com/office/drawing/2014/main" id="{4CC2CB12-3594-4B2D-98B6-A8C25505CC64}"/>
              </a:ext>
            </a:extLst>
          </p:cNvPr>
          <p:cNvSpPr txBox="1">
            <a:spLocks/>
          </p:cNvSpPr>
          <p:nvPr/>
        </p:nvSpPr>
        <p:spPr>
          <a:xfrm>
            <a:off x="7071893" y="12030456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302881" y="1964265"/>
            <a:ext cx="17068377" cy="600741"/>
          </a:xfrm>
        </p:spPr>
        <p:txBody>
          <a:bodyPr>
            <a:normAutofit fontScale="90000"/>
          </a:bodyPr>
          <a:lstStyle/>
          <a:p>
            <a:r>
              <a:rPr lang="en-US" altLang="en-US">
                <a:sym typeface="Wingdings" panose="05000000000000000000" pitchFamily="2" charset="2"/>
              </a:rPr>
              <a:t>Parse Tree vs Abstract Syntax </a:t>
            </a:r>
            <a:r>
              <a:rPr lang="en-US" altLang="en-US" dirty="0">
                <a:sym typeface="Wingdings" panose="05000000000000000000" pitchFamily="2" charset="2"/>
              </a:rPr>
              <a:t>Tree</a:t>
            </a:r>
            <a:endParaRPr lang="en-US" altLang="en-US" dirty="0"/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6130598" y="2823883"/>
            <a:ext cx="486030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S</a:t>
            </a:r>
            <a:endParaRPr lang="en-US" altLang="en-US" sz="4235" dirty="0"/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4920363" y="4034118"/>
            <a:ext cx="516488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E</a:t>
            </a:r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6130599" y="4034118"/>
            <a:ext cx="490840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+</a:t>
            </a:r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7206363" y="4034118"/>
            <a:ext cx="486030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S</a:t>
            </a:r>
            <a:endParaRPr lang="en-US" altLang="en-US" sz="4235" dirty="0"/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4382481" y="5244353"/>
            <a:ext cx="1393330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(  S  </a:t>
            </a:r>
            <a:r>
              <a:rPr lang="en-US" altLang="en-US" sz="4235" dirty="0"/>
              <a:t>)</a:t>
            </a:r>
          </a:p>
        </p:txBody>
      </p:sp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7206363" y="5244353"/>
            <a:ext cx="516488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E</a:t>
            </a: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4354467" y="6392956"/>
            <a:ext cx="1669047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 dirty="0"/>
              <a:t>E  </a:t>
            </a:r>
            <a:r>
              <a:rPr lang="en-US" altLang="en-US" sz="4235"/>
              <a:t>+  S</a:t>
            </a:r>
            <a:endParaRPr lang="en-US" altLang="en-US" sz="4235" dirty="0"/>
          </a:p>
        </p:txBody>
      </p:sp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7206363" y="6320118"/>
            <a:ext cx="455574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5</a:t>
            </a:r>
          </a:p>
        </p:txBody>
      </p:sp>
      <p:sp>
        <p:nvSpPr>
          <p:cNvPr id="13323" name="Text Box 11"/>
          <p:cNvSpPr txBox="1">
            <a:spLocks noChangeArrowheads="1"/>
          </p:cNvSpPr>
          <p:nvPr/>
        </p:nvSpPr>
        <p:spPr bwMode="auto">
          <a:xfrm>
            <a:off x="4920364" y="7395883"/>
            <a:ext cx="1669047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 dirty="0"/>
              <a:t>E  </a:t>
            </a:r>
            <a:r>
              <a:rPr lang="en-US" altLang="en-US" sz="4235"/>
              <a:t>+  S</a:t>
            </a:r>
            <a:endParaRPr lang="en-US" altLang="en-US" sz="4235" dirty="0"/>
          </a:p>
        </p:txBody>
      </p:sp>
      <p:sp>
        <p:nvSpPr>
          <p:cNvPr id="13324" name="Text Box 12"/>
          <p:cNvSpPr txBox="1">
            <a:spLocks noChangeArrowheads="1"/>
          </p:cNvSpPr>
          <p:nvPr/>
        </p:nvSpPr>
        <p:spPr bwMode="auto">
          <a:xfrm>
            <a:off x="4248010" y="7395883"/>
            <a:ext cx="455574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1</a:t>
            </a:r>
          </a:p>
        </p:txBody>
      </p:sp>
      <p:sp>
        <p:nvSpPr>
          <p:cNvPr id="13325" name="Text Box 13"/>
          <p:cNvSpPr txBox="1">
            <a:spLocks noChangeArrowheads="1"/>
          </p:cNvSpPr>
          <p:nvPr/>
        </p:nvSpPr>
        <p:spPr bwMode="auto">
          <a:xfrm>
            <a:off x="4920363" y="8471647"/>
            <a:ext cx="455574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2</a:t>
            </a:r>
          </a:p>
        </p:txBody>
      </p:sp>
      <p:sp>
        <p:nvSpPr>
          <p:cNvPr id="13326" name="Text Box 14"/>
          <p:cNvSpPr txBox="1">
            <a:spLocks noChangeArrowheads="1"/>
          </p:cNvSpPr>
          <p:nvPr/>
        </p:nvSpPr>
        <p:spPr bwMode="auto">
          <a:xfrm>
            <a:off x="6130599" y="8471647"/>
            <a:ext cx="516488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E</a:t>
            </a:r>
          </a:p>
        </p:txBody>
      </p:sp>
      <p:sp>
        <p:nvSpPr>
          <p:cNvPr id="13327" name="Text Box 15"/>
          <p:cNvSpPr txBox="1">
            <a:spLocks noChangeArrowheads="1"/>
          </p:cNvSpPr>
          <p:nvPr/>
        </p:nvSpPr>
        <p:spPr bwMode="auto">
          <a:xfrm>
            <a:off x="5592716" y="9412941"/>
            <a:ext cx="1393330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(  S  </a:t>
            </a:r>
            <a:r>
              <a:rPr lang="en-US" altLang="en-US" sz="4235" dirty="0"/>
              <a:t>)</a:t>
            </a:r>
          </a:p>
        </p:txBody>
      </p:sp>
      <p:sp>
        <p:nvSpPr>
          <p:cNvPr id="13328" name="Text Box 16"/>
          <p:cNvSpPr txBox="1">
            <a:spLocks noChangeArrowheads="1"/>
          </p:cNvSpPr>
          <p:nvPr/>
        </p:nvSpPr>
        <p:spPr bwMode="auto">
          <a:xfrm>
            <a:off x="5458246" y="10488706"/>
            <a:ext cx="1669047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 dirty="0"/>
              <a:t>E  </a:t>
            </a:r>
            <a:r>
              <a:rPr lang="en-US" altLang="en-US" sz="4235"/>
              <a:t>+  S</a:t>
            </a:r>
            <a:endParaRPr lang="en-US" altLang="en-US" sz="4235" dirty="0"/>
          </a:p>
        </p:txBody>
      </p:sp>
      <p:sp>
        <p:nvSpPr>
          <p:cNvPr id="13329" name="Text Box 17"/>
          <p:cNvSpPr txBox="1">
            <a:spLocks noChangeArrowheads="1"/>
          </p:cNvSpPr>
          <p:nvPr/>
        </p:nvSpPr>
        <p:spPr bwMode="auto">
          <a:xfrm>
            <a:off x="6668481" y="11295530"/>
            <a:ext cx="652744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E</a:t>
            </a:r>
          </a:p>
        </p:txBody>
      </p:sp>
      <p:sp>
        <p:nvSpPr>
          <p:cNvPr id="13330" name="Text Box 18"/>
          <p:cNvSpPr txBox="1">
            <a:spLocks noChangeArrowheads="1"/>
          </p:cNvSpPr>
          <p:nvPr/>
        </p:nvSpPr>
        <p:spPr bwMode="auto">
          <a:xfrm>
            <a:off x="5458246" y="11295530"/>
            <a:ext cx="455574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3</a:t>
            </a:r>
          </a:p>
        </p:txBody>
      </p:sp>
      <p:sp>
        <p:nvSpPr>
          <p:cNvPr id="13331" name="Text Box 19"/>
          <p:cNvSpPr txBox="1">
            <a:spLocks noChangeArrowheads="1"/>
          </p:cNvSpPr>
          <p:nvPr/>
        </p:nvSpPr>
        <p:spPr bwMode="auto">
          <a:xfrm>
            <a:off x="7744246" y="11295530"/>
            <a:ext cx="455574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4</a:t>
            </a:r>
          </a:p>
        </p:txBody>
      </p:sp>
      <p:sp>
        <p:nvSpPr>
          <p:cNvPr id="13332" name="Line 20"/>
          <p:cNvSpPr>
            <a:spLocks noChangeShapeType="1"/>
          </p:cNvSpPr>
          <p:nvPr/>
        </p:nvSpPr>
        <p:spPr bwMode="auto">
          <a:xfrm flipH="1">
            <a:off x="5458246" y="3496235"/>
            <a:ext cx="941294" cy="67235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33" name="Line 21"/>
          <p:cNvSpPr>
            <a:spLocks noChangeShapeType="1"/>
          </p:cNvSpPr>
          <p:nvPr/>
        </p:nvSpPr>
        <p:spPr bwMode="auto">
          <a:xfrm>
            <a:off x="6399540" y="3496235"/>
            <a:ext cx="0" cy="67235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34" name="Line 22"/>
          <p:cNvSpPr>
            <a:spLocks noChangeShapeType="1"/>
          </p:cNvSpPr>
          <p:nvPr/>
        </p:nvSpPr>
        <p:spPr bwMode="auto">
          <a:xfrm>
            <a:off x="6399539" y="3496235"/>
            <a:ext cx="1075765" cy="67235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35" name="Line 23"/>
          <p:cNvSpPr>
            <a:spLocks noChangeShapeType="1"/>
          </p:cNvSpPr>
          <p:nvPr/>
        </p:nvSpPr>
        <p:spPr bwMode="auto">
          <a:xfrm flipH="1">
            <a:off x="4651422" y="4706471"/>
            <a:ext cx="537882" cy="67235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36" name="Line 24"/>
          <p:cNvSpPr>
            <a:spLocks noChangeShapeType="1"/>
          </p:cNvSpPr>
          <p:nvPr/>
        </p:nvSpPr>
        <p:spPr bwMode="auto">
          <a:xfrm>
            <a:off x="5189304" y="4706471"/>
            <a:ext cx="0" cy="67235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37" name="Line 25"/>
          <p:cNvSpPr>
            <a:spLocks noChangeShapeType="1"/>
          </p:cNvSpPr>
          <p:nvPr/>
        </p:nvSpPr>
        <p:spPr bwMode="auto">
          <a:xfrm>
            <a:off x="5189304" y="4706471"/>
            <a:ext cx="403412" cy="67235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38" name="Line 26"/>
          <p:cNvSpPr>
            <a:spLocks noChangeShapeType="1"/>
          </p:cNvSpPr>
          <p:nvPr/>
        </p:nvSpPr>
        <p:spPr bwMode="auto">
          <a:xfrm flipH="1">
            <a:off x="5996128" y="9144000"/>
            <a:ext cx="403412" cy="403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39" name="Line 27"/>
          <p:cNvSpPr>
            <a:spLocks noChangeShapeType="1"/>
          </p:cNvSpPr>
          <p:nvPr/>
        </p:nvSpPr>
        <p:spPr bwMode="auto">
          <a:xfrm>
            <a:off x="6399540" y="9144000"/>
            <a:ext cx="0" cy="403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40" name="Line 28"/>
          <p:cNvSpPr>
            <a:spLocks noChangeShapeType="1"/>
          </p:cNvSpPr>
          <p:nvPr/>
        </p:nvSpPr>
        <p:spPr bwMode="auto">
          <a:xfrm>
            <a:off x="6399539" y="9144000"/>
            <a:ext cx="403412" cy="403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41" name="Line 29"/>
          <p:cNvSpPr>
            <a:spLocks noChangeShapeType="1"/>
          </p:cNvSpPr>
          <p:nvPr/>
        </p:nvSpPr>
        <p:spPr bwMode="auto">
          <a:xfrm flipH="1">
            <a:off x="5861657" y="10085294"/>
            <a:ext cx="403412" cy="53788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42" name="Line 30"/>
          <p:cNvSpPr>
            <a:spLocks noChangeShapeType="1"/>
          </p:cNvSpPr>
          <p:nvPr/>
        </p:nvSpPr>
        <p:spPr bwMode="auto">
          <a:xfrm>
            <a:off x="6265069" y="10085294"/>
            <a:ext cx="134471" cy="53788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43" name="Line 31"/>
          <p:cNvSpPr>
            <a:spLocks noChangeShapeType="1"/>
          </p:cNvSpPr>
          <p:nvPr/>
        </p:nvSpPr>
        <p:spPr bwMode="auto">
          <a:xfrm>
            <a:off x="6265069" y="10085294"/>
            <a:ext cx="672353" cy="53788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44" name="Line 32"/>
          <p:cNvSpPr>
            <a:spLocks noChangeShapeType="1"/>
          </p:cNvSpPr>
          <p:nvPr/>
        </p:nvSpPr>
        <p:spPr bwMode="auto">
          <a:xfrm>
            <a:off x="5189304" y="8068235"/>
            <a:ext cx="0" cy="53788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45" name="Line 33"/>
          <p:cNvSpPr>
            <a:spLocks noChangeShapeType="1"/>
          </p:cNvSpPr>
          <p:nvPr/>
        </p:nvSpPr>
        <p:spPr bwMode="auto">
          <a:xfrm flipH="1">
            <a:off x="4516951" y="7126941"/>
            <a:ext cx="134471" cy="403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46" name="Line 34"/>
          <p:cNvSpPr>
            <a:spLocks noChangeShapeType="1"/>
          </p:cNvSpPr>
          <p:nvPr/>
        </p:nvSpPr>
        <p:spPr bwMode="auto">
          <a:xfrm flipH="1">
            <a:off x="5323775" y="6992471"/>
            <a:ext cx="403412" cy="53788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47" name="Line 35"/>
          <p:cNvSpPr>
            <a:spLocks noChangeShapeType="1"/>
          </p:cNvSpPr>
          <p:nvPr/>
        </p:nvSpPr>
        <p:spPr bwMode="auto">
          <a:xfrm>
            <a:off x="5727186" y="6992471"/>
            <a:ext cx="134471" cy="53788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48" name="Line 36"/>
          <p:cNvSpPr>
            <a:spLocks noChangeShapeType="1"/>
          </p:cNvSpPr>
          <p:nvPr/>
        </p:nvSpPr>
        <p:spPr bwMode="auto">
          <a:xfrm>
            <a:off x="5727187" y="6992471"/>
            <a:ext cx="672353" cy="53788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49" name="Line 37"/>
          <p:cNvSpPr>
            <a:spLocks noChangeShapeType="1"/>
          </p:cNvSpPr>
          <p:nvPr/>
        </p:nvSpPr>
        <p:spPr bwMode="auto">
          <a:xfrm>
            <a:off x="7475304" y="5916706"/>
            <a:ext cx="0" cy="403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50" name="Line 38"/>
          <p:cNvSpPr>
            <a:spLocks noChangeShapeType="1"/>
          </p:cNvSpPr>
          <p:nvPr/>
        </p:nvSpPr>
        <p:spPr bwMode="auto">
          <a:xfrm>
            <a:off x="7475304" y="4706471"/>
            <a:ext cx="0" cy="67235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51" name="Line 39"/>
          <p:cNvSpPr>
            <a:spLocks noChangeShapeType="1"/>
          </p:cNvSpPr>
          <p:nvPr/>
        </p:nvSpPr>
        <p:spPr bwMode="auto">
          <a:xfrm>
            <a:off x="6399540" y="8068235"/>
            <a:ext cx="0" cy="53788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52" name="Line 40"/>
          <p:cNvSpPr>
            <a:spLocks noChangeShapeType="1"/>
          </p:cNvSpPr>
          <p:nvPr/>
        </p:nvSpPr>
        <p:spPr bwMode="auto">
          <a:xfrm>
            <a:off x="6937422" y="11161059"/>
            <a:ext cx="0" cy="26894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53" name="Line 41"/>
          <p:cNvSpPr>
            <a:spLocks noChangeShapeType="1"/>
          </p:cNvSpPr>
          <p:nvPr/>
        </p:nvSpPr>
        <p:spPr bwMode="auto">
          <a:xfrm>
            <a:off x="5727187" y="11161059"/>
            <a:ext cx="0" cy="26894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54" name="Line 42"/>
          <p:cNvSpPr>
            <a:spLocks noChangeShapeType="1"/>
          </p:cNvSpPr>
          <p:nvPr/>
        </p:nvSpPr>
        <p:spPr bwMode="auto">
          <a:xfrm flipH="1">
            <a:off x="4651422" y="5916706"/>
            <a:ext cx="403412" cy="53788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55" name="Line 43"/>
          <p:cNvSpPr>
            <a:spLocks noChangeShapeType="1"/>
          </p:cNvSpPr>
          <p:nvPr/>
        </p:nvSpPr>
        <p:spPr bwMode="auto">
          <a:xfrm>
            <a:off x="5054834" y="5916706"/>
            <a:ext cx="134471" cy="67235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56" name="Line 44"/>
          <p:cNvSpPr>
            <a:spLocks noChangeShapeType="1"/>
          </p:cNvSpPr>
          <p:nvPr/>
        </p:nvSpPr>
        <p:spPr bwMode="auto">
          <a:xfrm>
            <a:off x="5054833" y="5916706"/>
            <a:ext cx="806824" cy="53788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57" name="Line 46"/>
          <p:cNvSpPr>
            <a:spLocks noChangeShapeType="1"/>
          </p:cNvSpPr>
          <p:nvPr/>
        </p:nvSpPr>
        <p:spPr bwMode="auto">
          <a:xfrm>
            <a:off x="7206363" y="11698941"/>
            <a:ext cx="53788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58" name="Text Box 47"/>
          <p:cNvSpPr txBox="1">
            <a:spLocks noChangeArrowheads="1"/>
          </p:cNvSpPr>
          <p:nvPr/>
        </p:nvSpPr>
        <p:spPr bwMode="auto">
          <a:xfrm>
            <a:off x="13795422" y="5378824"/>
            <a:ext cx="490840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>
                <a:solidFill>
                  <a:schemeClr val="accent1"/>
                </a:solidFill>
              </a:rPr>
              <a:t>+</a:t>
            </a:r>
          </a:p>
        </p:txBody>
      </p:sp>
      <p:sp>
        <p:nvSpPr>
          <p:cNvPr id="13359" name="Text Box 48"/>
          <p:cNvSpPr txBox="1">
            <a:spLocks noChangeArrowheads="1"/>
          </p:cNvSpPr>
          <p:nvPr/>
        </p:nvSpPr>
        <p:spPr bwMode="auto">
          <a:xfrm>
            <a:off x="12988599" y="6589059"/>
            <a:ext cx="490840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>
                <a:solidFill>
                  <a:schemeClr val="accent1"/>
                </a:solidFill>
              </a:rPr>
              <a:t>+</a:t>
            </a:r>
          </a:p>
        </p:txBody>
      </p:sp>
      <p:sp>
        <p:nvSpPr>
          <p:cNvPr id="13360" name="Text Box 49"/>
          <p:cNvSpPr txBox="1">
            <a:spLocks noChangeArrowheads="1"/>
          </p:cNvSpPr>
          <p:nvPr/>
        </p:nvSpPr>
        <p:spPr bwMode="auto">
          <a:xfrm>
            <a:off x="13929893" y="7530353"/>
            <a:ext cx="490840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>
                <a:solidFill>
                  <a:schemeClr val="accent1"/>
                </a:solidFill>
              </a:rPr>
              <a:t>+</a:t>
            </a:r>
          </a:p>
        </p:txBody>
      </p:sp>
      <p:sp>
        <p:nvSpPr>
          <p:cNvPr id="13361" name="Text Box 50"/>
          <p:cNvSpPr txBox="1">
            <a:spLocks noChangeArrowheads="1"/>
          </p:cNvSpPr>
          <p:nvPr/>
        </p:nvSpPr>
        <p:spPr bwMode="auto">
          <a:xfrm>
            <a:off x="14871187" y="8471647"/>
            <a:ext cx="490840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>
                <a:solidFill>
                  <a:schemeClr val="accent1"/>
                </a:solidFill>
              </a:rPr>
              <a:t>+</a:t>
            </a:r>
          </a:p>
        </p:txBody>
      </p:sp>
      <p:sp>
        <p:nvSpPr>
          <p:cNvPr id="13362" name="Text Box 51"/>
          <p:cNvSpPr txBox="1">
            <a:spLocks noChangeArrowheads="1"/>
          </p:cNvSpPr>
          <p:nvPr/>
        </p:nvSpPr>
        <p:spPr bwMode="auto">
          <a:xfrm>
            <a:off x="12450716" y="7395883"/>
            <a:ext cx="455574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3363" name="Text Box 52"/>
          <p:cNvSpPr txBox="1">
            <a:spLocks noChangeArrowheads="1"/>
          </p:cNvSpPr>
          <p:nvPr/>
        </p:nvSpPr>
        <p:spPr bwMode="auto">
          <a:xfrm>
            <a:off x="13392010" y="8337177"/>
            <a:ext cx="455574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13364" name="Text Box 53"/>
          <p:cNvSpPr txBox="1">
            <a:spLocks noChangeArrowheads="1"/>
          </p:cNvSpPr>
          <p:nvPr/>
        </p:nvSpPr>
        <p:spPr bwMode="auto">
          <a:xfrm>
            <a:off x="14333304" y="9278471"/>
            <a:ext cx="455574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13365" name="Text Box 54"/>
          <p:cNvSpPr txBox="1">
            <a:spLocks noChangeArrowheads="1"/>
          </p:cNvSpPr>
          <p:nvPr/>
        </p:nvSpPr>
        <p:spPr bwMode="auto">
          <a:xfrm>
            <a:off x="15274598" y="9278471"/>
            <a:ext cx="455574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13366" name="Text Box 55"/>
          <p:cNvSpPr txBox="1">
            <a:spLocks noChangeArrowheads="1"/>
          </p:cNvSpPr>
          <p:nvPr/>
        </p:nvSpPr>
        <p:spPr bwMode="auto">
          <a:xfrm>
            <a:off x="14602246" y="6589059"/>
            <a:ext cx="455574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13367" name="Line 56"/>
          <p:cNvSpPr>
            <a:spLocks noChangeShapeType="1"/>
          </p:cNvSpPr>
          <p:nvPr/>
        </p:nvSpPr>
        <p:spPr bwMode="auto">
          <a:xfrm flipH="1">
            <a:off x="13392010" y="6185647"/>
            <a:ext cx="537882" cy="537882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68" name="Line 57"/>
          <p:cNvSpPr>
            <a:spLocks noChangeShapeType="1"/>
          </p:cNvSpPr>
          <p:nvPr/>
        </p:nvSpPr>
        <p:spPr bwMode="auto">
          <a:xfrm>
            <a:off x="14198834" y="6185647"/>
            <a:ext cx="672353" cy="537882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69" name="Line 58"/>
          <p:cNvSpPr>
            <a:spLocks noChangeShapeType="1"/>
          </p:cNvSpPr>
          <p:nvPr/>
        </p:nvSpPr>
        <p:spPr bwMode="auto">
          <a:xfrm flipH="1">
            <a:off x="12854128" y="7261412"/>
            <a:ext cx="403412" cy="268941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70" name="Line 59"/>
          <p:cNvSpPr>
            <a:spLocks noChangeShapeType="1"/>
          </p:cNvSpPr>
          <p:nvPr/>
        </p:nvSpPr>
        <p:spPr bwMode="auto">
          <a:xfrm>
            <a:off x="13257539" y="7261412"/>
            <a:ext cx="806824" cy="403412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71" name="Line 60"/>
          <p:cNvSpPr>
            <a:spLocks noChangeShapeType="1"/>
          </p:cNvSpPr>
          <p:nvPr/>
        </p:nvSpPr>
        <p:spPr bwMode="auto">
          <a:xfrm flipH="1">
            <a:off x="13795422" y="8202706"/>
            <a:ext cx="403412" cy="268941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72" name="Line 61"/>
          <p:cNvSpPr>
            <a:spLocks noChangeShapeType="1"/>
          </p:cNvSpPr>
          <p:nvPr/>
        </p:nvSpPr>
        <p:spPr bwMode="auto">
          <a:xfrm>
            <a:off x="14198834" y="8202706"/>
            <a:ext cx="941294" cy="403412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73" name="Line 62"/>
          <p:cNvSpPr>
            <a:spLocks noChangeShapeType="1"/>
          </p:cNvSpPr>
          <p:nvPr/>
        </p:nvSpPr>
        <p:spPr bwMode="auto">
          <a:xfrm flipH="1">
            <a:off x="14736716" y="9144000"/>
            <a:ext cx="403412" cy="268941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74" name="Line 63"/>
          <p:cNvSpPr>
            <a:spLocks noChangeShapeType="1"/>
          </p:cNvSpPr>
          <p:nvPr/>
        </p:nvSpPr>
        <p:spPr bwMode="auto">
          <a:xfrm>
            <a:off x="15140128" y="9144000"/>
            <a:ext cx="403412" cy="268941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3176"/>
          </a:p>
        </p:txBody>
      </p:sp>
      <p:sp>
        <p:nvSpPr>
          <p:cNvPr id="13375" name="AutoShape 64"/>
          <p:cNvSpPr>
            <a:spLocks noChangeArrowheads="1"/>
          </p:cNvSpPr>
          <p:nvPr/>
        </p:nvSpPr>
        <p:spPr bwMode="auto">
          <a:xfrm>
            <a:off x="9626834" y="6320118"/>
            <a:ext cx="1479176" cy="2151529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4235"/>
          </a:p>
        </p:txBody>
      </p:sp>
      <p:sp>
        <p:nvSpPr>
          <p:cNvPr id="13376" name="Text Box 65"/>
          <p:cNvSpPr txBox="1">
            <a:spLocks noChangeArrowheads="1"/>
          </p:cNvSpPr>
          <p:nvPr/>
        </p:nvSpPr>
        <p:spPr bwMode="auto">
          <a:xfrm>
            <a:off x="8820011" y="2958353"/>
            <a:ext cx="8752717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Parse tree also </a:t>
            </a:r>
            <a:r>
              <a:rPr lang="en-US" altLang="en-US" sz="4235" dirty="0"/>
              <a:t>called “</a:t>
            </a:r>
            <a:r>
              <a:rPr lang="en-US" altLang="en-US" sz="4235"/>
              <a:t>concrete syntax</a:t>
            </a:r>
            <a:r>
              <a:rPr lang="en-US" altLang="en-US" sz="4235" dirty="0"/>
              <a:t>”</a:t>
            </a:r>
          </a:p>
        </p:txBody>
      </p:sp>
      <p:sp>
        <p:nvSpPr>
          <p:cNvPr id="13377" name="Text Box 66"/>
          <p:cNvSpPr txBox="1">
            <a:spLocks noChangeArrowheads="1"/>
          </p:cNvSpPr>
          <p:nvPr/>
        </p:nvSpPr>
        <p:spPr bwMode="auto">
          <a:xfrm>
            <a:off x="10164716" y="10219766"/>
            <a:ext cx="7962436" cy="1395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AST discards (abstracts) </a:t>
            </a:r>
            <a:r>
              <a:rPr lang="en-US" altLang="en-US" sz="4235" dirty="0"/>
              <a:t>unneeded</a:t>
            </a:r>
          </a:p>
          <a:p>
            <a:r>
              <a:rPr lang="en-US" altLang="en-US" sz="4235" dirty="0"/>
              <a:t>information – more compact format</a:t>
            </a:r>
          </a:p>
        </p:txBody>
      </p:sp>
      <p:sp>
        <p:nvSpPr>
          <p:cNvPr id="66" name="Date Placeholder 3">
            <a:extLst>
              <a:ext uri="{FF2B5EF4-FFF2-40B4-BE49-F238E27FC236}">
                <a16:creationId xmlns:a16="http://schemas.microsoft.com/office/drawing/2014/main" id="{A9BDBED3-BEC9-481F-98E7-C45B0FCB5069}"/>
              </a:ext>
            </a:extLst>
          </p:cNvPr>
          <p:cNvSpPr txBox="1">
            <a:spLocks/>
          </p:cNvSpPr>
          <p:nvPr/>
        </p:nvSpPr>
        <p:spPr>
          <a:xfrm>
            <a:off x="8583562" y="11621464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</a:t>
            </a:r>
            <a:r>
              <a:rPr lang="en-US"/>
              <a:t>of Syntax </a:t>
            </a:r>
            <a:r>
              <a:rPr lang="en-US" dirty="0"/>
              <a:t>Analyzer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800"/>
              <a:t>Verify Syntax as </a:t>
            </a:r>
            <a:r>
              <a:rPr lang="en-US" sz="4800" dirty="0"/>
              <a:t>per pre-defined</a:t>
            </a:r>
            <a:r>
              <a:rPr lang="en-US" sz="4800" b="1" dirty="0"/>
              <a:t> Grammar </a:t>
            </a:r>
            <a:r>
              <a:rPr lang="en-US" sz="4800" b="1"/>
              <a:t>for selected </a:t>
            </a:r>
            <a:r>
              <a:rPr lang="en-US" sz="4800" b="1" dirty="0"/>
              <a:t>language</a:t>
            </a:r>
          </a:p>
          <a:p>
            <a:r>
              <a:rPr lang="en-US" sz="4800"/>
              <a:t>Report Syntax errors </a:t>
            </a:r>
            <a:r>
              <a:rPr lang="en-US" sz="4800" dirty="0"/>
              <a:t>accurately with location </a:t>
            </a:r>
          </a:p>
          <a:p>
            <a:pPr lvl="1"/>
            <a:r>
              <a:rPr lang="en-US" sz="4089" dirty="0"/>
              <a:t>Error Recovery</a:t>
            </a:r>
          </a:p>
          <a:p>
            <a:r>
              <a:rPr lang="en-US" sz="4800"/>
              <a:t>Update Symbol </a:t>
            </a:r>
            <a:r>
              <a:rPr lang="en-US" sz="4800" dirty="0"/>
              <a:t>Table</a:t>
            </a:r>
          </a:p>
          <a:p>
            <a:pPr lvl="1"/>
            <a:r>
              <a:rPr lang="en-US" sz="4089" dirty="0"/>
              <a:t>E.g. Update data type </a:t>
            </a:r>
            <a:r>
              <a:rPr lang="en-US" sz="4089"/>
              <a:t>of variables</a:t>
            </a:r>
            <a:endParaRPr lang="en-US" sz="4089" dirty="0"/>
          </a:p>
          <a:p>
            <a:r>
              <a:rPr lang="en-US" sz="4800"/>
              <a:t>Invoke Semantic Actions</a:t>
            </a:r>
            <a:endParaRPr lang="en-US" sz="4800" dirty="0"/>
          </a:p>
          <a:p>
            <a:pPr lvl="1"/>
            <a:r>
              <a:rPr lang="en-US" sz="4000"/>
              <a:t>Static </a:t>
            </a:r>
            <a:r>
              <a:rPr lang="en-US" sz="4000" dirty="0"/>
              <a:t>checking i.e. Type checking </a:t>
            </a:r>
            <a:r>
              <a:rPr lang="en-US" sz="4000"/>
              <a:t>of identifiers, expressions, functions</a:t>
            </a:r>
            <a:endParaRPr lang="en-US" sz="4000" dirty="0"/>
          </a:p>
          <a:p>
            <a:pPr lvl="1"/>
            <a:r>
              <a:rPr lang="en-US" sz="4000"/>
              <a:t>Syntax directed translation of source </a:t>
            </a:r>
            <a:r>
              <a:rPr lang="en-US" sz="4000" dirty="0"/>
              <a:t>code to intermediate code generation</a:t>
            </a:r>
          </a:p>
          <a:p>
            <a:pPr lvl="1"/>
            <a:endParaRPr lang="en-US" sz="4000" dirty="0"/>
          </a:p>
          <a:p>
            <a:endParaRPr lang="en-US" sz="4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C668F-84B3-4439-A440-5FA10181C9A9}"/>
              </a:ext>
            </a:extLst>
          </p:cNvPr>
          <p:cNvSpPr txBox="1">
            <a:spLocks/>
          </p:cNvSpPr>
          <p:nvPr/>
        </p:nvSpPr>
        <p:spPr>
          <a:xfrm>
            <a:off x="8583562" y="11621464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  <p:extLst>
      <p:ext uri="{BB962C8B-B14F-4D97-AF65-F5344CB8AC3E}">
        <p14:creationId xmlns:p14="http://schemas.microsoft.com/office/powerpoint/2010/main" val="2838722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Syntax Analysis </a:t>
            </a:r>
            <a:r>
              <a:rPr lang="en-US" altLang="en-US" dirty="0"/>
              <a:t>Overview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54011" y="4661211"/>
            <a:ext cx="14119412" cy="6247280"/>
          </a:xfrm>
        </p:spPr>
        <p:txBody>
          <a:bodyPr>
            <a:normAutofit lnSpcReduction="10000"/>
          </a:bodyPr>
          <a:lstStyle/>
          <a:p>
            <a:r>
              <a:rPr lang="en-US" altLang="en-US" sz="4800" b="1" dirty="0">
                <a:latin typeface="Times" panose="02020603050405020304" pitchFamily="18" charset="0"/>
                <a:cs typeface="Times" panose="02020603050405020304" pitchFamily="18" charset="0"/>
              </a:rPr>
              <a:t>Goal </a:t>
            </a:r>
            <a:r>
              <a:rPr lang="en-US" altLang="en-US" sz="4800" dirty="0">
                <a:latin typeface="Times" panose="02020603050405020304" pitchFamily="18" charset="0"/>
                <a:cs typeface="Times" panose="02020603050405020304" pitchFamily="18" charset="0"/>
              </a:rPr>
              <a:t>– determine if the input token stream satisfies the syntax of the program</a:t>
            </a:r>
          </a:p>
          <a:p>
            <a:endParaRPr lang="en-US" altLang="en-US" sz="48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altLang="en-US" sz="4800" b="1" dirty="0">
                <a:latin typeface="Times" panose="02020603050405020304" pitchFamily="18" charset="0"/>
                <a:cs typeface="Times" panose="02020603050405020304" pitchFamily="18" charset="0"/>
              </a:rPr>
              <a:t>What do we need to do </a:t>
            </a:r>
            <a:r>
              <a:rPr lang="en-US" altLang="en-US" sz="4800" dirty="0">
                <a:latin typeface="Times" panose="02020603050405020304" pitchFamily="18" charset="0"/>
                <a:cs typeface="Times" panose="02020603050405020304" pitchFamily="18" charset="0"/>
              </a:rPr>
              <a:t>this?</a:t>
            </a:r>
          </a:p>
          <a:p>
            <a:pPr lvl="1"/>
            <a:r>
              <a:rPr lang="en-US" altLang="en-US" sz="4000" b="1" dirty="0">
                <a:latin typeface="Times" panose="02020603050405020304" pitchFamily="18" charset="0"/>
                <a:cs typeface="Times" panose="02020603050405020304" pitchFamily="18" charset="0"/>
              </a:rPr>
              <a:t>Grammar : </a:t>
            </a:r>
            <a:r>
              <a:rPr lang="en-US" altLang="en-US" sz="4000" dirty="0">
                <a:latin typeface="Times" panose="02020603050405020304" pitchFamily="18" charset="0"/>
                <a:cs typeface="Times" panose="02020603050405020304" pitchFamily="18" charset="0"/>
              </a:rPr>
              <a:t>An expressive way to describe the unambiguous grammar | syntax</a:t>
            </a:r>
          </a:p>
          <a:p>
            <a:pPr lvl="1"/>
            <a:r>
              <a:rPr lang="en-US" altLang="en-US" sz="4000" b="1" dirty="0">
                <a:latin typeface="Times" panose="02020603050405020304" pitchFamily="18" charset="0"/>
                <a:cs typeface="Times" panose="02020603050405020304" pitchFamily="18" charset="0"/>
              </a:rPr>
              <a:t>Parsing : </a:t>
            </a:r>
            <a:r>
              <a:rPr lang="en-US" altLang="en-US" sz="4000" dirty="0">
                <a:latin typeface="Times" panose="02020603050405020304" pitchFamily="18" charset="0"/>
                <a:cs typeface="Times" panose="02020603050405020304" pitchFamily="18" charset="0"/>
              </a:rPr>
              <a:t>A mechanism that determines if the input token stream satisfies the syntax description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E80BD-152E-4E18-BE3F-0E7EA0743E4F}"/>
              </a:ext>
            </a:extLst>
          </p:cNvPr>
          <p:cNvSpPr txBox="1">
            <a:spLocks/>
          </p:cNvSpPr>
          <p:nvPr/>
        </p:nvSpPr>
        <p:spPr>
          <a:xfrm>
            <a:off x="8583562" y="11621464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>
            <a:extLst>
              <a:ext uri="{FF2B5EF4-FFF2-40B4-BE49-F238E27FC236}">
                <a16:creationId xmlns:a16="http://schemas.microsoft.com/office/drawing/2014/main" id="{F8CBFDEB-B4F7-44BA-BA89-66CB07CEE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1485900" indent="-5715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22860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32004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41148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50292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59436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68580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77724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0A21E0A-15CE-4BAB-A887-2D764CD39078}" type="slidenum">
              <a:rPr lang="en-US" altLang="en-US" sz="2800"/>
              <a:pPr/>
              <a:t>7</a:t>
            </a:fld>
            <a:endParaRPr lang="en-US" altLang="en-US" sz="28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E4532C5F-6727-49EF-AC34-16FAA8419E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Chomsky </a:t>
            </a:r>
            <a:r>
              <a:rPr lang="en-US" altLang="en-US" dirty="0">
                <a:ea typeface="ＭＳ Ｐゴシック" panose="020B0600070205080204" pitchFamily="34" charset="-128"/>
              </a:rPr>
              <a:t>Hierarchy: </a:t>
            </a:r>
            <a:r>
              <a:rPr lang="en-US" altLang="en-US">
                <a:ea typeface="ＭＳ Ｐゴシック" panose="020B0600070205080204" pitchFamily="34" charset="-128"/>
              </a:rPr>
              <a:t>Language Classification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DD1E32AA-9966-4152-AA8A-1E1A12C73C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02881" y="5579528"/>
            <a:ext cx="17068377" cy="6637872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5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A grammar </a:t>
            </a:r>
            <a:r>
              <a:rPr lang="en-US" altLang="en-US" sz="5400" i="1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G</a:t>
            </a:r>
            <a:r>
              <a:rPr lang="en-US" altLang="en-US" sz="540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 is said </a:t>
            </a:r>
            <a:r>
              <a:rPr lang="en-US" altLang="en-US" sz="5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to be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4400" b="1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Regular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 if </a:t>
            </a:r>
            <a:r>
              <a:rPr lang="en-US" altLang="en-US" sz="440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it is </a:t>
            </a:r>
            <a: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right linear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 where each </a:t>
            </a:r>
            <a:r>
              <a:rPr lang="en-US" altLang="en-US" sz="440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production is 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of the form</a:t>
            </a:r>
            <a:b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</a:b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	</a:t>
            </a:r>
            <a: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w B	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or</a:t>
            </a:r>
            <a: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	 A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w</a:t>
            </a:r>
            <a:b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</a:b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or </a:t>
            </a:r>
            <a: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left linear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 where each </a:t>
            </a:r>
            <a:r>
              <a:rPr lang="en-US" altLang="en-US" sz="440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production is 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of the form</a:t>
            </a:r>
            <a:b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</a:b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B w	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or</a:t>
            </a:r>
            <a: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	 A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w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4400" b="1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Context free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 if each </a:t>
            </a:r>
            <a:r>
              <a:rPr lang="en-US" altLang="en-US" sz="440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production is 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of the form</a:t>
            </a:r>
            <a:b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</a:b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  </a:t>
            </a:r>
            <a:b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</a:b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where </a:t>
            </a:r>
            <a: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A 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 and   (</a:t>
            </a:r>
            <a: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)*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4400" b="1" i="1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Context sensitive 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if each </a:t>
            </a:r>
            <a:r>
              <a:rPr lang="en-US" altLang="en-US" sz="440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production is 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of the form</a:t>
            </a:r>
            <a:b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</a:b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	</a:t>
            </a:r>
            <a: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 A 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    </a:t>
            </a:r>
            <a:b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</a:b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where </a:t>
            </a:r>
            <a: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A 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N, 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,,  (</a:t>
            </a:r>
            <a: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)*, || &gt; 0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4400" b="1" i="1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Unrestricted</a:t>
            </a:r>
            <a:endParaRPr lang="en-US" altLang="en-US" sz="4400" b="1" dirty="0">
              <a:latin typeface="Times" panose="02020603050405020304" pitchFamily="18" charset="0"/>
              <a:ea typeface="ＭＳ Ｐゴシック" panose="020B0600070205080204" pitchFamily="34" charset="-128"/>
              <a:cs typeface="Times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22064835-09FD-43E3-9B74-ADA653043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1006" y="4342765"/>
            <a:ext cx="1759212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4800" dirty="0">
                <a:latin typeface="Apple Chancery" charset="0"/>
              </a:rPr>
              <a:t> L</a:t>
            </a:r>
            <a:r>
              <a:rPr lang="en-US" altLang="en-US" sz="4800" dirty="0"/>
              <a:t>(</a:t>
            </a:r>
            <a:r>
              <a:rPr lang="en-US" altLang="en-US" sz="4800" i="1" dirty="0"/>
              <a:t>regular</a:t>
            </a:r>
            <a:r>
              <a:rPr lang="en-US" altLang="en-US" sz="4800" dirty="0"/>
              <a:t>) </a:t>
            </a:r>
            <a:r>
              <a:rPr lang="en-US" altLang="en-US" sz="4800" dirty="0">
                <a:sym typeface="Symbol" panose="05050102010706020507" pitchFamily="18" charset="2"/>
              </a:rPr>
              <a:t> </a:t>
            </a:r>
            <a:r>
              <a:rPr lang="en-US" altLang="en-US" sz="4800" dirty="0">
                <a:latin typeface="Apple Chancery" charset="0"/>
              </a:rPr>
              <a:t>L</a:t>
            </a:r>
            <a:r>
              <a:rPr lang="en-US" altLang="en-US" sz="4800" dirty="0"/>
              <a:t>(</a:t>
            </a:r>
            <a:r>
              <a:rPr lang="en-US" altLang="en-US" sz="4800" i="1" dirty="0"/>
              <a:t>context free</a:t>
            </a:r>
            <a:r>
              <a:rPr lang="en-US" altLang="en-US" sz="4800" dirty="0"/>
              <a:t>) </a:t>
            </a:r>
            <a:r>
              <a:rPr lang="en-US" altLang="en-US" sz="4800" dirty="0">
                <a:sym typeface="Symbol" panose="05050102010706020507" pitchFamily="18" charset="2"/>
              </a:rPr>
              <a:t> </a:t>
            </a:r>
            <a:r>
              <a:rPr lang="en-US" altLang="en-US" sz="4800" dirty="0">
                <a:latin typeface="Apple Chancery" charset="0"/>
              </a:rPr>
              <a:t>L</a:t>
            </a:r>
            <a:r>
              <a:rPr lang="en-US" altLang="en-US" sz="4800" dirty="0"/>
              <a:t>(</a:t>
            </a:r>
            <a:r>
              <a:rPr lang="en-US" altLang="en-US" sz="4800" i="1"/>
              <a:t>context sensitive</a:t>
            </a:r>
            <a:r>
              <a:rPr lang="en-US" altLang="en-US" sz="4800" dirty="0"/>
              <a:t>) </a:t>
            </a:r>
            <a:r>
              <a:rPr lang="en-US" altLang="en-US" sz="4800" dirty="0">
                <a:sym typeface="Symbol" panose="05050102010706020507" pitchFamily="18" charset="2"/>
              </a:rPr>
              <a:t> </a:t>
            </a:r>
            <a:r>
              <a:rPr lang="en-US" altLang="en-US" sz="4800" dirty="0">
                <a:latin typeface="Apple Chancery" charset="0"/>
              </a:rPr>
              <a:t>L</a:t>
            </a:r>
            <a:r>
              <a:rPr lang="en-US" altLang="en-US" sz="4800"/>
              <a:t>(</a:t>
            </a:r>
            <a:r>
              <a:rPr lang="en-US" altLang="en-US" sz="4800" i="1"/>
              <a:t>unrestricted</a:t>
            </a:r>
            <a:r>
              <a:rPr lang="en-US" altLang="en-US" sz="4800" dirty="0"/>
              <a:t>)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F5C3477-EEE0-4938-9183-92A55A5BED8E}"/>
              </a:ext>
            </a:extLst>
          </p:cNvPr>
          <p:cNvSpPr txBox="1">
            <a:spLocks/>
          </p:cNvSpPr>
          <p:nvPr/>
        </p:nvSpPr>
        <p:spPr>
          <a:xfrm>
            <a:off x="8583562" y="11621464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>
            <a:extLst>
              <a:ext uri="{FF2B5EF4-FFF2-40B4-BE49-F238E27FC236}">
                <a16:creationId xmlns:a16="http://schemas.microsoft.com/office/drawing/2014/main" id="{AC74F88B-058D-4819-B1B2-359F27D5F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1485900" indent="-5715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22860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32004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41148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50292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59436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68580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77724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D5ADB81-AFB7-4618-B8C6-1F00EBD22F92}" type="slidenum">
              <a:rPr lang="en-US" altLang="en-US" sz="2800"/>
              <a:pPr/>
              <a:t>8</a:t>
            </a:fld>
            <a:endParaRPr lang="en-US" altLang="en-US" sz="28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CF12E0D7-67C2-4B6E-A27D-76EBECC0CC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Grammars </a:t>
            </a:r>
            <a:r>
              <a:rPr lang="en-US" altLang="en-US" dirty="0">
                <a:ea typeface="ＭＳ Ｐゴシック" panose="020B0600070205080204" pitchFamily="34" charset="-128"/>
              </a:rPr>
              <a:t>(Recap)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2DB55482-1F7C-4C82-80AC-E12E974AE3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 sz="5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Context-free </a:t>
            </a:r>
            <a:r>
              <a:rPr lang="en-US" altLang="en-US" sz="540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grammar is </a:t>
            </a:r>
            <a:r>
              <a:rPr lang="en-US" altLang="en-US" sz="5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a 4-tuple</a:t>
            </a:r>
            <a:br>
              <a:rPr lang="en-US" altLang="en-US" sz="5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</a:br>
            <a:r>
              <a:rPr lang="en-US" altLang="en-US" sz="5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G </a:t>
            </a:r>
            <a:r>
              <a:rPr lang="en-US" altLang="en-US" sz="5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= (</a:t>
            </a:r>
            <a:r>
              <a:rPr lang="en-US" altLang="en-US" sz="5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N</a:t>
            </a:r>
            <a:r>
              <a:rPr lang="en-US" altLang="en-US" sz="5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, </a:t>
            </a:r>
            <a:r>
              <a:rPr lang="en-US" altLang="en-US" sz="5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T</a:t>
            </a:r>
            <a:r>
              <a:rPr lang="en-US" altLang="en-US" sz="5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, </a:t>
            </a:r>
            <a:r>
              <a:rPr lang="en-US" altLang="en-US" sz="5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P</a:t>
            </a:r>
            <a:r>
              <a:rPr lang="en-US" altLang="en-US" sz="540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, </a:t>
            </a:r>
            <a:r>
              <a:rPr lang="en-US" altLang="en-US" sz="5400" i="1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S</a:t>
            </a:r>
            <a:r>
              <a:rPr lang="en-US" altLang="en-US" sz="540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) </a:t>
            </a:r>
            <a:r>
              <a:rPr lang="en-US" altLang="en-US" sz="5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where</a:t>
            </a:r>
          </a:p>
          <a:p>
            <a:pPr lvl="1" eaLnBrk="1" hangingPunct="1"/>
            <a:r>
              <a:rPr lang="en-US" altLang="en-US" sz="4400" i="1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T</a:t>
            </a:r>
            <a:r>
              <a:rPr lang="en-US" altLang="en-US" sz="440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 is 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a </a:t>
            </a:r>
            <a:r>
              <a:rPr lang="en-US" altLang="en-US" sz="440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finite set of tokens 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(</a:t>
            </a:r>
            <a:r>
              <a:rPr lang="en-US" altLang="en-US" sz="4400" i="1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terminal</a:t>
            </a:r>
            <a:r>
              <a:rPr lang="en-US" altLang="en-US" sz="440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 symbols)</a:t>
            </a:r>
            <a:endParaRPr lang="en-US" altLang="en-US" sz="4400" dirty="0">
              <a:latin typeface="Times" panose="02020603050405020304" pitchFamily="18" charset="0"/>
              <a:ea typeface="ＭＳ Ｐゴシック" panose="020B0600070205080204" pitchFamily="34" charset="-128"/>
              <a:cs typeface="Times" panose="02020603050405020304" pitchFamily="18" charset="0"/>
            </a:endParaRPr>
          </a:p>
          <a:p>
            <a:pPr lvl="1" eaLnBrk="1" hangingPunct="1"/>
            <a:r>
              <a:rPr lang="en-US" altLang="en-US" sz="4400" i="1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N</a:t>
            </a:r>
            <a:r>
              <a:rPr lang="en-US" altLang="en-US" sz="440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 is 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a </a:t>
            </a:r>
            <a:r>
              <a:rPr lang="en-US" altLang="en-US" sz="440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finite set of </a:t>
            </a:r>
            <a:r>
              <a:rPr lang="en-US" altLang="en-US" sz="4400" i="1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nonterminals</a:t>
            </a:r>
            <a:endParaRPr lang="en-US" altLang="en-US" sz="4400" i="1" dirty="0">
              <a:latin typeface="Times" panose="02020603050405020304" pitchFamily="18" charset="0"/>
              <a:ea typeface="ＭＳ Ｐゴシック" panose="020B0600070205080204" pitchFamily="34" charset="-128"/>
              <a:cs typeface="Times" panose="02020603050405020304" pitchFamily="18" charset="0"/>
            </a:endParaRPr>
          </a:p>
          <a:p>
            <a:pPr lvl="1" eaLnBrk="1" hangingPunct="1"/>
            <a:r>
              <a:rPr lang="en-US" altLang="en-US" sz="4400" i="1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P</a:t>
            </a:r>
            <a:r>
              <a:rPr lang="en-US" altLang="en-US" sz="440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 is 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a </a:t>
            </a:r>
            <a:r>
              <a:rPr lang="en-US" altLang="en-US" sz="440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finite set of </a:t>
            </a:r>
            <a:r>
              <a:rPr lang="en-US" altLang="en-US" sz="4400" i="1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productions 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of the form</a:t>
            </a:r>
            <a:b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</a:br>
            <a: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	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  </a:t>
            </a:r>
            <a:b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</a:b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where   (</a:t>
            </a:r>
            <a: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)* </a:t>
            </a:r>
            <a: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)* and   (</a:t>
            </a:r>
            <a: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en-US" sz="4400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)*</a:t>
            </a:r>
            <a:endParaRPr lang="en-US" altLang="en-US" sz="4400" i="1" dirty="0">
              <a:latin typeface="Times" panose="02020603050405020304" pitchFamily="18" charset="0"/>
              <a:ea typeface="ＭＳ Ｐゴシック" panose="020B0600070205080204" pitchFamily="34" charset="-128"/>
              <a:cs typeface="Times" panose="02020603050405020304" pitchFamily="18" charset="0"/>
            </a:endParaRPr>
          </a:p>
          <a:p>
            <a:pPr lvl="1" eaLnBrk="1" hangingPunct="1"/>
            <a:r>
              <a:rPr lang="en-US" altLang="en-US" sz="4400" i="1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S 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en-US" sz="4400" i="1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440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 is a designated </a:t>
            </a:r>
            <a:r>
              <a:rPr lang="en-US" altLang="en-US" sz="4400" i="1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start symbol</a:t>
            </a:r>
            <a:endParaRPr lang="en-US" altLang="en-US" sz="4400" i="1" dirty="0">
              <a:latin typeface="Times" panose="02020603050405020304" pitchFamily="18" charset="0"/>
              <a:ea typeface="ＭＳ Ｐゴシック" panose="020B0600070205080204" pitchFamily="34" charset="-128"/>
              <a:cs typeface="Times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4ACA950-BB36-4690-A409-F55D0EC94824}"/>
              </a:ext>
            </a:extLst>
          </p:cNvPr>
          <p:cNvSpPr txBox="1">
            <a:spLocks/>
          </p:cNvSpPr>
          <p:nvPr/>
        </p:nvSpPr>
        <p:spPr>
          <a:xfrm>
            <a:off x="8583562" y="11621464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FFC5C-AE7C-443F-8DEB-D99B3EED3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CFG Example 1: Grammar for Binary </a:t>
            </a:r>
            <a:r>
              <a:rPr lang="en-IN"/>
              <a:t>Arithmetic Expression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254E8-A884-4713-A72B-687FFAF61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E : E + E                         ||recursion of E ….ID + E ,  E+ ID   </a:t>
            </a:r>
          </a:p>
          <a:p>
            <a:pPr marL="0" indent="0">
              <a:buNone/>
            </a:pPr>
            <a:r>
              <a:rPr lang="en-IN" dirty="0"/>
              <a:t>   | E – E</a:t>
            </a:r>
          </a:p>
          <a:p>
            <a:pPr marL="0" indent="0">
              <a:buNone/>
            </a:pPr>
            <a:r>
              <a:rPr lang="en-IN" dirty="0"/>
              <a:t>   | E * E</a:t>
            </a:r>
          </a:p>
          <a:p>
            <a:pPr marL="0" indent="0">
              <a:buNone/>
            </a:pPr>
            <a:r>
              <a:rPr lang="en-IN" dirty="0"/>
              <a:t>   | E | E</a:t>
            </a:r>
          </a:p>
          <a:p>
            <a:pPr marL="0" indent="0">
              <a:buNone/>
            </a:pPr>
            <a:r>
              <a:rPr lang="en-IN" dirty="0"/>
              <a:t>   | ID</a:t>
            </a:r>
          </a:p>
          <a:p>
            <a:pPr marL="0" indent="0">
              <a:buNone/>
            </a:pPr>
            <a:r>
              <a:rPr lang="en-IN" dirty="0"/>
              <a:t>   | NUM</a:t>
            </a:r>
          </a:p>
          <a:p>
            <a:pPr marL="0" indent="0">
              <a:buNone/>
            </a:pPr>
            <a:r>
              <a:rPr lang="en-IN" dirty="0"/>
              <a:t>   | FNUM</a:t>
            </a:r>
          </a:p>
          <a:p>
            <a:pPr marL="0" indent="0">
              <a:buNone/>
            </a:pPr>
            <a:r>
              <a:rPr lang="en-IN" dirty="0"/>
              <a:t>   | ( E 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07FBD-9FD0-4937-BE9C-909BDE126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4D0B71A-A0DE-474F-9915-BBCACDF12007}"/>
              </a:ext>
            </a:extLst>
          </p:cNvPr>
          <p:cNvSpPr txBox="1">
            <a:spLocks/>
          </p:cNvSpPr>
          <p:nvPr/>
        </p:nvSpPr>
        <p:spPr>
          <a:xfrm>
            <a:off x="8583562" y="11621464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  <p:extLst>
      <p:ext uri="{BB962C8B-B14F-4D97-AF65-F5344CB8AC3E}">
        <p14:creationId xmlns:p14="http://schemas.microsoft.com/office/powerpoint/2010/main" val="4270643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48516-0BD9-4E6F-91F7-3662AF088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CFG Example 2: Grammar </a:t>
            </a:r>
            <a:r>
              <a:rPr lang="en-IN"/>
              <a:t>for IFST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18753-D0D5-418A-ABA7-9E2A0D599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/>
              <a:t>ST : IFST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| E</a:t>
            </a:r>
          </a:p>
          <a:p>
            <a:pPr marL="0" indent="0">
              <a:buNone/>
            </a:pPr>
            <a:r>
              <a:rPr lang="en-IN" dirty="0"/>
              <a:t>      ;</a:t>
            </a:r>
          </a:p>
          <a:p>
            <a:pPr marL="0" indent="0">
              <a:buNone/>
            </a:pPr>
            <a:r>
              <a:rPr lang="en-IN"/>
              <a:t>IFST </a:t>
            </a:r>
            <a:r>
              <a:rPr lang="en-IN" dirty="0"/>
              <a:t>: IF ( E </a:t>
            </a:r>
            <a:r>
              <a:rPr lang="en-IN"/>
              <a:t>) ST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| IF ( E </a:t>
            </a:r>
            <a:r>
              <a:rPr lang="en-IN"/>
              <a:t>) ST ELSE ST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769D0-1517-4A45-BABA-A835BC90F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58A941D-D89E-47E4-B460-2FADBB080639}"/>
              </a:ext>
            </a:extLst>
          </p:cNvPr>
          <p:cNvSpPr txBox="1">
            <a:spLocks/>
          </p:cNvSpPr>
          <p:nvPr/>
        </p:nvSpPr>
        <p:spPr>
          <a:xfrm>
            <a:off x="8583562" y="11621464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  <p:extLst>
      <p:ext uri="{BB962C8B-B14F-4D97-AF65-F5344CB8AC3E}">
        <p14:creationId xmlns:p14="http://schemas.microsoft.com/office/powerpoint/2010/main" val="615948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48516-0BD9-4E6F-91F7-3662AF088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2881" y="1964265"/>
            <a:ext cx="17068377" cy="801237"/>
          </a:xfrm>
        </p:spPr>
        <p:txBody>
          <a:bodyPr>
            <a:normAutofit fontScale="90000"/>
          </a:bodyPr>
          <a:lstStyle/>
          <a:p>
            <a:r>
              <a:rPr lang="en-IN" sz="6000" dirty="0"/>
              <a:t>CFG Example 3: Grammar for functions in C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18753-D0D5-418A-ABA7-9E2A0D599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2879" y="3278459"/>
            <a:ext cx="17068377" cy="8473277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dirty="0"/>
              <a:t>PROG : DT  ID ‘(‘ ‘)’ BLK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dirty="0"/>
              <a:t>BLK : ‘{‘ STS ‘}’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dirty="0"/>
              <a:t>STS : STS ST 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dirty="0"/>
              <a:t>        | ST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dirty="0"/>
              <a:t>ST : IFST 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dirty="0"/>
              <a:t>     | FORST 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dirty="0"/>
              <a:t>     | WHILEST 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dirty="0"/>
              <a:t>     | E ‘;’ 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dirty="0"/>
              <a:t>     | BLK   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dirty="0"/>
              <a:t>     | ‘;’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dirty="0"/>
              <a:t>IFST : IF ‘(‘ E ‘)’ ST  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dirty="0"/>
              <a:t>      | IF ‘(‘ E ‘)’ ST ELSE 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769D0-1517-4A45-BABA-A835BC90F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548C12E-08F7-4170-908D-D4B6D27698EE}"/>
              </a:ext>
            </a:extLst>
          </p:cNvPr>
          <p:cNvSpPr txBox="1">
            <a:spLocks/>
          </p:cNvSpPr>
          <p:nvPr/>
        </p:nvSpPr>
        <p:spPr>
          <a:xfrm>
            <a:off x="8583562" y="11621464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  <p:extLst>
      <p:ext uri="{BB962C8B-B14F-4D97-AF65-F5344CB8AC3E}">
        <p14:creationId xmlns:p14="http://schemas.microsoft.com/office/powerpoint/2010/main" val="3413136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48516-0BD9-4E6F-91F7-3662AF088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2881" y="1964265"/>
            <a:ext cx="17068377" cy="801237"/>
          </a:xfrm>
        </p:spPr>
        <p:txBody>
          <a:bodyPr>
            <a:normAutofit fontScale="90000"/>
          </a:bodyPr>
          <a:lstStyle/>
          <a:p>
            <a:r>
              <a:rPr lang="en-IN" sz="6000" dirty="0"/>
              <a:t>CFG Example 3: Grammar </a:t>
            </a:r>
            <a:r>
              <a:rPr lang="en-IN" sz="6000"/>
              <a:t>for functions </a:t>
            </a:r>
            <a:r>
              <a:rPr lang="en-IN" sz="6000" dirty="0"/>
              <a:t>in C program </a:t>
            </a:r>
            <a:r>
              <a:rPr lang="en-IN" sz="2700" dirty="0"/>
              <a:t>CONTD…</a:t>
            </a:r>
            <a:r>
              <a:rPr lang="en-IN" sz="60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18753-D0D5-418A-ABA7-9E2A0D599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2879" y="3278459"/>
            <a:ext cx="17068377" cy="8473277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dirty="0"/>
              <a:t>E : E OP E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dirty="0"/>
              <a:t>    | ID ‘=‘ E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dirty="0"/>
              <a:t>    | TERM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dirty="0"/>
              <a:t>OP : ‘+’ | ‘-’ | ‘*’ | ‘|’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dirty="0"/>
              <a:t>TERM : ID | NUM | FNUM | ( E)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dirty="0"/>
              <a:t>….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dirty="0"/>
              <a:t>….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dirty="0"/>
              <a:t>….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769D0-1517-4A45-BABA-A835BC90F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A6D6A3A-F515-46DB-BCCA-AF8F5B810048}"/>
              </a:ext>
            </a:extLst>
          </p:cNvPr>
          <p:cNvSpPr txBox="1">
            <a:spLocks/>
          </p:cNvSpPr>
          <p:nvPr/>
        </p:nvSpPr>
        <p:spPr>
          <a:xfrm>
            <a:off x="8583562" y="11621464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  <p:extLst>
      <p:ext uri="{BB962C8B-B14F-4D97-AF65-F5344CB8AC3E}">
        <p14:creationId xmlns:p14="http://schemas.microsoft.com/office/powerpoint/2010/main" val="1282094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48516-0BD9-4E6F-91F7-3662AF088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2881" y="1964265"/>
            <a:ext cx="17068377" cy="801237"/>
          </a:xfrm>
        </p:spPr>
        <p:txBody>
          <a:bodyPr>
            <a:normAutofit fontScale="90000"/>
          </a:bodyPr>
          <a:lstStyle/>
          <a:p>
            <a:r>
              <a:rPr lang="en-IN" sz="6000" dirty="0"/>
              <a:t>CFG Example 4: </a:t>
            </a:r>
            <a:r>
              <a:rPr lang="en-IN" sz="6000"/>
              <a:t>Balanced Parenthesis</a:t>
            </a: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18753-D0D5-418A-ABA7-9E2A0D599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2879" y="3278460"/>
            <a:ext cx="17068377" cy="5910146"/>
          </a:xfrm>
        </p:spPr>
        <p:txBody>
          <a:bodyPr>
            <a:normAutofit/>
          </a:bodyPr>
          <a:lstStyle/>
          <a:p>
            <a:r>
              <a:rPr lang="en-US" altLang="en-US" dirty="0"/>
              <a:t>Grammar </a:t>
            </a:r>
            <a:r>
              <a:rPr lang="en-US" altLang="en-US"/>
              <a:t>for balanced-parentheses </a:t>
            </a:r>
            <a:r>
              <a:rPr lang="en-US" altLang="en-US" dirty="0"/>
              <a:t>language</a:t>
            </a:r>
          </a:p>
          <a:p>
            <a:pPr lvl="1"/>
            <a:r>
              <a:rPr lang="en-US" altLang="en-US"/>
              <a:t>S </a:t>
            </a:r>
            <a:r>
              <a:rPr lang="en-US" altLang="en-US" dirty="0">
                <a:sym typeface="Wingdings" panose="05000000000000000000" pitchFamily="2" charset="2"/>
              </a:rPr>
              <a:t> </a:t>
            </a:r>
            <a:r>
              <a:rPr lang="en-US" altLang="en-US">
                <a:sym typeface="Wingdings" panose="05000000000000000000" pitchFamily="2" charset="2"/>
              </a:rPr>
              <a:t>( S ) S</a:t>
            </a:r>
            <a:endParaRPr lang="en-US" altLang="en-US" dirty="0">
              <a:sym typeface="Wingdings" panose="05000000000000000000" pitchFamily="2" charset="2"/>
            </a:endParaRPr>
          </a:p>
          <a:p>
            <a:pPr lvl="1"/>
            <a:r>
              <a:rPr lang="en-US" altLang="en-US">
                <a:sym typeface="Wingdings" panose="05000000000000000000" pitchFamily="2" charset="2"/>
              </a:rPr>
              <a:t>S </a:t>
            </a:r>
            <a:r>
              <a:rPr lang="en-US" altLang="en-US" dirty="0">
                <a:sym typeface="Wingdings" panose="05000000000000000000" pitchFamily="2" charset="2"/>
              </a:rPr>
              <a:t> </a:t>
            </a:r>
            <a:r>
              <a:rPr lang="en-US" altLang="en-US" sz="4235" dirty="0">
                <a:sym typeface="Symbol" panose="05050102010706020507" pitchFamily="18" charset="2"/>
              </a:rPr>
              <a:t></a:t>
            </a:r>
          </a:p>
          <a:p>
            <a:pPr lvl="2"/>
            <a:r>
              <a:rPr lang="en-US" altLang="en-US" sz="3529" dirty="0">
                <a:sym typeface="Symbol" panose="05050102010706020507" pitchFamily="18" charset="2"/>
              </a:rPr>
              <a:t>1 non-terminal</a:t>
            </a:r>
            <a:r>
              <a:rPr lang="en-US" altLang="en-US" sz="3529">
                <a:sym typeface="Symbol" panose="05050102010706020507" pitchFamily="18" charset="2"/>
              </a:rPr>
              <a:t>:  S</a:t>
            </a:r>
            <a:endParaRPr lang="en-US" altLang="en-US" sz="3529" dirty="0">
              <a:sym typeface="Symbol" panose="05050102010706020507" pitchFamily="18" charset="2"/>
            </a:endParaRPr>
          </a:p>
          <a:p>
            <a:pPr lvl="2"/>
            <a:r>
              <a:rPr lang="en-US" altLang="en-US" sz="3529">
                <a:sym typeface="Symbol" panose="05050102010706020507" pitchFamily="18" charset="2"/>
              </a:rPr>
              <a:t>2 terminals:  </a:t>
            </a:r>
            <a:r>
              <a:rPr lang="en-US" altLang="en-US" sz="3529" dirty="0">
                <a:sym typeface="Symbol" panose="05050102010706020507" pitchFamily="18" charset="2"/>
              </a:rPr>
              <a:t>“(”, “)”</a:t>
            </a:r>
          </a:p>
          <a:p>
            <a:pPr lvl="2"/>
            <a:r>
              <a:rPr lang="en-US" altLang="en-US" sz="3529">
                <a:sym typeface="Symbol" panose="05050102010706020507" pitchFamily="18" charset="2"/>
              </a:rPr>
              <a:t>Start symbol:  S</a:t>
            </a:r>
            <a:endParaRPr lang="en-US" altLang="en-US" sz="3529" dirty="0">
              <a:sym typeface="Symbol" panose="05050102010706020507" pitchFamily="18" charset="2"/>
            </a:endParaRPr>
          </a:p>
          <a:p>
            <a:pPr lvl="2"/>
            <a:r>
              <a:rPr lang="en-US" altLang="en-US" sz="3529">
                <a:sym typeface="Symbol" panose="05050102010706020507" pitchFamily="18" charset="2"/>
              </a:rPr>
              <a:t>2 productions</a:t>
            </a:r>
            <a:endParaRPr lang="en-US" altLang="en-US" sz="3529" dirty="0">
              <a:sym typeface="Symbol" panose="05050102010706020507" pitchFamily="18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769D0-1517-4A45-BABA-A835BC90F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5178CBF-872C-418D-8D96-04DAEA63C7CB}"/>
              </a:ext>
            </a:extLst>
          </p:cNvPr>
          <p:cNvSpPr txBox="1">
            <a:spLocks/>
          </p:cNvSpPr>
          <p:nvPr/>
        </p:nvSpPr>
        <p:spPr>
          <a:xfrm>
            <a:off x="8583562" y="11621464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  <p:extLst>
      <p:ext uri="{BB962C8B-B14F-4D97-AF65-F5344CB8AC3E}">
        <p14:creationId xmlns:p14="http://schemas.microsoft.com/office/powerpoint/2010/main" val="3599588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9D26C-8E77-429F-8624-7656815CE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2881" y="1964265"/>
            <a:ext cx="17068377" cy="1113472"/>
          </a:xfrm>
        </p:spPr>
        <p:txBody>
          <a:bodyPr>
            <a:normAutofit fontScale="90000"/>
          </a:bodyPr>
          <a:lstStyle/>
          <a:p>
            <a:r>
              <a:rPr lang="en-IN" dirty="0"/>
              <a:t>Derivation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CF141-89B3-4D4D-87E9-5F323F3FB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2879" y="3925229"/>
            <a:ext cx="17068377" cy="7826507"/>
          </a:xfrm>
        </p:spPr>
        <p:txBody>
          <a:bodyPr>
            <a:normAutofit fontScale="92500" lnSpcReduction="20000"/>
          </a:bodyPr>
          <a:lstStyle/>
          <a:p>
            <a:r>
              <a:rPr lang="en-IN"/>
              <a:t>What is </a:t>
            </a:r>
            <a:r>
              <a:rPr lang="en-IN" dirty="0"/>
              <a:t>Derivation ?</a:t>
            </a:r>
          </a:p>
          <a:p>
            <a:pPr lvl="1"/>
            <a:r>
              <a:rPr lang="en-IN"/>
              <a:t>Sequence of steps </a:t>
            </a:r>
            <a:endParaRPr lang="en-IN" dirty="0"/>
          </a:p>
          <a:p>
            <a:pPr lvl="1"/>
            <a:r>
              <a:rPr lang="en-IN"/>
              <a:t>Every step : choose </a:t>
            </a:r>
            <a:r>
              <a:rPr lang="en-IN" dirty="0"/>
              <a:t>production to expand a non-terminal </a:t>
            </a:r>
          </a:p>
          <a:p>
            <a:pPr lvl="1"/>
            <a:r>
              <a:rPr lang="en-IN" dirty="0"/>
              <a:t>Final Goal : derive </a:t>
            </a:r>
            <a:r>
              <a:rPr lang="en-IN"/>
              <a:t>a  string </a:t>
            </a:r>
            <a:r>
              <a:rPr lang="en-IN" dirty="0"/>
              <a:t>of </a:t>
            </a:r>
            <a:r>
              <a:rPr lang="en-IN"/>
              <a:t>Terminal tokens</a:t>
            </a:r>
            <a:endParaRPr lang="en-IN" dirty="0"/>
          </a:p>
          <a:p>
            <a:r>
              <a:rPr lang="en-US"/>
              <a:t>Two standard orders: </a:t>
            </a:r>
            <a:r>
              <a:rPr lang="en-US" dirty="0"/>
              <a:t>left </a:t>
            </a:r>
            <a:r>
              <a:rPr lang="en-US"/>
              <a:t>and right-most</a:t>
            </a:r>
            <a:endParaRPr lang="en-US" dirty="0"/>
          </a:p>
          <a:p>
            <a:r>
              <a:rPr lang="en-US"/>
              <a:t>Leftmost </a:t>
            </a:r>
            <a:r>
              <a:rPr lang="en-US" dirty="0"/>
              <a:t>derivation</a:t>
            </a:r>
          </a:p>
          <a:p>
            <a:pPr lvl="1"/>
            <a:r>
              <a:rPr lang="en-US" dirty="0"/>
              <a:t>In </a:t>
            </a:r>
            <a:r>
              <a:rPr lang="en-US"/>
              <a:t>the string</a:t>
            </a:r>
            <a:r>
              <a:rPr lang="en-US" dirty="0"/>
              <a:t>, find </a:t>
            </a:r>
            <a:r>
              <a:rPr lang="en-US"/>
              <a:t>the leftmost </a:t>
            </a:r>
            <a:r>
              <a:rPr lang="en-US" dirty="0"/>
              <a:t>non-terminal and apply a production to it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E</a:t>
            </a:r>
            <a:r>
              <a:rPr lang="en-US" dirty="0"/>
              <a:t> </a:t>
            </a:r>
            <a:r>
              <a:rPr lang="en-US"/>
              <a:t>+ S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</a:t>
            </a:r>
            <a:r>
              <a:rPr lang="en-US" sz="3600" b="1" dirty="0">
                <a:solidFill>
                  <a:srgbClr val="0070C0"/>
                </a:solidFill>
              </a:rPr>
              <a:t>1</a:t>
            </a:r>
            <a:r>
              <a:rPr lang="en-US" dirty="0"/>
              <a:t> </a:t>
            </a:r>
            <a:r>
              <a:rPr lang="en-US"/>
              <a:t>+ S</a:t>
            </a:r>
            <a:endParaRPr lang="en-US" dirty="0"/>
          </a:p>
          <a:p>
            <a:r>
              <a:rPr lang="en-US"/>
              <a:t>Rightmost </a:t>
            </a:r>
            <a:r>
              <a:rPr lang="en-US" dirty="0"/>
              <a:t>derivation</a:t>
            </a:r>
          </a:p>
          <a:p>
            <a:pPr lvl="1"/>
            <a:r>
              <a:rPr lang="en-US"/>
              <a:t>Same</a:t>
            </a:r>
            <a:r>
              <a:rPr lang="en-US" dirty="0"/>
              <a:t>, but </a:t>
            </a:r>
            <a:r>
              <a:rPr lang="en-US"/>
              <a:t>find rightmost </a:t>
            </a:r>
            <a:r>
              <a:rPr lang="en-US" dirty="0"/>
              <a:t>non-terminal	</a:t>
            </a:r>
          </a:p>
          <a:p>
            <a:pPr lvl="1"/>
            <a:r>
              <a:rPr lang="en-US" dirty="0"/>
              <a:t>E </a:t>
            </a:r>
            <a:r>
              <a:rPr lang="en-US"/>
              <a:t>+ </a:t>
            </a:r>
            <a:r>
              <a:rPr lang="en-US" sz="3600" b="1">
                <a:solidFill>
                  <a:srgbClr val="0070C0"/>
                </a:solidFill>
              </a:rPr>
              <a:t>S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E + </a:t>
            </a:r>
            <a:r>
              <a:rPr lang="en-US" sz="3600" b="1" dirty="0">
                <a:solidFill>
                  <a:srgbClr val="0070C0"/>
                </a:solidFill>
              </a:rPr>
              <a:t>E </a:t>
            </a:r>
            <a:r>
              <a:rPr lang="en-US" sz="3600" b="1">
                <a:solidFill>
                  <a:srgbClr val="0070C0"/>
                </a:solidFill>
              </a:rPr>
              <a:t>+ S</a:t>
            </a:r>
            <a:endParaRPr lang="en-US" sz="3600" b="1" dirty="0">
              <a:solidFill>
                <a:srgbClr val="0070C0"/>
              </a:solidFill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BF30E-D974-4754-9ACC-323908DE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8C0F440-D43A-416A-B98E-D1F7EABADE3D}"/>
              </a:ext>
            </a:extLst>
          </p:cNvPr>
          <p:cNvSpPr txBox="1">
            <a:spLocks/>
          </p:cNvSpPr>
          <p:nvPr/>
        </p:nvSpPr>
        <p:spPr>
          <a:xfrm>
            <a:off x="8583562" y="11621464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  <p:extLst>
      <p:ext uri="{BB962C8B-B14F-4D97-AF65-F5344CB8AC3E}">
        <p14:creationId xmlns:p14="http://schemas.microsoft.com/office/powerpoint/2010/main" val="2397280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362138F5-DB42-4C7C-8F2E-C210A42094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41187" y="1473573"/>
            <a:ext cx="13984941" cy="1086971"/>
          </a:xfrm>
        </p:spPr>
        <p:txBody>
          <a:bodyPr>
            <a:noAutofit/>
          </a:bodyPr>
          <a:lstStyle/>
          <a:p>
            <a:r>
              <a:rPr lang="en-US" altLang="en-US" sz="6000" dirty="0" err="1"/>
              <a:t>Leftmost|Rightmost</a:t>
            </a:r>
            <a:r>
              <a:rPr lang="en-US" altLang="en-US" sz="6000" dirty="0"/>
              <a:t> Derivation Examples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E9B24F8B-26E4-4A9B-82CB-E6FC2A9E1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2245" y="2667001"/>
            <a:ext cx="15733059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>
              <a:spcBef>
                <a:spcPct val="50000"/>
              </a:spcBef>
              <a:buClr>
                <a:srgbClr val="FF0000"/>
              </a:buClr>
              <a:buSzPct val="100000"/>
              <a:buFontTx/>
              <a:buChar char="»"/>
            </a:pPr>
            <a:r>
              <a:rPr lang="en-US" altLang="en-US" sz="3529"/>
              <a:t> S </a:t>
            </a:r>
            <a:r>
              <a:rPr lang="en-US" altLang="en-US" sz="3529" dirty="0">
                <a:sym typeface="Wingdings" panose="05000000000000000000" pitchFamily="2" charset="2"/>
              </a:rPr>
              <a:t> E </a:t>
            </a:r>
            <a:r>
              <a:rPr lang="en-US" altLang="en-US" sz="3529">
                <a:sym typeface="Wingdings" panose="05000000000000000000" pitchFamily="2" charset="2"/>
              </a:rPr>
              <a:t>+ S </a:t>
            </a:r>
            <a:r>
              <a:rPr lang="en-US" altLang="en-US" sz="3529" dirty="0">
                <a:sym typeface="Wingdings" panose="05000000000000000000" pitchFamily="2" charset="2"/>
              </a:rPr>
              <a:t>| E           </a:t>
            </a:r>
            <a:r>
              <a:rPr lang="en-US" altLang="en-US" sz="3529" dirty="0" err="1">
                <a:sym typeface="Wingdings" panose="05000000000000000000" pitchFamily="2" charset="2"/>
              </a:rPr>
              <a:t>E</a:t>
            </a:r>
            <a:r>
              <a:rPr lang="en-US" altLang="en-US" sz="3529" dirty="0">
                <a:sym typeface="Wingdings" panose="05000000000000000000" pitchFamily="2" charset="2"/>
              </a:rPr>
              <a:t>  number </a:t>
            </a:r>
            <a:r>
              <a:rPr lang="en-US" altLang="en-US" sz="3529">
                <a:sym typeface="Wingdings" panose="05000000000000000000" pitchFamily="2" charset="2"/>
              </a:rPr>
              <a:t>| (S)</a:t>
            </a:r>
            <a:r>
              <a:rPr lang="en-US" altLang="en-US" sz="4235">
                <a:sym typeface="Wingdings" panose="05000000000000000000" pitchFamily="2" charset="2"/>
              </a:rPr>
              <a:t>  </a:t>
            </a:r>
            <a:r>
              <a:rPr lang="en-US" altLang="en-US" sz="4235" dirty="0">
                <a:solidFill>
                  <a:srgbClr val="6666FF"/>
                </a:solidFill>
                <a:sym typeface="Wingdings" panose="05000000000000000000" pitchFamily="2" charset="2"/>
              </a:rPr>
              <a:t>derive: </a:t>
            </a:r>
            <a:r>
              <a:rPr lang="en-US" altLang="en-US" sz="4235" dirty="0">
                <a:sym typeface="Wingdings" panose="05000000000000000000" pitchFamily="2" charset="2"/>
              </a:rPr>
              <a:t>(1 + 2 + (3 + 4)) + 5</a:t>
            </a:r>
          </a:p>
        </p:txBody>
      </p:sp>
      <p:sp>
        <p:nvSpPr>
          <p:cNvPr id="620548" name="Text Box 4">
            <a:extLst>
              <a:ext uri="{FF2B5EF4-FFF2-40B4-BE49-F238E27FC236}">
                <a16:creationId xmlns:a16="http://schemas.microsoft.com/office/drawing/2014/main" id="{2F5BF2F9-07B1-456D-8049-8D65C5BE6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657" y="3997547"/>
            <a:ext cx="7261412" cy="8238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3529">
                <a:solidFill>
                  <a:schemeClr val="accent1"/>
                </a:solidFill>
              </a:rPr>
              <a:t>S </a:t>
            </a:r>
            <a:endParaRPr lang="en-US" altLang="en-US" sz="3529" dirty="0">
              <a:solidFill>
                <a:schemeClr val="accent1"/>
              </a:solidFill>
            </a:endParaRPr>
          </a:p>
          <a:p>
            <a:pPr marL="605116" indent="-605116">
              <a:buFont typeface="Wingdings" panose="05000000000000000000" pitchFamily="2" charset="2"/>
              <a:buChar char="à"/>
              <a:defRPr/>
            </a:pP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3529" b="1" dirty="0">
                <a:solidFill>
                  <a:srgbClr val="0070C0"/>
                </a:solidFill>
                <a:sym typeface="Wingdings" panose="05000000000000000000" pitchFamily="2" charset="2"/>
              </a:rPr>
              <a:t>E</a:t>
            </a: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                 </a:t>
            </a: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+ S </a:t>
            </a:r>
            <a:endParaRPr lang="en-US" altLang="en-US" sz="3529" dirty="0">
              <a:solidFill>
                <a:schemeClr val="accent1"/>
              </a:solidFill>
              <a:sym typeface="Wingdings" panose="05000000000000000000" pitchFamily="2" charset="2"/>
            </a:endParaRPr>
          </a:p>
          <a:p>
            <a:pPr marL="605116" indent="-605116">
              <a:buFont typeface="Wingdings" panose="05000000000000000000" pitchFamily="2" charset="2"/>
              <a:buChar char="à"/>
              <a:defRPr/>
            </a:pP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 (</a:t>
            </a:r>
            <a:r>
              <a:rPr lang="en-US" altLang="en-US" sz="3529" b="1">
                <a:solidFill>
                  <a:srgbClr val="0070C0"/>
                </a:solidFill>
                <a:sym typeface="Wingdings" panose="05000000000000000000" pitchFamily="2" charset="2"/>
              </a:rPr>
              <a:t>S</a:t>
            </a: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)               + S </a:t>
            </a:r>
            <a:endParaRPr lang="en-US" altLang="en-US" sz="3529" dirty="0">
              <a:solidFill>
                <a:schemeClr val="accent1"/>
              </a:solidFill>
              <a:sym typeface="Wingdings" panose="05000000000000000000" pitchFamily="2" charset="2"/>
            </a:endParaRPr>
          </a:p>
          <a:p>
            <a:pPr marL="605116" indent="-605116">
              <a:buFont typeface="Wingdings" panose="05000000000000000000" pitchFamily="2" charset="2"/>
              <a:buChar char="à"/>
              <a:defRPr/>
            </a:pP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 (</a:t>
            </a:r>
            <a:r>
              <a:rPr lang="en-US" altLang="en-US" sz="3529" b="1">
                <a:solidFill>
                  <a:srgbClr val="0070C0"/>
                </a:solidFill>
                <a:sym typeface="Wingdings" panose="05000000000000000000" pitchFamily="2" charset="2"/>
              </a:rPr>
              <a:t>E</a:t>
            </a: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+S)          + S </a:t>
            </a:r>
            <a:endParaRPr lang="en-US" altLang="en-US" sz="3529" dirty="0">
              <a:solidFill>
                <a:schemeClr val="accent1"/>
              </a:solidFill>
              <a:sym typeface="Wingdings" panose="05000000000000000000" pitchFamily="2" charset="2"/>
            </a:endParaRPr>
          </a:p>
          <a:p>
            <a:pPr marL="605116" indent="-605116">
              <a:buFont typeface="Wingdings" panose="05000000000000000000" pitchFamily="2" charset="2"/>
              <a:buChar char="à"/>
              <a:defRPr/>
            </a:pP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 (</a:t>
            </a: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1+</a:t>
            </a:r>
            <a:r>
              <a:rPr lang="en-US" altLang="en-US" sz="3529" b="1">
                <a:solidFill>
                  <a:srgbClr val="0070C0"/>
                </a:solidFill>
                <a:sym typeface="Wingdings" panose="05000000000000000000" pitchFamily="2" charset="2"/>
              </a:rPr>
              <a:t>S</a:t>
            </a: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)           + S </a:t>
            </a:r>
            <a:endParaRPr lang="en-US" altLang="en-US" sz="3529" dirty="0">
              <a:solidFill>
                <a:schemeClr val="accent1"/>
              </a:solidFill>
              <a:sym typeface="Wingdings" panose="05000000000000000000" pitchFamily="2" charset="2"/>
            </a:endParaRPr>
          </a:p>
          <a:p>
            <a:pPr marL="605116" indent="-605116">
              <a:buFont typeface="Wingdings" panose="05000000000000000000" pitchFamily="2" charset="2"/>
              <a:buChar char="à"/>
              <a:defRPr/>
            </a:pP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(1+</a:t>
            </a:r>
            <a:r>
              <a:rPr lang="en-US" altLang="en-US" sz="3529" b="1">
                <a:solidFill>
                  <a:srgbClr val="0070C0"/>
                </a:solidFill>
                <a:sym typeface="Wingdings" panose="05000000000000000000" pitchFamily="2" charset="2"/>
              </a:rPr>
              <a:t>E</a:t>
            </a: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+S)       + S </a:t>
            </a:r>
            <a:endParaRPr lang="en-US" altLang="en-US" sz="3529" dirty="0">
              <a:solidFill>
                <a:schemeClr val="accent1"/>
              </a:solidFill>
              <a:sym typeface="Wingdings" panose="05000000000000000000" pitchFamily="2" charset="2"/>
            </a:endParaRPr>
          </a:p>
          <a:p>
            <a:pPr marL="605116" indent="-605116">
              <a:buFont typeface="Wingdings" panose="05000000000000000000" pitchFamily="2" charset="2"/>
              <a:buChar char="à"/>
              <a:defRPr/>
            </a:pP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(</a:t>
            </a: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1+2+</a:t>
            </a:r>
            <a:r>
              <a:rPr lang="en-US" altLang="en-US" sz="3529" b="1">
                <a:solidFill>
                  <a:srgbClr val="0070C0"/>
                </a:solidFill>
                <a:sym typeface="Wingdings" panose="05000000000000000000" pitchFamily="2" charset="2"/>
              </a:rPr>
              <a:t>S</a:t>
            </a: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)       + S </a:t>
            </a:r>
            <a:endParaRPr lang="en-US" altLang="en-US" sz="3529" dirty="0">
              <a:solidFill>
                <a:schemeClr val="accent1"/>
              </a:solidFill>
              <a:sym typeface="Wingdings" panose="05000000000000000000" pitchFamily="2" charset="2"/>
            </a:endParaRPr>
          </a:p>
          <a:p>
            <a:pPr marL="605116" indent="-605116">
              <a:buFont typeface="Wingdings" panose="05000000000000000000" pitchFamily="2" charset="2"/>
              <a:buChar char="à"/>
              <a:defRPr/>
            </a:pP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(1+2+</a:t>
            </a:r>
            <a:r>
              <a:rPr lang="en-US" altLang="en-US" sz="3529" b="1" dirty="0">
                <a:solidFill>
                  <a:srgbClr val="0070C0"/>
                </a:solidFill>
                <a:sym typeface="Wingdings" panose="05000000000000000000" pitchFamily="2" charset="2"/>
              </a:rPr>
              <a:t>E</a:t>
            </a: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)       </a:t>
            </a: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+ S </a:t>
            </a:r>
            <a:endParaRPr lang="en-US" altLang="en-US" sz="3529" dirty="0">
              <a:solidFill>
                <a:schemeClr val="accent1"/>
              </a:solidFill>
              <a:sym typeface="Wingdings" panose="05000000000000000000" pitchFamily="2" charset="2"/>
            </a:endParaRPr>
          </a:p>
          <a:p>
            <a:pPr marL="605116" indent="-605116">
              <a:buFont typeface="Wingdings" panose="05000000000000000000" pitchFamily="2" charset="2"/>
              <a:buChar char="à"/>
              <a:defRPr/>
            </a:pP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(</a:t>
            </a: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1+2+(</a:t>
            </a:r>
            <a:r>
              <a:rPr lang="en-US" altLang="en-US" sz="3529" b="1">
                <a:solidFill>
                  <a:srgbClr val="0070C0"/>
                </a:solidFill>
                <a:sym typeface="Wingdings" panose="05000000000000000000" pitchFamily="2" charset="2"/>
              </a:rPr>
              <a:t>S</a:t>
            </a: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))     + S </a:t>
            </a:r>
            <a:endParaRPr lang="en-US" altLang="en-US" sz="3529" dirty="0">
              <a:solidFill>
                <a:schemeClr val="accent1"/>
              </a:solidFill>
              <a:sym typeface="Wingdings" panose="05000000000000000000" pitchFamily="2" charset="2"/>
            </a:endParaRPr>
          </a:p>
          <a:p>
            <a:pPr marL="605116" indent="-605116">
              <a:buFont typeface="Wingdings" panose="05000000000000000000" pitchFamily="2" charset="2"/>
              <a:buChar char="à"/>
              <a:defRPr/>
            </a:pP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(1+2+(</a:t>
            </a:r>
            <a:r>
              <a:rPr lang="en-US" altLang="en-US" sz="3529" b="1">
                <a:solidFill>
                  <a:srgbClr val="0070C0"/>
                </a:solidFill>
                <a:sym typeface="Wingdings" panose="05000000000000000000" pitchFamily="2" charset="2"/>
              </a:rPr>
              <a:t>E</a:t>
            </a: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+S)) + S </a:t>
            </a:r>
            <a:endParaRPr lang="en-US" altLang="en-US" sz="3529" dirty="0">
              <a:solidFill>
                <a:schemeClr val="accent1"/>
              </a:solidFill>
              <a:sym typeface="Wingdings" panose="05000000000000000000" pitchFamily="2" charset="2"/>
            </a:endParaRPr>
          </a:p>
          <a:p>
            <a:pPr marL="605116" indent="-605116">
              <a:buFont typeface="Wingdings" panose="05000000000000000000" pitchFamily="2" charset="2"/>
              <a:buChar char="à"/>
              <a:defRPr/>
            </a:pP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(1+2+(</a:t>
            </a: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3+</a:t>
            </a:r>
            <a:r>
              <a:rPr lang="en-US" altLang="en-US" sz="3529" b="1">
                <a:solidFill>
                  <a:srgbClr val="0070C0"/>
                </a:solidFill>
                <a:sym typeface="Wingdings" panose="05000000000000000000" pitchFamily="2" charset="2"/>
              </a:rPr>
              <a:t>S)) </a:t>
            </a: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+ S</a:t>
            </a:r>
            <a:endParaRPr lang="en-US" altLang="en-US" sz="3529" dirty="0">
              <a:solidFill>
                <a:schemeClr val="accent1"/>
              </a:solidFill>
              <a:sym typeface="Wingdings" panose="05000000000000000000" pitchFamily="2" charset="2"/>
            </a:endParaRPr>
          </a:p>
          <a:p>
            <a:pPr marL="605116" indent="-605116">
              <a:buFont typeface="Wingdings" panose="05000000000000000000" pitchFamily="2" charset="2"/>
              <a:buChar char="à"/>
              <a:defRPr/>
            </a:pP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(1+2+(3+</a:t>
            </a:r>
            <a:r>
              <a:rPr lang="en-US" altLang="en-US" sz="3529" b="1" dirty="0">
                <a:solidFill>
                  <a:srgbClr val="0070C0"/>
                </a:solidFill>
                <a:sym typeface="Wingdings" panose="05000000000000000000" pitchFamily="2" charset="2"/>
              </a:rPr>
              <a:t>E</a:t>
            </a: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)) </a:t>
            </a: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+ S </a:t>
            </a:r>
            <a:endParaRPr lang="en-US" altLang="en-US" sz="3529" dirty="0">
              <a:solidFill>
                <a:schemeClr val="accent1"/>
              </a:solidFill>
              <a:sym typeface="Wingdings" panose="05000000000000000000" pitchFamily="2" charset="2"/>
            </a:endParaRPr>
          </a:p>
          <a:p>
            <a:pPr marL="605116" indent="-605116">
              <a:buFont typeface="Wingdings" panose="05000000000000000000" pitchFamily="2" charset="2"/>
              <a:buChar char="à"/>
              <a:defRPr/>
            </a:pP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(1+2+(3+ 4)) </a:t>
            </a: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+ </a:t>
            </a:r>
            <a:r>
              <a:rPr lang="en-US" altLang="en-US" sz="3529" b="1">
                <a:solidFill>
                  <a:srgbClr val="0070C0"/>
                </a:solidFill>
                <a:sym typeface="Wingdings" panose="05000000000000000000" pitchFamily="2" charset="2"/>
              </a:rPr>
              <a:t>S</a:t>
            </a: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 </a:t>
            </a:r>
            <a:endParaRPr lang="en-US" altLang="en-US" sz="3529" dirty="0">
              <a:solidFill>
                <a:schemeClr val="accent1"/>
              </a:solidFill>
              <a:sym typeface="Wingdings" panose="05000000000000000000" pitchFamily="2" charset="2"/>
            </a:endParaRPr>
          </a:p>
          <a:p>
            <a:pPr marL="605116" indent="-605116">
              <a:buFont typeface="Wingdings" panose="05000000000000000000" pitchFamily="2" charset="2"/>
              <a:buChar char="à"/>
              <a:defRPr/>
            </a:pP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(1+2+(3+4))  + </a:t>
            </a:r>
            <a:r>
              <a:rPr lang="en-US" altLang="en-US" sz="3529" b="1" dirty="0">
                <a:solidFill>
                  <a:srgbClr val="0070C0"/>
                </a:solidFill>
                <a:sym typeface="Wingdings" panose="05000000000000000000" pitchFamily="2" charset="2"/>
              </a:rPr>
              <a:t>E</a:t>
            </a: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 </a:t>
            </a:r>
          </a:p>
          <a:p>
            <a:pPr marL="605116" indent="-605116">
              <a:buFont typeface="Wingdings" panose="05000000000000000000" pitchFamily="2" charset="2"/>
              <a:buChar char="à"/>
              <a:defRPr/>
            </a:pP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(1+2+(3+4))  + 5 </a:t>
            </a:r>
            <a:endParaRPr lang="en-US" altLang="en-US" sz="3529" dirty="0">
              <a:solidFill>
                <a:schemeClr val="accent1"/>
              </a:solidFill>
            </a:endParaRPr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5C05EB29-C216-4DA1-A7FA-C35395928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40848" y="3286127"/>
            <a:ext cx="5647765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19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>
              <a:spcBef>
                <a:spcPct val="50000"/>
              </a:spcBef>
              <a:buClr>
                <a:srgbClr val="FF0000"/>
              </a:buClr>
              <a:buSzPct val="100000"/>
            </a:pPr>
            <a:r>
              <a:rPr lang="en-US" altLang="en-US" sz="3529" b="1">
                <a:solidFill>
                  <a:srgbClr val="0070C0"/>
                </a:solidFill>
                <a:latin typeface="+mn-lt"/>
                <a:sym typeface="Wingdings" panose="05000000000000000000" pitchFamily="2" charset="2"/>
              </a:rPr>
              <a:t> right-most </a:t>
            </a:r>
            <a:r>
              <a:rPr lang="en-US" altLang="en-US" sz="4235" dirty="0">
                <a:sym typeface="Wingdings" panose="05000000000000000000" pitchFamily="2" charset="2"/>
              </a:rPr>
              <a:t>derivation</a:t>
            </a:r>
          </a:p>
        </p:txBody>
      </p:sp>
      <p:sp>
        <p:nvSpPr>
          <p:cNvPr id="620551" name="Text Box 7">
            <a:extLst>
              <a:ext uri="{FF2B5EF4-FFF2-40B4-BE49-F238E27FC236}">
                <a16:creationId xmlns:a16="http://schemas.microsoft.com/office/drawing/2014/main" id="{4BCD867E-01F1-4D19-8DC1-F3841CB9A5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3614" y="3905251"/>
            <a:ext cx="6687111" cy="8238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3529">
                <a:solidFill>
                  <a:schemeClr val="accent1"/>
                </a:solidFill>
              </a:rPr>
              <a:t>S </a:t>
            </a:r>
            <a:endParaRPr lang="en-US" altLang="en-US" sz="3529" dirty="0">
              <a:solidFill>
                <a:schemeClr val="accent1"/>
              </a:solidFill>
            </a:endParaRPr>
          </a:p>
          <a:p>
            <a:pPr marL="605116" indent="-605116">
              <a:buFont typeface="Wingdings" panose="05000000000000000000" pitchFamily="2" charset="2"/>
              <a:buChar char="à"/>
              <a:defRPr/>
            </a:pP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E                    </a:t>
            </a: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+ </a:t>
            </a:r>
            <a:r>
              <a:rPr lang="en-US" altLang="en-US" sz="3529" b="1">
                <a:solidFill>
                  <a:srgbClr val="0070C0"/>
                </a:solidFill>
                <a:sym typeface="Wingdings" panose="05000000000000000000" pitchFamily="2" charset="2"/>
              </a:rPr>
              <a:t>S</a:t>
            </a: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 </a:t>
            </a:r>
            <a:endParaRPr lang="en-US" altLang="en-US" sz="3529" dirty="0">
              <a:solidFill>
                <a:schemeClr val="accent1"/>
              </a:solidFill>
              <a:sym typeface="Wingdings" panose="05000000000000000000" pitchFamily="2" charset="2"/>
            </a:endParaRPr>
          </a:p>
          <a:p>
            <a:pPr marL="605116" indent="-605116">
              <a:buFont typeface="Wingdings" panose="05000000000000000000" pitchFamily="2" charset="2"/>
              <a:buChar char="à"/>
              <a:defRPr/>
            </a:pP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E                     + </a:t>
            </a:r>
            <a:r>
              <a:rPr lang="en-US" altLang="en-US" sz="3529" b="1" dirty="0">
                <a:solidFill>
                  <a:srgbClr val="0070C0"/>
                </a:solidFill>
                <a:sym typeface="Wingdings" panose="05000000000000000000" pitchFamily="2" charset="2"/>
              </a:rPr>
              <a:t>E</a:t>
            </a: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 </a:t>
            </a:r>
          </a:p>
          <a:p>
            <a:pPr marL="605116" indent="-605116">
              <a:buFont typeface="Wingdings" panose="05000000000000000000" pitchFamily="2" charset="2"/>
              <a:buChar char="à"/>
              <a:defRPr/>
            </a:pPr>
            <a:r>
              <a:rPr lang="en-US" altLang="en-US" sz="3529" b="1" dirty="0">
                <a:solidFill>
                  <a:srgbClr val="0070C0"/>
                </a:solidFill>
                <a:sym typeface="Wingdings" panose="05000000000000000000" pitchFamily="2" charset="2"/>
              </a:rPr>
              <a:t>E </a:t>
            </a: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                    + 5 </a:t>
            </a:r>
          </a:p>
          <a:p>
            <a:pPr marL="605116" indent="-605116">
              <a:buFont typeface="Wingdings" panose="05000000000000000000" pitchFamily="2" charset="2"/>
              <a:buChar char="à"/>
              <a:defRPr/>
            </a:pP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(</a:t>
            </a:r>
            <a:r>
              <a:rPr lang="en-US" altLang="en-US" sz="3529" b="1">
                <a:solidFill>
                  <a:srgbClr val="0070C0"/>
                </a:solidFill>
                <a:sym typeface="Wingdings" panose="05000000000000000000" pitchFamily="2" charset="2"/>
              </a:rPr>
              <a:t>S</a:t>
            </a: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)                   </a:t>
            </a: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+ 5 </a:t>
            </a:r>
          </a:p>
          <a:p>
            <a:pPr marL="605116" indent="-605116">
              <a:buFont typeface="Wingdings" panose="05000000000000000000" pitchFamily="2" charset="2"/>
              <a:buChar char="à"/>
              <a:defRPr/>
            </a:pP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(</a:t>
            </a: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E+</a:t>
            </a:r>
            <a:r>
              <a:rPr lang="en-US" altLang="en-US" sz="3529" b="1">
                <a:solidFill>
                  <a:srgbClr val="0070C0"/>
                </a:solidFill>
                <a:sym typeface="Wingdings" panose="05000000000000000000" pitchFamily="2" charset="2"/>
              </a:rPr>
              <a:t>S</a:t>
            </a: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)              </a:t>
            </a: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+ 5 </a:t>
            </a:r>
          </a:p>
          <a:p>
            <a:pPr marL="605116" indent="-605116">
              <a:buFont typeface="Wingdings" panose="05000000000000000000" pitchFamily="2" charset="2"/>
              <a:buChar char="à"/>
              <a:defRPr/>
            </a:pP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(E+</a:t>
            </a: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E+</a:t>
            </a:r>
            <a:r>
              <a:rPr lang="en-US" altLang="en-US" sz="3529" b="1">
                <a:solidFill>
                  <a:srgbClr val="0070C0"/>
                </a:solidFill>
                <a:sym typeface="Wingdings" panose="05000000000000000000" pitchFamily="2" charset="2"/>
              </a:rPr>
              <a:t>S</a:t>
            </a: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)         </a:t>
            </a: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+ 5 </a:t>
            </a:r>
          </a:p>
          <a:p>
            <a:pPr marL="605116" indent="-605116">
              <a:buFont typeface="Wingdings" panose="05000000000000000000" pitchFamily="2" charset="2"/>
              <a:buChar char="à"/>
              <a:defRPr/>
            </a:pP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(E+E+</a:t>
            </a:r>
            <a:r>
              <a:rPr lang="en-US" altLang="en-US" sz="3529" b="1" dirty="0">
                <a:solidFill>
                  <a:srgbClr val="0070C0"/>
                </a:solidFill>
                <a:sym typeface="Wingdings" panose="05000000000000000000" pitchFamily="2" charset="2"/>
              </a:rPr>
              <a:t>E</a:t>
            </a: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)         + 5 </a:t>
            </a:r>
          </a:p>
          <a:p>
            <a:pPr marL="605116" indent="-605116">
              <a:buFont typeface="Wingdings" panose="05000000000000000000" pitchFamily="2" charset="2"/>
              <a:buChar char="à"/>
              <a:defRPr/>
            </a:pP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(E+</a:t>
            </a: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E+(</a:t>
            </a:r>
            <a:r>
              <a:rPr lang="en-US" altLang="en-US" sz="3529" b="1">
                <a:solidFill>
                  <a:srgbClr val="0070C0"/>
                </a:solidFill>
                <a:sym typeface="Wingdings" panose="05000000000000000000" pitchFamily="2" charset="2"/>
              </a:rPr>
              <a:t>S</a:t>
            </a: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))       </a:t>
            </a: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+ 5 </a:t>
            </a:r>
          </a:p>
          <a:p>
            <a:pPr marL="605116" indent="-605116">
              <a:buFont typeface="Wingdings" panose="05000000000000000000" pitchFamily="2" charset="2"/>
              <a:buChar char="à"/>
              <a:defRPr/>
            </a:pP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(E+E+(</a:t>
            </a: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E+</a:t>
            </a:r>
            <a:r>
              <a:rPr lang="en-US" altLang="en-US" sz="3529" b="1">
                <a:solidFill>
                  <a:srgbClr val="0070C0"/>
                </a:solidFill>
                <a:sym typeface="Wingdings" panose="05000000000000000000" pitchFamily="2" charset="2"/>
              </a:rPr>
              <a:t>S</a:t>
            </a:r>
            <a:r>
              <a:rPr lang="en-US" altLang="en-US" sz="3529">
                <a:solidFill>
                  <a:schemeClr val="accent1"/>
                </a:solidFill>
                <a:sym typeface="Wingdings" panose="05000000000000000000" pitchFamily="2" charset="2"/>
              </a:rPr>
              <a:t>))  </a:t>
            </a: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+ 5 </a:t>
            </a:r>
          </a:p>
          <a:p>
            <a:pPr marL="605116" indent="-605116">
              <a:buFont typeface="Wingdings" panose="05000000000000000000" pitchFamily="2" charset="2"/>
              <a:buChar char="à"/>
              <a:defRPr/>
            </a:pP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 (E+E+(E+</a:t>
            </a:r>
            <a:r>
              <a:rPr lang="en-US" altLang="en-US" sz="3529" b="1" dirty="0">
                <a:solidFill>
                  <a:srgbClr val="0070C0"/>
                </a:solidFill>
                <a:sym typeface="Wingdings" panose="05000000000000000000" pitchFamily="2" charset="2"/>
              </a:rPr>
              <a:t>E</a:t>
            </a: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)) + 5 </a:t>
            </a:r>
          </a:p>
          <a:p>
            <a:pPr marL="605116" indent="-605116">
              <a:buFont typeface="Wingdings" panose="05000000000000000000" pitchFamily="2" charset="2"/>
              <a:buChar char="à"/>
              <a:defRPr/>
            </a:pP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 (E+E+(</a:t>
            </a:r>
            <a:r>
              <a:rPr lang="en-US" altLang="en-US" sz="3529" b="1" dirty="0">
                <a:solidFill>
                  <a:srgbClr val="0070C0"/>
                </a:solidFill>
                <a:sym typeface="Wingdings" panose="05000000000000000000" pitchFamily="2" charset="2"/>
              </a:rPr>
              <a:t>E</a:t>
            </a: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+4)) + 5 </a:t>
            </a:r>
          </a:p>
          <a:p>
            <a:pPr marL="605116" indent="-605116">
              <a:buFont typeface="Wingdings" panose="05000000000000000000" pitchFamily="2" charset="2"/>
              <a:buChar char="à"/>
              <a:defRPr/>
            </a:pP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 (E+</a:t>
            </a:r>
            <a:r>
              <a:rPr lang="en-US" altLang="en-US" sz="3529" b="1" dirty="0">
                <a:solidFill>
                  <a:srgbClr val="0070C0"/>
                </a:solidFill>
                <a:sym typeface="Wingdings" panose="05000000000000000000" pitchFamily="2" charset="2"/>
              </a:rPr>
              <a:t>E</a:t>
            </a: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+(3+4))  + 5 </a:t>
            </a:r>
          </a:p>
          <a:p>
            <a:pPr marL="605116" indent="-605116">
              <a:buFont typeface="Wingdings" panose="05000000000000000000" pitchFamily="2" charset="2"/>
              <a:buChar char="à"/>
              <a:defRPr/>
            </a:pP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 (</a:t>
            </a:r>
            <a:r>
              <a:rPr lang="en-US" altLang="en-US" sz="3529" b="1" dirty="0">
                <a:solidFill>
                  <a:srgbClr val="0070C0"/>
                </a:solidFill>
                <a:sym typeface="Wingdings" panose="05000000000000000000" pitchFamily="2" charset="2"/>
              </a:rPr>
              <a:t>E</a:t>
            </a: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+2+(3+4))  + 5 </a:t>
            </a:r>
          </a:p>
          <a:p>
            <a:pPr marL="605116" indent="-605116">
              <a:buFont typeface="Wingdings" panose="05000000000000000000" pitchFamily="2" charset="2"/>
              <a:buChar char="à"/>
              <a:defRPr/>
            </a:pPr>
            <a:r>
              <a:rPr lang="en-US" altLang="en-US" sz="3529" dirty="0">
                <a:solidFill>
                  <a:schemeClr val="accent1"/>
                </a:solidFill>
                <a:sym typeface="Wingdings" panose="05000000000000000000" pitchFamily="2" charset="2"/>
              </a:rPr>
              <a:t>(1+2+(3+4))   + 5</a:t>
            </a:r>
            <a:endParaRPr lang="en-US" altLang="en-US" sz="3529" dirty="0">
              <a:solidFill>
                <a:schemeClr val="accent1"/>
              </a:solidFill>
            </a:endParaRPr>
          </a:p>
        </p:txBody>
      </p:sp>
      <p:sp>
        <p:nvSpPr>
          <p:cNvPr id="22535" name="Rectangle 5">
            <a:extLst>
              <a:ext uri="{FF2B5EF4-FFF2-40B4-BE49-F238E27FC236}">
                <a16:creationId xmlns:a16="http://schemas.microsoft.com/office/drawing/2014/main" id="{68FB6254-6C98-4815-8721-C51EDE679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7959" y="3302936"/>
            <a:ext cx="4975412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19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>
              <a:spcBef>
                <a:spcPct val="50000"/>
              </a:spcBef>
              <a:buClr>
                <a:srgbClr val="FF0000"/>
              </a:buClr>
              <a:buSzPct val="100000"/>
            </a:pPr>
            <a:r>
              <a:rPr lang="en-US" altLang="en-US" sz="3529" b="1">
                <a:solidFill>
                  <a:srgbClr val="0070C0"/>
                </a:solidFill>
                <a:latin typeface="+mn-lt"/>
                <a:sym typeface="Wingdings" panose="05000000000000000000" pitchFamily="2" charset="2"/>
              </a:rPr>
              <a:t> left-most </a:t>
            </a:r>
            <a:r>
              <a:rPr lang="en-US" altLang="en-US" sz="4235" dirty="0">
                <a:sym typeface="Wingdings" panose="05000000000000000000" pitchFamily="2" charset="2"/>
              </a:rPr>
              <a:t>derivation</a:t>
            </a:r>
          </a:p>
        </p:txBody>
      </p:sp>
      <p:sp>
        <p:nvSpPr>
          <p:cNvPr id="22536" name="Text Box 6">
            <a:extLst>
              <a:ext uri="{FF2B5EF4-FFF2-40B4-BE49-F238E27FC236}">
                <a16:creationId xmlns:a16="http://schemas.microsoft.com/office/drawing/2014/main" id="{80EFB859-EF54-4336-8B34-E216C3384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3413" y="11914883"/>
            <a:ext cx="14747755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>
                <a:solidFill>
                  <a:srgbClr val="FF0000"/>
                </a:solidFill>
              </a:rPr>
              <a:t>Result: Same parse </a:t>
            </a:r>
            <a:r>
              <a:rPr lang="en-US" altLang="en-US" sz="4235" dirty="0">
                <a:solidFill>
                  <a:srgbClr val="FF0000"/>
                </a:solidFill>
              </a:rPr>
              <a:t>tree</a:t>
            </a:r>
            <a:r>
              <a:rPr lang="en-US" altLang="en-US" sz="4235">
                <a:solidFill>
                  <a:srgbClr val="FF0000"/>
                </a:solidFill>
              </a:rPr>
              <a:t>: same productions chosen</a:t>
            </a:r>
            <a:r>
              <a:rPr lang="en-US" altLang="en-US" sz="4235" dirty="0">
                <a:solidFill>
                  <a:srgbClr val="FF0000"/>
                </a:solidFill>
              </a:rPr>
              <a:t>, but in diff order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9B4BA7-718C-4254-AE4C-53B5BF75548E}"/>
              </a:ext>
            </a:extLst>
          </p:cNvPr>
          <p:cNvSpPr/>
          <p:nvPr/>
        </p:nvSpPr>
        <p:spPr>
          <a:xfrm>
            <a:off x="3113413" y="3411051"/>
            <a:ext cx="5647765" cy="87329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C279A7-BA94-4839-8457-0A237E0351D0}"/>
              </a:ext>
            </a:extLst>
          </p:cNvPr>
          <p:cNvSpPr/>
          <p:nvPr/>
        </p:nvSpPr>
        <p:spPr>
          <a:xfrm>
            <a:off x="11475807" y="3390363"/>
            <a:ext cx="5647765" cy="87329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9D26C-8E77-429F-8624-7656815CE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Ambiguous </a:t>
            </a:r>
            <a:r>
              <a:rPr lang="en-IN" dirty="0"/>
              <a:t>Grammar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CF141-89B3-4D4D-87E9-5F323F3FB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solidFill>
                  <a:srgbClr val="6666FF"/>
                </a:solidFill>
              </a:rPr>
              <a:t>Ambiguous </a:t>
            </a:r>
            <a:r>
              <a:rPr lang="en-US" altLang="en-US" dirty="0">
                <a:solidFill>
                  <a:srgbClr val="6666FF"/>
                </a:solidFill>
              </a:rPr>
              <a:t>grammar </a:t>
            </a:r>
            <a:r>
              <a:rPr lang="en-US" altLang="en-US" dirty="0"/>
              <a:t>= </a:t>
            </a:r>
            <a:r>
              <a:rPr lang="en-US" altLang="en-US"/>
              <a:t>different derivations </a:t>
            </a:r>
            <a:r>
              <a:rPr lang="en-US" altLang="en-US" dirty="0"/>
              <a:t>produce </a:t>
            </a:r>
            <a:r>
              <a:rPr lang="en-US" altLang="en-US"/>
              <a:t>different parse trees</a:t>
            </a:r>
            <a:endParaRPr lang="en-US" altLang="en-US" dirty="0"/>
          </a:p>
          <a:p>
            <a:r>
              <a:rPr lang="en-US" altLang="en-US"/>
              <a:t>More specifically</a:t>
            </a:r>
            <a:r>
              <a:rPr lang="en-US" altLang="en-US" dirty="0"/>
              <a:t>, </a:t>
            </a:r>
            <a:r>
              <a:rPr lang="en-US" altLang="en-US"/>
              <a:t>G is ambiguous </a:t>
            </a:r>
            <a:r>
              <a:rPr lang="en-US" altLang="en-US" dirty="0"/>
              <a:t>if there are </a:t>
            </a:r>
            <a:r>
              <a:rPr lang="en-US" altLang="en-US"/>
              <a:t>2 distinct leftmost (rightmost) derivations for some sentence</a:t>
            </a:r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BF30E-D974-4754-9ACC-323908DE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85E22E7-DD43-427A-9C64-A6203F3B6AED}"/>
              </a:ext>
            </a:extLst>
          </p:cNvPr>
          <p:cNvSpPr txBox="1">
            <a:spLocks/>
          </p:cNvSpPr>
          <p:nvPr/>
        </p:nvSpPr>
        <p:spPr>
          <a:xfrm>
            <a:off x="8583562" y="11621464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  <p:extLst>
      <p:ext uri="{BB962C8B-B14F-4D97-AF65-F5344CB8AC3E}">
        <p14:creationId xmlns:p14="http://schemas.microsoft.com/office/powerpoint/2010/main" val="4222884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B99DFCF-DC79-43BD-976A-2590925318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02881" y="1964265"/>
            <a:ext cx="17068377" cy="662374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Ambiguous </a:t>
            </a:r>
            <a:r>
              <a:rPr lang="en-US" altLang="en-US" dirty="0"/>
              <a:t>Grammar - Example</a:t>
            </a:r>
          </a:p>
        </p:txBody>
      </p:sp>
      <p:sp>
        <p:nvSpPr>
          <p:cNvPr id="24579" name="Text Box 3">
            <a:extLst>
              <a:ext uri="{FF2B5EF4-FFF2-40B4-BE49-F238E27FC236}">
                <a16:creationId xmlns:a16="http://schemas.microsoft.com/office/drawing/2014/main" id="{194A4041-0882-4435-84CB-A24FC5C8E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2952" y="2823883"/>
            <a:ext cx="6160661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 dirty="0"/>
              <a:t>E </a:t>
            </a:r>
            <a:r>
              <a:rPr lang="en-US" altLang="en-US" sz="4235" dirty="0">
                <a:sym typeface="Wingdings" panose="05000000000000000000" pitchFamily="2" charset="2"/>
              </a:rPr>
              <a:t> E + E | E * E | number</a:t>
            </a:r>
            <a:endParaRPr lang="en-US" altLang="en-US" sz="4235" dirty="0"/>
          </a:p>
        </p:txBody>
      </p:sp>
      <p:sp>
        <p:nvSpPr>
          <p:cNvPr id="24580" name="Text Box 4">
            <a:extLst>
              <a:ext uri="{FF2B5EF4-FFF2-40B4-BE49-F238E27FC236}">
                <a16:creationId xmlns:a16="http://schemas.microsoft.com/office/drawing/2014/main" id="{66A22DBD-E294-4300-96EA-0A20A6470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0600" y="3765177"/>
            <a:ext cx="7755649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 dirty="0"/>
              <a:t>Consider the expression:  1 + 2 * 3</a:t>
            </a:r>
          </a:p>
        </p:txBody>
      </p:sp>
      <p:sp>
        <p:nvSpPr>
          <p:cNvPr id="24581" name="Text Box 5">
            <a:extLst>
              <a:ext uri="{FF2B5EF4-FFF2-40B4-BE49-F238E27FC236}">
                <a16:creationId xmlns:a16="http://schemas.microsoft.com/office/drawing/2014/main" id="{7D158C96-281F-4634-BC63-418D48908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658" y="5109882"/>
            <a:ext cx="6272871" cy="2047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 dirty="0"/>
              <a:t>Derivation 1: E </a:t>
            </a:r>
            <a:r>
              <a:rPr lang="en-US" altLang="en-US" sz="4235" dirty="0">
                <a:sym typeface="Wingdings" panose="05000000000000000000" pitchFamily="2" charset="2"/>
              </a:rPr>
              <a:t> </a:t>
            </a:r>
            <a:r>
              <a:rPr lang="en-US" altLang="en-US" sz="4235" dirty="0">
                <a:solidFill>
                  <a:srgbClr val="0070C0"/>
                </a:solidFill>
                <a:sym typeface="Wingdings" panose="05000000000000000000" pitchFamily="2" charset="2"/>
              </a:rPr>
              <a:t>E</a:t>
            </a:r>
            <a:r>
              <a:rPr lang="en-US" altLang="en-US" sz="4235" dirty="0">
                <a:sym typeface="Wingdings" panose="05000000000000000000" pitchFamily="2" charset="2"/>
              </a:rPr>
              <a:t>+E </a:t>
            </a:r>
          </a:p>
          <a:p>
            <a:r>
              <a:rPr lang="en-US" altLang="en-US" sz="4235" dirty="0">
                <a:sym typeface="Wingdings" panose="05000000000000000000" pitchFamily="2" charset="2"/>
              </a:rPr>
              <a:t>1+</a:t>
            </a:r>
            <a:r>
              <a:rPr lang="en-US" altLang="en-US" sz="4235" dirty="0">
                <a:solidFill>
                  <a:srgbClr val="0070C0"/>
                </a:solidFill>
                <a:sym typeface="Wingdings" panose="05000000000000000000" pitchFamily="2" charset="2"/>
              </a:rPr>
              <a:t>E</a:t>
            </a:r>
            <a:r>
              <a:rPr lang="en-US" altLang="en-US" sz="4235" dirty="0">
                <a:sym typeface="Wingdings" panose="05000000000000000000" pitchFamily="2" charset="2"/>
              </a:rPr>
              <a:t>  1+</a:t>
            </a:r>
            <a:r>
              <a:rPr lang="en-US" altLang="en-US" sz="4235" dirty="0">
                <a:solidFill>
                  <a:srgbClr val="0070C0"/>
                </a:solidFill>
                <a:sym typeface="Wingdings" panose="05000000000000000000" pitchFamily="2" charset="2"/>
              </a:rPr>
              <a:t>E</a:t>
            </a:r>
            <a:r>
              <a:rPr lang="en-US" altLang="en-US" sz="4235" dirty="0">
                <a:sym typeface="Wingdings" panose="05000000000000000000" pitchFamily="2" charset="2"/>
              </a:rPr>
              <a:t>*E  1+2*</a:t>
            </a:r>
            <a:r>
              <a:rPr lang="en-US" altLang="en-US" sz="4235" dirty="0">
                <a:solidFill>
                  <a:srgbClr val="0070C0"/>
                </a:solidFill>
                <a:sym typeface="Wingdings" panose="05000000000000000000" pitchFamily="2" charset="2"/>
              </a:rPr>
              <a:t>E</a:t>
            </a:r>
            <a:r>
              <a:rPr lang="en-US" altLang="en-US" sz="4235" dirty="0">
                <a:sym typeface="Wingdings" panose="05000000000000000000" pitchFamily="2" charset="2"/>
              </a:rPr>
              <a:t> </a:t>
            </a:r>
          </a:p>
          <a:p>
            <a:r>
              <a:rPr lang="en-US" altLang="en-US" sz="4235" dirty="0">
                <a:sym typeface="Wingdings" panose="05000000000000000000" pitchFamily="2" charset="2"/>
              </a:rPr>
              <a:t>1+2*3 </a:t>
            </a:r>
            <a:endParaRPr lang="en-US" altLang="en-US" sz="4235" dirty="0"/>
          </a:p>
        </p:txBody>
      </p:sp>
      <p:sp>
        <p:nvSpPr>
          <p:cNvPr id="24582" name="Text Box 6">
            <a:extLst>
              <a:ext uri="{FF2B5EF4-FFF2-40B4-BE49-F238E27FC236}">
                <a16:creationId xmlns:a16="http://schemas.microsoft.com/office/drawing/2014/main" id="{6B1CB091-D81E-44EC-A806-9826D87A6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02599" y="4975412"/>
            <a:ext cx="6997428" cy="2047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 dirty="0"/>
              <a:t>Derivation 2: E </a:t>
            </a:r>
            <a:r>
              <a:rPr lang="en-US" altLang="en-US" sz="4235" dirty="0">
                <a:sym typeface="Wingdings" panose="05000000000000000000" pitchFamily="2" charset="2"/>
              </a:rPr>
              <a:t> </a:t>
            </a:r>
            <a:r>
              <a:rPr lang="en-US" altLang="en-US" sz="4235" dirty="0">
                <a:solidFill>
                  <a:srgbClr val="6666FF"/>
                </a:solidFill>
                <a:sym typeface="Wingdings" panose="05000000000000000000" pitchFamily="2" charset="2"/>
              </a:rPr>
              <a:t>E</a:t>
            </a:r>
            <a:r>
              <a:rPr lang="en-US" altLang="en-US" sz="4235" dirty="0">
                <a:sym typeface="Wingdings" panose="05000000000000000000" pitchFamily="2" charset="2"/>
              </a:rPr>
              <a:t>*E </a:t>
            </a:r>
          </a:p>
          <a:p>
            <a:r>
              <a:rPr lang="en-US" altLang="en-US" sz="4235" dirty="0">
                <a:solidFill>
                  <a:srgbClr val="6666FF"/>
                </a:solidFill>
                <a:sym typeface="Wingdings" panose="05000000000000000000" pitchFamily="2" charset="2"/>
              </a:rPr>
              <a:t>E</a:t>
            </a:r>
            <a:r>
              <a:rPr lang="en-US" altLang="en-US" sz="4235" dirty="0">
                <a:sym typeface="Wingdings" panose="05000000000000000000" pitchFamily="2" charset="2"/>
              </a:rPr>
              <a:t>+E*E  1+</a:t>
            </a:r>
            <a:r>
              <a:rPr lang="en-US" altLang="en-US" sz="4235" dirty="0">
                <a:solidFill>
                  <a:srgbClr val="6666FF"/>
                </a:solidFill>
                <a:sym typeface="Wingdings" panose="05000000000000000000" pitchFamily="2" charset="2"/>
              </a:rPr>
              <a:t>E</a:t>
            </a:r>
            <a:r>
              <a:rPr lang="en-US" altLang="en-US" sz="4235" dirty="0">
                <a:sym typeface="Wingdings" panose="05000000000000000000" pitchFamily="2" charset="2"/>
              </a:rPr>
              <a:t>*E  1+2*</a:t>
            </a:r>
            <a:r>
              <a:rPr lang="en-US" altLang="en-US" sz="4235" dirty="0">
                <a:solidFill>
                  <a:srgbClr val="6666FF"/>
                </a:solidFill>
                <a:sym typeface="Wingdings" panose="05000000000000000000" pitchFamily="2" charset="2"/>
              </a:rPr>
              <a:t>E</a:t>
            </a:r>
            <a:r>
              <a:rPr lang="en-US" altLang="en-US" sz="4235" dirty="0">
                <a:sym typeface="Wingdings" panose="05000000000000000000" pitchFamily="2" charset="2"/>
              </a:rPr>
              <a:t> </a:t>
            </a:r>
          </a:p>
          <a:p>
            <a:r>
              <a:rPr lang="en-US" altLang="en-US" sz="4235" dirty="0">
                <a:sym typeface="Wingdings" panose="05000000000000000000" pitchFamily="2" charset="2"/>
              </a:rPr>
              <a:t>1+2*3</a:t>
            </a:r>
            <a:endParaRPr lang="en-US" altLang="en-US" sz="4235" dirty="0"/>
          </a:p>
        </p:txBody>
      </p:sp>
      <p:sp>
        <p:nvSpPr>
          <p:cNvPr id="24583" name="Text Box 7">
            <a:extLst>
              <a:ext uri="{FF2B5EF4-FFF2-40B4-BE49-F238E27FC236}">
                <a16:creationId xmlns:a16="http://schemas.microsoft.com/office/drawing/2014/main" id="{8F99CA50-1152-4F3B-88CF-ABC6D116C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1290" y="8275544"/>
            <a:ext cx="490840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+</a:t>
            </a:r>
          </a:p>
        </p:txBody>
      </p:sp>
      <p:sp>
        <p:nvSpPr>
          <p:cNvPr id="24584" name="Text Box 8">
            <a:extLst>
              <a:ext uri="{FF2B5EF4-FFF2-40B4-BE49-F238E27FC236}">
                <a16:creationId xmlns:a16="http://schemas.microsoft.com/office/drawing/2014/main" id="{C01D0306-97DB-485B-9FA9-CB4CF2C2A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6128" y="9009530"/>
            <a:ext cx="455574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*</a:t>
            </a:r>
          </a:p>
        </p:txBody>
      </p:sp>
      <p:sp>
        <p:nvSpPr>
          <p:cNvPr id="24585" name="Text Box 9">
            <a:extLst>
              <a:ext uri="{FF2B5EF4-FFF2-40B4-BE49-F238E27FC236}">
                <a16:creationId xmlns:a16="http://schemas.microsoft.com/office/drawing/2014/main" id="{5090874E-EEA1-4F13-8744-DC36C8AFD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1422" y="9009530"/>
            <a:ext cx="455574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1</a:t>
            </a:r>
          </a:p>
        </p:txBody>
      </p:sp>
      <p:sp>
        <p:nvSpPr>
          <p:cNvPr id="24586" name="Text Box 10">
            <a:extLst>
              <a:ext uri="{FF2B5EF4-FFF2-40B4-BE49-F238E27FC236}">
                <a16:creationId xmlns:a16="http://schemas.microsoft.com/office/drawing/2014/main" id="{68784507-D64D-42F8-BFD7-22357F6D6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2716" y="9816353"/>
            <a:ext cx="455574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2</a:t>
            </a:r>
          </a:p>
        </p:txBody>
      </p:sp>
      <p:sp>
        <p:nvSpPr>
          <p:cNvPr id="24587" name="Text Box 11">
            <a:extLst>
              <a:ext uri="{FF2B5EF4-FFF2-40B4-BE49-F238E27FC236}">
                <a16:creationId xmlns:a16="http://schemas.microsoft.com/office/drawing/2014/main" id="{F41D73C7-E11B-4FB1-BD4C-CBA86A9922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8481" y="9816353"/>
            <a:ext cx="455574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3</a:t>
            </a:r>
          </a:p>
        </p:txBody>
      </p:sp>
      <p:sp>
        <p:nvSpPr>
          <p:cNvPr id="24588" name="Line 12">
            <a:extLst>
              <a:ext uri="{FF2B5EF4-FFF2-40B4-BE49-F238E27FC236}">
                <a16:creationId xmlns:a16="http://schemas.microsoft.com/office/drawing/2014/main" id="{CAD4B21E-3849-4279-862F-B8EABED8A1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54834" y="8875059"/>
            <a:ext cx="403412" cy="26894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3176"/>
          </a:p>
        </p:txBody>
      </p:sp>
      <p:sp>
        <p:nvSpPr>
          <p:cNvPr id="24589" name="Line 13">
            <a:extLst>
              <a:ext uri="{FF2B5EF4-FFF2-40B4-BE49-F238E27FC236}">
                <a16:creationId xmlns:a16="http://schemas.microsoft.com/office/drawing/2014/main" id="{B5D689EA-3A77-4DB7-AF5B-6715B70E030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8246" y="8875059"/>
            <a:ext cx="537882" cy="26894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3176"/>
          </a:p>
        </p:txBody>
      </p:sp>
      <p:sp>
        <p:nvSpPr>
          <p:cNvPr id="24590" name="Line 14">
            <a:extLst>
              <a:ext uri="{FF2B5EF4-FFF2-40B4-BE49-F238E27FC236}">
                <a16:creationId xmlns:a16="http://schemas.microsoft.com/office/drawing/2014/main" id="{5419DBDF-68E1-45C3-814D-351D474C33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96128" y="9547412"/>
            <a:ext cx="268941" cy="403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3176"/>
          </a:p>
        </p:txBody>
      </p:sp>
      <p:sp>
        <p:nvSpPr>
          <p:cNvPr id="24591" name="Line 15">
            <a:extLst>
              <a:ext uri="{FF2B5EF4-FFF2-40B4-BE49-F238E27FC236}">
                <a16:creationId xmlns:a16="http://schemas.microsoft.com/office/drawing/2014/main" id="{0B3C9E29-E0E5-419B-A364-BD0F7846AB8C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5069" y="9547412"/>
            <a:ext cx="537882" cy="403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3176"/>
          </a:p>
        </p:txBody>
      </p:sp>
      <p:sp>
        <p:nvSpPr>
          <p:cNvPr id="24592" name="Text Box 16">
            <a:extLst>
              <a:ext uri="{FF2B5EF4-FFF2-40B4-BE49-F238E27FC236}">
                <a16:creationId xmlns:a16="http://schemas.microsoft.com/office/drawing/2014/main" id="{220D45D5-22C8-40AE-8582-A50F095D3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3996" y="8006603"/>
            <a:ext cx="455574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*</a:t>
            </a:r>
          </a:p>
        </p:txBody>
      </p:sp>
      <p:sp>
        <p:nvSpPr>
          <p:cNvPr id="24593" name="Text Box 17">
            <a:extLst>
              <a:ext uri="{FF2B5EF4-FFF2-40B4-BE49-F238E27FC236}">
                <a16:creationId xmlns:a16="http://schemas.microsoft.com/office/drawing/2014/main" id="{488EE2E1-02AA-47D3-9802-C35B86671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9657" y="8740588"/>
            <a:ext cx="490840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+</a:t>
            </a:r>
          </a:p>
        </p:txBody>
      </p:sp>
      <p:sp>
        <p:nvSpPr>
          <p:cNvPr id="24594" name="Text Box 18">
            <a:extLst>
              <a:ext uri="{FF2B5EF4-FFF2-40B4-BE49-F238E27FC236}">
                <a16:creationId xmlns:a16="http://schemas.microsoft.com/office/drawing/2014/main" id="{E96F2A12-6BCC-4642-AC1A-D01C921FA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16246" y="9816353"/>
            <a:ext cx="455574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1</a:t>
            </a:r>
          </a:p>
        </p:txBody>
      </p:sp>
      <p:sp>
        <p:nvSpPr>
          <p:cNvPr id="24595" name="Text Box 19">
            <a:extLst>
              <a:ext uri="{FF2B5EF4-FFF2-40B4-BE49-F238E27FC236}">
                <a16:creationId xmlns:a16="http://schemas.microsoft.com/office/drawing/2014/main" id="{4DE7CAB2-495D-4194-AFB3-12C3BF79D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7540" y="9816353"/>
            <a:ext cx="455574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2</a:t>
            </a:r>
          </a:p>
        </p:txBody>
      </p:sp>
      <p:sp>
        <p:nvSpPr>
          <p:cNvPr id="24596" name="Text Box 20">
            <a:extLst>
              <a:ext uri="{FF2B5EF4-FFF2-40B4-BE49-F238E27FC236}">
                <a16:creationId xmlns:a16="http://schemas.microsoft.com/office/drawing/2014/main" id="{CE104469-B951-4FCA-AFC4-21A2F3DF21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64363" y="8875059"/>
            <a:ext cx="455574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3</a:t>
            </a:r>
          </a:p>
        </p:txBody>
      </p:sp>
      <p:sp>
        <p:nvSpPr>
          <p:cNvPr id="24597" name="Line 21">
            <a:extLst>
              <a:ext uri="{FF2B5EF4-FFF2-40B4-BE49-F238E27FC236}">
                <a16:creationId xmlns:a16="http://schemas.microsoft.com/office/drawing/2014/main" id="{1EED22B1-EEBA-4193-8E2F-D44C7A9901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257539" y="8606118"/>
            <a:ext cx="403412" cy="26894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3176"/>
          </a:p>
        </p:txBody>
      </p:sp>
      <p:sp>
        <p:nvSpPr>
          <p:cNvPr id="24598" name="Line 22">
            <a:extLst>
              <a:ext uri="{FF2B5EF4-FFF2-40B4-BE49-F238E27FC236}">
                <a16:creationId xmlns:a16="http://schemas.microsoft.com/office/drawing/2014/main" id="{35C2D702-55E6-438A-B282-2D208B77AECC}"/>
              </a:ext>
            </a:extLst>
          </p:cNvPr>
          <p:cNvSpPr>
            <a:spLocks noChangeShapeType="1"/>
          </p:cNvSpPr>
          <p:nvPr/>
        </p:nvSpPr>
        <p:spPr bwMode="auto">
          <a:xfrm>
            <a:off x="13660952" y="8606118"/>
            <a:ext cx="537882" cy="26894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3176"/>
          </a:p>
        </p:txBody>
      </p:sp>
      <p:sp>
        <p:nvSpPr>
          <p:cNvPr id="24599" name="Line 23">
            <a:extLst>
              <a:ext uri="{FF2B5EF4-FFF2-40B4-BE49-F238E27FC236}">
                <a16:creationId xmlns:a16="http://schemas.microsoft.com/office/drawing/2014/main" id="{BD233FFD-C4CB-4A86-A285-465B58F97C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719657" y="9412941"/>
            <a:ext cx="268941" cy="403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3176"/>
          </a:p>
        </p:txBody>
      </p:sp>
      <p:sp>
        <p:nvSpPr>
          <p:cNvPr id="24600" name="Line 24">
            <a:extLst>
              <a:ext uri="{FF2B5EF4-FFF2-40B4-BE49-F238E27FC236}">
                <a16:creationId xmlns:a16="http://schemas.microsoft.com/office/drawing/2014/main" id="{134DDD52-DBDB-4904-B469-2CC954C70E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88599" y="9412941"/>
            <a:ext cx="537882" cy="403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3176"/>
          </a:p>
        </p:txBody>
      </p:sp>
      <p:sp>
        <p:nvSpPr>
          <p:cNvPr id="24601" name="Text Box 25">
            <a:extLst>
              <a:ext uri="{FF2B5EF4-FFF2-40B4-BE49-F238E27FC236}">
                <a16:creationId xmlns:a16="http://schemas.microsoft.com/office/drawing/2014/main" id="{F0B0E2D6-15AE-4148-83FC-CEEDB1A0E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2819" y="11099427"/>
            <a:ext cx="4764446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 dirty="0">
                <a:solidFill>
                  <a:srgbClr val="FF0000"/>
                </a:solidFill>
              </a:rPr>
              <a:t>Obviously not equal!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05DF8A66-B3AD-4687-8E1D-06D2BB75E547}"/>
              </a:ext>
            </a:extLst>
          </p:cNvPr>
          <p:cNvSpPr txBox="1">
            <a:spLocks/>
          </p:cNvSpPr>
          <p:nvPr/>
        </p:nvSpPr>
        <p:spPr>
          <a:xfrm>
            <a:off x="8583562" y="11955997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5C691-CA24-4C29-9140-021AA4369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2881" y="1964265"/>
            <a:ext cx="17068377" cy="931335"/>
          </a:xfrm>
        </p:spPr>
        <p:txBody>
          <a:bodyPr>
            <a:normAutofit fontScale="90000"/>
          </a:bodyPr>
          <a:lstStyle/>
          <a:p>
            <a:r>
              <a:rPr lang="en-IN" dirty="0"/>
              <a:t>Eliminating Ambiguity from Grammar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0EB0C-0F97-4B63-A76F-1F7070A53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2879" y="3149600"/>
            <a:ext cx="17068377" cy="9183649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Rewrite Grammar with following guidelines</a:t>
            </a:r>
          </a:p>
          <a:p>
            <a:pPr marL="0" indent="0">
              <a:buNone/>
            </a:pPr>
            <a:r>
              <a:rPr lang="en-IN" dirty="0"/>
              <a:t>1. Introduce distinct Non-terminal for each precedence level</a:t>
            </a:r>
          </a:p>
          <a:p>
            <a:pPr marL="0" indent="0">
              <a:buNone/>
            </a:pPr>
            <a:r>
              <a:rPr lang="en-IN" dirty="0"/>
              <a:t>	e.g. </a:t>
            </a:r>
            <a:r>
              <a:rPr lang="en-IN" b="1" dirty="0"/>
              <a:t>E</a:t>
            </a:r>
            <a:r>
              <a:rPr lang="en-IN" dirty="0"/>
              <a:t> for +, -       </a:t>
            </a:r>
            <a:r>
              <a:rPr lang="en-IN" b="1" dirty="0"/>
              <a:t>T</a:t>
            </a:r>
            <a:r>
              <a:rPr lang="en-IN" dirty="0"/>
              <a:t> for *, |   </a:t>
            </a:r>
            <a:r>
              <a:rPr lang="en-IN" b="1" dirty="0"/>
              <a:t>F</a:t>
            </a:r>
            <a:r>
              <a:rPr lang="en-IN" dirty="0"/>
              <a:t> for ID, NUM , (</a:t>
            </a:r>
          </a:p>
          <a:p>
            <a:pPr marL="0" indent="0">
              <a:buNone/>
            </a:pPr>
            <a:r>
              <a:rPr lang="en-IN" dirty="0"/>
              <a:t>2. Higher precedence non-terminal</a:t>
            </a:r>
          </a:p>
          <a:p>
            <a:pPr marL="0" indent="0">
              <a:buNone/>
            </a:pPr>
            <a:r>
              <a:rPr lang="en-IN" dirty="0"/>
              <a:t>    e.g. E: T+ E | T- E |  T                                             E : E + T | E – T | T</a:t>
            </a:r>
          </a:p>
          <a:p>
            <a:pPr marL="0" indent="0">
              <a:buNone/>
            </a:pPr>
            <a:r>
              <a:rPr lang="en-IN" dirty="0"/>
              <a:t>          T : F * T | F|T  | F                       OR                 T : T * F  | T|F  | F</a:t>
            </a:r>
          </a:p>
          <a:p>
            <a:pPr marL="0" indent="0">
              <a:buNone/>
            </a:pPr>
            <a:r>
              <a:rPr lang="en-IN" dirty="0"/>
              <a:t>           F : ID  | NUM | (E ) </a:t>
            </a:r>
          </a:p>
          <a:p>
            <a:pPr marL="0" indent="0">
              <a:buNone/>
            </a:pPr>
            <a:r>
              <a:rPr lang="en-IN" dirty="0"/>
              <a:t>3. Use Left recursion for Left associative operator , right recursion for Right Associative</a:t>
            </a:r>
          </a:p>
          <a:p>
            <a:pPr marL="0" indent="0">
              <a:buNone/>
            </a:pPr>
            <a:r>
              <a:rPr lang="en-IN" dirty="0"/>
              <a:t>E : E + T | E – T | T                                G : ID = G | E </a:t>
            </a:r>
          </a:p>
          <a:p>
            <a:pPr marL="0" indent="0">
              <a:buNone/>
            </a:pPr>
            <a:r>
              <a:rPr lang="en-IN" dirty="0"/>
              <a:t>T : T * F  | T|F  | F</a:t>
            </a:r>
          </a:p>
          <a:p>
            <a:pPr marL="0" indent="0">
              <a:buNone/>
            </a:pPr>
            <a:r>
              <a:rPr lang="en-IN" dirty="0"/>
              <a:t>F : ID  | NUM | (G 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E556E-8B13-4D70-A9EC-000BDC4F3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5A9A0C-7DC5-44EE-A826-940ED4547A61}"/>
              </a:ext>
            </a:extLst>
          </p:cNvPr>
          <p:cNvSpPr/>
          <p:nvPr/>
        </p:nvSpPr>
        <p:spPr>
          <a:xfrm>
            <a:off x="3529982" y="6133170"/>
            <a:ext cx="5508702" cy="1449659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41E597-9AE4-47DF-8872-61BCE33CFA4F}"/>
              </a:ext>
            </a:extLst>
          </p:cNvPr>
          <p:cNvSpPr/>
          <p:nvPr/>
        </p:nvSpPr>
        <p:spPr>
          <a:xfrm>
            <a:off x="12897785" y="6291765"/>
            <a:ext cx="5508702" cy="1449659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50C2B1F-34FE-47E7-9E85-7466AAB35C2D}"/>
              </a:ext>
            </a:extLst>
          </p:cNvPr>
          <p:cNvSpPr txBox="1">
            <a:spLocks/>
          </p:cNvSpPr>
          <p:nvPr/>
        </p:nvSpPr>
        <p:spPr>
          <a:xfrm>
            <a:off x="8583562" y="11955994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  <p:extLst>
      <p:ext uri="{BB962C8B-B14F-4D97-AF65-F5344CB8AC3E}">
        <p14:creationId xmlns:p14="http://schemas.microsoft.com/office/powerpoint/2010/main" val="427468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B74EDCD3-D83D-4089-AE05-D6E4F9D8FF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Class Problem (Tough)</a:t>
            </a:r>
          </a:p>
        </p:txBody>
      </p:sp>
      <p:sp>
        <p:nvSpPr>
          <p:cNvPr id="30723" name="Text Box 3">
            <a:extLst>
              <a:ext uri="{FF2B5EF4-FFF2-40B4-BE49-F238E27FC236}">
                <a16:creationId xmlns:a16="http://schemas.microsoft.com/office/drawing/2014/main" id="{529B388C-1C4B-426F-B209-7F2C77A73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1831" y="1592240"/>
            <a:ext cx="12530995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 dirty="0">
                <a:solidFill>
                  <a:schemeClr val="accent1"/>
                </a:solidFill>
              </a:rPr>
              <a:t>S </a:t>
            </a:r>
            <a:r>
              <a:rPr lang="en-US" altLang="en-US" sz="4235" dirty="0">
                <a:solidFill>
                  <a:schemeClr val="accent1"/>
                </a:solidFill>
                <a:sym typeface="Wingdings" panose="05000000000000000000" pitchFamily="2" charset="2"/>
              </a:rPr>
              <a:t> S + S | S – S | S * S | S | S | (S) | -S | S ^ S | number</a:t>
            </a:r>
            <a:r>
              <a:rPr lang="en-US" altLang="en-US" sz="4235" dirty="0">
                <a:sym typeface="Wingdings" panose="05000000000000000000" pitchFamily="2" charset="2"/>
              </a:rPr>
              <a:t> </a:t>
            </a:r>
            <a:endParaRPr lang="en-US" altLang="en-US" sz="4235" dirty="0"/>
          </a:p>
        </p:txBody>
      </p:sp>
      <p:sp>
        <p:nvSpPr>
          <p:cNvPr id="30724" name="Text Box 4">
            <a:extLst>
              <a:ext uri="{FF2B5EF4-FFF2-40B4-BE49-F238E27FC236}">
                <a16:creationId xmlns:a16="http://schemas.microsoft.com/office/drawing/2014/main" id="{5D6BAF4B-AB46-49F5-A369-DBAB0AD0B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2246" y="4034119"/>
            <a:ext cx="13590580" cy="1395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Enforce the standard arithmetic precedence rules and remove </a:t>
            </a:r>
          </a:p>
          <a:p>
            <a:r>
              <a:rPr lang="en-US" altLang="en-US" sz="4235"/>
              <a:t>all ambiguity from the above grammar</a:t>
            </a:r>
          </a:p>
        </p:txBody>
      </p:sp>
      <p:sp>
        <p:nvSpPr>
          <p:cNvPr id="30725" name="Text Box 5">
            <a:extLst>
              <a:ext uri="{FF2B5EF4-FFF2-40B4-BE49-F238E27FC236}">
                <a16:creationId xmlns:a16="http://schemas.microsoft.com/office/drawing/2014/main" id="{471634A7-7C96-4B1F-8B76-02F05BA19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6716" y="5647765"/>
            <a:ext cx="5622052" cy="5306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 u="sng" dirty="0">
                <a:solidFill>
                  <a:schemeClr val="accent1"/>
                </a:solidFill>
              </a:rPr>
              <a:t>Precedence (high to low)</a:t>
            </a:r>
          </a:p>
          <a:p>
            <a:r>
              <a:rPr lang="en-US" altLang="en-US" sz="4235" dirty="0">
                <a:solidFill>
                  <a:schemeClr val="accent1"/>
                </a:solidFill>
              </a:rPr>
              <a:t>(),  unary –</a:t>
            </a:r>
          </a:p>
          <a:p>
            <a:r>
              <a:rPr lang="en-US" altLang="en-US" sz="4235" dirty="0">
                <a:solidFill>
                  <a:schemeClr val="accent1"/>
                </a:solidFill>
              </a:rPr>
              <a:t>^</a:t>
            </a:r>
          </a:p>
          <a:p>
            <a:r>
              <a:rPr lang="en-US" altLang="en-US" sz="4235" dirty="0">
                <a:solidFill>
                  <a:schemeClr val="accent1"/>
                </a:solidFill>
              </a:rPr>
              <a:t>*, |</a:t>
            </a:r>
          </a:p>
          <a:p>
            <a:r>
              <a:rPr lang="en-US" altLang="en-US" sz="4235" dirty="0">
                <a:solidFill>
                  <a:schemeClr val="accent1"/>
                </a:solidFill>
              </a:rPr>
              <a:t>+, -</a:t>
            </a:r>
          </a:p>
          <a:p>
            <a:r>
              <a:rPr lang="en-US" altLang="en-US" sz="4235" u="sng" dirty="0">
                <a:solidFill>
                  <a:schemeClr val="accent1"/>
                </a:solidFill>
              </a:rPr>
              <a:t>Associativity</a:t>
            </a:r>
          </a:p>
          <a:p>
            <a:r>
              <a:rPr lang="en-US" altLang="en-US" sz="4235" dirty="0">
                <a:solidFill>
                  <a:schemeClr val="accent1"/>
                </a:solidFill>
              </a:rPr>
              <a:t>^ = right</a:t>
            </a:r>
          </a:p>
          <a:p>
            <a:r>
              <a:rPr lang="en-US" altLang="en-US" sz="4235" dirty="0">
                <a:solidFill>
                  <a:schemeClr val="accent1"/>
                </a:solidFill>
              </a:rPr>
              <a:t>rest are left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D92DE1C-3521-4820-9E93-66728E360E11}"/>
              </a:ext>
            </a:extLst>
          </p:cNvPr>
          <p:cNvSpPr txBox="1">
            <a:spLocks/>
          </p:cNvSpPr>
          <p:nvPr/>
        </p:nvSpPr>
        <p:spPr>
          <a:xfrm>
            <a:off x="8583562" y="12000603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B8DACF7A-3A19-4D5F-8C27-6B755F8CF7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02880" y="1508145"/>
            <a:ext cx="17068377" cy="119133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Ambiguity Review: </a:t>
            </a:r>
            <a:r>
              <a:rPr lang="en-US" altLang="en-US" sz="5647" dirty="0"/>
              <a:t>If-Then-Else Grammar</a:t>
            </a:r>
          </a:p>
        </p:txBody>
      </p:sp>
      <p:sp>
        <p:nvSpPr>
          <p:cNvPr id="31747" name="Text Box 4">
            <a:extLst>
              <a:ext uri="{FF2B5EF4-FFF2-40B4-BE49-F238E27FC236}">
                <a16:creationId xmlns:a16="http://schemas.microsoft.com/office/drawing/2014/main" id="{AF8900AA-72C4-4FC2-AC50-D922F6E71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4467" y="3165662"/>
            <a:ext cx="4307589" cy="2047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S </a:t>
            </a:r>
            <a:r>
              <a:rPr lang="en-US" altLang="en-US" sz="4235">
                <a:sym typeface="Wingdings" panose="05000000000000000000" pitchFamily="2" charset="2"/>
              </a:rPr>
              <a:t> if (E) S</a:t>
            </a:r>
          </a:p>
          <a:p>
            <a:r>
              <a:rPr lang="en-US" altLang="en-US" sz="4235">
                <a:sym typeface="Wingdings" panose="05000000000000000000" pitchFamily="2" charset="2"/>
              </a:rPr>
              <a:t>S  if (E) S else S</a:t>
            </a:r>
          </a:p>
          <a:p>
            <a:r>
              <a:rPr lang="en-US" altLang="en-US" sz="4235">
                <a:sym typeface="Wingdings" panose="05000000000000000000" pitchFamily="2" charset="2"/>
              </a:rPr>
              <a:t>S   other</a:t>
            </a:r>
            <a:endParaRPr lang="en-US" altLang="en-US" sz="4235"/>
          </a:p>
        </p:txBody>
      </p:sp>
      <p:sp>
        <p:nvSpPr>
          <p:cNvPr id="31748" name="Text Box 5">
            <a:extLst>
              <a:ext uri="{FF2B5EF4-FFF2-40B4-BE49-F238E27FC236}">
                <a16:creationId xmlns:a16="http://schemas.microsoft.com/office/drawing/2014/main" id="{BFF27CF2-CE2C-40F4-BFBE-CA2A6C4B1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6834" y="3765177"/>
            <a:ext cx="8114722" cy="1395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>
                <a:solidFill>
                  <a:schemeClr val="accent1"/>
                </a:solidFill>
              </a:rPr>
              <a:t>Anything wrong with this grammar?</a:t>
            </a:r>
          </a:p>
          <a:p>
            <a:r>
              <a:rPr lang="en-US" altLang="en-US" sz="4235">
                <a:solidFill>
                  <a:schemeClr val="accent1"/>
                </a:solidFill>
              </a:rPr>
              <a:t>Dangling else</a:t>
            </a:r>
          </a:p>
        </p:txBody>
      </p:sp>
      <p:sp>
        <p:nvSpPr>
          <p:cNvPr id="31749" name="Text Box 6">
            <a:extLst>
              <a:ext uri="{FF2B5EF4-FFF2-40B4-BE49-F238E27FC236}">
                <a16:creationId xmlns:a16="http://schemas.microsoft.com/office/drawing/2014/main" id="{5667D12C-3CD3-4A85-8FE8-D4FEDD1F1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6716" y="6185647"/>
            <a:ext cx="9802684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Consider parsing: “if (E1) if (E2) S1 else S2</a:t>
            </a:r>
          </a:p>
        </p:txBody>
      </p:sp>
      <p:sp>
        <p:nvSpPr>
          <p:cNvPr id="31750" name="Text Box 7">
            <a:extLst>
              <a:ext uri="{FF2B5EF4-FFF2-40B4-BE49-F238E27FC236}">
                <a16:creationId xmlns:a16="http://schemas.microsoft.com/office/drawing/2014/main" id="{2E61B62E-DDDD-49D6-8CD0-542B6275D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0128" y="7126942"/>
            <a:ext cx="5577168" cy="1395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S </a:t>
            </a:r>
            <a:r>
              <a:rPr lang="en-US" altLang="en-US" sz="4235">
                <a:sym typeface="Wingdings" panose="05000000000000000000" pitchFamily="2" charset="2"/>
              </a:rPr>
              <a:t> if (E) </a:t>
            </a:r>
            <a:r>
              <a:rPr lang="en-US" altLang="en-US" sz="4235" b="1">
                <a:sym typeface="Wingdings" panose="05000000000000000000" pitchFamily="2" charset="2"/>
              </a:rPr>
              <a:t>S</a:t>
            </a:r>
          </a:p>
          <a:p>
            <a:r>
              <a:rPr lang="en-US" altLang="en-US" sz="4235">
                <a:sym typeface="Wingdings" panose="05000000000000000000" pitchFamily="2" charset="2"/>
              </a:rPr>
              <a:t>    if (E) </a:t>
            </a:r>
            <a:r>
              <a:rPr lang="en-US" altLang="en-US" sz="4235" u="sng">
                <a:sym typeface="Wingdings" panose="05000000000000000000" pitchFamily="2" charset="2"/>
              </a:rPr>
              <a:t>if (E) S else S</a:t>
            </a:r>
            <a:endParaRPr lang="en-US" altLang="en-US" sz="4235" u="sng"/>
          </a:p>
        </p:txBody>
      </p:sp>
      <p:sp>
        <p:nvSpPr>
          <p:cNvPr id="31751" name="Text Box 8">
            <a:extLst>
              <a:ext uri="{FF2B5EF4-FFF2-40B4-BE49-F238E27FC236}">
                <a16:creationId xmlns:a16="http://schemas.microsoft.com/office/drawing/2014/main" id="{8D86137A-7080-474A-A35B-46D540A93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4951" y="7261413"/>
            <a:ext cx="5577168" cy="1395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S </a:t>
            </a:r>
            <a:r>
              <a:rPr lang="en-US" altLang="en-US" sz="4235">
                <a:sym typeface="Wingdings" panose="05000000000000000000" pitchFamily="2" charset="2"/>
              </a:rPr>
              <a:t> if (E) </a:t>
            </a:r>
            <a:r>
              <a:rPr lang="en-US" altLang="en-US" sz="4235" b="1">
                <a:sym typeface="Wingdings" panose="05000000000000000000" pitchFamily="2" charset="2"/>
              </a:rPr>
              <a:t>S</a:t>
            </a:r>
            <a:r>
              <a:rPr lang="en-US" altLang="en-US" sz="4235">
                <a:sym typeface="Wingdings" panose="05000000000000000000" pitchFamily="2" charset="2"/>
              </a:rPr>
              <a:t> else S</a:t>
            </a:r>
          </a:p>
          <a:p>
            <a:r>
              <a:rPr lang="en-US" altLang="en-US" sz="4235">
                <a:sym typeface="Wingdings" panose="05000000000000000000" pitchFamily="2" charset="2"/>
              </a:rPr>
              <a:t>    if (E) </a:t>
            </a:r>
            <a:r>
              <a:rPr lang="en-US" altLang="en-US" sz="4235" u="sng">
                <a:sym typeface="Wingdings" panose="05000000000000000000" pitchFamily="2" charset="2"/>
              </a:rPr>
              <a:t>if (E) S</a:t>
            </a:r>
            <a:r>
              <a:rPr lang="en-US" altLang="en-US" sz="4235">
                <a:sym typeface="Wingdings" panose="05000000000000000000" pitchFamily="2" charset="2"/>
              </a:rPr>
              <a:t> else S</a:t>
            </a:r>
            <a:endParaRPr lang="en-US" altLang="en-US" sz="4235"/>
          </a:p>
        </p:txBody>
      </p:sp>
      <p:sp>
        <p:nvSpPr>
          <p:cNvPr id="31752" name="Text Box 9">
            <a:extLst>
              <a:ext uri="{FF2B5EF4-FFF2-40B4-BE49-F238E27FC236}">
                <a16:creationId xmlns:a16="http://schemas.microsoft.com/office/drawing/2014/main" id="{4788D1D5-C591-43B7-9A29-E047587B2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6819" y="8813427"/>
            <a:ext cx="516488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>
                <a:solidFill>
                  <a:schemeClr val="accent1"/>
                </a:solidFill>
              </a:rPr>
              <a:t>if</a:t>
            </a:r>
          </a:p>
        </p:txBody>
      </p:sp>
      <p:sp>
        <p:nvSpPr>
          <p:cNvPr id="31753" name="Text Box 10">
            <a:extLst>
              <a:ext uri="{FF2B5EF4-FFF2-40B4-BE49-F238E27FC236}">
                <a16:creationId xmlns:a16="http://schemas.microsoft.com/office/drawing/2014/main" id="{220087AB-4A75-4C57-9B54-4830057BF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3540" y="9681883"/>
            <a:ext cx="787395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>
                <a:solidFill>
                  <a:schemeClr val="accent1"/>
                </a:solidFill>
              </a:rPr>
              <a:t>E1</a:t>
            </a:r>
          </a:p>
        </p:txBody>
      </p:sp>
      <p:sp>
        <p:nvSpPr>
          <p:cNvPr id="31754" name="Text Box 11">
            <a:extLst>
              <a:ext uri="{FF2B5EF4-FFF2-40B4-BE49-F238E27FC236}">
                <a16:creationId xmlns:a16="http://schemas.microsoft.com/office/drawing/2014/main" id="{7EC4821F-1C95-42BA-8AD5-90A128390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7187" y="9681883"/>
            <a:ext cx="516488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>
                <a:solidFill>
                  <a:schemeClr val="accent1"/>
                </a:solidFill>
              </a:rPr>
              <a:t>if</a:t>
            </a:r>
          </a:p>
        </p:txBody>
      </p:sp>
      <p:sp>
        <p:nvSpPr>
          <p:cNvPr id="31755" name="Text Box 12">
            <a:extLst>
              <a:ext uri="{FF2B5EF4-FFF2-40B4-BE49-F238E27FC236}">
                <a16:creationId xmlns:a16="http://schemas.microsoft.com/office/drawing/2014/main" id="{487179BD-2602-4920-ADCF-56A1537A4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0364" y="10892118"/>
            <a:ext cx="787395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>
                <a:solidFill>
                  <a:schemeClr val="accent1"/>
                </a:solidFill>
              </a:rPr>
              <a:t>E1</a:t>
            </a:r>
          </a:p>
        </p:txBody>
      </p:sp>
      <p:sp>
        <p:nvSpPr>
          <p:cNvPr id="31756" name="Text Box 13">
            <a:extLst>
              <a:ext uri="{FF2B5EF4-FFF2-40B4-BE49-F238E27FC236}">
                <a16:creationId xmlns:a16="http://schemas.microsoft.com/office/drawing/2014/main" id="{5D117810-44BC-497B-A1B3-FDA0FAF76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0598" y="10892118"/>
            <a:ext cx="756938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>
                <a:solidFill>
                  <a:schemeClr val="accent1"/>
                </a:solidFill>
              </a:rPr>
              <a:t>S1</a:t>
            </a:r>
          </a:p>
        </p:txBody>
      </p:sp>
      <p:sp>
        <p:nvSpPr>
          <p:cNvPr id="31757" name="Text Box 14">
            <a:extLst>
              <a:ext uri="{FF2B5EF4-FFF2-40B4-BE49-F238E27FC236}">
                <a16:creationId xmlns:a16="http://schemas.microsoft.com/office/drawing/2014/main" id="{117DEAE2-4B05-4D14-A9F1-A4F67E8D9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0834" y="10892118"/>
            <a:ext cx="756938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>
                <a:solidFill>
                  <a:schemeClr val="accent1"/>
                </a:solidFill>
              </a:rPr>
              <a:t>S2</a:t>
            </a:r>
          </a:p>
        </p:txBody>
      </p:sp>
      <p:sp>
        <p:nvSpPr>
          <p:cNvPr id="31758" name="Line 15">
            <a:extLst>
              <a:ext uri="{FF2B5EF4-FFF2-40B4-BE49-F238E27FC236}">
                <a16:creationId xmlns:a16="http://schemas.microsoft.com/office/drawing/2014/main" id="{3E2C82B6-0A11-441E-8F79-6CD8C27A97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85893" y="9547412"/>
            <a:ext cx="537882" cy="26894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3176"/>
          </a:p>
        </p:txBody>
      </p:sp>
      <p:sp>
        <p:nvSpPr>
          <p:cNvPr id="31759" name="Line 16">
            <a:extLst>
              <a:ext uri="{FF2B5EF4-FFF2-40B4-BE49-F238E27FC236}">
                <a16:creationId xmlns:a16="http://schemas.microsoft.com/office/drawing/2014/main" id="{58E1AC06-55E0-4B5A-9678-1389061BAF3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23775" y="9547412"/>
            <a:ext cx="537882" cy="26894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3176"/>
          </a:p>
        </p:txBody>
      </p:sp>
      <p:sp>
        <p:nvSpPr>
          <p:cNvPr id="31760" name="Line 17">
            <a:extLst>
              <a:ext uri="{FF2B5EF4-FFF2-40B4-BE49-F238E27FC236}">
                <a16:creationId xmlns:a16="http://schemas.microsoft.com/office/drawing/2014/main" id="{A95E4C43-BB51-468F-B8D8-B9BB0DA9C8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58246" y="10354235"/>
            <a:ext cx="537882" cy="67235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3176"/>
          </a:p>
        </p:txBody>
      </p:sp>
      <p:sp>
        <p:nvSpPr>
          <p:cNvPr id="31761" name="Line 18">
            <a:extLst>
              <a:ext uri="{FF2B5EF4-FFF2-40B4-BE49-F238E27FC236}">
                <a16:creationId xmlns:a16="http://schemas.microsoft.com/office/drawing/2014/main" id="{31AA3FC6-4451-4DF6-BB96-E9E377FEBCF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6128" y="10354235"/>
            <a:ext cx="403412" cy="67235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3176"/>
          </a:p>
        </p:txBody>
      </p:sp>
      <p:sp>
        <p:nvSpPr>
          <p:cNvPr id="31762" name="Line 19">
            <a:extLst>
              <a:ext uri="{FF2B5EF4-FFF2-40B4-BE49-F238E27FC236}">
                <a16:creationId xmlns:a16="http://schemas.microsoft.com/office/drawing/2014/main" id="{DB351557-36DD-4FAF-AB0A-1E743A13F5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6128" y="10354235"/>
            <a:ext cx="1613647" cy="67235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3176"/>
          </a:p>
        </p:txBody>
      </p:sp>
      <p:sp>
        <p:nvSpPr>
          <p:cNvPr id="31763" name="Text Box 20">
            <a:extLst>
              <a:ext uri="{FF2B5EF4-FFF2-40B4-BE49-F238E27FC236}">
                <a16:creationId xmlns:a16="http://schemas.microsoft.com/office/drawing/2014/main" id="{F62BF2DC-3133-4294-9670-AB9CF72FA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3996" y="8813427"/>
            <a:ext cx="516488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>
                <a:solidFill>
                  <a:schemeClr val="accent1"/>
                </a:solidFill>
              </a:rPr>
              <a:t>if</a:t>
            </a:r>
          </a:p>
        </p:txBody>
      </p:sp>
      <p:sp>
        <p:nvSpPr>
          <p:cNvPr id="31764" name="Text Box 21">
            <a:extLst>
              <a:ext uri="{FF2B5EF4-FFF2-40B4-BE49-F238E27FC236}">
                <a16:creationId xmlns:a16="http://schemas.microsoft.com/office/drawing/2014/main" id="{2AB37AF9-ED83-43C2-85BE-D6128D37F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50717" y="9681883"/>
            <a:ext cx="787395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>
                <a:solidFill>
                  <a:schemeClr val="accent1"/>
                </a:solidFill>
              </a:rPr>
              <a:t>E1</a:t>
            </a:r>
          </a:p>
        </p:txBody>
      </p:sp>
      <p:sp>
        <p:nvSpPr>
          <p:cNvPr id="31765" name="Text Box 22">
            <a:extLst>
              <a:ext uri="{FF2B5EF4-FFF2-40B4-BE49-F238E27FC236}">
                <a16:creationId xmlns:a16="http://schemas.microsoft.com/office/drawing/2014/main" id="{8EDAAA71-60D1-42D8-8882-A05BDCC17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64363" y="9681883"/>
            <a:ext cx="516488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>
                <a:solidFill>
                  <a:schemeClr val="accent1"/>
                </a:solidFill>
              </a:rPr>
              <a:t>if</a:t>
            </a:r>
          </a:p>
        </p:txBody>
      </p:sp>
      <p:sp>
        <p:nvSpPr>
          <p:cNvPr id="31766" name="Text Box 23">
            <a:extLst>
              <a:ext uri="{FF2B5EF4-FFF2-40B4-BE49-F238E27FC236}">
                <a16:creationId xmlns:a16="http://schemas.microsoft.com/office/drawing/2014/main" id="{F454AE46-8923-4DB1-9182-8375B1BEB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7540" y="10892118"/>
            <a:ext cx="787395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>
                <a:solidFill>
                  <a:schemeClr val="accent1"/>
                </a:solidFill>
              </a:rPr>
              <a:t>E1</a:t>
            </a:r>
          </a:p>
        </p:txBody>
      </p:sp>
      <p:sp>
        <p:nvSpPr>
          <p:cNvPr id="31767" name="Text Box 24">
            <a:extLst>
              <a:ext uri="{FF2B5EF4-FFF2-40B4-BE49-F238E27FC236}">
                <a16:creationId xmlns:a16="http://schemas.microsoft.com/office/drawing/2014/main" id="{F119B28E-4E64-4A1C-ADA1-3F37E8030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67775" y="10892118"/>
            <a:ext cx="756938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>
                <a:solidFill>
                  <a:schemeClr val="accent1"/>
                </a:solidFill>
              </a:rPr>
              <a:t>S1</a:t>
            </a:r>
          </a:p>
        </p:txBody>
      </p:sp>
      <p:sp>
        <p:nvSpPr>
          <p:cNvPr id="31768" name="Text Box 25">
            <a:extLst>
              <a:ext uri="{FF2B5EF4-FFF2-40B4-BE49-F238E27FC236}">
                <a16:creationId xmlns:a16="http://schemas.microsoft.com/office/drawing/2014/main" id="{856140E5-B617-41AB-9887-8F0E50275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36716" y="9681883"/>
            <a:ext cx="756938" cy="7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>
                <a:solidFill>
                  <a:schemeClr val="accent1"/>
                </a:solidFill>
              </a:rPr>
              <a:t>S2</a:t>
            </a:r>
          </a:p>
        </p:txBody>
      </p:sp>
      <p:sp>
        <p:nvSpPr>
          <p:cNvPr id="31769" name="Line 26">
            <a:extLst>
              <a:ext uri="{FF2B5EF4-FFF2-40B4-BE49-F238E27FC236}">
                <a16:creationId xmlns:a16="http://schemas.microsoft.com/office/drawing/2014/main" id="{84612498-9A02-4F38-B98B-D9DEBC1BE8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123069" y="9547412"/>
            <a:ext cx="537882" cy="26894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3176"/>
          </a:p>
        </p:txBody>
      </p:sp>
      <p:sp>
        <p:nvSpPr>
          <p:cNvPr id="31770" name="Line 27">
            <a:extLst>
              <a:ext uri="{FF2B5EF4-FFF2-40B4-BE49-F238E27FC236}">
                <a16:creationId xmlns:a16="http://schemas.microsoft.com/office/drawing/2014/main" id="{593C3540-D144-476C-9F37-876910DCA3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3660952" y="9547412"/>
            <a:ext cx="537882" cy="26894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3176"/>
          </a:p>
        </p:txBody>
      </p:sp>
      <p:sp>
        <p:nvSpPr>
          <p:cNvPr id="31771" name="Line 28">
            <a:extLst>
              <a:ext uri="{FF2B5EF4-FFF2-40B4-BE49-F238E27FC236}">
                <a16:creationId xmlns:a16="http://schemas.microsoft.com/office/drawing/2014/main" id="{83AB7DE0-942C-40E7-8BDA-F584B19DA3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95422" y="10354235"/>
            <a:ext cx="537882" cy="67235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3176"/>
          </a:p>
        </p:txBody>
      </p:sp>
      <p:sp>
        <p:nvSpPr>
          <p:cNvPr id="31772" name="Line 29">
            <a:extLst>
              <a:ext uri="{FF2B5EF4-FFF2-40B4-BE49-F238E27FC236}">
                <a16:creationId xmlns:a16="http://schemas.microsoft.com/office/drawing/2014/main" id="{051DDB57-FDD9-442C-A25E-38C1427681E7}"/>
              </a:ext>
            </a:extLst>
          </p:cNvPr>
          <p:cNvSpPr>
            <a:spLocks noChangeShapeType="1"/>
          </p:cNvSpPr>
          <p:nvPr/>
        </p:nvSpPr>
        <p:spPr bwMode="auto">
          <a:xfrm>
            <a:off x="14333304" y="10354235"/>
            <a:ext cx="403412" cy="67235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3176"/>
          </a:p>
        </p:txBody>
      </p:sp>
      <p:sp>
        <p:nvSpPr>
          <p:cNvPr id="31773" name="Line 31">
            <a:extLst>
              <a:ext uri="{FF2B5EF4-FFF2-40B4-BE49-F238E27FC236}">
                <a16:creationId xmlns:a16="http://schemas.microsoft.com/office/drawing/2014/main" id="{0F43AA59-2CA2-49E0-91BF-27B12F8BE68A}"/>
              </a:ext>
            </a:extLst>
          </p:cNvPr>
          <p:cNvSpPr>
            <a:spLocks noChangeShapeType="1"/>
          </p:cNvSpPr>
          <p:nvPr/>
        </p:nvSpPr>
        <p:spPr bwMode="auto">
          <a:xfrm>
            <a:off x="13660952" y="9547412"/>
            <a:ext cx="1479176" cy="26894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3176"/>
          </a:p>
        </p:txBody>
      </p:sp>
      <p:sp>
        <p:nvSpPr>
          <p:cNvPr id="31774" name="Text Box 32">
            <a:extLst>
              <a:ext uri="{FF2B5EF4-FFF2-40B4-BE49-F238E27FC236}">
                <a16:creationId xmlns:a16="http://schemas.microsoft.com/office/drawing/2014/main" id="{6EB353BE-528A-49DA-A963-ACCFC1A98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6466" y="9082368"/>
            <a:ext cx="2805576" cy="2047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>
                <a:solidFill>
                  <a:srgbClr val="FF0000"/>
                </a:solidFill>
              </a:rPr>
              <a:t>Which “if”</a:t>
            </a:r>
          </a:p>
          <a:p>
            <a:r>
              <a:rPr lang="en-US" altLang="en-US" sz="4235">
                <a:solidFill>
                  <a:srgbClr val="FF0000"/>
                </a:solidFill>
              </a:rPr>
              <a:t>is the “else”</a:t>
            </a:r>
          </a:p>
          <a:p>
            <a:r>
              <a:rPr lang="en-US" altLang="en-US" sz="4235">
                <a:solidFill>
                  <a:srgbClr val="FF0000"/>
                </a:solidFill>
              </a:rPr>
              <a:t>attached to?</a:t>
            </a:r>
          </a:p>
        </p:txBody>
      </p:sp>
      <p:sp>
        <p:nvSpPr>
          <p:cNvPr id="31" name="Date Placeholder 3">
            <a:extLst>
              <a:ext uri="{FF2B5EF4-FFF2-40B4-BE49-F238E27FC236}">
                <a16:creationId xmlns:a16="http://schemas.microsoft.com/office/drawing/2014/main" id="{7EBD9BF6-FE4C-4873-916A-65728A872757}"/>
              </a:ext>
            </a:extLst>
          </p:cNvPr>
          <p:cNvSpPr txBox="1">
            <a:spLocks/>
          </p:cNvSpPr>
          <p:nvPr/>
        </p:nvSpPr>
        <p:spPr>
          <a:xfrm>
            <a:off x="8583562" y="11933692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0D512AF8-910D-4A5F-9EDF-258E9D7779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02880" y="1552014"/>
            <a:ext cx="17068377" cy="99409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Grammar for Closest-if Rule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5CCC622B-F6FC-476B-B8EA-D80EC1BB4E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94446" y="4228354"/>
            <a:ext cx="16741354" cy="7531846"/>
          </a:xfrm>
        </p:spPr>
        <p:txBody>
          <a:bodyPr>
            <a:normAutofit/>
          </a:bodyPr>
          <a:lstStyle/>
          <a:p>
            <a:r>
              <a:rPr lang="en-US" altLang="en-US" sz="5400" dirty="0"/>
              <a:t>Want to rule out: if (E) </a:t>
            </a:r>
            <a:r>
              <a:rPr lang="en-US" altLang="en-US" sz="5400" u="sng" dirty="0"/>
              <a:t>if (E) S</a:t>
            </a:r>
            <a:r>
              <a:rPr lang="en-US" altLang="en-US" sz="5400" dirty="0"/>
              <a:t> else S</a:t>
            </a:r>
          </a:p>
          <a:p>
            <a:r>
              <a:rPr lang="en-US" altLang="en-US" sz="5400" dirty="0"/>
              <a:t>Impose that unmatched “if” statements occur only on the “else” clauses</a:t>
            </a:r>
          </a:p>
          <a:p>
            <a:pPr lvl="1"/>
            <a:r>
              <a:rPr lang="en-US" altLang="en-US" sz="4400" dirty="0"/>
              <a:t>statement </a:t>
            </a:r>
            <a:r>
              <a:rPr lang="en-US" altLang="en-US" sz="4400" dirty="0">
                <a:sym typeface="Wingdings" panose="05000000000000000000" pitchFamily="2" charset="2"/>
              </a:rPr>
              <a:t> matched | unmatched</a:t>
            </a:r>
          </a:p>
          <a:p>
            <a:pPr lvl="1"/>
            <a:r>
              <a:rPr lang="en-US" altLang="en-US" sz="4400" dirty="0">
                <a:sym typeface="Wingdings" panose="05000000000000000000" pitchFamily="2" charset="2"/>
              </a:rPr>
              <a:t>matched  if (E) matched else matched |                 </a:t>
            </a:r>
            <a:br>
              <a:rPr lang="en-US" altLang="en-US" sz="4400" dirty="0">
                <a:sym typeface="Wingdings" panose="05000000000000000000" pitchFamily="2" charset="2"/>
              </a:rPr>
            </a:br>
            <a:r>
              <a:rPr lang="en-US" altLang="en-US" sz="4400" dirty="0">
                <a:sym typeface="Wingdings" panose="05000000000000000000" pitchFamily="2" charset="2"/>
              </a:rPr>
              <a:t>                   other</a:t>
            </a:r>
          </a:p>
          <a:p>
            <a:pPr lvl="1"/>
            <a:r>
              <a:rPr lang="en-US" altLang="en-US" sz="4400" dirty="0">
                <a:sym typeface="Wingdings" panose="05000000000000000000" pitchFamily="2" charset="2"/>
              </a:rPr>
              <a:t>unmatched  if (E) statement |</a:t>
            </a:r>
            <a:br>
              <a:rPr lang="en-US" altLang="en-US" sz="4400" dirty="0">
                <a:sym typeface="Wingdings" panose="05000000000000000000" pitchFamily="2" charset="2"/>
              </a:rPr>
            </a:br>
            <a:r>
              <a:rPr lang="en-US" altLang="en-US" sz="4400" dirty="0">
                <a:sym typeface="Wingdings" panose="05000000000000000000" pitchFamily="2" charset="2"/>
              </a:rPr>
              <a:t>		        if (E) matched else unmatched</a:t>
            </a:r>
            <a:endParaRPr lang="en-US" altLang="en-US" sz="4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6A9F4-15CB-4CB5-9C13-FF3761BE0675}"/>
              </a:ext>
            </a:extLst>
          </p:cNvPr>
          <p:cNvSpPr txBox="1">
            <a:spLocks/>
          </p:cNvSpPr>
          <p:nvPr/>
        </p:nvSpPr>
        <p:spPr>
          <a:xfrm>
            <a:off x="8583562" y="11955994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E4E4B-FB27-4BEB-84EF-A5963C425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9EAAA-FFDD-4A73-94A9-1F39B8519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6600" dirty="0"/>
              <a:t>Techniques to derive input token string for given grammar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D71CF-C19F-430D-8B60-5913D9F71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128C3EF-B6D8-4ECA-BDB7-93DAEE60F2F5}"/>
              </a:ext>
            </a:extLst>
          </p:cNvPr>
          <p:cNvSpPr txBox="1">
            <a:spLocks/>
          </p:cNvSpPr>
          <p:nvPr/>
        </p:nvSpPr>
        <p:spPr>
          <a:xfrm>
            <a:off x="8583562" y="11955997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  <p:extLst>
      <p:ext uri="{BB962C8B-B14F-4D97-AF65-F5344CB8AC3E}">
        <p14:creationId xmlns:p14="http://schemas.microsoft.com/office/powerpoint/2010/main" val="1014402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>
            <a:extLst>
              <a:ext uri="{FF2B5EF4-FFF2-40B4-BE49-F238E27FC236}">
                <a16:creationId xmlns:a16="http://schemas.microsoft.com/office/drawing/2014/main" id="{F7EDCA59-37C4-4F7A-BD10-357AC8215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1485900" indent="-5715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22860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32004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41148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50292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59436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68580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77724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CD92590-C361-48DD-99B6-E93120ADA5D9}" type="slidenum">
              <a:rPr lang="en-US" altLang="en-US" sz="2800"/>
              <a:pPr/>
              <a:t>23</a:t>
            </a:fld>
            <a:endParaRPr lang="en-US" altLang="en-US" sz="28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FF86D9FE-A536-4103-9B77-7C376BCADB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02881" y="1964265"/>
            <a:ext cx="17068377" cy="120268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Parsing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5197B7B7-366A-41C6-8735-1FC6847971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02879" y="4326673"/>
            <a:ext cx="17068377" cy="7425063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4400" i="1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Universal</a:t>
            </a:r>
            <a:r>
              <a:rPr lang="en-US" altLang="en-US" sz="440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 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(any C-F grammar)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400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Cocke-Younger-Kasimi</a:t>
            </a:r>
            <a:endParaRPr lang="en-US" altLang="en-US" sz="4000" dirty="0">
              <a:latin typeface="Times" panose="02020603050405020304" pitchFamily="18" charset="0"/>
              <a:ea typeface="ＭＳ Ｐゴシック" panose="020B0600070205080204" pitchFamily="34" charset="-128"/>
              <a:cs typeface="Times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4000" dirty="0" err="1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Earley</a:t>
            </a:r>
            <a:endParaRPr lang="en-US" altLang="en-US" sz="4000" dirty="0">
              <a:latin typeface="Times" panose="02020603050405020304" pitchFamily="18" charset="0"/>
              <a:ea typeface="ＭＳ Ｐゴシック" panose="020B0600070205080204" pitchFamily="34" charset="-128"/>
              <a:cs typeface="Times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4400" b="1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Top-down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 (C-F grammar </a:t>
            </a:r>
            <a:r>
              <a:rPr lang="en-US" altLang="en-US" sz="440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with restrictions)</a:t>
            </a:r>
            <a:endParaRPr lang="en-US" altLang="en-US" sz="4400" dirty="0">
              <a:latin typeface="Times" panose="02020603050405020304" pitchFamily="18" charset="0"/>
              <a:ea typeface="ＭＳ Ｐゴシック" panose="020B0600070205080204" pitchFamily="34" charset="-128"/>
              <a:cs typeface="Times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400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Recursive descent </a:t>
            </a:r>
            <a:r>
              <a:rPr lang="en-US" altLang="en-US" sz="40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(</a:t>
            </a:r>
            <a:r>
              <a:rPr lang="en-US" altLang="en-US" sz="400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predictive parsing</a:t>
            </a:r>
            <a:r>
              <a:rPr lang="en-US" altLang="en-US" sz="40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40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LL (Left-to-right</a:t>
            </a:r>
            <a:r>
              <a:rPr lang="en-US" altLang="en-US" sz="400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, Leftmost </a:t>
            </a:r>
            <a:r>
              <a:rPr lang="en-US" altLang="en-US" sz="40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derivation</a:t>
            </a:r>
            <a:r>
              <a:rPr lang="en-US" altLang="en-US" sz="400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) methods</a:t>
            </a:r>
            <a:endParaRPr lang="en-US" altLang="en-US" sz="4000" dirty="0">
              <a:latin typeface="Times" panose="02020603050405020304" pitchFamily="18" charset="0"/>
              <a:ea typeface="ＭＳ Ｐゴシック" panose="020B0600070205080204" pitchFamily="34" charset="-128"/>
              <a:cs typeface="Times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4400" b="1" i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Bottom-up</a:t>
            </a:r>
            <a:r>
              <a:rPr lang="en-US" altLang="en-US" sz="4400" b="1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 </a:t>
            </a:r>
            <a:r>
              <a:rPr lang="en-US" altLang="en-US" sz="44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(C-F grammar </a:t>
            </a:r>
            <a:r>
              <a:rPr lang="en-US" altLang="en-US" sz="440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with restrictions)</a:t>
            </a:r>
            <a:endParaRPr lang="en-US" altLang="en-US" sz="4400" dirty="0">
              <a:latin typeface="Times" panose="02020603050405020304" pitchFamily="18" charset="0"/>
              <a:ea typeface="ＭＳ Ｐゴシック" panose="020B0600070205080204" pitchFamily="34" charset="-128"/>
              <a:cs typeface="Times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40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Operator </a:t>
            </a:r>
            <a:r>
              <a:rPr lang="en-US" altLang="en-US" sz="400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precedence parsing</a:t>
            </a:r>
            <a:endParaRPr lang="en-US" altLang="en-US" sz="4000" dirty="0">
              <a:latin typeface="Times" panose="02020603050405020304" pitchFamily="18" charset="0"/>
              <a:ea typeface="ＭＳ Ｐゴシック" panose="020B0600070205080204" pitchFamily="34" charset="-128"/>
              <a:cs typeface="Times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40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LR (Left-to-right</a:t>
            </a:r>
            <a:r>
              <a:rPr lang="en-US" altLang="en-US" sz="400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, Rightmost </a:t>
            </a:r>
            <a:r>
              <a:rPr lang="en-US" altLang="en-US" sz="4000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derivation</a:t>
            </a:r>
            <a:r>
              <a:rPr lang="en-US" altLang="en-US" sz="400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) methods</a:t>
            </a:r>
            <a:endParaRPr lang="en-US" altLang="en-US" sz="4000" dirty="0">
              <a:latin typeface="Times" panose="02020603050405020304" pitchFamily="18" charset="0"/>
              <a:ea typeface="ＭＳ Ｐゴシック" panose="020B0600070205080204" pitchFamily="34" charset="-128"/>
              <a:cs typeface="Times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en-US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SLR</a:t>
            </a:r>
            <a:r>
              <a:rPr lang="en-US" altLang="en-US" dirty="0">
                <a:latin typeface="Times" panose="02020603050405020304" pitchFamily="18" charset="0"/>
                <a:ea typeface="ＭＳ Ｐゴシック" panose="020B0600070205080204" pitchFamily="34" charset="-128"/>
                <a:cs typeface="Times" panose="02020603050405020304" pitchFamily="18" charset="0"/>
              </a:rPr>
              <a:t>, canonical LR, LALR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C09EB6E-46AE-4121-8550-1ABFD56A7F60}"/>
              </a:ext>
            </a:extLst>
          </p:cNvPr>
          <p:cNvSpPr txBox="1">
            <a:spLocks/>
          </p:cNvSpPr>
          <p:nvPr/>
        </p:nvSpPr>
        <p:spPr>
          <a:xfrm>
            <a:off x="8583562" y="11955994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>
            <a:extLst>
              <a:ext uri="{FF2B5EF4-FFF2-40B4-BE49-F238E27FC236}">
                <a16:creationId xmlns:a16="http://schemas.microsoft.com/office/drawing/2014/main" id="{35233EF5-BE76-403A-8120-DE34B73CB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4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485900" indent="-571500">
              <a:spcBef>
                <a:spcPct val="20000"/>
              </a:spcBef>
              <a:buChar char="–"/>
              <a:defRPr sz="5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22860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320040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4114800" indent="-4572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5029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5943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68580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7772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39C08B1-9C60-465C-8D4B-5FE34D67DFC3}" type="slidenum">
              <a:rPr lang="en-US" altLang="en-US" sz="160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600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046305C7-C792-41B9-800E-A3338FE871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02881" y="1964265"/>
            <a:ext cx="17068377" cy="1117606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Parsers 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5EEDB1E7-D364-4FE9-9B3C-C9B6F64F90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23479" y="3810000"/>
            <a:ext cx="17068377" cy="7399871"/>
          </a:xfrm>
        </p:spPr>
        <p:txBody>
          <a:bodyPr>
            <a:normAutofit/>
          </a:bodyPr>
          <a:lstStyle/>
          <a:p>
            <a:pPr marL="914400" indent="-914400">
              <a:buFontTx/>
              <a:buAutoNum type="arabicPeriod"/>
              <a:defRPr/>
            </a:pPr>
            <a:r>
              <a:rPr lang="en-US" altLang="en-US" sz="4800" b="1" dirty="0"/>
              <a:t>Top-Down Parser</a:t>
            </a:r>
          </a:p>
          <a:p>
            <a:pPr marL="1600200" lvl="1" indent="-685800">
              <a:defRPr/>
            </a:pPr>
            <a:r>
              <a:rPr lang="en-US" altLang="en-US" sz="4400" dirty="0"/>
              <a:t>the parse tree is created top to bottom, starting from the root.</a:t>
            </a:r>
          </a:p>
          <a:p>
            <a:pPr lvl="1">
              <a:defRPr/>
            </a:pPr>
            <a:r>
              <a:rPr lang="en-IN" sz="4400" dirty="0"/>
              <a:t>Beginning with the start symbol, try to guess the productions to apply to end up at the </a:t>
            </a:r>
            <a:r>
              <a:rPr lang="en-US" sz="4400" dirty="0"/>
              <a:t>user's program</a:t>
            </a:r>
            <a:endParaRPr lang="en-US" altLang="en-US" sz="4400" dirty="0"/>
          </a:p>
          <a:p>
            <a:pPr marL="914400" indent="-914400">
              <a:buFontTx/>
              <a:buAutoNum type="arabicPeriod"/>
              <a:defRPr/>
            </a:pPr>
            <a:r>
              <a:rPr lang="en-US" altLang="en-US" sz="4800" b="1" dirty="0"/>
              <a:t>Bottom-Up Parser</a:t>
            </a:r>
          </a:p>
          <a:p>
            <a:pPr marL="1600200" lvl="1" indent="-685800">
              <a:defRPr/>
            </a:pPr>
            <a:r>
              <a:rPr lang="en-US" altLang="en-US" sz="4400" dirty="0"/>
              <a:t>the parse is created bottom to top; starting from the leaves</a:t>
            </a:r>
          </a:p>
          <a:p>
            <a:pPr lvl="1">
              <a:defRPr/>
            </a:pPr>
            <a:r>
              <a:rPr lang="en-IN" sz="4400" dirty="0"/>
              <a:t>Beginning with the user's program, try to apply productions in reverse to convert the program back into the start symbol</a:t>
            </a:r>
            <a:endParaRPr lang="en-US" altLang="en-US" sz="4400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B5FCAD3-0775-4FF9-967F-2569FB6AC1ED}"/>
              </a:ext>
            </a:extLst>
          </p:cNvPr>
          <p:cNvSpPr txBox="1">
            <a:spLocks/>
          </p:cNvSpPr>
          <p:nvPr/>
        </p:nvSpPr>
        <p:spPr>
          <a:xfrm>
            <a:off x="8583562" y="11621464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>
            <a:extLst>
              <a:ext uri="{FF2B5EF4-FFF2-40B4-BE49-F238E27FC236}">
                <a16:creationId xmlns:a16="http://schemas.microsoft.com/office/drawing/2014/main" id="{D754D20F-2609-4292-8550-EEA29D631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785628" y="11909897"/>
            <a:ext cx="964771" cy="46796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1485900" indent="-5715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22860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32004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41148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50292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59436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68580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77724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705C09E-0E29-447B-9546-82211D20BFE9}" type="slidenum">
              <a:rPr lang="en-US" altLang="en-US" sz="2800"/>
              <a:pPr/>
              <a:t>25</a:t>
            </a:fld>
            <a:endParaRPr lang="en-US" altLang="en-US" sz="28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6A700965-F5CE-4B0C-9701-01E888DC65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02881" y="1964265"/>
            <a:ext cx="17068377" cy="1406515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Top-Down Parsing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57B4933-7DC4-4E6A-A193-8AD650B569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82020" y="3346163"/>
            <a:ext cx="17068377" cy="5558850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L</a:t>
            </a:r>
            <a:r>
              <a:rPr lang="en-US" altLang="en-US" b="1" dirty="0">
                <a:solidFill>
                  <a:schemeClr val="accent4"/>
                </a:solidFill>
                <a:ea typeface="ＭＳ Ｐゴシック" panose="020B0600070205080204" pitchFamily="34" charset="-128"/>
              </a:rPr>
              <a:t>L</a:t>
            </a:r>
            <a:r>
              <a:rPr lang="en-US" altLang="en-US" dirty="0">
                <a:ea typeface="ＭＳ Ｐゴシック" panose="020B0600070205080204" pitchFamily="34" charset="-128"/>
              </a:rPr>
              <a:t> methods (</a:t>
            </a:r>
            <a:r>
              <a:rPr lang="en-US" altLang="en-US" sz="66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L</a:t>
            </a:r>
            <a:r>
              <a:rPr lang="en-US" altLang="en-US" dirty="0">
                <a:ea typeface="ＭＳ Ｐゴシック" panose="020B0600070205080204" pitchFamily="34" charset="-128"/>
              </a:rPr>
              <a:t>eft-to-right, </a:t>
            </a:r>
            <a:r>
              <a:rPr lang="en-US" altLang="en-US" sz="6600" dirty="0">
                <a:solidFill>
                  <a:schemeClr val="accent4"/>
                </a:solidFill>
                <a:ea typeface="ＭＳ Ｐゴシック" panose="020B0600070205080204" pitchFamily="34" charset="-128"/>
              </a:rPr>
              <a:t>L</a:t>
            </a:r>
            <a:r>
              <a:rPr lang="en-US" altLang="en-US" dirty="0">
                <a:ea typeface="ＭＳ Ｐゴシック" panose="020B0600070205080204" pitchFamily="34" charset="-128"/>
              </a:rPr>
              <a:t>eftmost derivation) and recursive-descent parsing</a:t>
            </a:r>
          </a:p>
        </p:txBody>
      </p:sp>
      <p:sp>
        <p:nvSpPr>
          <p:cNvPr id="16389" name="Rectangle 4">
            <a:extLst>
              <a:ext uri="{FF2B5EF4-FFF2-40B4-BE49-F238E27FC236}">
                <a16:creationId xmlns:a16="http://schemas.microsoft.com/office/drawing/2014/main" id="{5A70967C-9050-41FA-83AD-0A996F492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7236" y="4700626"/>
            <a:ext cx="2821606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4800">
                <a:sym typeface="Symbol" panose="05050102010706020507" pitchFamily="18" charset="2"/>
              </a:rPr>
              <a:t>Grammar:</a:t>
            </a:r>
            <a:br>
              <a:rPr lang="en-US" altLang="en-US" sz="4800">
                <a:sym typeface="Symbol" panose="05050102010706020507" pitchFamily="18" charset="2"/>
              </a:rPr>
            </a:br>
            <a:r>
              <a:rPr lang="en-US" altLang="en-US" sz="4800" i="1">
                <a:sym typeface="Symbol" panose="05050102010706020507" pitchFamily="18" charset="2"/>
              </a:rPr>
              <a:t>E</a:t>
            </a:r>
            <a:r>
              <a:rPr lang="en-US" altLang="en-US" sz="4800">
                <a:sym typeface="Symbol" panose="05050102010706020507" pitchFamily="18" charset="2"/>
              </a:rPr>
              <a:t>  </a:t>
            </a:r>
            <a:r>
              <a:rPr lang="en-US" altLang="en-US" sz="4800" i="1">
                <a:sym typeface="Symbol" panose="05050102010706020507" pitchFamily="18" charset="2"/>
              </a:rPr>
              <a:t>T</a:t>
            </a:r>
            <a:r>
              <a:rPr lang="en-US" altLang="en-US" sz="4800">
                <a:sym typeface="Symbol" panose="05050102010706020507" pitchFamily="18" charset="2"/>
              </a:rPr>
              <a:t> </a:t>
            </a:r>
            <a:r>
              <a:rPr lang="en-US" altLang="en-US" sz="4800" b="1">
                <a:sym typeface="Symbol" panose="05050102010706020507" pitchFamily="18" charset="2"/>
              </a:rPr>
              <a:t>+</a:t>
            </a:r>
            <a:r>
              <a:rPr lang="en-US" altLang="en-US" sz="4800">
                <a:sym typeface="Symbol" panose="05050102010706020507" pitchFamily="18" charset="2"/>
              </a:rPr>
              <a:t> </a:t>
            </a:r>
            <a:r>
              <a:rPr lang="en-US" altLang="en-US" sz="4800" i="1">
                <a:sym typeface="Symbol" panose="05050102010706020507" pitchFamily="18" charset="2"/>
              </a:rPr>
              <a:t>T</a:t>
            </a:r>
            <a:br>
              <a:rPr lang="en-US" altLang="en-US" sz="4800" i="1">
                <a:sym typeface="Symbol" panose="05050102010706020507" pitchFamily="18" charset="2"/>
              </a:rPr>
            </a:br>
            <a:r>
              <a:rPr lang="en-US" altLang="en-US" sz="4800" i="1">
                <a:sym typeface="Symbol" panose="05050102010706020507" pitchFamily="18" charset="2"/>
              </a:rPr>
              <a:t>T</a:t>
            </a:r>
            <a:r>
              <a:rPr lang="en-US" altLang="en-US" sz="4800">
                <a:sym typeface="Symbol" panose="05050102010706020507" pitchFamily="18" charset="2"/>
              </a:rPr>
              <a:t>  </a:t>
            </a:r>
            <a:r>
              <a:rPr lang="en-US" altLang="en-US" sz="4800" b="1">
                <a:sym typeface="Symbol" panose="05050102010706020507" pitchFamily="18" charset="2"/>
              </a:rPr>
              <a:t>(</a:t>
            </a:r>
            <a:r>
              <a:rPr lang="en-US" altLang="en-US" sz="4800">
                <a:sym typeface="Symbol" panose="05050102010706020507" pitchFamily="18" charset="2"/>
              </a:rPr>
              <a:t> </a:t>
            </a:r>
            <a:r>
              <a:rPr lang="en-US" altLang="en-US" sz="4800" i="1">
                <a:sym typeface="Symbol" panose="05050102010706020507" pitchFamily="18" charset="2"/>
              </a:rPr>
              <a:t>E</a:t>
            </a:r>
            <a:r>
              <a:rPr lang="en-US" altLang="en-US" sz="4800">
                <a:sym typeface="Symbol" panose="05050102010706020507" pitchFamily="18" charset="2"/>
              </a:rPr>
              <a:t> </a:t>
            </a:r>
            <a:r>
              <a:rPr lang="en-US" altLang="en-US" sz="4800" b="1">
                <a:sym typeface="Symbol" panose="05050102010706020507" pitchFamily="18" charset="2"/>
              </a:rPr>
              <a:t>)</a:t>
            </a:r>
            <a:br>
              <a:rPr lang="en-US" altLang="en-US" sz="4800">
                <a:sym typeface="Symbol" panose="05050102010706020507" pitchFamily="18" charset="2"/>
              </a:rPr>
            </a:br>
            <a:r>
              <a:rPr lang="en-US" altLang="en-US" sz="4800" i="1">
                <a:sym typeface="Symbol" panose="05050102010706020507" pitchFamily="18" charset="2"/>
              </a:rPr>
              <a:t>T</a:t>
            </a:r>
            <a:r>
              <a:rPr lang="en-US" altLang="en-US" sz="4800">
                <a:sym typeface="Symbol" panose="05050102010706020507" pitchFamily="18" charset="2"/>
              </a:rPr>
              <a:t>  </a:t>
            </a:r>
            <a:r>
              <a:rPr lang="en-US" altLang="en-US" sz="4800" b="1">
                <a:sym typeface="Symbol" panose="05050102010706020507" pitchFamily="18" charset="2"/>
              </a:rPr>
              <a:t>-</a:t>
            </a:r>
            <a:r>
              <a:rPr lang="en-US" altLang="en-US" sz="4800">
                <a:sym typeface="Symbol" panose="05050102010706020507" pitchFamily="18" charset="2"/>
              </a:rPr>
              <a:t> </a:t>
            </a:r>
            <a:r>
              <a:rPr lang="en-US" altLang="en-US" sz="4800" i="1">
                <a:sym typeface="Symbol" panose="05050102010706020507" pitchFamily="18" charset="2"/>
              </a:rPr>
              <a:t>E</a:t>
            </a:r>
            <a:br>
              <a:rPr lang="en-US" altLang="en-US" sz="4800">
                <a:sym typeface="Symbol" panose="05050102010706020507" pitchFamily="18" charset="2"/>
              </a:rPr>
            </a:br>
            <a:r>
              <a:rPr lang="en-US" altLang="en-US" sz="4800" i="1">
                <a:sym typeface="Symbol" panose="05050102010706020507" pitchFamily="18" charset="2"/>
              </a:rPr>
              <a:t>T</a:t>
            </a:r>
            <a:r>
              <a:rPr lang="en-US" altLang="en-US" sz="4800">
                <a:sym typeface="Symbol" panose="05050102010706020507" pitchFamily="18" charset="2"/>
              </a:rPr>
              <a:t>  </a:t>
            </a:r>
            <a:r>
              <a:rPr lang="en-US" altLang="en-US" sz="4800" b="1">
                <a:sym typeface="Symbol" panose="05050102010706020507" pitchFamily="18" charset="2"/>
              </a:rPr>
              <a:t>id</a:t>
            </a:r>
            <a:endParaRPr lang="en-US" altLang="en-US" sz="4800">
              <a:sym typeface="Symbol" panose="05050102010706020507" pitchFamily="18" charset="2"/>
            </a:endParaRPr>
          </a:p>
        </p:txBody>
      </p:sp>
      <p:sp>
        <p:nvSpPr>
          <p:cNvPr id="16390" name="Rectangle 5">
            <a:extLst>
              <a:ext uri="{FF2B5EF4-FFF2-40B4-BE49-F238E27FC236}">
                <a16:creationId xmlns:a16="http://schemas.microsoft.com/office/drawing/2014/main" id="{FE6880B7-ED86-4C17-BFF4-1FDC1A096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8611" y="4754602"/>
            <a:ext cx="5229317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4800">
                <a:sym typeface="Symbol" panose="05050102010706020507" pitchFamily="18" charset="2"/>
              </a:rPr>
              <a:t>Leftmost </a:t>
            </a:r>
            <a:r>
              <a:rPr lang="en-US" altLang="en-US" sz="4800" dirty="0">
                <a:sym typeface="Symbol" panose="05050102010706020507" pitchFamily="18" charset="2"/>
              </a:rPr>
              <a:t>derivation:</a:t>
            </a:r>
            <a:br>
              <a:rPr lang="en-US" altLang="en-US" sz="4800" dirty="0">
                <a:sym typeface="Symbol" panose="05050102010706020507" pitchFamily="18" charset="2"/>
              </a:rPr>
            </a:br>
            <a:r>
              <a:rPr lang="en-US" altLang="en-US" sz="4800" i="1" dirty="0">
                <a:sym typeface="Symbol" panose="05050102010706020507" pitchFamily="18" charset="2"/>
              </a:rPr>
              <a:t>E</a:t>
            </a:r>
            <a:r>
              <a:rPr lang="en-US" altLang="en-US" sz="4800" dirty="0">
                <a:sym typeface="Symbol" panose="05050102010706020507" pitchFamily="18" charset="2"/>
              </a:rPr>
              <a:t> </a:t>
            </a:r>
            <a:r>
              <a:rPr lang="en-US" altLang="en-US" sz="4800" i="1" baseline="-25000" dirty="0" err="1">
                <a:sym typeface="Symbol" panose="05050102010706020507" pitchFamily="18" charset="2"/>
              </a:rPr>
              <a:t>lm</a:t>
            </a:r>
            <a:r>
              <a:rPr lang="en-US" altLang="en-US" sz="4800" dirty="0">
                <a:sym typeface="Symbol" panose="05050102010706020507" pitchFamily="18" charset="2"/>
              </a:rPr>
              <a:t> </a:t>
            </a:r>
            <a:r>
              <a:rPr lang="en-US" altLang="en-US" sz="4800" i="1" dirty="0">
                <a:sym typeface="Symbol" panose="05050102010706020507" pitchFamily="18" charset="2"/>
              </a:rPr>
              <a:t>T </a:t>
            </a:r>
            <a:r>
              <a:rPr lang="en-US" altLang="en-US" sz="4800" b="1" dirty="0">
                <a:sym typeface="Symbol" panose="05050102010706020507" pitchFamily="18" charset="2"/>
              </a:rPr>
              <a:t>+</a:t>
            </a:r>
            <a:r>
              <a:rPr lang="en-US" altLang="en-US" sz="4800" i="1" dirty="0">
                <a:sym typeface="Symbol" panose="05050102010706020507" pitchFamily="18" charset="2"/>
              </a:rPr>
              <a:t> T</a:t>
            </a:r>
            <a:br>
              <a:rPr lang="en-US" altLang="en-US" sz="4800" i="1" dirty="0">
                <a:sym typeface="Symbol" panose="05050102010706020507" pitchFamily="18" charset="2"/>
              </a:rPr>
            </a:br>
            <a:r>
              <a:rPr lang="en-US" altLang="en-US" sz="4800" dirty="0">
                <a:sym typeface="Symbol" panose="05050102010706020507" pitchFamily="18" charset="2"/>
              </a:rPr>
              <a:t>   </a:t>
            </a:r>
            <a:r>
              <a:rPr lang="en-US" altLang="en-US" sz="4800" i="1" baseline="-25000" dirty="0" err="1">
                <a:sym typeface="Symbol" panose="05050102010706020507" pitchFamily="18" charset="2"/>
              </a:rPr>
              <a:t>lm</a:t>
            </a:r>
            <a:r>
              <a:rPr lang="en-US" altLang="en-US" sz="4800" dirty="0">
                <a:sym typeface="Symbol" panose="05050102010706020507" pitchFamily="18" charset="2"/>
              </a:rPr>
              <a:t> </a:t>
            </a:r>
            <a:r>
              <a:rPr lang="en-US" altLang="en-US" sz="4800" b="1" dirty="0">
                <a:sym typeface="Symbol" panose="05050102010706020507" pitchFamily="18" charset="2"/>
              </a:rPr>
              <a:t>id</a:t>
            </a:r>
            <a:r>
              <a:rPr lang="en-US" altLang="en-US" sz="4800" dirty="0">
                <a:sym typeface="Symbol" panose="05050102010706020507" pitchFamily="18" charset="2"/>
              </a:rPr>
              <a:t> </a:t>
            </a:r>
            <a:r>
              <a:rPr lang="en-US" altLang="en-US" sz="4800" b="1" dirty="0">
                <a:sym typeface="Symbol" panose="05050102010706020507" pitchFamily="18" charset="2"/>
              </a:rPr>
              <a:t>+</a:t>
            </a:r>
            <a:r>
              <a:rPr lang="en-US" altLang="en-US" sz="4800" dirty="0">
                <a:sym typeface="Symbol" panose="05050102010706020507" pitchFamily="18" charset="2"/>
              </a:rPr>
              <a:t> </a:t>
            </a:r>
            <a:r>
              <a:rPr lang="en-US" altLang="en-US" sz="4800" i="1" dirty="0">
                <a:sym typeface="Symbol" panose="05050102010706020507" pitchFamily="18" charset="2"/>
              </a:rPr>
              <a:t>T</a:t>
            </a:r>
            <a:br>
              <a:rPr lang="en-US" altLang="en-US" sz="4800" b="1" dirty="0">
                <a:sym typeface="Symbol" panose="05050102010706020507" pitchFamily="18" charset="2"/>
              </a:rPr>
            </a:br>
            <a:r>
              <a:rPr lang="en-US" altLang="en-US" sz="4800" dirty="0">
                <a:sym typeface="Symbol" panose="05050102010706020507" pitchFamily="18" charset="2"/>
              </a:rPr>
              <a:t>   </a:t>
            </a:r>
            <a:r>
              <a:rPr lang="en-US" altLang="en-US" sz="4800" i="1" baseline="-25000" dirty="0" err="1">
                <a:sym typeface="Symbol" panose="05050102010706020507" pitchFamily="18" charset="2"/>
              </a:rPr>
              <a:t>lm</a:t>
            </a:r>
            <a:r>
              <a:rPr lang="en-US" altLang="en-US" sz="4800" i="1" baseline="-25000" dirty="0">
                <a:sym typeface="Symbol" panose="05050102010706020507" pitchFamily="18" charset="2"/>
              </a:rPr>
              <a:t> </a:t>
            </a:r>
            <a:r>
              <a:rPr lang="en-US" altLang="en-US" sz="4800" b="1" dirty="0">
                <a:sym typeface="Symbol" panose="05050102010706020507" pitchFamily="18" charset="2"/>
              </a:rPr>
              <a:t>id + id</a:t>
            </a:r>
          </a:p>
        </p:txBody>
      </p:sp>
      <p:sp>
        <p:nvSpPr>
          <p:cNvPr id="16391" name="Text Box 6">
            <a:extLst>
              <a:ext uri="{FF2B5EF4-FFF2-40B4-BE49-F238E27FC236}">
                <a16:creationId xmlns:a16="http://schemas.microsoft.com/office/drawing/2014/main" id="{BE0A672D-70FD-4D79-82E1-25EDD3035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8210" y="8688427"/>
            <a:ext cx="56137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4800" i="1"/>
              <a:t>E</a:t>
            </a:r>
            <a:endParaRPr lang="en-US" altLang="en-US" sz="4800"/>
          </a:p>
        </p:txBody>
      </p:sp>
      <p:sp>
        <p:nvSpPr>
          <p:cNvPr id="16392" name="Text Box 31">
            <a:extLst>
              <a:ext uri="{FF2B5EF4-FFF2-40B4-BE49-F238E27FC236}">
                <a16:creationId xmlns:a16="http://schemas.microsoft.com/office/drawing/2014/main" id="{4065E5F2-90F8-423F-AE6F-D84B20B7B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11810" y="8688427"/>
            <a:ext cx="56137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4800" i="1"/>
              <a:t>E</a:t>
            </a:r>
            <a:endParaRPr lang="en-US" altLang="en-US" sz="4800"/>
          </a:p>
        </p:txBody>
      </p:sp>
      <p:sp>
        <p:nvSpPr>
          <p:cNvPr id="16393" name="Text Box 32">
            <a:extLst>
              <a:ext uri="{FF2B5EF4-FFF2-40B4-BE49-F238E27FC236}">
                <a16:creationId xmlns:a16="http://schemas.microsoft.com/office/drawing/2014/main" id="{170AC147-F060-4C09-8752-22EF51938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3811" y="10060027"/>
            <a:ext cx="52770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4800" i="1"/>
              <a:t>T</a:t>
            </a:r>
            <a:endParaRPr lang="en-US" altLang="en-US" sz="4800"/>
          </a:p>
        </p:txBody>
      </p:sp>
      <p:sp>
        <p:nvSpPr>
          <p:cNvPr id="16394" name="Text Box 33">
            <a:extLst>
              <a:ext uri="{FF2B5EF4-FFF2-40B4-BE49-F238E27FC236}">
                <a16:creationId xmlns:a16="http://schemas.microsoft.com/office/drawing/2014/main" id="{4D6096E5-AE23-4E56-B0B5-3ECA2411D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89586" y="11279227"/>
            <a:ext cx="53572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4800" b="1"/>
              <a:t>+</a:t>
            </a:r>
            <a:endParaRPr lang="en-US" altLang="en-US" sz="4800"/>
          </a:p>
        </p:txBody>
      </p:sp>
      <p:sp>
        <p:nvSpPr>
          <p:cNvPr id="16395" name="Text Box 34">
            <a:extLst>
              <a:ext uri="{FF2B5EF4-FFF2-40B4-BE49-F238E27FC236}">
                <a16:creationId xmlns:a16="http://schemas.microsoft.com/office/drawing/2014/main" id="{DB34D838-A642-4444-8A2C-BEDFDD4E9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45011" y="10060027"/>
            <a:ext cx="52770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4800" i="1"/>
              <a:t>T</a:t>
            </a:r>
            <a:endParaRPr lang="en-US" altLang="en-US" sz="4800"/>
          </a:p>
        </p:txBody>
      </p:sp>
      <p:sp>
        <p:nvSpPr>
          <p:cNvPr id="16396" name="Line 35">
            <a:extLst>
              <a:ext uri="{FF2B5EF4-FFF2-40B4-BE49-F238E27FC236}">
                <a16:creationId xmlns:a16="http://schemas.microsoft.com/office/drawing/2014/main" id="{F6E0759A-6469-469D-AF8F-354149D74B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479987" y="9450426"/>
            <a:ext cx="650874" cy="63813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3600"/>
          </a:p>
        </p:txBody>
      </p:sp>
      <p:sp>
        <p:nvSpPr>
          <p:cNvPr id="16397" name="Line 36">
            <a:extLst>
              <a:ext uri="{FF2B5EF4-FFF2-40B4-BE49-F238E27FC236}">
                <a16:creationId xmlns:a16="http://schemas.microsoft.com/office/drawing/2014/main" id="{45182335-FBB7-4B5F-BB92-3EF627A380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394387" y="9450426"/>
            <a:ext cx="41274" cy="165914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3600"/>
          </a:p>
        </p:txBody>
      </p:sp>
      <p:sp>
        <p:nvSpPr>
          <p:cNvPr id="16398" name="Line 37">
            <a:extLst>
              <a:ext uri="{FF2B5EF4-FFF2-40B4-BE49-F238E27FC236}">
                <a16:creationId xmlns:a16="http://schemas.microsoft.com/office/drawing/2014/main" id="{86970739-3290-4B21-8DF5-49A57F6618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40461" y="9450426"/>
            <a:ext cx="568326" cy="63813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3600"/>
          </a:p>
        </p:txBody>
      </p:sp>
      <p:sp>
        <p:nvSpPr>
          <p:cNvPr id="16399" name="Line 38">
            <a:extLst>
              <a:ext uri="{FF2B5EF4-FFF2-40B4-BE49-F238E27FC236}">
                <a16:creationId xmlns:a16="http://schemas.microsoft.com/office/drawing/2014/main" id="{3455880F-32B3-4B89-9254-1EDD67CDE35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08786" y="10822026"/>
            <a:ext cx="0" cy="5105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3600"/>
          </a:p>
        </p:txBody>
      </p:sp>
      <p:sp>
        <p:nvSpPr>
          <p:cNvPr id="16400" name="Text Box 39">
            <a:extLst>
              <a:ext uri="{FF2B5EF4-FFF2-40B4-BE49-F238E27FC236}">
                <a16:creationId xmlns:a16="http://schemas.microsoft.com/office/drawing/2014/main" id="{7232E1BE-B2CA-4554-B83A-5FB7AAA0B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51586" y="11279227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4800" b="1"/>
              <a:t>id</a:t>
            </a:r>
            <a:endParaRPr lang="en-US" altLang="en-US" sz="4800"/>
          </a:p>
        </p:txBody>
      </p:sp>
      <p:sp>
        <p:nvSpPr>
          <p:cNvPr id="16401" name="Text Box 40">
            <a:extLst>
              <a:ext uri="{FF2B5EF4-FFF2-40B4-BE49-F238E27FC236}">
                <a16:creationId xmlns:a16="http://schemas.microsoft.com/office/drawing/2014/main" id="{5EF0110F-AC4F-4D47-B050-EECE27A0C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60886" y="11279227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4800" b="1"/>
              <a:t>id</a:t>
            </a:r>
            <a:endParaRPr lang="en-US" altLang="en-US" sz="4800"/>
          </a:p>
        </p:txBody>
      </p:sp>
      <p:sp>
        <p:nvSpPr>
          <p:cNvPr id="16402" name="Line 41">
            <a:extLst>
              <a:ext uri="{FF2B5EF4-FFF2-40B4-BE49-F238E27FC236}">
                <a16:creationId xmlns:a16="http://schemas.microsoft.com/office/drawing/2014/main" id="{A44FADDB-FAE6-4820-B60D-A24C8B1D3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3479986" y="10822026"/>
            <a:ext cx="0" cy="5105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3600"/>
          </a:p>
        </p:txBody>
      </p:sp>
      <p:sp>
        <p:nvSpPr>
          <p:cNvPr id="16403" name="Text Box 42">
            <a:extLst>
              <a:ext uri="{FF2B5EF4-FFF2-40B4-BE49-F238E27FC236}">
                <a16:creationId xmlns:a16="http://schemas.microsoft.com/office/drawing/2014/main" id="{85B7D464-E54D-4A5C-A41F-23B624101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6036" y="8688427"/>
            <a:ext cx="56137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4800" i="1"/>
              <a:t>E</a:t>
            </a:r>
            <a:endParaRPr lang="en-US" altLang="en-US" sz="4800"/>
          </a:p>
        </p:txBody>
      </p:sp>
      <p:sp>
        <p:nvSpPr>
          <p:cNvPr id="16404" name="Text Box 43">
            <a:extLst>
              <a:ext uri="{FF2B5EF4-FFF2-40B4-BE49-F238E27FC236}">
                <a16:creationId xmlns:a16="http://schemas.microsoft.com/office/drawing/2014/main" id="{4812C555-93DA-43AC-81D5-6A52275D5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8037" y="10060027"/>
            <a:ext cx="52770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4800" i="1"/>
              <a:t>T</a:t>
            </a:r>
            <a:endParaRPr lang="en-US" altLang="en-US" sz="4800"/>
          </a:p>
        </p:txBody>
      </p:sp>
      <p:sp>
        <p:nvSpPr>
          <p:cNvPr id="16405" name="Text Box 44">
            <a:extLst>
              <a:ext uri="{FF2B5EF4-FFF2-40B4-BE49-F238E27FC236}">
                <a16:creationId xmlns:a16="http://schemas.microsoft.com/office/drawing/2014/main" id="{CB2B37C3-3AC2-4140-9D34-8B46F8E57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9237" y="10060027"/>
            <a:ext cx="52770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4800" i="1"/>
              <a:t>T</a:t>
            </a:r>
            <a:endParaRPr lang="en-US" altLang="en-US" sz="4800"/>
          </a:p>
        </p:txBody>
      </p:sp>
      <p:sp>
        <p:nvSpPr>
          <p:cNvPr id="16406" name="Line 45">
            <a:extLst>
              <a:ext uri="{FF2B5EF4-FFF2-40B4-BE49-F238E27FC236}">
                <a16:creationId xmlns:a16="http://schemas.microsoft.com/office/drawing/2014/main" id="{3E4B4598-3464-4F33-8437-733D8F8B8E0E}"/>
              </a:ext>
            </a:extLst>
          </p:cNvPr>
          <p:cNvSpPr>
            <a:spLocks noChangeShapeType="1"/>
          </p:cNvSpPr>
          <p:nvPr/>
        </p:nvSpPr>
        <p:spPr bwMode="auto">
          <a:xfrm>
            <a:off x="7904686" y="9450426"/>
            <a:ext cx="568324" cy="63813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3600"/>
          </a:p>
        </p:txBody>
      </p:sp>
      <p:sp>
        <p:nvSpPr>
          <p:cNvPr id="16407" name="Line 46">
            <a:extLst>
              <a:ext uri="{FF2B5EF4-FFF2-40B4-BE49-F238E27FC236}">
                <a16:creationId xmlns:a16="http://schemas.microsoft.com/office/drawing/2014/main" id="{5AB06724-1E0C-4016-828C-A1C3C196A0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66437" y="9450426"/>
            <a:ext cx="650874" cy="63813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3600"/>
          </a:p>
        </p:txBody>
      </p:sp>
      <p:sp>
        <p:nvSpPr>
          <p:cNvPr id="16408" name="Text Box 47">
            <a:extLst>
              <a:ext uri="{FF2B5EF4-FFF2-40B4-BE49-F238E27FC236}">
                <a16:creationId xmlns:a16="http://schemas.microsoft.com/office/drawing/2014/main" id="{D0A486D5-9CEF-44F9-956F-8ED2655D0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6036" y="11279227"/>
            <a:ext cx="53572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4800" b="1"/>
              <a:t>+</a:t>
            </a:r>
            <a:endParaRPr lang="en-US" altLang="en-US" sz="4800"/>
          </a:p>
        </p:txBody>
      </p:sp>
      <p:sp>
        <p:nvSpPr>
          <p:cNvPr id="16409" name="Line 48">
            <a:extLst>
              <a:ext uri="{FF2B5EF4-FFF2-40B4-BE49-F238E27FC236}">
                <a16:creationId xmlns:a16="http://schemas.microsoft.com/office/drawing/2014/main" id="{9944685C-A4C9-4F7F-B1BC-C5152ACE56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80837" y="9450426"/>
            <a:ext cx="41274" cy="165914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3600"/>
          </a:p>
        </p:txBody>
      </p:sp>
      <p:sp>
        <p:nvSpPr>
          <p:cNvPr id="16410" name="Text Box 49">
            <a:extLst>
              <a:ext uri="{FF2B5EF4-FFF2-40B4-BE49-F238E27FC236}">
                <a16:creationId xmlns:a16="http://schemas.microsoft.com/office/drawing/2014/main" id="{3C630C23-1A01-4A00-9245-831B8F64B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81236" y="8688427"/>
            <a:ext cx="56137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4800" i="1"/>
              <a:t>E</a:t>
            </a:r>
            <a:endParaRPr lang="en-US" altLang="en-US" sz="4800"/>
          </a:p>
        </p:txBody>
      </p:sp>
      <p:sp>
        <p:nvSpPr>
          <p:cNvPr id="16411" name="Text Box 50">
            <a:extLst>
              <a:ext uri="{FF2B5EF4-FFF2-40B4-BE49-F238E27FC236}">
                <a16:creationId xmlns:a16="http://schemas.microsoft.com/office/drawing/2014/main" id="{0EC6A07D-1BB9-4A66-AC55-0634B8B77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43237" y="10060027"/>
            <a:ext cx="52770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4800" i="1"/>
              <a:t>T</a:t>
            </a:r>
            <a:endParaRPr lang="en-US" altLang="en-US" sz="4800"/>
          </a:p>
        </p:txBody>
      </p:sp>
      <p:sp>
        <p:nvSpPr>
          <p:cNvPr id="16412" name="Text Box 51">
            <a:extLst>
              <a:ext uri="{FF2B5EF4-FFF2-40B4-BE49-F238E27FC236}">
                <a16:creationId xmlns:a16="http://schemas.microsoft.com/office/drawing/2014/main" id="{30A983F8-FEB4-490F-BFAD-C2644B37F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9010" y="11279227"/>
            <a:ext cx="53572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4800" b="1"/>
              <a:t>+</a:t>
            </a:r>
            <a:endParaRPr lang="en-US" altLang="en-US" sz="4800"/>
          </a:p>
        </p:txBody>
      </p:sp>
      <p:sp>
        <p:nvSpPr>
          <p:cNvPr id="16413" name="Text Box 52">
            <a:extLst>
              <a:ext uri="{FF2B5EF4-FFF2-40B4-BE49-F238E27FC236}">
                <a16:creationId xmlns:a16="http://schemas.microsoft.com/office/drawing/2014/main" id="{6F70AF6F-5B59-4488-90FE-19C702667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4437" y="10060027"/>
            <a:ext cx="52770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4800" i="1"/>
              <a:t>T</a:t>
            </a:r>
            <a:endParaRPr lang="en-US" altLang="en-US" sz="4800"/>
          </a:p>
        </p:txBody>
      </p:sp>
      <p:sp>
        <p:nvSpPr>
          <p:cNvPr id="16414" name="Line 53">
            <a:extLst>
              <a:ext uri="{FF2B5EF4-FFF2-40B4-BE49-F238E27FC236}">
                <a16:creationId xmlns:a16="http://schemas.microsoft.com/office/drawing/2014/main" id="{18756DBB-A571-4781-9AB3-42378E5137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149410" y="9450426"/>
            <a:ext cx="650876" cy="63813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3600"/>
          </a:p>
        </p:txBody>
      </p:sp>
      <p:sp>
        <p:nvSpPr>
          <p:cNvPr id="16415" name="Line 54">
            <a:extLst>
              <a:ext uri="{FF2B5EF4-FFF2-40B4-BE49-F238E27FC236}">
                <a16:creationId xmlns:a16="http://schemas.microsoft.com/office/drawing/2014/main" id="{2C7A282D-385C-4ACD-90C0-0A44EF9CF6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063810" y="9450426"/>
            <a:ext cx="41276" cy="165914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3600"/>
          </a:p>
        </p:txBody>
      </p:sp>
      <p:sp>
        <p:nvSpPr>
          <p:cNvPr id="16416" name="Line 55">
            <a:extLst>
              <a:ext uri="{FF2B5EF4-FFF2-40B4-BE49-F238E27FC236}">
                <a16:creationId xmlns:a16="http://schemas.microsoft.com/office/drawing/2014/main" id="{4A7DD5A1-13B6-4745-A97F-A8B883599C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09886" y="9450426"/>
            <a:ext cx="568324" cy="63813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3600"/>
          </a:p>
        </p:txBody>
      </p:sp>
      <p:sp>
        <p:nvSpPr>
          <p:cNvPr id="16417" name="Text Box 58">
            <a:extLst>
              <a:ext uri="{FF2B5EF4-FFF2-40B4-BE49-F238E27FC236}">
                <a16:creationId xmlns:a16="http://schemas.microsoft.com/office/drawing/2014/main" id="{39505BFD-A379-4FB4-94F6-D1B7C8079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0310" y="11279227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4800" b="1"/>
              <a:t>id</a:t>
            </a:r>
            <a:endParaRPr lang="en-US" altLang="en-US" sz="4800"/>
          </a:p>
        </p:txBody>
      </p:sp>
      <p:sp>
        <p:nvSpPr>
          <p:cNvPr id="16418" name="Line 59">
            <a:extLst>
              <a:ext uri="{FF2B5EF4-FFF2-40B4-BE49-F238E27FC236}">
                <a16:creationId xmlns:a16="http://schemas.microsoft.com/office/drawing/2014/main" id="{7366B040-F747-42CB-AA3E-5563179E0E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49410" y="10822026"/>
            <a:ext cx="0" cy="5105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3600"/>
          </a:p>
        </p:txBody>
      </p:sp>
      <p:sp>
        <p:nvSpPr>
          <p:cNvPr id="16419" name="AutoShape 60">
            <a:extLst>
              <a:ext uri="{FF2B5EF4-FFF2-40B4-BE49-F238E27FC236}">
                <a16:creationId xmlns:a16="http://schemas.microsoft.com/office/drawing/2014/main" id="{645B218B-0A20-4B74-B403-FB7913DB5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30610" y="8840826"/>
            <a:ext cx="1219200" cy="1021012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4800"/>
          </a:p>
        </p:txBody>
      </p:sp>
      <p:sp>
        <p:nvSpPr>
          <p:cNvPr id="16420" name="AutoShape 63">
            <a:extLst>
              <a:ext uri="{FF2B5EF4-FFF2-40B4-BE49-F238E27FC236}">
                <a16:creationId xmlns:a16="http://schemas.microsoft.com/office/drawing/2014/main" id="{6CB712B4-D405-4989-A925-44D998EDB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7810" y="8840826"/>
            <a:ext cx="1219200" cy="1021012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4800"/>
          </a:p>
        </p:txBody>
      </p:sp>
      <p:sp>
        <p:nvSpPr>
          <p:cNvPr id="16421" name="AutoShape 64">
            <a:extLst>
              <a:ext uri="{FF2B5EF4-FFF2-40B4-BE49-F238E27FC236}">
                <a16:creationId xmlns:a16="http://schemas.microsoft.com/office/drawing/2014/main" id="{E4F555C2-41F6-49DF-8487-3DDCD7A05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2610" y="8840826"/>
            <a:ext cx="1219200" cy="1021012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4800"/>
          </a:p>
        </p:txBody>
      </p:sp>
      <p:sp>
        <p:nvSpPr>
          <p:cNvPr id="38" name="Date Placeholder 3">
            <a:extLst>
              <a:ext uri="{FF2B5EF4-FFF2-40B4-BE49-F238E27FC236}">
                <a16:creationId xmlns:a16="http://schemas.microsoft.com/office/drawing/2014/main" id="{0DF5F159-5A3F-44EB-99B1-9CB3A73964E1}"/>
              </a:ext>
            </a:extLst>
          </p:cNvPr>
          <p:cNvSpPr txBox="1">
            <a:spLocks/>
          </p:cNvSpPr>
          <p:nvPr/>
        </p:nvSpPr>
        <p:spPr>
          <a:xfrm>
            <a:off x="8583562" y="11978300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76A6D41-FC4F-43DB-B026-713399C0E6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02881" y="1964265"/>
            <a:ext cx="17068377" cy="57573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Problem with Top-Down Parsing</a:t>
            </a:r>
          </a:p>
        </p:txBody>
      </p:sp>
      <p:sp>
        <p:nvSpPr>
          <p:cNvPr id="35843" name="Text Box 3">
            <a:extLst>
              <a:ext uri="{FF2B5EF4-FFF2-40B4-BE49-F238E27FC236}">
                <a16:creationId xmlns:a16="http://schemas.microsoft.com/office/drawing/2014/main" id="{BF29845F-A8A0-4F96-8D82-D9A95DE30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3540" y="3065078"/>
            <a:ext cx="12565235" cy="1613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941" dirty="0"/>
              <a:t>Want to decide which production to apply based </a:t>
            </a:r>
          </a:p>
          <a:p>
            <a:r>
              <a:rPr lang="en-US" altLang="en-US" sz="4941" dirty="0"/>
              <a:t>on next symbol</a:t>
            </a:r>
          </a:p>
        </p:txBody>
      </p:sp>
      <p:sp>
        <p:nvSpPr>
          <p:cNvPr id="35844" name="Text Box 4">
            <a:extLst>
              <a:ext uri="{FF2B5EF4-FFF2-40B4-BE49-F238E27FC236}">
                <a16:creationId xmlns:a16="http://schemas.microsoft.com/office/drawing/2014/main" id="{8C57FA5D-89A7-4F7F-81C4-5317153BB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3540" y="6589059"/>
            <a:ext cx="11028981" cy="2047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>
                <a:solidFill>
                  <a:schemeClr val="accent1"/>
                </a:solidFill>
              </a:rPr>
              <a:t>Ex1: “(1)”		S </a:t>
            </a:r>
            <a:r>
              <a:rPr lang="en-US" altLang="en-US" sz="4235">
                <a:solidFill>
                  <a:schemeClr val="accent1"/>
                </a:solidFill>
                <a:sym typeface="Wingdings" panose="05000000000000000000" pitchFamily="2" charset="2"/>
              </a:rPr>
              <a:t> E  (S)  (E)  (1)</a:t>
            </a:r>
          </a:p>
          <a:p>
            <a:r>
              <a:rPr lang="en-US" altLang="en-US" sz="4235">
                <a:solidFill>
                  <a:schemeClr val="accent1"/>
                </a:solidFill>
                <a:sym typeface="Wingdings" panose="05000000000000000000" pitchFamily="2" charset="2"/>
              </a:rPr>
              <a:t>Ex2: “(1)+2”		S  </a:t>
            </a:r>
            <a:r>
              <a:rPr lang="en-US" altLang="en-US" sz="4235" u="sng">
                <a:solidFill>
                  <a:schemeClr val="accent1"/>
                </a:solidFill>
                <a:sym typeface="Wingdings" panose="05000000000000000000" pitchFamily="2" charset="2"/>
              </a:rPr>
              <a:t>E+S</a:t>
            </a:r>
            <a:r>
              <a:rPr lang="en-US" altLang="en-US" sz="4235">
                <a:solidFill>
                  <a:schemeClr val="accent1"/>
                </a:solidFill>
                <a:sym typeface="Wingdings" panose="05000000000000000000" pitchFamily="2" charset="2"/>
              </a:rPr>
              <a:t>  (S)+S  (E)+S</a:t>
            </a:r>
          </a:p>
          <a:p>
            <a:r>
              <a:rPr lang="en-US" altLang="en-US" sz="4235">
                <a:solidFill>
                  <a:schemeClr val="accent1"/>
                </a:solidFill>
                <a:sym typeface="Wingdings" panose="05000000000000000000" pitchFamily="2" charset="2"/>
              </a:rPr>
              <a:t>                                        (1)+E  (1)+2</a:t>
            </a:r>
            <a:endParaRPr lang="en-US" altLang="en-US" sz="4235">
              <a:solidFill>
                <a:schemeClr val="accent1"/>
              </a:solidFill>
            </a:endParaRPr>
          </a:p>
        </p:txBody>
      </p:sp>
      <p:sp>
        <p:nvSpPr>
          <p:cNvPr id="35845" name="Text Box 5">
            <a:extLst>
              <a:ext uri="{FF2B5EF4-FFF2-40B4-BE49-F238E27FC236}">
                <a16:creationId xmlns:a16="http://schemas.microsoft.com/office/drawing/2014/main" id="{60AD8E8A-F08A-484C-B853-FE5C45AAC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3541" y="4840942"/>
            <a:ext cx="3331361" cy="1395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S </a:t>
            </a:r>
            <a:r>
              <a:rPr lang="en-US" altLang="en-US" sz="4235">
                <a:sym typeface="Wingdings" panose="05000000000000000000" pitchFamily="2" charset="2"/>
              </a:rPr>
              <a:t> E + S | E</a:t>
            </a:r>
          </a:p>
          <a:p>
            <a:r>
              <a:rPr lang="en-US" altLang="en-US" sz="4235">
                <a:sym typeface="Wingdings" panose="05000000000000000000" pitchFamily="2" charset="2"/>
              </a:rPr>
              <a:t>E  num | (S)</a:t>
            </a:r>
            <a:endParaRPr lang="en-US" altLang="en-US" sz="4235"/>
          </a:p>
        </p:txBody>
      </p:sp>
      <p:sp>
        <p:nvSpPr>
          <p:cNvPr id="35846" name="Text Box 6">
            <a:extLst>
              <a:ext uri="{FF2B5EF4-FFF2-40B4-BE49-F238E27FC236}">
                <a16:creationId xmlns:a16="http://schemas.microsoft.com/office/drawing/2014/main" id="{DAECED4C-935C-4719-80EE-80492CFC4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8011" y="9278472"/>
            <a:ext cx="11764759" cy="1395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4235"/>
              <a:t>How did you know to pick E+S in Ex2, if you picked</a:t>
            </a:r>
          </a:p>
          <a:p>
            <a:r>
              <a:rPr lang="en-US" altLang="en-US" sz="4235"/>
              <a:t>E followed by (S), you couldn’t parse it?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EA4A67C-3B4D-42A2-B2B7-31F1D147BA05}"/>
              </a:ext>
            </a:extLst>
          </p:cNvPr>
          <p:cNvSpPr txBox="1">
            <a:spLocks/>
          </p:cNvSpPr>
          <p:nvPr/>
        </p:nvSpPr>
        <p:spPr>
          <a:xfrm>
            <a:off x="8583562" y="11955994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2AAD8-2832-4D7B-A978-163EF29F8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Issue with Top-down parsing </a:t>
            </a:r>
            <a:br>
              <a:rPr lang="en-IN" dirty="0"/>
            </a:br>
            <a:r>
              <a:rPr lang="en-IN" dirty="0"/>
              <a:t>Number of backtracking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FFD8B-B77C-458F-A535-721386B99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8601" y="5113864"/>
            <a:ext cx="18796000" cy="6637872"/>
          </a:xfrm>
        </p:spPr>
        <p:txBody>
          <a:bodyPr/>
          <a:lstStyle/>
          <a:p>
            <a:r>
              <a:rPr lang="en-IN" dirty="0"/>
              <a:t>Backtracking algorithms are not –efficient</a:t>
            </a:r>
          </a:p>
          <a:p>
            <a:r>
              <a:rPr lang="en-IN" dirty="0"/>
              <a:t>Steps of Top-down parsing of input string : cad  for Grammar: S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 err="1">
                <a:sym typeface="Wingdings" panose="05000000000000000000" pitchFamily="2" charset="2"/>
              </a:rPr>
              <a:t>cAd</a:t>
            </a:r>
            <a:r>
              <a:rPr lang="en-IN" dirty="0">
                <a:sym typeface="Wingdings" panose="05000000000000000000" pitchFamily="2" charset="2"/>
              </a:rPr>
              <a:t> , </a:t>
            </a:r>
            <a:r>
              <a:rPr lang="en-IN" dirty="0" err="1">
                <a:sym typeface="Wingdings" panose="05000000000000000000" pitchFamily="2" charset="2"/>
              </a:rPr>
              <a:t>Aab</a:t>
            </a:r>
            <a:r>
              <a:rPr lang="en-IN" dirty="0">
                <a:sym typeface="Wingdings" panose="05000000000000000000" pitchFamily="2" charset="2"/>
              </a:rPr>
              <a:t> |a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endParaRPr lang="en-IN" dirty="0">
              <a:sym typeface="Wingdings" panose="05000000000000000000" pitchFamily="2" charset="2"/>
            </a:endParaRPr>
          </a:p>
          <a:p>
            <a:endParaRPr lang="en-IN" dirty="0">
              <a:sym typeface="Wingdings" panose="05000000000000000000" pitchFamily="2" charset="2"/>
            </a:endParaRPr>
          </a:p>
          <a:p>
            <a:endParaRPr lang="en-IN" dirty="0">
              <a:sym typeface="Wingdings" panose="05000000000000000000" pitchFamily="2" charset="2"/>
            </a:endParaRPr>
          </a:p>
          <a:p>
            <a:r>
              <a:rPr lang="en-IN" dirty="0">
                <a:sym typeface="Wingdings" panose="05000000000000000000" pitchFamily="2" charset="2"/>
              </a:rPr>
              <a:t>Solution : Predictive Parser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D2C0E-3532-46C6-A223-A3A0D6350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27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8FDBE5-C345-495B-9A6E-DA01C3A81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138" y="6858000"/>
            <a:ext cx="17637862" cy="3683000"/>
          </a:xfrm>
          <a:prstGeom prst="rect">
            <a:avLst/>
          </a:prstGeom>
        </p:spPr>
      </p:pic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446CC60-319A-4229-8F19-D409626810D7}"/>
              </a:ext>
            </a:extLst>
          </p:cNvPr>
          <p:cNvSpPr txBox="1">
            <a:spLocks/>
          </p:cNvSpPr>
          <p:nvPr/>
        </p:nvSpPr>
        <p:spPr>
          <a:xfrm>
            <a:off x="8583562" y="11621464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  <p:extLst>
      <p:ext uri="{BB962C8B-B14F-4D97-AF65-F5344CB8AC3E}">
        <p14:creationId xmlns:p14="http://schemas.microsoft.com/office/powerpoint/2010/main" val="3863951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>
            <a:extLst>
              <a:ext uri="{FF2B5EF4-FFF2-40B4-BE49-F238E27FC236}">
                <a16:creationId xmlns:a16="http://schemas.microsoft.com/office/drawing/2014/main" id="{22B65489-45E8-4CE4-8859-EEA9F9FD4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1485900" indent="-5715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22860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32004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41148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50292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59436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68580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77724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AF089121-0C12-4F00-BED1-BF1897FA8F3F}" type="slidenum">
              <a:rPr lang="en-US" altLang="en-US" sz="2800"/>
              <a:pPr/>
              <a:t>28</a:t>
            </a:fld>
            <a:endParaRPr lang="en-US" altLang="en-US" sz="2800"/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B6237A04-CECD-432B-87E5-094642FF44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Productions of the form</a:t>
            </a:r>
            <a:br>
              <a:rPr lang="en-US" altLang="en-US" dirty="0">
                <a:ea typeface="ＭＳ Ｐゴシック" panose="020B0600070205080204" pitchFamily="34" charset="-128"/>
              </a:rPr>
            </a:br>
            <a:r>
              <a:rPr lang="en-US" altLang="en-US" dirty="0">
                <a:ea typeface="ＭＳ Ｐゴシック" panose="020B0600070205080204" pitchFamily="34" charset="-128"/>
              </a:rPr>
              <a:t> 	</a:t>
            </a:r>
            <a:r>
              <a:rPr lang="en-US" altLang="en-US" b="1" i="1" dirty="0">
                <a:ea typeface="ＭＳ Ｐゴシック" panose="020B0600070205080204" pitchFamily="34" charset="-128"/>
              </a:rPr>
              <a:t>A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 </a:t>
            </a:r>
            <a:r>
              <a:rPr lang="en-US" altLang="en-US" b="1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en-US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 </a:t>
            </a:r>
            <a:b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	      </a:t>
            </a:r>
            <a:r>
              <a:rPr lang="en-US" altLang="en-US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|</a:t>
            </a:r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 </a:t>
            </a:r>
            <a:b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	      | </a:t>
            </a:r>
            <a:b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are left recursive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When one of the productions in a grammar is left recursive then a predictive parser loops forever on certain inputs</a:t>
            </a: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03F1B2D4-AC90-4E54-803F-FEA8ED436E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Left Recursion </a:t>
            </a:r>
            <a:r>
              <a:rPr lang="en-US" altLang="en-US" dirty="0">
                <a:ea typeface="ＭＳ Ｐゴシック" panose="020B0600070205080204" pitchFamily="34" charset="-128"/>
              </a:rPr>
              <a:t>(Recap)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B8AEC3A-B74E-4329-B962-AC21C3208A74}"/>
              </a:ext>
            </a:extLst>
          </p:cNvPr>
          <p:cNvSpPr txBox="1">
            <a:spLocks/>
          </p:cNvSpPr>
          <p:nvPr/>
        </p:nvSpPr>
        <p:spPr>
          <a:xfrm>
            <a:off x="8583562" y="11621464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4">
            <a:extLst>
              <a:ext uri="{FF2B5EF4-FFF2-40B4-BE49-F238E27FC236}">
                <a16:creationId xmlns:a16="http://schemas.microsoft.com/office/drawing/2014/main" id="{6E2145CB-4099-4CC1-8EC2-7F9894D00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1485900" indent="-5715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22860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32004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41148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50292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59436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68580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77724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D40DC1C-48CA-4E8C-91D5-BCF5654CBC39}" type="slidenum">
              <a:rPr lang="en-US" altLang="en-US" sz="2800"/>
              <a:pPr/>
              <a:t>29</a:t>
            </a:fld>
            <a:endParaRPr lang="en-US" altLang="en-US" sz="28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109C1C55-ADF8-4A0E-AC7C-FBF496E345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02881" y="1964265"/>
            <a:ext cx="17068377" cy="778935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5400" dirty="0">
                <a:ea typeface="ＭＳ Ｐゴシック" panose="020B0600070205080204" pitchFamily="34" charset="-128"/>
              </a:rPr>
              <a:t>A General Systematic Left Recursion Elimination Method</a:t>
            </a:r>
          </a:p>
        </p:txBody>
      </p:sp>
      <p:sp>
        <p:nvSpPr>
          <p:cNvPr id="18436" name="Text Box 3">
            <a:extLst>
              <a:ext uri="{FF2B5EF4-FFF2-40B4-BE49-F238E27FC236}">
                <a16:creationId xmlns:a16="http://schemas.microsoft.com/office/drawing/2014/main" id="{C80FDB84-0BB8-48AA-92A3-671AF9DED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9199" y="2967002"/>
            <a:ext cx="12340238" cy="8894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4400" i="1" dirty="0">
                <a:sym typeface="Symbol" panose="05050102010706020507" pitchFamily="18" charset="2"/>
              </a:rPr>
              <a:t>Input: Grammar G with no cycles or </a:t>
            </a:r>
            <a:r>
              <a:rPr lang="en-US" altLang="en-US" sz="4400" dirty="0">
                <a:sym typeface="Symbol" panose="05050102010706020507" pitchFamily="18" charset="2"/>
              </a:rPr>
              <a:t>-</a:t>
            </a:r>
            <a:r>
              <a:rPr lang="en-US" altLang="en-US" sz="4400" i="1" dirty="0">
                <a:sym typeface="Symbol" panose="05050102010706020507" pitchFamily="18" charset="2"/>
              </a:rPr>
              <a:t>productions</a:t>
            </a:r>
          </a:p>
          <a:p>
            <a:r>
              <a:rPr lang="en-US" altLang="en-US" sz="4400" dirty="0"/>
              <a:t>Arrange the </a:t>
            </a:r>
            <a:r>
              <a:rPr lang="en-US" altLang="en-US" sz="4400" dirty="0" err="1"/>
              <a:t>nonterminals</a:t>
            </a:r>
            <a:r>
              <a:rPr lang="en-US" altLang="en-US" sz="4400" dirty="0"/>
              <a:t> in some order </a:t>
            </a:r>
            <a:r>
              <a:rPr lang="en-US" altLang="en-US" sz="4400" i="1" dirty="0"/>
              <a:t>A</a:t>
            </a:r>
            <a:r>
              <a:rPr lang="en-US" altLang="en-US" sz="4400" baseline="-25000" dirty="0"/>
              <a:t>1</a:t>
            </a:r>
            <a:r>
              <a:rPr lang="en-US" altLang="en-US" sz="4400" dirty="0"/>
              <a:t>, </a:t>
            </a:r>
            <a:r>
              <a:rPr lang="en-US" altLang="en-US" sz="4400" i="1" dirty="0"/>
              <a:t>A</a:t>
            </a:r>
            <a:r>
              <a:rPr lang="en-US" altLang="en-US" sz="4400" baseline="-25000" dirty="0"/>
              <a:t>2</a:t>
            </a:r>
            <a:r>
              <a:rPr lang="en-US" altLang="en-US" sz="4400" dirty="0"/>
              <a:t>, …, </a:t>
            </a:r>
            <a:r>
              <a:rPr lang="en-US" altLang="en-US" sz="4400" i="1" dirty="0"/>
              <a:t>A</a:t>
            </a:r>
            <a:r>
              <a:rPr lang="en-US" altLang="en-US" sz="4400" i="1" baseline="-25000" dirty="0"/>
              <a:t>n</a:t>
            </a:r>
            <a:br>
              <a:rPr lang="en-US" altLang="en-US" sz="4400" i="1" baseline="-25000" dirty="0"/>
            </a:br>
            <a:r>
              <a:rPr lang="en-US" altLang="en-US" sz="4400" b="1" dirty="0"/>
              <a:t>for</a:t>
            </a:r>
            <a:r>
              <a:rPr lang="en-US" altLang="en-US" sz="4400" dirty="0"/>
              <a:t> </a:t>
            </a:r>
            <a:r>
              <a:rPr lang="en-US" altLang="en-US" sz="4400" i="1" dirty="0" err="1"/>
              <a:t>i</a:t>
            </a:r>
            <a:r>
              <a:rPr lang="en-US" altLang="en-US" sz="4400" dirty="0"/>
              <a:t> = 1, …, </a:t>
            </a:r>
            <a:r>
              <a:rPr lang="en-US" altLang="en-US" sz="4400" i="1" dirty="0"/>
              <a:t>n</a:t>
            </a:r>
            <a:r>
              <a:rPr lang="en-US" altLang="en-US" sz="4400" dirty="0"/>
              <a:t> </a:t>
            </a:r>
            <a:r>
              <a:rPr lang="en-US" altLang="en-US" sz="4400" b="1" dirty="0"/>
              <a:t>do</a:t>
            </a:r>
            <a:br>
              <a:rPr lang="en-US" altLang="en-US" sz="4400" dirty="0"/>
            </a:br>
            <a:r>
              <a:rPr lang="en-US" altLang="en-US" sz="4400" dirty="0"/>
              <a:t>	</a:t>
            </a:r>
            <a:r>
              <a:rPr lang="en-US" altLang="en-US" sz="4400" b="1" dirty="0"/>
              <a:t>for</a:t>
            </a:r>
            <a:r>
              <a:rPr lang="en-US" altLang="en-US" sz="4400" dirty="0"/>
              <a:t> </a:t>
            </a:r>
            <a:r>
              <a:rPr lang="en-US" altLang="en-US" sz="4400" i="1" dirty="0"/>
              <a:t>j</a:t>
            </a:r>
            <a:r>
              <a:rPr lang="en-US" altLang="en-US" sz="4400" dirty="0"/>
              <a:t> = 1, …, </a:t>
            </a:r>
            <a:r>
              <a:rPr lang="en-US" altLang="en-US" sz="4400" i="1" dirty="0"/>
              <a:t>i</a:t>
            </a:r>
            <a:r>
              <a:rPr lang="en-US" altLang="en-US" sz="4400" dirty="0"/>
              <a:t>-1 </a:t>
            </a:r>
            <a:r>
              <a:rPr lang="en-US" altLang="en-US" sz="4400" b="1" dirty="0"/>
              <a:t>do       ||substitution</a:t>
            </a:r>
            <a:br>
              <a:rPr lang="en-US" altLang="en-US" sz="4400" dirty="0"/>
            </a:br>
            <a:r>
              <a:rPr lang="en-US" altLang="en-US" sz="4400" dirty="0"/>
              <a:t>		replace each</a:t>
            </a:r>
            <a:br>
              <a:rPr lang="en-US" altLang="en-US" sz="4400" dirty="0"/>
            </a:br>
            <a:r>
              <a:rPr lang="en-US" altLang="en-US" sz="4400" dirty="0"/>
              <a:t>			</a:t>
            </a:r>
            <a:r>
              <a:rPr lang="en-US" altLang="en-US" sz="4400" i="1" dirty="0"/>
              <a:t>A</a:t>
            </a:r>
            <a:r>
              <a:rPr lang="en-US" altLang="en-US" sz="4400" i="1" baseline="-25000" dirty="0"/>
              <a:t>i</a:t>
            </a:r>
            <a:r>
              <a:rPr lang="en-US" altLang="en-US" sz="4400" dirty="0"/>
              <a:t> </a:t>
            </a:r>
            <a:r>
              <a:rPr lang="en-US" altLang="en-US" sz="4400" dirty="0">
                <a:sym typeface="Symbol" panose="05050102010706020507" pitchFamily="18" charset="2"/>
              </a:rPr>
              <a:t> </a:t>
            </a:r>
            <a:r>
              <a:rPr lang="en-US" altLang="en-US" sz="4400" i="1" dirty="0" err="1">
                <a:sym typeface="Symbol" panose="05050102010706020507" pitchFamily="18" charset="2"/>
              </a:rPr>
              <a:t>A</a:t>
            </a:r>
            <a:r>
              <a:rPr lang="en-US" altLang="en-US" sz="4400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sz="4400" dirty="0">
                <a:sym typeface="Symbol" panose="05050102010706020507" pitchFamily="18" charset="2"/>
              </a:rPr>
              <a:t> </a:t>
            </a:r>
            <a:br>
              <a:rPr lang="en-US" altLang="en-US" sz="4400" dirty="0">
                <a:sym typeface="Symbol" panose="05050102010706020507" pitchFamily="18" charset="2"/>
              </a:rPr>
            </a:br>
            <a:r>
              <a:rPr lang="en-US" altLang="en-US" sz="4400" dirty="0">
                <a:sym typeface="Symbol" panose="05050102010706020507" pitchFamily="18" charset="2"/>
              </a:rPr>
              <a:t>		with</a:t>
            </a:r>
            <a:br>
              <a:rPr lang="en-US" altLang="en-US" sz="4400" dirty="0">
                <a:sym typeface="Symbol" panose="05050102010706020507" pitchFamily="18" charset="2"/>
              </a:rPr>
            </a:br>
            <a:r>
              <a:rPr lang="en-US" altLang="en-US" sz="4400" dirty="0">
                <a:sym typeface="Symbol" panose="05050102010706020507" pitchFamily="18" charset="2"/>
              </a:rPr>
              <a:t>			</a:t>
            </a:r>
            <a:r>
              <a:rPr lang="en-US" altLang="en-US" sz="4400" i="1" dirty="0"/>
              <a:t>A</a:t>
            </a:r>
            <a:r>
              <a:rPr lang="en-US" altLang="en-US" sz="4400" i="1" baseline="-25000" dirty="0"/>
              <a:t>i</a:t>
            </a:r>
            <a:r>
              <a:rPr lang="en-US" altLang="en-US" sz="4400" dirty="0"/>
              <a:t> </a:t>
            </a:r>
            <a:r>
              <a:rPr lang="en-US" altLang="en-US" sz="4400" dirty="0">
                <a:sym typeface="Symbol" panose="05050102010706020507" pitchFamily="18" charset="2"/>
              </a:rPr>
              <a:t> </a:t>
            </a:r>
            <a:r>
              <a:rPr lang="en-US" altLang="en-US" sz="4400" baseline="-25000" dirty="0">
                <a:sym typeface="Symbol" panose="05050102010706020507" pitchFamily="18" charset="2"/>
              </a:rPr>
              <a:t>1</a:t>
            </a:r>
            <a:r>
              <a:rPr lang="en-US" altLang="en-US" sz="4400" dirty="0">
                <a:sym typeface="Symbol" panose="05050102010706020507" pitchFamily="18" charset="2"/>
              </a:rPr>
              <a:t>  | </a:t>
            </a:r>
            <a:r>
              <a:rPr lang="en-US" altLang="en-US" sz="4400" baseline="-25000" dirty="0">
                <a:sym typeface="Symbol" panose="05050102010706020507" pitchFamily="18" charset="2"/>
              </a:rPr>
              <a:t>2</a:t>
            </a:r>
            <a:r>
              <a:rPr lang="en-US" altLang="en-US" sz="4400" dirty="0">
                <a:sym typeface="Symbol" panose="05050102010706020507" pitchFamily="18" charset="2"/>
              </a:rPr>
              <a:t>  | … | </a:t>
            </a:r>
            <a:r>
              <a:rPr lang="en-US" altLang="en-US" sz="4400" i="1" baseline="-25000" dirty="0">
                <a:sym typeface="Symbol" panose="05050102010706020507" pitchFamily="18" charset="2"/>
              </a:rPr>
              <a:t>k</a:t>
            </a:r>
            <a:r>
              <a:rPr lang="en-US" altLang="en-US" sz="4400" dirty="0">
                <a:sym typeface="Symbol" panose="05050102010706020507" pitchFamily="18" charset="2"/>
              </a:rPr>
              <a:t> </a:t>
            </a:r>
            <a:br>
              <a:rPr lang="en-US" altLang="en-US" sz="4400" dirty="0">
                <a:sym typeface="Symbol" panose="05050102010706020507" pitchFamily="18" charset="2"/>
              </a:rPr>
            </a:br>
            <a:r>
              <a:rPr lang="en-US" altLang="en-US" sz="4400" dirty="0">
                <a:sym typeface="Symbol" panose="05050102010706020507" pitchFamily="18" charset="2"/>
              </a:rPr>
              <a:t>		where</a:t>
            </a:r>
            <a:br>
              <a:rPr lang="en-US" altLang="en-US" sz="4400" dirty="0">
                <a:sym typeface="Symbol" panose="05050102010706020507" pitchFamily="18" charset="2"/>
              </a:rPr>
            </a:br>
            <a:r>
              <a:rPr lang="en-US" altLang="en-US" sz="4400" dirty="0">
                <a:sym typeface="Symbol" panose="05050102010706020507" pitchFamily="18" charset="2"/>
              </a:rPr>
              <a:t>			</a:t>
            </a:r>
            <a:r>
              <a:rPr lang="en-US" altLang="en-US" sz="4400" i="1" dirty="0" err="1">
                <a:sym typeface="Symbol" panose="05050102010706020507" pitchFamily="18" charset="2"/>
              </a:rPr>
              <a:t>A</a:t>
            </a:r>
            <a:r>
              <a:rPr lang="en-US" altLang="en-US" sz="4400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sz="4400" i="1" dirty="0">
                <a:sym typeface="Symbol" panose="05050102010706020507" pitchFamily="18" charset="2"/>
              </a:rPr>
              <a:t> </a:t>
            </a:r>
            <a:r>
              <a:rPr lang="en-US" altLang="en-US" sz="4400" dirty="0">
                <a:sym typeface="Symbol" panose="05050102010706020507" pitchFamily="18" charset="2"/>
              </a:rPr>
              <a:t> </a:t>
            </a:r>
            <a:r>
              <a:rPr lang="en-US" altLang="en-US" sz="4400" baseline="-25000" dirty="0">
                <a:sym typeface="Symbol" panose="05050102010706020507" pitchFamily="18" charset="2"/>
              </a:rPr>
              <a:t>1</a:t>
            </a:r>
            <a:r>
              <a:rPr lang="en-US" altLang="en-US" sz="4400" dirty="0">
                <a:sym typeface="Symbol" panose="05050102010706020507" pitchFamily="18" charset="2"/>
              </a:rPr>
              <a:t> | </a:t>
            </a:r>
            <a:r>
              <a:rPr lang="en-US" altLang="en-US" sz="4400" baseline="-25000" dirty="0">
                <a:sym typeface="Symbol" panose="05050102010706020507" pitchFamily="18" charset="2"/>
              </a:rPr>
              <a:t>2</a:t>
            </a:r>
            <a:r>
              <a:rPr lang="en-US" altLang="en-US" sz="4400" dirty="0">
                <a:sym typeface="Symbol" panose="05050102010706020507" pitchFamily="18" charset="2"/>
              </a:rPr>
              <a:t> | … | </a:t>
            </a:r>
            <a:r>
              <a:rPr lang="en-US" altLang="en-US" sz="4400" i="1" baseline="-25000" dirty="0">
                <a:sym typeface="Symbol" panose="05050102010706020507" pitchFamily="18" charset="2"/>
              </a:rPr>
              <a:t>k</a:t>
            </a:r>
            <a:br>
              <a:rPr lang="en-US" altLang="en-US" sz="4400" dirty="0">
                <a:sym typeface="Symbol" panose="05050102010706020507" pitchFamily="18" charset="2"/>
              </a:rPr>
            </a:br>
            <a:r>
              <a:rPr lang="en-US" altLang="en-US" sz="4400" dirty="0">
                <a:sym typeface="Symbol" panose="05050102010706020507" pitchFamily="18" charset="2"/>
              </a:rPr>
              <a:t>	</a:t>
            </a:r>
            <a:r>
              <a:rPr lang="en-US" altLang="en-US" sz="4400" b="1" dirty="0" err="1">
                <a:sym typeface="Symbol" panose="05050102010706020507" pitchFamily="18" charset="2"/>
              </a:rPr>
              <a:t>enddo</a:t>
            </a:r>
            <a:br>
              <a:rPr lang="en-US" altLang="en-US" sz="4400" dirty="0">
                <a:sym typeface="Symbol" panose="05050102010706020507" pitchFamily="18" charset="2"/>
              </a:rPr>
            </a:br>
            <a:r>
              <a:rPr lang="en-US" altLang="en-US" sz="4400" dirty="0">
                <a:sym typeface="Symbol" panose="05050102010706020507" pitchFamily="18" charset="2"/>
              </a:rPr>
              <a:t>	eliminate the </a:t>
            </a:r>
            <a:r>
              <a:rPr lang="en-US" altLang="en-US" sz="4400" i="1" dirty="0">
                <a:sym typeface="Symbol" panose="05050102010706020507" pitchFamily="18" charset="2"/>
              </a:rPr>
              <a:t>immediate left recursion</a:t>
            </a:r>
            <a:r>
              <a:rPr lang="en-US" altLang="en-US" sz="4400" dirty="0">
                <a:sym typeface="Symbol" panose="05050102010706020507" pitchFamily="18" charset="2"/>
              </a:rPr>
              <a:t> in </a:t>
            </a:r>
            <a:r>
              <a:rPr lang="en-US" altLang="en-US" sz="4400" i="1" dirty="0">
                <a:sym typeface="Symbol" panose="05050102010706020507" pitchFamily="18" charset="2"/>
              </a:rPr>
              <a:t>A</a:t>
            </a:r>
            <a:r>
              <a:rPr lang="en-US" altLang="en-US" sz="4400" i="1" baseline="-25000" dirty="0">
                <a:sym typeface="Symbol" panose="05050102010706020507" pitchFamily="18" charset="2"/>
              </a:rPr>
              <a:t>i</a:t>
            </a:r>
            <a:br>
              <a:rPr lang="en-US" altLang="en-US" sz="4400" dirty="0">
                <a:sym typeface="Symbol" panose="05050102010706020507" pitchFamily="18" charset="2"/>
              </a:rPr>
            </a:br>
            <a:r>
              <a:rPr lang="en-US" altLang="en-US" sz="4400" b="1" dirty="0" err="1">
                <a:sym typeface="Symbol" panose="05050102010706020507" pitchFamily="18" charset="2"/>
              </a:rPr>
              <a:t>enddo</a:t>
            </a:r>
            <a:endParaRPr lang="en-US" altLang="en-US" sz="4400" b="1" dirty="0">
              <a:sym typeface="Symbol" panose="05050102010706020507" pitchFamily="18" charset="2"/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41358AE-A992-43D9-918A-6D389DF919CC}"/>
              </a:ext>
            </a:extLst>
          </p:cNvPr>
          <p:cNvSpPr txBox="1">
            <a:spLocks/>
          </p:cNvSpPr>
          <p:nvPr/>
        </p:nvSpPr>
        <p:spPr>
          <a:xfrm>
            <a:off x="8583562" y="11621464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4">
            <a:extLst>
              <a:ext uri="{FF2B5EF4-FFF2-40B4-BE49-F238E27FC236}">
                <a16:creationId xmlns:a16="http://schemas.microsoft.com/office/drawing/2014/main" id="{B9F1E551-CB14-4168-A527-FE652821C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1485900" indent="-5715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22860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32004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41148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50292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59436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68580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77724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C34F8517-F300-473F-AF50-EECF3640D8F8}" type="slidenum">
              <a:rPr lang="en-US" altLang="en-US" sz="2800"/>
              <a:pPr/>
              <a:t>30</a:t>
            </a:fld>
            <a:endParaRPr lang="en-US" altLang="en-US" sz="28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77DBD868-1B50-4734-B968-B6F8A6C815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44570" y="1560228"/>
            <a:ext cx="17068377" cy="1374358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Immediate Left-Recursion Elimination</a:t>
            </a:r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D4D0E8E6-BDDA-48FF-A52C-09FEE642D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2669" y="3524988"/>
            <a:ext cx="9906879" cy="8217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4800" dirty="0"/>
              <a:t>Rewrite every left-recursive production</a:t>
            </a:r>
            <a:br>
              <a:rPr lang="en-US" altLang="en-US" sz="4800" dirty="0"/>
            </a:br>
            <a:r>
              <a:rPr lang="en-US" altLang="en-US" sz="4800" dirty="0"/>
              <a:t>	</a:t>
            </a:r>
            <a:r>
              <a:rPr lang="en-US" altLang="en-US" sz="4800" i="1" dirty="0"/>
              <a:t>A</a:t>
            </a:r>
            <a:r>
              <a:rPr lang="en-US" altLang="en-US" sz="4800" dirty="0"/>
              <a:t> </a:t>
            </a:r>
            <a:r>
              <a:rPr lang="en-US" altLang="en-US" sz="4800" dirty="0">
                <a:sym typeface="Symbol" panose="05050102010706020507" pitchFamily="18" charset="2"/>
              </a:rPr>
              <a:t> </a:t>
            </a:r>
            <a:r>
              <a:rPr lang="en-US" altLang="en-US" sz="4800" i="1" dirty="0">
                <a:sym typeface="Symbol" panose="05050102010706020507" pitchFamily="18" charset="2"/>
              </a:rPr>
              <a:t>A </a:t>
            </a:r>
            <a:r>
              <a:rPr lang="en-US" altLang="en-US" sz="4800" dirty="0">
                <a:sym typeface="Symbol" panose="05050102010706020507" pitchFamily="18" charset="2"/>
              </a:rPr>
              <a:t> </a:t>
            </a:r>
            <a:br>
              <a:rPr lang="en-US" altLang="en-US" sz="4800" dirty="0">
                <a:sym typeface="Symbol" panose="05050102010706020507" pitchFamily="18" charset="2"/>
              </a:rPr>
            </a:br>
            <a:r>
              <a:rPr lang="en-US" altLang="en-US" sz="4800" dirty="0">
                <a:sym typeface="Symbol" panose="05050102010706020507" pitchFamily="18" charset="2"/>
              </a:rPr>
              <a:t>	      </a:t>
            </a:r>
            <a:r>
              <a:rPr lang="en-US" altLang="en-US" sz="4800" i="1" dirty="0">
                <a:sym typeface="Symbol" panose="05050102010706020507" pitchFamily="18" charset="2"/>
              </a:rPr>
              <a:t>|</a:t>
            </a:r>
            <a:r>
              <a:rPr lang="en-US" altLang="en-US" sz="4800" dirty="0">
                <a:sym typeface="Symbol" panose="05050102010706020507" pitchFamily="18" charset="2"/>
              </a:rPr>
              <a:t> </a:t>
            </a:r>
            <a:br>
              <a:rPr lang="en-US" altLang="en-US" sz="4800" dirty="0">
                <a:sym typeface="Symbol" panose="05050102010706020507" pitchFamily="18" charset="2"/>
              </a:rPr>
            </a:br>
            <a:r>
              <a:rPr lang="en-US" altLang="en-US" sz="4800" dirty="0">
                <a:sym typeface="Symbol" panose="05050102010706020507" pitchFamily="18" charset="2"/>
              </a:rPr>
              <a:t>	      | </a:t>
            </a:r>
            <a:br>
              <a:rPr lang="en-US" altLang="en-US" sz="4800" dirty="0">
                <a:sym typeface="Symbol" panose="05050102010706020507" pitchFamily="18" charset="2"/>
              </a:rPr>
            </a:br>
            <a:r>
              <a:rPr lang="en-US" altLang="en-US" sz="4800" dirty="0">
                <a:sym typeface="Symbol" panose="05050102010706020507" pitchFamily="18" charset="2"/>
              </a:rPr>
              <a:t>	      | </a:t>
            </a:r>
            <a:r>
              <a:rPr lang="en-US" altLang="en-US" sz="4800" i="1" dirty="0">
                <a:sym typeface="Symbol" panose="05050102010706020507" pitchFamily="18" charset="2"/>
              </a:rPr>
              <a:t>A</a:t>
            </a:r>
            <a:r>
              <a:rPr lang="en-US" altLang="en-US" sz="4800" dirty="0">
                <a:sym typeface="Symbol" panose="05050102010706020507" pitchFamily="18" charset="2"/>
              </a:rPr>
              <a:t> </a:t>
            </a:r>
            <a:br>
              <a:rPr lang="en-US" altLang="en-US" sz="4800" dirty="0">
                <a:sym typeface="Symbol" panose="05050102010706020507" pitchFamily="18" charset="2"/>
              </a:rPr>
            </a:br>
            <a:r>
              <a:rPr lang="en-US" altLang="en-US" sz="4800" dirty="0">
                <a:sym typeface="Symbol" panose="05050102010706020507" pitchFamily="18" charset="2"/>
              </a:rPr>
              <a:t>into a right-recursive production:</a:t>
            </a:r>
            <a:br>
              <a:rPr lang="en-US" altLang="en-US" sz="4800" i="1" dirty="0"/>
            </a:br>
            <a:r>
              <a:rPr lang="en-US" altLang="en-US" sz="4800" i="1" dirty="0"/>
              <a:t>	A</a:t>
            </a:r>
            <a:r>
              <a:rPr lang="en-US" altLang="en-US" sz="4800" dirty="0"/>
              <a:t> </a:t>
            </a:r>
            <a:r>
              <a:rPr lang="en-US" altLang="en-US" sz="4800" dirty="0">
                <a:sym typeface="Symbol" panose="05050102010706020507" pitchFamily="18" charset="2"/>
              </a:rPr>
              <a:t>  </a:t>
            </a:r>
            <a:r>
              <a:rPr lang="en-US" altLang="en-US" sz="4800" i="1" dirty="0">
                <a:sym typeface="Symbol" panose="05050102010706020507" pitchFamily="18" charset="2"/>
              </a:rPr>
              <a:t>A</a:t>
            </a:r>
            <a:r>
              <a:rPr lang="en-US" altLang="en-US" sz="4800" i="1" baseline="-25000" dirty="0">
                <a:sym typeface="Symbol" panose="05050102010706020507" pitchFamily="18" charset="2"/>
              </a:rPr>
              <a:t>R</a:t>
            </a:r>
            <a:br>
              <a:rPr lang="en-US" altLang="en-US" sz="4800" dirty="0">
                <a:sym typeface="Symbol" panose="05050102010706020507" pitchFamily="18" charset="2"/>
              </a:rPr>
            </a:br>
            <a:r>
              <a:rPr lang="en-US" altLang="en-US" sz="4800" dirty="0">
                <a:sym typeface="Symbol" panose="05050102010706020507" pitchFamily="18" charset="2"/>
              </a:rPr>
              <a:t>	      </a:t>
            </a:r>
            <a:r>
              <a:rPr lang="en-US" altLang="en-US" sz="4800" i="1" dirty="0">
                <a:sym typeface="Symbol" panose="05050102010706020507" pitchFamily="18" charset="2"/>
              </a:rPr>
              <a:t>|</a:t>
            </a:r>
            <a:r>
              <a:rPr lang="en-US" altLang="en-US" sz="4800" dirty="0">
                <a:sym typeface="Symbol" panose="05050102010706020507" pitchFamily="18" charset="2"/>
              </a:rPr>
              <a:t>  </a:t>
            </a:r>
            <a:r>
              <a:rPr lang="en-US" altLang="en-US" sz="4800" i="1" dirty="0">
                <a:sym typeface="Symbol" panose="05050102010706020507" pitchFamily="18" charset="2"/>
              </a:rPr>
              <a:t>A</a:t>
            </a:r>
            <a:r>
              <a:rPr lang="en-US" altLang="en-US" sz="4800" i="1" baseline="-25000" dirty="0">
                <a:sym typeface="Symbol" panose="05050102010706020507" pitchFamily="18" charset="2"/>
              </a:rPr>
              <a:t>R</a:t>
            </a:r>
            <a:br>
              <a:rPr lang="en-US" altLang="en-US" sz="4800" i="1" dirty="0">
                <a:sym typeface="Symbol" panose="05050102010706020507" pitchFamily="18" charset="2"/>
              </a:rPr>
            </a:br>
            <a:r>
              <a:rPr lang="en-US" altLang="en-US" sz="4800" i="1" dirty="0">
                <a:sym typeface="Symbol" panose="05050102010706020507" pitchFamily="18" charset="2"/>
              </a:rPr>
              <a:t>	A</a:t>
            </a:r>
            <a:r>
              <a:rPr lang="en-US" altLang="en-US" sz="4800" i="1" baseline="-25000" dirty="0">
                <a:sym typeface="Symbol" panose="05050102010706020507" pitchFamily="18" charset="2"/>
              </a:rPr>
              <a:t>R</a:t>
            </a:r>
            <a:r>
              <a:rPr lang="en-US" altLang="en-US" sz="4800" i="1" dirty="0">
                <a:sym typeface="Symbol" panose="05050102010706020507" pitchFamily="18" charset="2"/>
              </a:rPr>
              <a:t> </a:t>
            </a:r>
            <a:r>
              <a:rPr lang="en-US" altLang="en-US" sz="4800" dirty="0">
                <a:sym typeface="Symbol" panose="05050102010706020507" pitchFamily="18" charset="2"/>
              </a:rPr>
              <a:t></a:t>
            </a:r>
            <a:r>
              <a:rPr lang="en-US" altLang="en-US" sz="4800" i="1" dirty="0">
                <a:sym typeface="Symbol" panose="05050102010706020507" pitchFamily="18" charset="2"/>
              </a:rPr>
              <a:t> </a:t>
            </a:r>
            <a:r>
              <a:rPr lang="en-US" altLang="en-US" sz="4800" dirty="0">
                <a:sym typeface="Symbol" panose="05050102010706020507" pitchFamily="18" charset="2"/>
              </a:rPr>
              <a:t> </a:t>
            </a:r>
            <a:r>
              <a:rPr lang="en-US" altLang="en-US" sz="4800" i="1" dirty="0">
                <a:sym typeface="Symbol" panose="05050102010706020507" pitchFamily="18" charset="2"/>
              </a:rPr>
              <a:t>A</a:t>
            </a:r>
            <a:r>
              <a:rPr lang="en-US" altLang="en-US" sz="4800" i="1" baseline="-25000" dirty="0">
                <a:sym typeface="Symbol" panose="05050102010706020507" pitchFamily="18" charset="2"/>
              </a:rPr>
              <a:t>R</a:t>
            </a:r>
            <a:br>
              <a:rPr lang="en-US" altLang="en-US" sz="4800" i="1" dirty="0">
                <a:sym typeface="Symbol" panose="05050102010706020507" pitchFamily="18" charset="2"/>
              </a:rPr>
            </a:br>
            <a:r>
              <a:rPr lang="en-US" altLang="en-US" sz="4800" i="1" dirty="0">
                <a:sym typeface="Symbol" panose="05050102010706020507" pitchFamily="18" charset="2"/>
              </a:rPr>
              <a:t>	</a:t>
            </a:r>
            <a:r>
              <a:rPr lang="en-US" altLang="en-US" sz="4800" dirty="0">
                <a:sym typeface="Symbol" panose="05050102010706020507" pitchFamily="18" charset="2"/>
              </a:rPr>
              <a:t>      </a:t>
            </a:r>
            <a:r>
              <a:rPr lang="en-US" altLang="en-US" sz="4800" i="1" dirty="0">
                <a:sym typeface="Symbol" panose="05050102010706020507" pitchFamily="18" charset="2"/>
              </a:rPr>
              <a:t>| </a:t>
            </a:r>
            <a:r>
              <a:rPr lang="en-US" altLang="en-US" sz="4800" dirty="0">
                <a:sym typeface="Symbol" panose="05050102010706020507" pitchFamily="18" charset="2"/>
              </a:rPr>
              <a:t></a:t>
            </a:r>
            <a:r>
              <a:rPr lang="en-US" altLang="en-US" sz="4800" i="1" dirty="0">
                <a:sym typeface="Symbol" panose="05050102010706020507" pitchFamily="18" charset="2"/>
              </a:rPr>
              <a:t> A</a:t>
            </a:r>
            <a:r>
              <a:rPr lang="en-US" altLang="en-US" sz="4800" i="1" baseline="-25000" dirty="0">
                <a:sym typeface="Symbol" panose="05050102010706020507" pitchFamily="18" charset="2"/>
              </a:rPr>
              <a:t>R</a:t>
            </a:r>
            <a:br>
              <a:rPr lang="en-US" altLang="en-US" sz="4800" i="1" dirty="0">
                <a:sym typeface="Symbol" panose="05050102010706020507" pitchFamily="18" charset="2"/>
              </a:rPr>
            </a:br>
            <a:r>
              <a:rPr lang="en-US" altLang="en-US" sz="4800" i="1" dirty="0">
                <a:sym typeface="Symbol" panose="05050102010706020507" pitchFamily="18" charset="2"/>
              </a:rPr>
              <a:t>	</a:t>
            </a:r>
            <a:r>
              <a:rPr lang="en-US" altLang="en-US" sz="4800" dirty="0">
                <a:sym typeface="Symbol" panose="05050102010706020507" pitchFamily="18" charset="2"/>
              </a:rPr>
              <a:t>      </a:t>
            </a:r>
            <a:r>
              <a:rPr lang="en-US" altLang="en-US" sz="4800" i="1" dirty="0">
                <a:sym typeface="Symbol" panose="05050102010706020507" pitchFamily="18" charset="2"/>
              </a:rPr>
              <a:t>|</a:t>
            </a:r>
            <a:r>
              <a:rPr lang="en-US" altLang="en-US" sz="4800" dirty="0">
                <a:sym typeface="Symbol" panose="05050102010706020507" pitchFamily="18" charset="2"/>
              </a:rPr>
              <a:t>  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050DF07-5A7B-4968-A1AE-1E3048F656DD}"/>
              </a:ext>
            </a:extLst>
          </p:cNvPr>
          <p:cNvSpPr txBox="1">
            <a:spLocks/>
          </p:cNvSpPr>
          <p:nvPr/>
        </p:nvSpPr>
        <p:spPr>
          <a:xfrm>
            <a:off x="8583562" y="11621464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4">
            <a:extLst>
              <a:ext uri="{FF2B5EF4-FFF2-40B4-BE49-F238E27FC236}">
                <a16:creationId xmlns:a16="http://schemas.microsoft.com/office/drawing/2014/main" id="{4E605A12-2761-4220-8850-10D1EEAAD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1485900" indent="-5715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22860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32004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41148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50292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59436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68580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77724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43D2DEBA-0F3D-4B94-8D39-3FF3722067DD}" type="slidenum">
              <a:rPr lang="en-US" altLang="en-US" sz="2800"/>
              <a:pPr/>
              <a:t>31</a:t>
            </a:fld>
            <a:endParaRPr lang="en-US" altLang="en-US" sz="28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EC17ECEB-3A89-48F0-96C2-64B5E793A1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64668" y="1288198"/>
            <a:ext cx="17137191" cy="115020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Example Left Recursion Elimination completely</a:t>
            </a:r>
          </a:p>
        </p:txBody>
      </p:sp>
      <p:sp>
        <p:nvSpPr>
          <p:cNvPr id="20484" name="Text Box 3">
            <a:extLst>
              <a:ext uri="{FF2B5EF4-FFF2-40B4-BE49-F238E27FC236}">
                <a16:creationId xmlns:a16="http://schemas.microsoft.com/office/drawing/2014/main" id="{1D3EED9E-473A-4452-965F-C8F57B8B7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6045" y="2286000"/>
            <a:ext cx="4551374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4800" i="1"/>
              <a:t>A</a:t>
            </a:r>
            <a:r>
              <a:rPr lang="en-US" altLang="en-US" sz="4800"/>
              <a:t> </a:t>
            </a:r>
            <a:r>
              <a:rPr lang="en-US" altLang="en-US" sz="4800">
                <a:sym typeface="Symbol" panose="05050102010706020507" pitchFamily="18" charset="2"/>
              </a:rPr>
              <a:t> </a:t>
            </a:r>
            <a:r>
              <a:rPr lang="en-US" altLang="en-US" sz="4800" i="1">
                <a:sym typeface="Symbol" panose="05050102010706020507" pitchFamily="18" charset="2"/>
              </a:rPr>
              <a:t>B</a:t>
            </a:r>
            <a:r>
              <a:rPr lang="en-US" altLang="en-US" sz="4800">
                <a:sym typeface="Symbol" panose="05050102010706020507" pitchFamily="18" charset="2"/>
              </a:rPr>
              <a:t> </a:t>
            </a:r>
            <a:r>
              <a:rPr lang="en-US" altLang="en-US" sz="4800" i="1">
                <a:sym typeface="Symbol" panose="05050102010706020507" pitchFamily="18" charset="2"/>
              </a:rPr>
              <a:t>C</a:t>
            </a:r>
            <a:r>
              <a:rPr lang="en-US" altLang="en-US" sz="4800">
                <a:sym typeface="Symbol" panose="05050102010706020507" pitchFamily="18" charset="2"/>
              </a:rPr>
              <a:t> | </a:t>
            </a:r>
            <a:r>
              <a:rPr lang="en-US" altLang="en-US" sz="4800" b="1">
                <a:sym typeface="Symbol" panose="05050102010706020507" pitchFamily="18" charset="2"/>
              </a:rPr>
              <a:t>a</a:t>
            </a:r>
            <a:br>
              <a:rPr lang="en-US" altLang="en-US" sz="4800" b="1">
                <a:sym typeface="Symbol" panose="05050102010706020507" pitchFamily="18" charset="2"/>
              </a:rPr>
            </a:br>
            <a:r>
              <a:rPr lang="en-US" altLang="en-US" sz="4800" i="1">
                <a:sym typeface="Symbol" panose="05050102010706020507" pitchFamily="18" charset="2"/>
              </a:rPr>
              <a:t>B</a:t>
            </a:r>
            <a:r>
              <a:rPr lang="en-US" altLang="en-US" sz="4800"/>
              <a:t> </a:t>
            </a:r>
            <a:r>
              <a:rPr lang="en-US" altLang="en-US" sz="4800">
                <a:sym typeface="Symbol" panose="05050102010706020507" pitchFamily="18" charset="2"/>
              </a:rPr>
              <a:t> </a:t>
            </a:r>
            <a:r>
              <a:rPr lang="en-US" altLang="en-US" sz="4800" i="1">
                <a:sym typeface="Symbol" panose="05050102010706020507" pitchFamily="18" charset="2"/>
              </a:rPr>
              <a:t>C A </a:t>
            </a:r>
            <a:r>
              <a:rPr lang="en-US" altLang="en-US" sz="4800">
                <a:sym typeface="Symbol" panose="05050102010706020507" pitchFamily="18" charset="2"/>
              </a:rPr>
              <a:t>| </a:t>
            </a:r>
            <a:r>
              <a:rPr lang="en-US" altLang="en-US" sz="4800" i="1">
                <a:sym typeface="Symbol" panose="05050102010706020507" pitchFamily="18" charset="2"/>
              </a:rPr>
              <a:t>A</a:t>
            </a:r>
            <a:r>
              <a:rPr lang="en-US" altLang="en-US" sz="4800">
                <a:sym typeface="Symbol" panose="05050102010706020507" pitchFamily="18" charset="2"/>
              </a:rPr>
              <a:t> </a:t>
            </a:r>
            <a:r>
              <a:rPr lang="en-US" altLang="en-US" sz="4800" b="1">
                <a:sym typeface="Symbol" panose="05050102010706020507" pitchFamily="18" charset="2"/>
              </a:rPr>
              <a:t>b</a:t>
            </a:r>
            <a:br>
              <a:rPr lang="en-US" altLang="en-US" sz="4800" b="1">
                <a:sym typeface="Symbol" panose="05050102010706020507" pitchFamily="18" charset="2"/>
              </a:rPr>
            </a:br>
            <a:r>
              <a:rPr lang="en-US" altLang="en-US" sz="4800" i="1">
                <a:sym typeface="Symbol" panose="05050102010706020507" pitchFamily="18" charset="2"/>
              </a:rPr>
              <a:t>C</a:t>
            </a:r>
            <a:r>
              <a:rPr lang="en-US" altLang="en-US" sz="4800"/>
              <a:t> </a:t>
            </a:r>
            <a:r>
              <a:rPr lang="en-US" altLang="en-US" sz="4800">
                <a:sym typeface="Symbol" panose="05050102010706020507" pitchFamily="18" charset="2"/>
              </a:rPr>
              <a:t> </a:t>
            </a:r>
            <a:r>
              <a:rPr lang="en-US" altLang="en-US" sz="4800" i="1">
                <a:sym typeface="Symbol" panose="05050102010706020507" pitchFamily="18" charset="2"/>
              </a:rPr>
              <a:t>A B</a:t>
            </a:r>
            <a:r>
              <a:rPr lang="en-US" altLang="en-US" sz="4800">
                <a:sym typeface="Symbol" panose="05050102010706020507" pitchFamily="18" charset="2"/>
              </a:rPr>
              <a:t> | </a:t>
            </a:r>
            <a:r>
              <a:rPr lang="en-US" altLang="en-US" sz="4800" i="1">
                <a:sym typeface="Symbol" panose="05050102010706020507" pitchFamily="18" charset="2"/>
              </a:rPr>
              <a:t>C C</a:t>
            </a:r>
            <a:r>
              <a:rPr lang="en-US" altLang="en-US" sz="4800">
                <a:sym typeface="Symbol" panose="05050102010706020507" pitchFamily="18" charset="2"/>
              </a:rPr>
              <a:t> | </a:t>
            </a:r>
            <a:r>
              <a:rPr lang="en-US" altLang="en-US" sz="4800" b="1">
                <a:sym typeface="Symbol" panose="05050102010706020507" pitchFamily="18" charset="2"/>
              </a:rPr>
              <a:t>a</a:t>
            </a:r>
            <a:endParaRPr lang="en-US" altLang="en-US" sz="4800">
              <a:sym typeface="Symbol" panose="05050102010706020507" pitchFamily="18" charset="2"/>
            </a:endParaRPr>
          </a:p>
        </p:txBody>
      </p:sp>
      <p:sp>
        <p:nvSpPr>
          <p:cNvPr id="20485" name="Text Box 4">
            <a:extLst>
              <a:ext uri="{FF2B5EF4-FFF2-40B4-BE49-F238E27FC236}">
                <a16:creationId xmlns:a16="http://schemas.microsoft.com/office/drawing/2014/main" id="{FFA7B853-31C5-4349-886A-A2E8ADBFB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99070" y="2895601"/>
            <a:ext cx="736291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4800"/>
              <a:t>Choose </a:t>
            </a:r>
            <a:r>
              <a:rPr lang="en-US" altLang="en-US" sz="4800" dirty="0"/>
              <a:t>arrangement: </a:t>
            </a:r>
            <a:r>
              <a:rPr lang="en-US" altLang="en-US" sz="4800" i="1" dirty="0"/>
              <a:t>A</a:t>
            </a:r>
            <a:r>
              <a:rPr lang="en-US" altLang="en-US" sz="4800" dirty="0"/>
              <a:t>, </a:t>
            </a:r>
            <a:r>
              <a:rPr lang="en-US" altLang="en-US" sz="4800" i="1" dirty="0"/>
              <a:t>B</a:t>
            </a:r>
            <a:r>
              <a:rPr lang="en-US" altLang="en-US" sz="4800" dirty="0"/>
              <a:t>, </a:t>
            </a:r>
            <a:r>
              <a:rPr lang="en-US" altLang="en-US" sz="4800" i="1" dirty="0"/>
              <a:t>C</a:t>
            </a:r>
            <a:endParaRPr lang="en-US" altLang="en-US" sz="4800" dirty="0"/>
          </a:p>
        </p:txBody>
      </p:sp>
      <p:sp>
        <p:nvSpPr>
          <p:cNvPr id="20486" name="Text Box 5">
            <a:extLst>
              <a:ext uri="{FF2B5EF4-FFF2-40B4-BE49-F238E27FC236}">
                <a16:creationId xmlns:a16="http://schemas.microsoft.com/office/drawing/2014/main" id="{7BE8E79E-78EE-4A98-98B2-7169BCD09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5952" y="4591208"/>
            <a:ext cx="16845305" cy="6863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4000" i="1" dirty="0" err="1"/>
              <a:t>i</a:t>
            </a:r>
            <a:r>
              <a:rPr lang="en-US" altLang="en-US" sz="4000" dirty="0"/>
              <a:t> = 1:		nothing to do</a:t>
            </a:r>
            <a:br>
              <a:rPr lang="en-US" altLang="en-US" sz="4000" dirty="0"/>
            </a:br>
            <a:r>
              <a:rPr lang="en-US" altLang="en-US" sz="4000" i="1" dirty="0" err="1"/>
              <a:t>i</a:t>
            </a:r>
            <a:r>
              <a:rPr lang="en-US" altLang="en-US" sz="4000" dirty="0"/>
              <a:t> = 2, </a:t>
            </a:r>
            <a:r>
              <a:rPr lang="en-US" altLang="en-US" sz="4000" i="1" dirty="0"/>
              <a:t>j</a:t>
            </a:r>
            <a:r>
              <a:rPr lang="en-US" altLang="en-US" sz="4000" dirty="0"/>
              <a:t> = 1:	</a:t>
            </a:r>
            <a:r>
              <a:rPr lang="en-US" altLang="en-US" sz="4000" i="1" dirty="0"/>
              <a:t>B</a:t>
            </a:r>
            <a:r>
              <a:rPr lang="en-US" altLang="en-US" sz="4000" dirty="0"/>
              <a:t> </a:t>
            </a:r>
            <a:r>
              <a:rPr lang="en-US" altLang="en-US" sz="4000" dirty="0">
                <a:sym typeface="Symbol" panose="05050102010706020507" pitchFamily="18" charset="2"/>
              </a:rPr>
              <a:t></a:t>
            </a:r>
            <a:r>
              <a:rPr lang="en-US" altLang="en-US" sz="4000" dirty="0"/>
              <a:t> </a:t>
            </a:r>
            <a:r>
              <a:rPr lang="en-US" altLang="en-US" sz="4000" i="1" dirty="0"/>
              <a:t>C A</a:t>
            </a:r>
            <a:r>
              <a:rPr lang="en-US" altLang="en-US" sz="4000" dirty="0"/>
              <a:t> | </a:t>
            </a:r>
            <a:r>
              <a:rPr lang="en-US" altLang="en-US" sz="4000" i="1" u="sng" dirty="0"/>
              <a:t>A</a:t>
            </a:r>
            <a:r>
              <a:rPr lang="en-US" altLang="en-US" sz="4000" dirty="0"/>
              <a:t> </a:t>
            </a:r>
            <a:r>
              <a:rPr lang="en-US" altLang="en-US" sz="4000" b="1" dirty="0"/>
              <a:t>b</a:t>
            </a:r>
            <a:br>
              <a:rPr lang="en-US" altLang="en-US" sz="4000" b="1" dirty="0"/>
            </a:br>
            <a:r>
              <a:rPr lang="en-US" altLang="en-US" sz="4000" b="1" dirty="0"/>
              <a:t>		</a:t>
            </a:r>
            <a:r>
              <a:rPr lang="en-US" altLang="en-US" sz="4000" dirty="0">
                <a:sym typeface="Symbol" panose="05050102010706020507" pitchFamily="18" charset="2"/>
              </a:rPr>
              <a:t></a:t>
            </a:r>
            <a:r>
              <a:rPr lang="en-US" altLang="en-US" sz="4000" b="1" dirty="0"/>
              <a:t>	</a:t>
            </a:r>
            <a:r>
              <a:rPr lang="en-US" altLang="en-US" sz="4000" i="1" dirty="0"/>
              <a:t>B</a:t>
            </a:r>
            <a:r>
              <a:rPr lang="en-US" altLang="en-US" sz="4000" dirty="0"/>
              <a:t> </a:t>
            </a:r>
            <a:r>
              <a:rPr lang="en-US" altLang="en-US" sz="4000" dirty="0">
                <a:sym typeface="Symbol" panose="05050102010706020507" pitchFamily="18" charset="2"/>
              </a:rPr>
              <a:t> </a:t>
            </a:r>
            <a:r>
              <a:rPr lang="en-US" altLang="en-US" sz="4000" i="1" dirty="0">
                <a:sym typeface="Symbol" panose="05050102010706020507" pitchFamily="18" charset="2"/>
              </a:rPr>
              <a:t>C A</a:t>
            </a:r>
            <a:r>
              <a:rPr lang="en-US" altLang="en-US" sz="4000" dirty="0">
                <a:sym typeface="Symbol" panose="05050102010706020507" pitchFamily="18" charset="2"/>
              </a:rPr>
              <a:t> | </a:t>
            </a:r>
            <a:r>
              <a:rPr lang="en-US" altLang="en-US" sz="4000" i="1" u="sng" dirty="0">
                <a:sym typeface="Symbol" panose="05050102010706020507" pitchFamily="18" charset="2"/>
              </a:rPr>
              <a:t>B C</a:t>
            </a:r>
            <a:r>
              <a:rPr lang="en-US" altLang="en-US" sz="4000" i="1" dirty="0">
                <a:sym typeface="Symbol" panose="05050102010706020507" pitchFamily="18" charset="2"/>
              </a:rPr>
              <a:t> </a:t>
            </a:r>
            <a:r>
              <a:rPr lang="en-US" altLang="en-US" sz="4000" b="1" dirty="0">
                <a:sym typeface="Symbol" panose="05050102010706020507" pitchFamily="18" charset="2"/>
              </a:rPr>
              <a:t>b</a:t>
            </a:r>
            <a:r>
              <a:rPr lang="en-US" altLang="en-US" sz="4000" dirty="0">
                <a:sym typeface="Symbol" panose="05050102010706020507" pitchFamily="18" charset="2"/>
              </a:rPr>
              <a:t> | </a:t>
            </a:r>
            <a:r>
              <a:rPr lang="en-US" altLang="en-US" sz="4000" b="1" u="sng" dirty="0">
                <a:sym typeface="Symbol" panose="05050102010706020507" pitchFamily="18" charset="2"/>
              </a:rPr>
              <a:t>a</a:t>
            </a:r>
            <a:r>
              <a:rPr lang="en-US" altLang="en-US" sz="4000" b="1" dirty="0">
                <a:sym typeface="Symbol" panose="05050102010706020507" pitchFamily="18" charset="2"/>
              </a:rPr>
              <a:t> b</a:t>
            </a:r>
            <a:br>
              <a:rPr lang="en-US" altLang="en-US" sz="4000" b="1" dirty="0">
                <a:sym typeface="Symbol" panose="05050102010706020507" pitchFamily="18" charset="2"/>
              </a:rPr>
            </a:br>
            <a:r>
              <a:rPr lang="en-US" altLang="en-US" sz="4000" b="1" dirty="0">
                <a:sym typeface="Symbol" panose="05050102010706020507" pitchFamily="18" charset="2"/>
              </a:rPr>
              <a:t>		</a:t>
            </a:r>
            <a:r>
              <a:rPr lang="en-US" altLang="en-US" sz="4000" dirty="0">
                <a:sym typeface="Symbol" panose="05050102010706020507" pitchFamily="18" charset="2"/>
              </a:rPr>
              <a:t></a:t>
            </a:r>
            <a:r>
              <a:rPr lang="en-US" altLang="en-US" sz="4000" baseline="-25000" dirty="0">
                <a:sym typeface="Symbol" panose="05050102010706020507" pitchFamily="18" charset="2"/>
              </a:rPr>
              <a:t>(</a:t>
            </a:r>
            <a:r>
              <a:rPr lang="en-US" altLang="en-US" sz="4000" baseline="-25000" dirty="0" err="1">
                <a:sym typeface="Symbol" panose="05050102010706020507" pitchFamily="18" charset="2"/>
              </a:rPr>
              <a:t>imm</a:t>
            </a:r>
            <a:r>
              <a:rPr lang="en-US" altLang="en-US" sz="4000" baseline="-25000" dirty="0">
                <a:sym typeface="Symbol" panose="05050102010706020507" pitchFamily="18" charset="2"/>
              </a:rPr>
              <a:t>)</a:t>
            </a:r>
            <a:r>
              <a:rPr lang="en-US" altLang="en-US" sz="4000" dirty="0">
                <a:sym typeface="Symbol" panose="05050102010706020507" pitchFamily="18" charset="2"/>
              </a:rPr>
              <a:t>	</a:t>
            </a:r>
            <a:r>
              <a:rPr lang="en-US" altLang="en-US" sz="4000" i="1" dirty="0">
                <a:sym typeface="Symbol" panose="05050102010706020507" pitchFamily="18" charset="2"/>
              </a:rPr>
              <a:t>B</a:t>
            </a:r>
            <a:r>
              <a:rPr lang="en-US" altLang="en-US" sz="4000" dirty="0"/>
              <a:t> </a:t>
            </a:r>
            <a:r>
              <a:rPr lang="en-US" altLang="en-US" sz="4000" dirty="0">
                <a:sym typeface="Symbol" panose="05050102010706020507" pitchFamily="18" charset="2"/>
              </a:rPr>
              <a:t> </a:t>
            </a:r>
            <a:r>
              <a:rPr lang="en-US" altLang="en-US" sz="4000" i="1" dirty="0">
                <a:sym typeface="Symbol" panose="05050102010706020507" pitchFamily="18" charset="2"/>
              </a:rPr>
              <a:t>C A B</a:t>
            </a:r>
            <a:r>
              <a:rPr lang="en-US" altLang="en-US" sz="4000" i="1" baseline="-25000" dirty="0">
                <a:sym typeface="Symbol" panose="05050102010706020507" pitchFamily="18" charset="2"/>
              </a:rPr>
              <a:t>R</a:t>
            </a:r>
            <a:r>
              <a:rPr lang="en-US" altLang="en-US" sz="4000" dirty="0">
                <a:sym typeface="Symbol" panose="05050102010706020507" pitchFamily="18" charset="2"/>
              </a:rPr>
              <a:t> | </a:t>
            </a:r>
            <a:r>
              <a:rPr lang="en-US" altLang="en-US" sz="4000" b="1" dirty="0">
                <a:sym typeface="Symbol" panose="05050102010706020507" pitchFamily="18" charset="2"/>
              </a:rPr>
              <a:t>a b</a:t>
            </a:r>
            <a:r>
              <a:rPr lang="en-US" altLang="en-US" sz="4000" dirty="0">
                <a:sym typeface="Symbol" panose="05050102010706020507" pitchFamily="18" charset="2"/>
              </a:rPr>
              <a:t> </a:t>
            </a:r>
            <a:r>
              <a:rPr lang="en-US" altLang="en-US" sz="4000" i="1" dirty="0">
                <a:sym typeface="Symbol" panose="05050102010706020507" pitchFamily="18" charset="2"/>
              </a:rPr>
              <a:t>B</a:t>
            </a:r>
            <a:r>
              <a:rPr lang="en-US" altLang="en-US" sz="4000" i="1" baseline="-25000" dirty="0">
                <a:sym typeface="Symbol" panose="05050102010706020507" pitchFamily="18" charset="2"/>
              </a:rPr>
              <a:t>R</a:t>
            </a:r>
            <a:br>
              <a:rPr lang="en-US" altLang="en-US" sz="4000" dirty="0">
                <a:sym typeface="Symbol" panose="05050102010706020507" pitchFamily="18" charset="2"/>
              </a:rPr>
            </a:br>
            <a:r>
              <a:rPr lang="en-US" altLang="en-US" sz="4000" dirty="0">
                <a:sym typeface="Symbol" panose="05050102010706020507" pitchFamily="18" charset="2"/>
              </a:rPr>
              <a:t>			</a:t>
            </a:r>
            <a:r>
              <a:rPr lang="en-US" altLang="en-US" sz="4000" i="1" dirty="0">
                <a:sym typeface="Symbol" panose="05050102010706020507" pitchFamily="18" charset="2"/>
              </a:rPr>
              <a:t>B</a:t>
            </a:r>
            <a:r>
              <a:rPr lang="en-US" altLang="en-US" sz="4000" i="1" baseline="-25000" dirty="0">
                <a:sym typeface="Symbol" panose="05050102010706020507" pitchFamily="18" charset="2"/>
              </a:rPr>
              <a:t>R</a:t>
            </a:r>
            <a:r>
              <a:rPr lang="en-US" altLang="en-US" sz="4000" dirty="0"/>
              <a:t> </a:t>
            </a:r>
            <a:r>
              <a:rPr lang="en-US" altLang="en-US" sz="4000" dirty="0">
                <a:sym typeface="Symbol" panose="05050102010706020507" pitchFamily="18" charset="2"/>
              </a:rPr>
              <a:t> </a:t>
            </a:r>
            <a:r>
              <a:rPr lang="en-US" altLang="en-US" sz="4000" i="1" dirty="0">
                <a:sym typeface="Symbol" panose="05050102010706020507" pitchFamily="18" charset="2"/>
              </a:rPr>
              <a:t>C </a:t>
            </a:r>
            <a:r>
              <a:rPr lang="en-US" altLang="en-US" sz="4000" b="1" dirty="0">
                <a:sym typeface="Symbol" panose="05050102010706020507" pitchFamily="18" charset="2"/>
              </a:rPr>
              <a:t>b</a:t>
            </a:r>
            <a:r>
              <a:rPr lang="en-US" altLang="en-US" sz="4000" dirty="0">
                <a:sym typeface="Symbol" panose="05050102010706020507" pitchFamily="18" charset="2"/>
              </a:rPr>
              <a:t> </a:t>
            </a:r>
            <a:r>
              <a:rPr lang="en-US" altLang="en-US" sz="4000" i="1" dirty="0">
                <a:sym typeface="Symbol" panose="05050102010706020507" pitchFamily="18" charset="2"/>
              </a:rPr>
              <a:t>B</a:t>
            </a:r>
            <a:r>
              <a:rPr lang="en-US" altLang="en-US" sz="4000" i="1" baseline="-25000" dirty="0">
                <a:sym typeface="Symbol" panose="05050102010706020507" pitchFamily="18" charset="2"/>
              </a:rPr>
              <a:t>R</a:t>
            </a:r>
            <a:r>
              <a:rPr lang="en-US" altLang="en-US" sz="4000" dirty="0">
                <a:sym typeface="Symbol" panose="05050102010706020507" pitchFamily="18" charset="2"/>
              </a:rPr>
              <a:t> |  </a:t>
            </a:r>
            <a:br>
              <a:rPr lang="en-US" altLang="en-US" sz="4000" dirty="0"/>
            </a:br>
            <a:r>
              <a:rPr lang="en-US" altLang="en-US" sz="4000" i="1" dirty="0" err="1"/>
              <a:t>i</a:t>
            </a:r>
            <a:r>
              <a:rPr lang="en-US" altLang="en-US" sz="4000" dirty="0"/>
              <a:t> = 3, </a:t>
            </a:r>
            <a:r>
              <a:rPr lang="en-US" altLang="en-US" sz="4000" i="1" dirty="0"/>
              <a:t>j</a:t>
            </a:r>
            <a:r>
              <a:rPr lang="en-US" altLang="en-US" sz="4000" dirty="0"/>
              <a:t> = 1:	</a:t>
            </a:r>
            <a:r>
              <a:rPr lang="en-US" altLang="en-US" sz="4000" i="1" dirty="0"/>
              <a:t>C</a:t>
            </a:r>
            <a:r>
              <a:rPr lang="en-US" altLang="en-US" sz="4000" dirty="0"/>
              <a:t> </a:t>
            </a:r>
            <a:r>
              <a:rPr lang="en-US" altLang="en-US" sz="4000" dirty="0">
                <a:sym typeface="Symbol" panose="05050102010706020507" pitchFamily="18" charset="2"/>
              </a:rPr>
              <a:t> </a:t>
            </a:r>
            <a:r>
              <a:rPr lang="en-US" altLang="en-US" sz="4000" i="1" u="sng" dirty="0">
                <a:sym typeface="Symbol" panose="05050102010706020507" pitchFamily="18" charset="2"/>
              </a:rPr>
              <a:t>A</a:t>
            </a:r>
            <a:r>
              <a:rPr lang="en-US" altLang="en-US" sz="4000" i="1" dirty="0">
                <a:sym typeface="Symbol" panose="05050102010706020507" pitchFamily="18" charset="2"/>
              </a:rPr>
              <a:t> B</a:t>
            </a:r>
            <a:r>
              <a:rPr lang="en-US" altLang="en-US" sz="4000" dirty="0">
                <a:sym typeface="Symbol" panose="05050102010706020507" pitchFamily="18" charset="2"/>
              </a:rPr>
              <a:t> | </a:t>
            </a:r>
            <a:r>
              <a:rPr lang="en-US" altLang="en-US" sz="4000" i="1" dirty="0">
                <a:sym typeface="Symbol" panose="05050102010706020507" pitchFamily="18" charset="2"/>
              </a:rPr>
              <a:t>C </a:t>
            </a:r>
            <a:r>
              <a:rPr lang="en-US" altLang="en-US" sz="4000" i="1" dirty="0" err="1">
                <a:sym typeface="Symbol" panose="05050102010706020507" pitchFamily="18" charset="2"/>
              </a:rPr>
              <a:t>C</a:t>
            </a:r>
            <a:r>
              <a:rPr lang="en-US" altLang="en-US" sz="4000" dirty="0">
                <a:sym typeface="Symbol" panose="05050102010706020507" pitchFamily="18" charset="2"/>
              </a:rPr>
              <a:t> | </a:t>
            </a:r>
            <a:r>
              <a:rPr lang="en-US" altLang="en-US" sz="4000" b="1" dirty="0">
                <a:sym typeface="Symbol" panose="05050102010706020507" pitchFamily="18" charset="2"/>
              </a:rPr>
              <a:t>a</a:t>
            </a:r>
            <a:br>
              <a:rPr lang="en-US" altLang="en-US" sz="4000" b="1" dirty="0">
                <a:sym typeface="Symbol" panose="05050102010706020507" pitchFamily="18" charset="2"/>
              </a:rPr>
            </a:br>
            <a:r>
              <a:rPr lang="en-US" altLang="en-US" sz="4000" b="1" dirty="0">
                <a:sym typeface="Symbol" panose="05050102010706020507" pitchFamily="18" charset="2"/>
              </a:rPr>
              <a:t>		</a:t>
            </a:r>
            <a:r>
              <a:rPr lang="en-US" altLang="en-US" sz="4000" dirty="0">
                <a:sym typeface="Symbol" panose="05050102010706020507" pitchFamily="18" charset="2"/>
              </a:rPr>
              <a:t>	</a:t>
            </a:r>
            <a:r>
              <a:rPr lang="en-US" altLang="en-US" sz="4000" i="1" dirty="0">
                <a:sym typeface="Symbol" panose="05050102010706020507" pitchFamily="18" charset="2"/>
              </a:rPr>
              <a:t>C</a:t>
            </a:r>
            <a:r>
              <a:rPr lang="en-US" altLang="en-US" sz="4000" dirty="0"/>
              <a:t> </a:t>
            </a:r>
            <a:r>
              <a:rPr lang="en-US" altLang="en-US" sz="4000" dirty="0">
                <a:sym typeface="Symbol" panose="05050102010706020507" pitchFamily="18" charset="2"/>
              </a:rPr>
              <a:t> </a:t>
            </a:r>
            <a:r>
              <a:rPr lang="en-US" altLang="en-US" sz="4000" i="1" u="sng" dirty="0">
                <a:sym typeface="Symbol" panose="05050102010706020507" pitchFamily="18" charset="2"/>
              </a:rPr>
              <a:t>B C</a:t>
            </a:r>
            <a:r>
              <a:rPr lang="en-US" altLang="en-US" sz="4000" i="1" dirty="0">
                <a:sym typeface="Symbol" panose="05050102010706020507" pitchFamily="18" charset="2"/>
              </a:rPr>
              <a:t> B</a:t>
            </a:r>
            <a:r>
              <a:rPr lang="en-US" altLang="en-US" sz="4000" dirty="0">
                <a:sym typeface="Symbol" panose="05050102010706020507" pitchFamily="18" charset="2"/>
              </a:rPr>
              <a:t> | </a:t>
            </a:r>
            <a:r>
              <a:rPr lang="en-US" altLang="en-US" sz="4000" b="1" u="sng" dirty="0">
                <a:sym typeface="Symbol" panose="05050102010706020507" pitchFamily="18" charset="2"/>
              </a:rPr>
              <a:t>a</a:t>
            </a:r>
            <a:r>
              <a:rPr lang="en-US" altLang="en-US" sz="4000" dirty="0">
                <a:sym typeface="Symbol" panose="05050102010706020507" pitchFamily="18" charset="2"/>
              </a:rPr>
              <a:t> </a:t>
            </a:r>
            <a:r>
              <a:rPr lang="en-US" altLang="en-US" sz="4000" i="1" dirty="0">
                <a:sym typeface="Symbol" panose="05050102010706020507" pitchFamily="18" charset="2"/>
              </a:rPr>
              <a:t>B</a:t>
            </a:r>
            <a:r>
              <a:rPr lang="en-US" altLang="en-US" sz="4000" dirty="0">
                <a:sym typeface="Symbol" panose="05050102010706020507" pitchFamily="18" charset="2"/>
              </a:rPr>
              <a:t> | </a:t>
            </a:r>
            <a:r>
              <a:rPr lang="en-US" altLang="en-US" sz="4000" i="1" dirty="0">
                <a:sym typeface="Symbol" panose="05050102010706020507" pitchFamily="18" charset="2"/>
              </a:rPr>
              <a:t>C </a:t>
            </a:r>
            <a:r>
              <a:rPr lang="en-US" altLang="en-US" sz="4000" i="1" dirty="0" err="1">
                <a:sym typeface="Symbol" panose="05050102010706020507" pitchFamily="18" charset="2"/>
              </a:rPr>
              <a:t>C</a:t>
            </a:r>
            <a:r>
              <a:rPr lang="en-US" altLang="en-US" sz="4000" dirty="0">
                <a:sym typeface="Symbol" panose="05050102010706020507" pitchFamily="18" charset="2"/>
              </a:rPr>
              <a:t> | </a:t>
            </a:r>
            <a:r>
              <a:rPr lang="en-US" altLang="en-US" sz="4000" b="1" dirty="0">
                <a:sym typeface="Symbol" panose="05050102010706020507" pitchFamily="18" charset="2"/>
              </a:rPr>
              <a:t>a</a:t>
            </a:r>
            <a:br>
              <a:rPr lang="en-US" altLang="en-US" sz="4000" b="1" dirty="0">
                <a:sym typeface="Symbol" panose="05050102010706020507" pitchFamily="18" charset="2"/>
              </a:rPr>
            </a:br>
            <a:r>
              <a:rPr lang="en-US" altLang="en-US" sz="4000" i="1" dirty="0" err="1"/>
              <a:t>i</a:t>
            </a:r>
            <a:r>
              <a:rPr lang="en-US" altLang="en-US" sz="4000" dirty="0"/>
              <a:t> = 3, </a:t>
            </a:r>
            <a:r>
              <a:rPr lang="en-US" altLang="en-US" sz="4000" i="1" dirty="0"/>
              <a:t>j</a:t>
            </a:r>
            <a:r>
              <a:rPr lang="en-US" altLang="en-US" sz="4000" dirty="0"/>
              <a:t> = 2:	</a:t>
            </a:r>
            <a:r>
              <a:rPr lang="en-US" altLang="en-US" sz="4000" i="1" dirty="0">
                <a:sym typeface="Symbol" panose="05050102010706020507" pitchFamily="18" charset="2"/>
              </a:rPr>
              <a:t>C</a:t>
            </a:r>
            <a:r>
              <a:rPr lang="en-US" altLang="en-US" sz="4000" b="1" dirty="0">
                <a:sym typeface="Symbol" panose="05050102010706020507" pitchFamily="18" charset="2"/>
              </a:rPr>
              <a:t> </a:t>
            </a:r>
            <a:r>
              <a:rPr lang="en-US" altLang="en-US" sz="4000" dirty="0">
                <a:sym typeface="Symbol" panose="05050102010706020507" pitchFamily="18" charset="2"/>
              </a:rPr>
              <a:t> </a:t>
            </a:r>
            <a:r>
              <a:rPr lang="en-US" altLang="en-US" sz="4000" i="1" u="sng" dirty="0">
                <a:sym typeface="Symbol" panose="05050102010706020507" pitchFamily="18" charset="2"/>
              </a:rPr>
              <a:t>B</a:t>
            </a:r>
            <a:r>
              <a:rPr lang="en-US" altLang="en-US" sz="4000" i="1" dirty="0">
                <a:sym typeface="Symbol" panose="05050102010706020507" pitchFamily="18" charset="2"/>
              </a:rPr>
              <a:t> C B</a:t>
            </a:r>
            <a:r>
              <a:rPr lang="en-US" altLang="en-US" sz="4000" dirty="0">
                <a:sym typeface="Symbol" panose="05050102010706020507" pitchFamily="18" charset="2"/>
              </a:rPr>
              <a:t> | </a:t>
            </a:r>
            <a:r>
              <a:rPr lang="en-US" altLang="en-US" sz="4000" b="1" dirty="0">
                <a:sym typeface="Symbol" panose="05050102010706020507" pitchFamily="18" charset="2"/>
              </a:rPr>
              <a:t>a</a:t>
            </a:r>
            <a:r>
              <a:rPr lang="en-US" altLang="en-US" sz="4000" dirty="0">
                <a:sym typeface="Symbol" panose="05050102010706020507" pitchFamily="18" charset="2"/>
              </a:rPr>
              <a:t> </a:t>
            </a:r>
            <a:r>
              <a:rPr lang="en-US" altLang="en-US" sz="4000" i="1" dirty="0">
                <a:sym typeface="Symbol" panose="05050102010706020507" pitchFamily="18" charset="2"/>
              </a:rPr>
              <a:t>B</a:t>
            </a:r>
            <a:r>
              <a:rPr lang="en-US" altLang="en-US" sz="4000" dirty="0">
                <a:sym typeface="Symbol" panose="05050102010706020507" pitchFamily="18" charset="2"/>
              </a:rPr>
              <a:t> | </a:t>
            </a:r>
            <a:r>
              <a:rPr lang="en-US" altLang="en-US" sz="4000" i="1" dirty="0">
                <a:sym typeface="Symbol" panose="05050102010706020507" pitchFamily="18" charset="2"/>
              </a:rPr>
              <a:t>C </a:t>
            </a:r>
            <a:r>
              <a:rPr lang="en-US" altLang="en-US" sz="4000" i="1" dirty="0" err="1">
                <a:sym typeface="Symbol" panose="05050102010706020507" pitchFamily="18" charset="2"/>
              </a:rPr>
              <a:t>C</a:t>
            </a:r>
            <a:r>
              <a:rPr lang="en-US" altLang="en-US" sz="4000" dirty="0">
                <a:sym typeface="Symbol" panose="05050102010706020507" pitchFamily="18" charset="2"/>
              </a:rPr>
              <a:t> | </a:t>
            </a:r>
            <a:r>
              <a:rPr lang="en-US" altLang="en-US" sz="4000" b="1" dirty="0">
                <a:sym typeface="Symbol" panose="05050102010706020507" pitchFamily="18" charset="2"/>
              </a:rPr>
              <a:t>a</a:t>
            </a:r>
            <a:br>
              <a:rPr lang="en-US" altLang="en-US" sz="4000" i="1" baseline="-25000" dirty="0">
                <a:sym typeface="Symbol" panose="05050102010706020507" pitchFamily="18" charset="2"/>
              </a:rPr>
            </a:br>
            <a:r>
              <a:rPr lang="en-US" altLang="en-US" sz="4000" i="1" baseline="-25000" dirty="0">
                <a:sym typeface="Symbol" panose="05050102010706020507" pitchFamily="18" charset="2"/>
              </a:rPr>
              <a:t>		</a:t>
            </a:r>
            <a:r>
              <a:rPr lang="en-US" altLang="en-US" sz="4000" dirty="0">
                <a:sym typeface="Symbol" panose="05050102010706020507" pitchFamily="18" charset="2"/>
              </a:rPr>
              <a:t>	</a:t>
            </a:r>
            <a:r>
              <a:rPr lang="en-US" altLang="en-US" sz="4000" i="1" dirty="0">
                <a:sym typeface="Symbol" panose="05050102010706020507" pitchFamily="18" charset="2"/>
              </a:rPr>
              <a:t>C</a:t>
            </a:r>
            <a:r>
              <a:rPr lang="en-US" altLang="en-US" sz="4000" b="1" dirty="0">
                <a:sym typeface="Symbol" panose="05050102010706020507" pitchFamily="18" charset="2"/>
              </a:rPr>
              <a:t> </a:t>
            </a:r>
            <a:r>
              <a:rPr lang="en-US" altLang="en-US" sz="4000" dirty="0">
                <a:sym typeface="Symbol" panose="05050102010706020507" pitchFamily="18" charset="2"/>
              </a:rPr>
              <a:t> </a:t>
            </a:r>
            <a:r>
              <a:rPr lang="en-US" altLang="en-US" sz="4000" i="1" u="sng" dirty="0">
                <a:sym typeface="Symbol" panose="05050102010706020507" pitchFamily="18" charset="2"/>
              </a:rPr>
              <a:t>C A B</a:t>
            </a:r>
            <a:r>
              <a:rPr lang="en-US" altLang="en-US" sz="4000" i="1" u="sng" baseline="-25000" dirty="0">
                <a:sym typeface="Symbol" panose="05050102010706020507" pitchFamily="18" charset="2"/>
              </a:rPr>
              <a:t>R</a:t>
            </a:r>
            <a:r>
              <a:rPr lang="en-US" altLang="en-US" sz="4000" i="1" dirty="0">
                <a:sym typeface="Symbol" panose="05050102010706020507" pitchFamily="18" charset="2"/>
              </a:rPr>
              <a:t> C B</a:t>
            </a:r>
            <a:r>
              <a:rPr lang="en-US" altLang="en-US" sz="4000" dirty="0">
                <a:sym typeface="Symbol" panose="05050102010706020507" pitchFamily="18" charset="2"/>
              </a:rPr>
              <a:t> | </a:t>
            </a:r>
            <a:r>
              <a:rPr lang="en-US" altLang="en-US" sz="4000" b="1" u="sng" dirty="0">
                <a:sym typeface="Symbol" panose="05050102010706020507" pitchFamily="18" charset="2"/>
              </a:rPr>
              <a:t>a b </a:t>
            </a:r>
            <a:r>
              <a:rPr lang="en-US" altLang="en-US" sz="4000" i="1" u="sng" dirty="0">
                <a:sym typeface="Symbol" panose="05050102010706020507" pitchFamily="18" charset="2"/>
              </a:rPr>
              <a:t>B</a:t>
            </a:r>
            <a:r>
              <a:rPr lang="en-US" altLang="en-US" sz="4000" i="1" u="sng" baseline="-25000" dirty="0">
                <a:sym typeface="Symbol" panose="05050102010706020507" pitchFamily="18" charset="2"/>
              </a:rPr>
              <a:t>R</a:t>
            </a:r>
            <a:r>
              <a:rPr lang="en-US" altLang="en-US" sz="4000" b="1" dirty="0">
                <a:sym typeface="Symbol" panose="05050102010706020507" pitchFamily="18" charset="2"/>
              </a:rPr>
              <a:t> </a:t>
            </a:r>
            <a:r>
              <a:rPr lang="en-US" altLang="en-US" sz="4000" i="1" dirty="0">
                <a:sym typeface="Symbol" panose="05050102010706020507" pitchFamily="18" charset="2"/>
              </a:rPr>
              <a:t>C B</a:t>
            </a:r>
            <a:r>
              <a:rPr lang="en-US" altLang="en-US" sz="4000" dirty="0">
                <a:sym typeface="Symbol" panose="05050102010706020507" pitchFamily="18" charset="2"/>
              </a:rPr>
              <a:t> | </a:t>
            </a:r>
            <a:r>
              <a:rPr lang="en-US" altLang="en-US" sz="4000" b="1" dirty="0">
                <a:sym typeface="Symbol" panose="05050102010706020507" pitchFamily="18" charset="2"/>
              </a:rPr>
              <a:t>a</a:t>
            </a:r>
            <a:r>
              <a:rPr lang="en-US" altLang="en-US" sz="4000" dirty="0">
                <a:sym typeface="Symbol" panose="05050102010706020507" pitchFamily="18" charset="2"/>
              </a:rPr>
              <a:t> </a:t>
            </a:r>
            <a:r>
              <a:rPr lang="en-US" altLang="en-US" sz="4000" i="1" dirty="0">
                <a:sym typeface="Symbol" panose="05050102010706020507" pitchFamily="18" charset="2"/>
              </a:rPr>
              <a:t>B</a:t>
            </a:r>
            <a:r>
              <a:rPr lang="en-US" altLang="en-US" sz="4000" dirty="0">
                <a:sym typeface="Symbol" panose="05050102010706020507" pitchFamily="18" charset="2"/>
              </a:rPr>
              <a:t> | </a:t>
            </a:r>
            <a:r>
              <a:rPr lang="en-US" altLang="en-US" sz="4000" i="1" dirty="0">
                <a:sym typeface="Symbol" panose="05050102010706020507" pitchFamily="18" charset="2"/>
              </a:rPr>
              <a:t>C </a:t>
            </a:r>
            <a:r>
              <a:rPr lang="en-US" altLang="en-US" sz="4000" i="1" dirty="0" err="1">
                <a:sym typeface="Symbol" panose="05050102010706020507" pitchFamily="18" charset="2"/>
              </a:rPr>
              <a:t>C</a:t>
            </a:r>
            <a:r>
              <a:rPr lang="en-US" altLang="en-US" sz="4000" dirty="0">
                <a:sym typeface="Symbol" panose="05050102010706020507" pitchFamily="18" charset="2"/>
              </a:rPr>
              <a:t> | </a:t>
            </a:r>
            <a:r>
              <a:rPr lang="en-US" altLang="en-US" sz="4000" b="1" dirty="0">
                <a:sym typeface="Symbol" panose="05050102010706020507" pitchFamily="18" charset="2"/>
              </a:rPr>
              <a:t>a</a:t>
            </a:r>
            <a:br>
              <a:rPr lang="en-US" altLang="en-US" sz="4000" b="1" dirty="0">
                <a:sym typeface="Symbol" panose="05050102010706020507" pitchFamily="18" charset="2"/>
              </a:rPr>
            </a:br>
            <a:r>
              <a:rPr lang="en-US" altLang="en-US" sz="4000" b="1" dirty="0">
                <a:sym typeface="Symbol" panose="05050102010706020507" pitchFamily="18" charset="2"/>
              </a:rPr>
              <a:t>		</a:t>
            </a:r>
            <a:r>
              <a:rPr lang="en-US" altLang="en-US" sz="4000" dirty="0">
                <a:sym typeface="Symbol" panose="05050102010706020507" pitchFamily="18" charset="2"/>
              </a:rPr>
              <a:t></a:t>
            </a:r>
            <a:r>
              <a:rPr lang="en-US" altLang="en-US" sz="4000" baseline="-25000" dirty="0">
                <a:sym typeface="Symbol" panose="05050102010706020507" pitchFamily="18" charset="2"/>
              </a:rPr>
              <a:t>(</a:t>
            </a:r>
            <a:r>
              <a:rPr lang="en-US" altLang="en-US" sz="4000" baseline="-25000" dirty="0" err="1">
                <a:sym typeface="Symbol" panose="05050102010706020507" pitchFamily="18" charset="2"/>
              </a:rPr>
              <a:t>imm</a:t>
            </a:r>
            <a:r>
              <a:rPr lang="en-US" altLang="en-US" sz="4000" baseline="-25000" dirty="0">
                <a:sym typeface="Symbol" panose="05050102010706020507" pitchFamily="18" charset="2"/>
              </a:rPr>
              <a:t>)</a:t>
            </a:r>
            <a:r>
              <a:rPr lang="en-US" altLang="en-US" sz="4000" dirty="0">
                <a:sym typeface="Symbol" panose="05050102010706020507" pitchFamily="18" charset="2"/>
              </a:rPr>
              <a:t>	</a:t>
            </a:r>
            <a:r>
              <a:rPr lang="en-US" altLang="en-US" sz="4000" i="1" dirty="0">
                <a:sym typeface="Symbol" panose="05050102010706020507" pitchFamily="18" charset="2"/>
              </a:rPr>
              <a:t>C</a:t>
            </a:r>
            <a:r>
              <a:rPr lang="en-US" altLang="en-US" sz="4000" b="1" dirty="0">
                <a:sym typeface="Symbol" panose="05050102010706020507" pitchFamily="18" charset="2"/>
              </a:rPr>
              <a:t> </a:t>
            </a:r>
            <a:r>
              <a:rPr lang="en-US" altLang="en-US" sz="4000" dirty="0">
                <a:sym typeface="Symbol" panose="05050102010706020507" pitchFamily="18" charset="2"/>
              </a:rPr>
              <a:t> </a:t>
            </a:r>
            <a:r>
              <a:rPr lang="en-US" altLang="en-US" sz="4000" b="1" dirty="0">
                <a:sym typeface="Symbol" panose="05050102010706020507" pitchFamily="18" charset="2"/>
              </a:rPr>
              <a:t>a b </a:t>
            </a:r>
            <a:r>
              <a:rPr lang="en-US" altLang="en-US" sz="4000" i="1" dirty="0">
                <a:sym typeface="Symbol" panose="05050102010706020507" pitchFamily="18" charset="2"/>
              </a:rPr>
              <a:t>B</a:t>
            </a:r>
            <a:r>
              <a:rPr lang="en-US" altLang="en-US" sz="4000" i="1" baseline="-25000" dirty="0">
                <a:sym typeface="Symbol" panose="05050102010706020507" pitchFamily="18" charset="2"/>
              </a:rPr>
              <a:t>R</a:t>
            </a:r>
            <a:r>
              <a:rPr lang="en-US" altLang="en-US" sz="4000" i="1" dirty="0">
                <a:sym typeface="Symbol" panose="05050102010706020507" pitchFamily="18" charset="2"/>
              </a:rPr>
              <a:t> C B C</a:t>
            </a:r>
            <a:r>
              <a:rPr lang="en-US" altLang="en-US" sz="4000" i="1" baseline="-25000" dirty="0">
                <a:sym typeface="Symbol" panose="05050102010706020507" pitchFamily="18" charset="2"/>
              </a:rPr>
              <a:t>R</a:t>
            </a:r>
            <a:r>
              <a:rPr lang="en-US" altLang="en-US" sz="4000" dirty="0">
                <a:sym typeface="Symbol" panose="05050102010706020507" pitchFamily="18" charset="2"/>
              </a:rPr>
              <a:t> | </a:t>
            </a:r>
            <a:r>
              <a:rPr lang="en-US" altLang="en-US" sz="4000" b="1" dirty="0">
                <a:sym typeface="Symbol" panose="05050102010706020507" pitchFamily="18" charset="2"/>
              </a:rPr>
              <a:t>a</a:t>
            </a:r>
            <a:r>
              <a:rPr lang="en-US" altLang="en-US" sz="4000" dirty="0">
                <a:sym typeface="Symbol" panose="05050102010706020507" pitchFamily="18" charset="2"/>
              </a:rPr>
              <a:t> </a:t>
            </a:r>
            <a:r>
              <a:rPr lang="en-US" altLang="en-US" sz="4000" i="1" dirty="0">
                <a:sym typeface="Symbol" panose="05050102010706020507" pitchFamily="18" charset="2"/>
              </a:rPr>
              <a:t>B</a:t>
            </a:r>
            <a:r>
              <a:rPr lang="en-US" altLang="en-US" sz="4000" dirty="0">
                <a:sym typeface="Symbol" panose="05050102010706020507" pitchFamily="18" charset="2"/>
              </a:rPr>
              <a:t> </a:t>
            </a:r>
            <a:r>
              <a:rPr lang="en-US" altLang="en-US" sz="4000" i="1" dirty="0">
                <a:sym typeface="Symbol" panose="05050102010706020507" pitchFamily="18" charset="2"/>
              </a:rPr>
              <a:t>C</a:t>
            </a:r>
            <a:r>
              <a:rPr lang="en-US" altLang="en-US" sz="4000" i="1" baseline="-25000" dirty="0">
                <a:sym typeface="Symbol" panose="05050102010706020507" pitchFamily="18" charset="2"/>
              </a:rPr>
              <a:t>R</a:t>
            </a:r>
            <a:r>
              <a:rPr lang="en-US" altLang="en-US" sz="4000" dirty="0">
                <a:sym typeface="Symbol" panose="05050102010706020507" pitchFamily="18" charset="2"/>
              </a:rPr>
              <a:t> | </a:t>
            </a:r>
            <a:r>
              <a:rPr lang="en-US" altLang="en-US" sz="4000" b="1" dirty="0">
                <a:sym typeface="Symbol" panose="05050102010706020507" pitchFamily="18" charset="2"/>
              </a:rPr>
              <a:t>a </a:t>
            </a:r>
            <a:r>
              <a:rPr lang="en-US" altLang="en-US" sz="4000" i="1" dirty="0">
                <a:sym typeface="Symbol" panose="05050102010706020507" pitchFamily="18" charset="2"/>
              </a:rPr>
              <a:t>C</a:t>
            </a:r>
            <a:r>
              <a:rPr lang="en-US" altLang="en-US" sz="4000" i="1" baseline="-25000" dirty="0">
                <a:sym typeface="Symbol" panose="05050102010706020507" pitchFamily="18" charset="2"/>
              </a:rPr>
              <a:t>R</a:t>
            </a:r>
            <a:br>
              <a:rPr lang="en-US" altLang="en-US" sz="4000" i="1" baseline="-25000" dirty="0">
                <a:sym typeface="Symbol" panose="05050102010706020507" pitchFamily="18" charset="2"/>
              </a:rPr>
            </a:br>
            <a:r>
              <a:rPr lang="en-US" altLang="en-US" sz="4000" i="1" baseline="-25000" dirty="0">
                <a:sym typeface="Symbol" panose="05050102010706020507" pitchFamily="18" charset="2"/>
              </a:rPr>
              <a:t>			</a:t>
            </a:r>
            <a:r>
              <a:rPr lang="en-US" altLang="en-US" sz="4000" i="1" dirty="0">
                <a:sym typeface="Symbol" panose="05050102010706020507" pitchFamily="18" charset="2"/>
              </a:rPr>
              <a:t>C</a:t>
            </a:r>
            <a:r>
              <a:rPr lang="en-US" altLang="en-US" sz="4000" i="1" baseline="-25000" dirty="0">
                <a:sym typeface="Symbol" panose="05050102010706020507" pitchFamily="18" charset="2"/>
              </a:rPr>
              <a:t>R</a:t>
            </a:r>
            <a:r>
              <a:rPr lang="en-US" altLang="en-US" sz="4000" b="1" dirty="0">
                <a:sym typeface="Symbol" panose="05050102010706020507" pitchFamily="18" charset="2"/>
              </a:rPr>
              <a:t> </a:t>
            </a:r>
            <a:r>
              <a:rPr lang="en-US" altLang="en-US" sz="4000" dirty="0">
                <a:sym typeface="Symbol" panose="05050102010706020507" pitchFamily="18" charset="2"/>
              </a:rPr>
              <a:t> </a:t>
            </a:r>
            <a:r>
              <a:rPr lang="en-US" altLang="en-US" sz="4000" i="1" dirty="0">
                <a:sym typeface="Symbol" panose="05050102010706020507" pitchFamily="18" charset="2"/>
              </a:rPr>
              <a:t>A B</a:t>
            </a:r>
            <a:r>
              <a:rPr lang="en-US" altLang="en-US" sz="4000" i="1" baseline="-25000" dirty="0">
                <a:sym typeface="Symbol" panose="05050102010706020507" pitchFamily="18" charset="2"/>
              </a:rPr>
              <a:t>R</a:t>
            </a:r>
            <a:r>
              <a:rPr lang="en-US" altLang="en-US" sz="4000" i="1" dirty="0">
                <a:sym typeface="Symbol" panose="05050102010706020507" pitchFamily="18" charset="2"/>
              </a:rPr>
              <a:t> C B C</a:t>
            </a:r>
            <a:r>
              <a:rPr lang="en-US" altLang="en-US" sz="4000" i="1" baseline="-25000" dirty="0">
                <a:sym typeface="Symbol" panose="05050102010706020507" pitchFamily="18" charset="2"/>
              </a:rPr>
              <a:t>R</a:t>
            </a:r>
            <a:r>
              <a:rPr lang="en-US" altLang="en-US" sz="4000" dirty="0">
                <a:sym typeface="Symbol" panose="05050102010706020507" pitchFamily="18" charset="2"/>
              </a:rPr>
              <a:t> | </a:t>
            </a:r>
            <a:r>
              <a:rPr lang="en-US" altLang="en-US" sz="4000" i="1" dirty="0">
                <a:sym typeface="Symbol" panose="05050102010706020507" pitchFamily="18" charset="2"/>
              </a:rPr>
              <a:t>C C</a:t>
            </a:r>
            <a:r>
              <a:rPr lang="en-US" altLang="en-US" sz="4000" i="1" baseline="-25000" dirty="0">
                <a:sym typeface="Symbol" panose="05050102010706020507" pitchFamily="18" charset="2"/>
              </a:rPr>
              <a:t>R</a:t>
            </a:r>
            <a:r>
              <a:rPr lang="en-US" altLang="en-US" sz="4000" dirty="0">
                <a:sym typeface="Symbol" panose="05050102010706020507" pitchFamily="18" charset="2"/>
              </a:rPr>
              <a:t> | </a:t>
            </a:r>
          </a:p>
        </p:txBody>
      </p:sp>
      <p:sp>
        <p:nvSpPr>
          <p:cNvPr id="20487" name="AutoShape 7">
            <a:extLst>
              <a:ext uri="{FF2B5EF4-FFF2-40B4-BE49-F238E27FC236}">
                <a16:creationId xmlns:a16="http://schemas.microsoft.com/office/drawing/2014/main" id="{77F02E37-95F7-4126-A5A3-1FD6511223D6}"/>
              </a:ext>
            </a:extLst>
          </p:cNvPr>
          <p:cNvSpPr>
            <a:spLocks/>
          </p:cNvSpPr>
          <p:nvPr/>
        </p:nvSpPr>
        <p:spPr bwMode="auto">
          <a:xfrm>
            <a:off x="11141869" y="2286000"/>
            <a:ext cx="457200" cy="2133600"/>
          </a:xfrm>
          <a:prstGeom prst="rightBrace">
            <a:avLst>
              <a:gd name="adj1" fmla="val 38889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4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9D797C-F9B8-4DD5-8F96-85E00C0A1C8C}"/>
              </a:ext>
            </a:extLst>
          </p:cNvPr>
          <p:cNvSpPr txBox="1"/>
          <p:nvPr/>
        </p:nvSpPr>
        <p:spPr>
          <a:xfrm>
            <a:off x="10837069" y="5040398"/>
            <a:ext cx="9569663" cy="3477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4400" dirty="0"/>
              <a:t>For every non-terminal repeat step 1 and 2</a:t>
            </a:r>
          </a:p>
          <a:p>
            <a:r>
              <a:rPr lang="en-IN" sz="4400" dirty="0"/>
              <a:t>Step 1. Substitute visited leftmost </a:t>
            </a:r>
          </a:p>
          <a:p>
            <a:r>
              <a:rPr lang="en-IN" sz="4400" dirty="0"/>
              <a:t>            Non-terminal              </a:t>
            </a:r>
          </a:p>
          <a:p>
            <a:pPr marL="1606550" indent="-1606550"/>
            <a:r>
              <a:rPr lang="en-IN" sz="4400" dirty="0"/>
              <a:t>Step 2. Apply Immediate Left recursion elimination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2DDF4E4-AA1A-4F21-BAC0-83144F21D45D}"/>
              </a:ext>
            </a:extLst>
          </p:cNvPr>
          <p:cNvSpPr txBox="1">
            <a:spLocks/>
          </p:cNvSpPr>
          <p:nvPr/>
        </p:nvSpPr>
        <p:spPr>
          <a:xfrm>
            <a:off x="8583562" y="11621464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6E7C1-FCF2-457B-A35F-53AAFE489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Evaluation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3D43D-8748-434E-8D56-BB2907738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Eliminate Left Recursion from following Grammars</a:t>
            </a:r>
          </a:p>
          <a:p>
            <a:pPr marL="1555714" lvl="1" indent="-742950">
              <a:buFont typeface="+mj-lt"/>
              <a:buAutoNum type="arabicPeriod"/>
            </a:pPr>
            <a:r>
              <a:rPr lang="en-US" dirty="0"/>
              <a:t>E → ID = E |   E + E | E – E | E * E | E/ E | ID | NUM  </a:t>
            </a:r>
          </a:p>
          <a:p>
            <a:pPr marL="1555714" lvl="1" indent="-742950">
              <a:buFont typeface="+mj-lt"/>
              <a:buAutoNum type="arabicPeriod"/>
            </a:pPr>
            <a:r>
              <a:rPr lang="en-US" dirty="0"/>
              <a:t>A → </a:t>
            </a:r>
            <a:r>
              <a:rPr lang="en-US" dirty="0" err="1"/>
              <a:t>ABd</a:t>
            </a:r>
            <a:r>
              <a:rPr lang="en-US" dirty="0"/>
              <a:t> | Aa | a            ;    B → Be | b</a:t>
            </a:r>
          </a:p>
          <a:p>
            <a:pPr marL="1555714" lvl="1" indent="-742950">
              <a:buFont typeface="+mj-lt"/>
              <a:buAutoNum type="arabicPeriod"/>
            </a:pPr>
            <a:r>
              <a:rPr lang="en-US" dirty="0"/>
              <a:t>S → Aa | b  ;     A → Ac | Sd | ∈</a:t>
            </a:r>
          </a:p>
          <a:p>
            <a:pPr marL="1555714" lvl="1" indent="-742950">
              <a:buFont typeface="+mj-lt"/>
              <a:buAutoNum type="arabicPeriod"/>
            </a:pPr>
            <a:r>
              <a:rPr lang="en-US" dirty="0"/>
              <a:t>S → A  ;   A → Ad | Ae | </a:t>
            </a:r>
            <a:r>
              <a:rPr lang="en-US" dirty="0" err="1"/>
              <a:t>aB</a:t>
            </a:r>
            <a:r>
              <a:rPr lang="en-US" dirty="0"/>
              <a:t> | ac ;   B → </a:t>
            </a:r>
            <a:r>
              <a:rPr lang="en-US" dirty="0" err="1"/>
              <a:t>bBc</a:t>
            </a:r>
            <a:r>
              <a:rPr lang="en-US" dirty="0"/>
              <a:t> | f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FC817-A539-4123-9B88-4ED87ECCE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29F5997-7F14-480C-B49F-255B688210D5}"/>
              </a:ext>
            </a:extLst>
          </p:cNvPr>
          <p:cNvSpPr txBox="1">
            <a:spLocks/>
          </p:cNvSpPr>
          <p:nvPr/>
        </p:nvSpPr>
        <p:spPr>
          <a:xfrm>
            <a:off x="8583562" y="11621464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  <p:extLst>
      <p:ext uri="{BB962C8B-B14F-4D97-AF65-F5344CB8AC3E}">
        <p14:creationId xmlns:p14="http://schemas.microsoft.com/office/powerpoint/2010/main" val="36569302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>
            <a:extLst>
              <a:ext uri="{FF2B5EF4-FFF2-40B4-BE49-F238E27FC236}">
                <a16:creationId xmlns:a16="http://schemas.microsoft.com/office/drawing/2014/main" id="{CA03611D-30E9-4948-8DDF-E363AD9D1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1485900" indent="-5715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22860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32004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41148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50292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59436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68580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77724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C8926ECD-6374-4A13-BF1E-22A739482372}" type="slidenum">
              <a:rPr lang="en-US" altLang="en-US" sz="2800"/>
              <a:pPr/>
              <a:t>33</a:t>
            </a:fld>
            <a:endParaRPr lang="en-US" altLang="en-US" sz="28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9C82609E-F18C-41C7-A0B6-5CA02E82C9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Left Factoring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D6FBFA94-3E16-4868-98F8-5CF558DB50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z="5600" dirty="0">
                <a:ea typeface="ＭＳ Ｐゴシック" panose="020B0600070205080204" pitchFamily="34" charset="-128"/>
              </a:rPr>
              <a:t>When a </a:t>
            </a:r>
            <a:r>
              <a:rPr lang="en-US" altLang="en-US" sz="5600">
                <a:ea typeface="ＭＳ Ｐゴシック" panose="020B0600070205080204" pitchFamily="34" charset="-128"/>
              </a:rPr>
              <a:t>nonterminal has </a:t>
            </a:r>
            <a:r>
              <a:rPr lang="en-US" altLang="en-US" sz="5600" dirty="0">
                <a:ea typeface="ＭＳ Ｐゴシック" panose="020B0600070205080204" pitchFamily="34" charset="-128"/>
              </a:rPr>
              <a:t>two or </a:t>
            </a:r>
            <a:r>
              <a:rPr lang="en-US" altLang="en-US" sz="5600">
                <a:ea typeface="ＭＳ Ｐゴシック" panose="020B0600070205080204" pitchFamily="34" charset="-128"/>
              </a:rPr>
              <a:t>more productions whose right-hand sides start </a:t>
            </a:r>
            <a:r>
              <a:rPr lang="en-US" altLang="en-US" sz="5600" dirty="0">
                <a:ea typeface="ＭＳ Ｐゴシック" panose="020B0600070205080204" pitchFamily="34" charset="-128"/>
              </a:rPr>
              <a:t>with </a:t>
            </a:r>
            <a:r>
              <a:rPr lang="en-US" altLang="en-US" sz="5600">
                <a:ea typeface="ＭＳ Ｐゴシック" panose="020B0600070205080204" pitchFamily="34" charset="-128"/>
              </a:rPr>
              <a:t>the same grammar symbols, </a:t>
            </a:r>
            <a:r>
              <a:rPr lang="en-US" altLang="en-US" sz="5600" dirty="0">
                <a:ea typeface="ＭＳ Ｐゴシック" panose="020B0600070205080204" pitchFamily="34" charset="-128"/>
              </a:rPr>
              <a:t>the </a:t>
            </a:r>
            <a:r>
              <a:rPr lang="en-US" altLang="en-US" sz="5600">
                <a:ea typeface="ＭＳ Ｐゴシック" panose="020B0600070205080204" pitchFamily="34" charset="-128"/>
              </a:rPr>
              <a:t>grammar is </a:t>
            </a:r>
            <a:r>
              <a:rPr lang="en-US" altLang="en-US" sz="5600" dirty="0">
                <a:ea typeface="ＭＳ Ｐゴシック" panose="020B0600070205080204" pitchFamily="34" charset="-128"/>
              </a:rPr>
              <a:t>not LL(1) and cannot </a:t>
            </a:r>
            <a:r>
              <a:rPr lang="en-US" altLang="en-US" sz="5600">
                <a:ea typeface="ＭＳ Ｐゴシック" panose="020B0600070205080204" pitchFamily="34" charset="-128"/>
              </a:rPr>
              <a:t>be used </a:t>
            </a:r>
            <a:r>
              <a:rPr lang="en-US" altLang="en-US" sz="5600" dirty="0">
                <a:ea typeface="ＭＳ Ｐゴシック" panose="020B0600070205080204" pitchFamily="34" charset="-128"/>
              </a:rPr>
              <a:t>for </a:t>
            </a:r>
            <a:r>
              <a:rPr lang="en-US" altLang="en-US" sz="5600">
                <a:ea typeface="ＭＳ Ｐゴシック" panose="020B0600070205080204" pitchFamily="34" charset="-128"/>
              </a:rPr>
              <a:t>predictive parsing</a:t>
            </a:r>
            <a:endParaRPr lang="en-US" altLang="en-US" sz="56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5600">
                <a:ea typeface="ＭＳ Ｐゴシック" panose="020B0600070205080204" pitchFamily="34" charset="-128"/>
              </a:rPr>
              <a:t>Replace productions</a:t>
            </a:r>
            <a:br>
              <a:rPr lang="en-US" altLang="en-US" sz="5600" dirty="0">
                <a:ea typeface="ＭＳ Ｐゴシック" panose="020B0600070205080204" pitchFamily="34" charset="-128"/>
              </a:rPr>
            </a:br>
            <a:r>
              <a:rPr lang="en-US" altLang="en-US" sz="5600" dirty="0">
                <a:ea typeface="ＭＳ Ｐゴシック" panose="020B0600070205080204" pitchFamily="34" charset="-128"/>
              </a:rPr>
              <a:t>	</a:t>
            </a:r>
            <a:r>
              <a:rPr lang="en-US" altLang="en-US" sz="5600" i="1" dirty="0">
                <a:ea typeface="ＭＳ Ｐゴシック" panose="020B0600070205080204" pitchFamily="34" charset="-128"/>
              </a:rPr>
              <a:t>A</a:t>
            </a:r>
            <a:r>
              <a:rPr lang="en-US" altLang="en-US" sz="5600" dirty="0">
                <a:ea typeface="ＭＳ Ｐゴシック" panose="020B0600070205080204" pitchFamily="34" charset="-128"/>
              </a:rPr>
              <a:t> </a:t>
            </a:r>
            <a:r>
              <a:rPr lang="en-US" altLang="en-US" sz="56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  </a:t>
            </a:r>
            <a:r>
              <a:rPr lang="en-US" altLang="en-US" sz="56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1</a:t>
            </a:r>
            <a:r>
              <a:rPr lang="en-US" altLang="en-US" sz="56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56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| </a:t>
            </a:r>
            <a:r>
              <a:rPr lang="en-US" altLang="en-US" sz="56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 </a:t>
            </a:r>
            <a:r>
              <a:rPr lang="en-US" altLang="en-US" sz="56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en-US" sz="56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56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|</a:t>
            </a:r>
            <a:r>
              <a:rPr lang="en-US" altLang="en-US" sz="56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… |  </a:t>
            </a:r>
            <a:r>
              <a:rPr lang="en-US" altLang="en-US" sz="5600" i="1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n</a:t>
            </a:r>
            <a:r>
              <a:rPr lang="en-US" altLang="en-US" sz="56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| </a:t>
            </a:r>
            <a:br>
              <a:rPr lang="en-US" altLang="en-US" sz="5600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5600" dirty="0">
                <a:ea typeface="ＭＳ Ｐゴシック" panose="020B0600070205080204" pitchFamily="34" charset="-128"/>
                <a:sym typeface="Symbol" panose="05050102010706020507" pitchFamily="18" charset="2"/>
              </a:rPr>
              <a:t>with</a:t>
            </a:r>
            <a:br>
              <a:rPr lang="en-US" altLang="en-US" sz="5600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5600" dirty="0">
                <a:ea typeface="ＭＳ Ｐゴシック" panose="020B0600070205080204" pitchFamily="34" charset="-128"/>
                <a:sym typeface="Symbol" panose="05050102010706020507" pitchFamily="18" charset="2"/>
              </a:rPr>
              <a:t>	</a:t>
            </a:r>
            <a:r>
              <a:rPr lang="en-US" altLang="en-US" sz="5600" i="1" dirty="0">
                <a:ea typeface="ＭＳ Ｐゴシック" panose="020B0600070205080204" pitchFamily="34" charset="-128"/>
              </a:rPr>
              <a:t>A</a:t>
            </a:r>
            <a:r>
              <a:rPr lang="en-US" altLang="en-US" sz="5600" dirty="0">
                <a:ea typeface="ＭＳ Ｐゴシック" panose="020B0600070205080204" pitchFamily="34" charset="-128"/>
              </a:rPr>
              <a:t> </a:t>
            </a:r>
            <a:r>
              <a:rPr lang="en-US" altLang="en-US" sz="56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  </a:t>
            </a:r>
            <a:r>
              <a:rPr lang="en-US" altLang="en-US" sz="56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en-US" sz="5600" i="1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56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5600" dirty="0">
                <a:ea typeface="ＭＳ Ｐゴシック" panose="020B0600070205080204" pitchFamily="34" charset="-128"/>
                <a:sym typeface="Symbol" panose="05050102010706020507" pitchFamily="18" charset="2"/>
              </a:rPr>
              <a:t>| </a:t>
            </a:r>
            <a:br>
              <a:rPr lang="en-US" altLang="en-US" sz="5600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5600" dirty="0">
                <a:ea typeface="ＭＳ Ｐゴシック" panose="020B0600070205080204" pitchFamily="34" charset="-128"/>
                <a:sym typeface="Symbol" panose="05050102010706020507" pitchFamily="18" charset="2"/>
              </a:rPr>
              <a:t>	</a:t>
            </a:r>
            <a:r>
              <a:rPr lang="en-US" altLang="en-US" sz="56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en-US" sz="5600" i="1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5600" dirty="0">
                <a:ea typeface="ＭＳ Ｐゴシック" panose="020B0600070205080204" pitchFamily="34" charset="-128"/>
              </a:rPr>
              <a:t> </a:t>
            </a:r>
            <a:r>
              <a:rPr lang="en-US" altLang="en-US" sz="56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 </a:t>
            </a:r>
            <a:r>
              <a:rPr lang="en-US" altLang="en-US" sz="56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1</a:t>
            </a:r>
            <a:r>
              <a:rPr lang="en-US" altLang="en-US" sz="56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56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| </a:t>
            </a:r>
            <a:r>
              <a:rPr lang="en-US" altLang="en-US" sz="56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</a:t>
            </a:r>
            <a:r>
              <a:rPr lang="en-US" altLang="en-US" sz="56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2 </a:t>
            </a:r>
            <a:r>
              <a:rPr lang="en-US" altLang="en-US" sz="56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| … | </a:t>
            </a:r>
            <a:r>
              <a:rPr lang="en-US" altLang="en-US" sz="56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</a:t>
            </a:r>
            <a:r>
              <a:rPr lang="en-US" altLang="en-US" sz="5600" i="1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n</a:t>
            </a:r>
            <a:r>
              <a:rPr lang="en-US" altLang="en-US" sz="56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6989F7E-1146-4A61-8C48-030EFA499FED}"/>
              </a:ext>
            </a:extLst>
          </p:cNvPr>
          <p:cNvSpPr txBox="1">
            <a:spLocks/>
          </p:cNvSpPr>
          <p:nvPr/>
        </p:nvSpPr>
        <p:spPr>
          <a:xfrm>
            <a:off x="8583562" y="11621464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87D76-7CBC-4003-99A8-75B5C07E5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Left Factoring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B16A4-EE8B-4D5E-AFD7-95D81EE08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2879" y="5113863"/>
            <a:ext cx="17068377" cy="4699209"/>
          </a:xfrm>
        </p:spPr>
        <p:txBody>
          <a:bodyPr>
            <a:normAutofit/>
          </a:bodyPr>
          <a:lstStyle/>
          <a:p>
            <a:r>
              <a:rPr lang="en-IN" sz="5400" dirty="0"/>
              <a:t>S : </a:t>
            </a:r>
            <a:r>
              <a:rPr lang="en-IN" sz="5400" dirty="0" err="1"/>
              <a:t>iStS</a:t>
            </a:r>
            <a:r>
              <a:rPr lang="en-IN" sz="5400" dirty="0"/>
              <a:t> | </a:t>
            </a:r>
            <a:r>
              <a:rPr lang="en-IN" sz="5400" dirty="0" err="1"/>
              <a:t>iStSeS</a:t>
            </a:r>
            <a:endParaRPr lang="en-IN" sz="5400" dirty="0"/>
          </a:p>
          <a:p>
            <a:r>
              <a:rPr lang="en-IN" sz="5400" dirty="0"/>
              <a:t>After Left factoring</a:t>
            </a:r>
          </a:p>
          <a:p>
            <a:pPr lvl="1"/>
            <a:r>
              <a:rPr lang="en-IN" sz="4400" dirty="0"/>
              <a:t>S : </a:t>
            </a:r>
            <a:r>
              <a:rPr lang="en-IN" sz="4400" dirty="0" err="1"/>
              <a:t>iStSS</a:t>
            </a:r>
            <a:r>
              <a:rPr lang="en-IN" sz="4400" dirty="0"/>
              <a:t>’ </a:t>
            </a:r>
          </a:p>
          <a:p>
            <a:pPr lvl="1"/>
            <a:r>
              <a:rPr lang="en-IN" sz="4400" dirty="0"/>
              <a:t>S’ : null | </a:t>
            </a:r>
            <a:r>
              <a:rPr lang="en-IN" sz="4400" dirty="0" err="1"/>
              <a:t>eS</a:t>
            </a:r>
            <a:endParaRPr lang="en-IN" sz="4400" dirty="0"/>
          </a:p>
          <a:p>
            <a:endParaRPr lang="en-IN" sz="5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84BD8-A247-4714-ACE7-E8853D8F2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34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1373D81-5ADC-4063-916E-A609E1B05BD0}"/>
              </a:ext>
            </a:extLst>
          </p:cNvPr>
          <p:cNvSpPr txBox="1">
            <a:spLocks/>
          </p:cNvSpPr>
          <p:nvPr/>
        </p:nvSpPr>
        <p:spPr>
          <a:xfrm>
            <a:off x="8583562" y="11621464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  <p:extLst>
      <p:ext uri="{BB962C8B-B14F-4D97-AF65-F5344CB8AC3E}">
        <p14:creationId xmlns:p14="http://schemas.microsoft.com/office/powerpoint/2010/main" val="8920888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>
            <a:extLst>
              <a:ext uri="{FF2B5EF4-FFF2-40B4-BE49-F238E27FC236}">
                <a16:creationId xmlns:a16="http://schemas.microsoft.com/office/drawing/2014/main" id="{3A7339C3-DBE9-44EC-8BE4-3AFD98AD1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1485900" indent="-5715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22860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32004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41148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50292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59436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68580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77724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F612E86C-8C3D-4316-8C35-D1957AF20EE0}" type="slidenum">
              <a:rPr lang="en-US" altLang="en-US" sz="2800"/>
              <a:pPr/>
              <a:t>35</a:t>
            </a:fld>
            <a:endParaRPr lang="en-US" altLang="en-US" sz="28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E474E4A0-0B46-410C-8D57-5060CFFC2A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Predictive Parsing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DC65990E-D8ED-4775-A395-4510810345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Eliminate left recursion from grammar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Left factor the grammar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Compute FIRST and FOLLOW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Two variants:</a:t>
            </a:r>
          </a:p>
          <a:p>
            <a:pPr lvl="1" eaLnBrk="1" hangingPunct="1"/>
            <a:r>
              <a:rPr lang="en-US" altLang="en-US" sz="4000" dirty="0">
                <a:ea typeface="ＭＳ Ｐゴシック" panose="020B0600070205080204" pitchFamily="34" charset="-128"/>
              </a:rPr>
              <a:t>Recursive (recursive-descent parsing)</a:t>
            </a:r>
          </a:p>
          <a:p>
            <a:pPr lvl="1" eaLnBrk="1" hangingPunct="1"/>
            <a:r>
              <a:rPr lang="en-US" altLang="en-US" sz="4000" dirty="0">
                <a:ea typeface="ＭＳ Ｐゴシック" panose="020B0600070205080204" pitchFamily="34" charset="-128"/>
              </a:rPr>
              <a:t>Non-recursive (table-driven parsing)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DCAF476-DCAF-4CD3-8CC3-A506F48011CC}"/>
              </a:ext>
            </a:extLst>
          </p:cNvPr>
          <p:cNvSpPr txBox="1">
            <a:spLocks/>
          </p:cNvSpPr>
          <p:nvPr/>
        </p:nvSpPr>
        <p:spPr>
          <a:xfrm>
            <a:off x="8583562" y="11621464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>
            <a:extLst>
              <a:ext uri="{FF2B5EF4-FFF2-40B4-BE49-F238E27FC236}">
                <a16:creationId xmlns:a16="http://schemas.microsoft.com/office/drawing/2014/main" id="{4FA4245A-D94F-4FF2-9782-154B5DF3F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1485900" indent="-5715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22860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32004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41148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50292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59436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68580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77724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A4A8E2D-D33D-4C64-8435-AA94878F344C}" type="slidenum">
              <a:rPr lang="en-US" altLang="en-US" sz="2800"/>
              <a:pPr/>
              <a:t>36</a:t>
            </a:fld>
            <a:endParaRPr lang="en-US" altLang="en-US" sz="28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8AE24515-0A8B-409F-85F8-6C1D2A8612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02881" y="1964265"/>
            <a:ext cx="17068377" cy="800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FIRST (Revisited)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4BDE966D-D7BE-4FD5-9C3A-9FC2907807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4483" y="3708400"/>
            <a:ext cx="13522122" cy="8229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4000" dirty="0">
                <a:ea typeface="ＭＳ Ｐゴシック" panose="020B0600070205080204" pitchFamily="34" charset="-128"/>
              </a:rPr>
              <a:t>FIRST(</a:t>
            </a: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</a:t>
            </a:r>
            <a:r>
              <a:rPr lang="en-US" altLang="en-US" sz="4000" dirty="0">
                <a:ea typeface="ＭＳ Ｐゴシック" panose="020B0600070205080204" pitchFamily="34" charset="-128"/>
              </a:rPr>
              <a:t>) = { </a:t>
            </a:r>
            <a:r>
              <a:rPr lang="en-US" altLang="en-US" sz="4000" i="1" dirty="0">
                <a:ea typeface="ＭＳ Ｐゴシック" panose="020B0600070205080204" pitchFamily="34" charset="-128"/>
              </a:rPr>
              <a:t>the set of terminals that begin all strings derived from</a:t>
            </a:r>
            <a:r>
              <a:rPr lang="en-US" altLang="en-US" sz="4000" dirty="0">
                <a:ea typeface="ＭＳ Ｐゴシック" panose="020B0600070205080204" pitchFamily="34" charset="-128"/>
              </a:rPr>
              <a:t> </a:t>
            </a: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 }</a:t>
            </a:r>
            <a:b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b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FIRST(</a:t>
            </a:r>
            <a:r>
              <a:rPr lang="en-US" altLang="en-US" sz="4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 = {</a:t>
            </a:r>
            <a:r>
              <a:rPr lang="en-US" altLang="en-US" sz="4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}				if </a:t>
            </a:r>
            <a:r>
              <a:rPr lang="en-US" altLang="en-US" sz="4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 </a:t>
            </a:r>
            <a:r>
              <a:rPr lang="en-US" altLang="en-US" sz="4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T</a:t>
            </a:r>
            <a:br>
              <a:rPr lang="en-US" altLang="en-US" sz="4000" i="1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FIRST() = {}</a:t>
            </a:r>
            <a:b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FIRST(</a:t>
            </a:r>
            <a:r>
              <a:rPr lang="en-US" altLang="en-US" sz="4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 = </a:t>
            </a:r>
            <a:r>
              <a:rPr lang="en-US" altLang="en-US" sz="4000" i="1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en-US" sz="4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</a:t>
            </a: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FIRST()		for </a:t>
            </a:r>
            <a:r>
              <a:rPr lang="en-US" altLang="en-US" sz="4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  </a:t>
            </a:r>
            <a:r>
              <a:rPr lang="en-US" altLang="en-US" sz="4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  <a:b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FIRST(</a:t>
            </a:r>
            <a:r>
              <a:rPr lang="en-US" altLang="en-US" sz="4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X</a:t>
            </a:r>
            <a:r>
              <a:rPr lang="en-US" altLang="en-US" sz="4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1</a:t>
            </a:r>
            <a:r>
              <a:rPr lang="en-US" altLang="en-US" sz="4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X</a:t>
            </a:r>
            <a:r>
              <a:rPr lang="en-US" altLang="en-US" sz="4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…</a:t>
            </a:r>
            <a:r>
              <a:rPr lang="en-US" altLang="en-US" sz="4000" i="1" dirty="0" err="1">
                <a:ea typeface="ＭＳ Ｐゴシック" panose="020B0600070205080204" pitchFamily="34" charset="-128"/>
                <a:sym typeface="Symbol" panose="05050102010706020507" pitchFamily="18" charset="2"/>
              </a:rPr>
              <a:t>X</a:t>
            </a:r>
            <a:r>
              <a:rPr lang="en-US" altLang="en-US" sz="4000" i="1" baseline="-25000" dirty="0" err="1">
                <a:ea typeface="ＭＳ Ｐゴシック" panose="020B0600070205080204" pitchFamily="34" charset="-128"/>
                <a:sym typeface="Symbol" panose="05050102010706020507" pitchFamily="18" charset="2"/>
              </a:rPr>
              <a:t>k</a:t>
            </a: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 =</a:t>
            </a:r>
            <a:b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	</a:t>
            </a:r>
            <a:r>
              <a:rPr lang="en-US" altLang="en-US" sz="4000" b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if</a:t>
            </a: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for all </a:t>
            </a:r>
            <a:r>
              <a:rPr lang="en-US" altLang="en-US" sz="4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j</a:t>
            </a: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= 1, …, </a:t>
            </a:r>
            <a:r>
              <a:rPr lang="en-US" altLang="en-US" sz="4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-1 :   FIRST(</a:t>
            </a:r>
            <a:r>
              <a:rPr lang="en-US" altLang="en-US" sz="4000" i="1" dirty="0" err="1">
                <a:ea typeface="ＭＳ Ｐゴシック" panose="020B0600070205080204" pitchFamily="34" charset="-128"/>
                <a:sym typeface="Symbol" panose="05050102010706020507" pitchFamily="18" charset="2"/>
              </a:rPr>
              <a:t>X</a:t>
            </a:r>
            <a:r>
              <a:rPr lang="en-US" altLang="en-US" sz="4000" i="1" baseline="-25000" dirty="0" err="1">
                <a:ea typeface="ＭＳ Ｐゴシック" panose="020B0600070205080204" pitchFamily="34" charset="-128"/>
                <a:sym typeface="Symbol" panose="05050102010706020507" pitchFamily="18" charset="2"/>
              </a:rPr>
              <a:t>j</a:t>
            </a: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 </a:t>
            </a:r>
            <a:r>
              <a:rPr lang="en-US" altLang="en-US" sz="4000" b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then</a:t>
            </a:r>
            <a:b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		add non- in FIRST(</a:t>
            </a:r>
            <a:r>
              <a:rPr lang="en-US" altLang="en-US" sz="4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X</a:t>
            </a:r>
            <a:r>
              <a:rPr lang="en-US" altLang="en-US" sz="4000" i="1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 to FIRST(</a:t>
            </a:r>
            <a:r>
              <a:rPr lang="en-US" altLang="en-US" sz="4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X</a:t>
            </a:r>
            <a:r>
              <a:rPr lang="en-US" altLang="en-US" sz="4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1</a:t>
            </a:r>
            <a:r>
              <a:rPr lang="en-US" altLang="en-US" sz="4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X</a:t>
            </a:r>
            <a:r>
              <a:rPr lang="en-US" altLang="en-US" sz="4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…</a:t>
            </a:r>
            <a:r>
              <a:rPr lang="en-US" altLang="en-US" sz="4000" i="1" dirty="0" err="1">
                <a:ea typeface="ＭＳ Ｐゴシック" panose="020B0600070205080204" pitchFamily="34" charset="-128"/>
                <a:sym typeface="Symbol" panose="05050102010706020507" pitchFamily="18" charset="2"/>
              </a:rPr>
              <a:t>X</a:t>
            </a:r>
            <a:r>
              <a:rPr lang="en-US" altLang="en-US" sz="4000" i="1" baseline="-25000" dirty="0" err="1">
                <a:ea typeface="ＭＳ Ｐゴシック" panose="020B0600070205080204" pitchFamily="34" charset="-128"/>
                <a:sym typeface="Symbol" panose="05050102010706020507" pitchFamily="18" charset="2"/>
              </a:rPr>
              <a:t>k</a:t>
            </a: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</a:t>
            </a:r>
            <a:b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	</a:t>
            </a:r>
            <a:r>
              <a:rPr lang="en-US" altLang="en-US" sz="4000" b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if</a:t>
            </a: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for all </a:t>
            </a:r>
            <a:r>
              <a:rPr lang="en-US" altLang="en-US" sz="4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j</a:t>
            </a: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= 1, …, </a:t>
            </a:r>
            <a:r>
              <a:rPr lang="en-US" altLang="en-US" sz="4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k </a:t>
            </a: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:   FIRST(</a:t>
            </a:r>
            <a:r>
              <a:rPr lang="en-US" altLang="en-US" sz="4000" i="1" dirty="0" err="1">
                <a:ea typeface="ＭＳ Ｐゴシック" panose="020B0600070205080204" pitchFamily="34" charset="-128"/>
                <a:sym typeface="Symbol" panose="05050102010706020507" pitchFamily="18" charset="2"/>
              </a:rPr>
              <a:t>X</a:t>
            </a:r>
            <a:r>
              <a:rPr lang="en-US" altLang="en-US" sz="4000" i="1" baseline="-25000" dirty="0" err="1">
                <a:ea typeface="ＭＳ Ｐゴシック" panose="020B0600070205080204" pitchFamily="34" charset="-128"/>
                <a:sym typeface="Symbol" panose="05050102010706020507" pitchFamily="18" charset="2"/>
              </a:rPr>
              <a:t>j</a:t>
            </a: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 </a:t>
            </a:r>
            <a:r>
              <a:rPr lang="en-US" altLang="en-US" sz="4000" b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then</a:t>
            </a:r>
            <a:b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		add  to FIRST(</a:t>
            </a:r>
            <a:r>
              <a:rPr lang="en-US" altLang="en-US" sz="4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X</a:t>
            </a:r>
            <a:r>
              <a:rPr lang="en-US" altLang="en-US" sz="4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1</a:t>
            </a:r>
            <a:r>
              <a:rPr lang="en-US" altLang="en-US" sz="40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X</a:t>
            </a:r>
            <a:r>
              <a:rPr lang="en-US" altLang="en-US" sz="4000" baseline="-25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…</a:t>
            </a:r>
            <a:r>
              <a:rPr lang="en-US" altLang="en-US" sz="4000" i="1" dirty="0" err="1">
                <a:ea typeface="ＭＳ Ｐゴシック" panose="020B0600070205080204" pitchFamily="34" charset="-128"/>
                <a:sym typeface="Symbol" panose="05050102010706020507" pitchFamily="18" charset="2"/>
              </a:rPr>
              <a:t>X</a:t>
            </a:r>
            <a:r>
              <a:rPr lang="en-US" altLang="en-US" sz="4000" i="1" baseline="-25000" dirty="0" err="1">
                <a:ea typeface="ＭＳ Ｐゴシック" panose="020B0600070205080204" pitchFamily="34" charset="-128"/>
                <a:sym typeface="Symbol" panose="05050102010706020507" pitchFamily="18" charset="2"/>
              </a:rPr>
              <a:t>k</a:t>
            </a:r>
            <a:r>
              <a:rPr lang="en-US" altLang="en-US" sz="4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5" name="Group 64">
            <a:extLst>
              <a:ext uri="{FF2B5EF4-FFF2-40B4-BE49-F238E27FC236}">
                <a16:creationId xmlns:a16="http://schemas.microsoft.com/office/drawing/2014/main" id="{1524DFF4-5DD9-4C52-8205-9C8FD5728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052700"/>
              </p:ext>
            </p:extLst>
          </p:nvPr>
        </p:nvGraphicFramePr>
        <p:xfrm>
          <a:off x="13884858" y="4619703"/>
          <a:ext cx="5486400" cy="7132032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24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A</a:t>
                      </a: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 </a:t>
                      </a: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 </a:t>
                      </a:r>
                    </a:p>
                  </a:txBody>
                  <a:tcPr marL="182880" marR="182880" marT="91424" marB="914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FIRST</a:t>
                      </a: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(</a:t>
                      </a: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</a:t>
                      </a: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)</a:t>
                      </a:r>
                    </a:p>
                  </a:txBody>
                  <a:tcPr marL="182880" marR="182880" marT="91424" marB="914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 </a:t>
                      </a: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 </a:t>
                      </a: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T E</a:t>
                      </a:r>
                      <a:r>
                        <a:rPr kumimoji="0" lang="en-US" sz="4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R</a:t>
                      </a:r>
                    </a:p>
                  </a:txBody>
                  <a:tcPr marL="182880" marR="182880" marT="91424" marB="914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( id</a:t>
                      </a:r>
                      <a:endParaRPr kumimoji="0" 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ＭＳ Ｐゴシック" charset="-128"/>
                      </a:endParaRPr>
                    </a:p>
                  </a:txBody>
                  <a:tcPr marL="182880" marR="182880" marT="91424" marB="914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E</a:t>
                      </a:r>
                      <a:r>
                        <a:rPr kumimoji="0" lang="en-US" sz="4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R</a:t>
                      </a: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 </a:t>
                      </a: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</a:t>
                      </a: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 </a:t>
                      </a: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+</a:t>
                      </a:r>
                      <a:r>
                        <a:rPr kumimoji="0" lang="en-US" sz="4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 </a:t>
                      </a: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T</a:t>
                      </a: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 </a:t>
                      </a: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E</a:t>
                      </a:r>
                      <a:r>
                        <a:rPr kumimoji="0" lang="en-US" sz="4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R</a:t>
                      </a:r>
                    </a:p>
                  </a:txBody>
                  <a:tcPr marL="182880" marR="182880" marT="91424" marB="914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+</a:t>
                      </a:r>
                      <a:endParaRPr kumimoji="0" 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ＭＳ Ｐゴシック" charset="-128"/>
                      </a:endParaRPr>
                    </a:p>
                  </a:txBody>
                  <a:tcPr marL="182880" marR="182880" marT="91424" marB="914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E</a:t>
                      </a:r>
                      <a:r>
                        <a:rPr kumimoji="0" lang="en-US" sz="4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R</a:t>
                      </a: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 </a:t>
                      </a: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 </a:t>
                      </a:r>
                    </a:p>
                  </a:txBody>
                  <a:tcPr marL="182880" marR="182880" marT="91424" marB="914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</a:t>
                      </a:r>
                    </a:p>
                  </a:txBody>
                  <a:tcPr marL="182880" marR="182880" marT="91424" marB="914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4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T</a:t>
                      </a: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 </a:t>
                      </a: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 </a:t>
                      </a: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F T</a:t>
                      </a:r>
                      <a:r>
                        <a:rPr kumimoji="0" lang="en-US" sz="4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R</a:t>
                      </a:r>
                    </a:p>
                  </a:txBody>
                  <a:tcPr marL="182880" marR="182880" marT="91424" marB="914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( id</a:t>
                      </a:r>
                      <a:endParaRPr kumimoji="0" 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ＭＳ Ｐゴシック" charset="-128"/>
                      </a:endParaRPr>
                    </a:p>
                  </a:txBody>
                  <a:tcPr marL="182880" marR="182880" marT="91424" marB="914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4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T</a:t>
                      </a:r>
                      <a:r>
                        <a:rPr kumimoji="0" lang="en-US" sz="4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R</a:t>
                      </a: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 </a:t>
                      </a: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</a:t>
                      </a: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 </a:t>
                      </a: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*</a:t>
                      </a:r>
                      <a:r>
                        <a:rPr kumimoji="0" lang="en-US" sz="4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 </a:t>
                      </a: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F</a:t>
                      </a: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 </a:t>
                      </a: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T</a:t>
                      </a:r>
                      <a:r>
                        <a:rPr kumimoji="0" lang="en-US" sz="4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R</a:t>
                      </a:r>
                    </a:p>
                  </a:txBody>
                  <a:tcPr marL="182880" marR="182880" marT="91424" marB="914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*</a:t>
                      </a:r>
                      <a:endParaRPr kumimoji="0" 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ＭＳ Ｐゴシック" charset="-128"/>
                      </a:endParaRPr>
                    </a:p>
                  </a:txBody>
                  <a:tcPr marL="182880" marR="182880" marT="91424" marB="914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24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T</a:t>
                      </a:r>
                      <a:r>
                        <a:rPr kumimoji="0" lang="en-US" sz="4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R</a:t>
                      </a: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 </a:t>
                      </a: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 </a:t>
                      </a:r>
                    </a:p>
                  </a:txBody>
                  <a:tcPr marL="182880" marR="182880" marT="91424" marB="914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</a:t>
                      </a:r>
                    </a:p>
                  </a:txBody>
                  <a:tcPr marL="182880" marR="182880" marT="91424" marB="914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24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F</a:t>
                      </a: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 </a:t>
                      </a: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 </a:t>
                      </a: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( </a:t>
                      </a: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E </a:t>
                      </a: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)</a:t>
                      </a:r>
                    </a:p>
                  </a:txBody>
                  <a:tcPr marL="182880" marR="182880" marT="91424" marB="914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(</a:t>
                      </a:r>
                    </a:p>
                  </a:txBody>
                  <a:tcPr marL="182880" marR="182880" marT="91424" marB="914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924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F</a:t>
                      </a: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 </a:t>
                      </a: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 </a:t>
                      </a: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id</a:t>
                      </a:r>
                    </a:p>
                  </a:txBody>
                  <a:tcPr marL="182880" marR="182880" marT="91424" marB="914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id</a:t>
                      </a:r>
                    </a:p>
                  </a:txBody>
                  <a:tcPr marL="182880" marR="182880" marT="91424" marB="914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200181D-822E-4ABF-89DA-91D1D107F43A}"/>
              </a:ext>
            </a:extLst>
          </p:cNvPr>
          <p:cNvSpPr txBox="1">
            <a:spLocks/>
          </p:cNvSpPr>
          <p:nvPr/>
        </p:nvSpPr>
        <p:spPr>
          <a:xfrm>
            <a:off x="8583562" y="11621464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D2126013-548A-4AC2-80C4-90FF3D130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53930" y="1449604"/>
            <a:ext cx="3534942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4000" i="1" dirty="0"/>
              <a:t>E</a:t>
            </a:r>
            <a:r>
              <a:rPr lang="en-US" altLang="en-US" sz="4000" dirty="0"/>
              <a:t> </a:t>
            </a:r>
            <a:r>
              <a:rPr lang="en-US" altLang="en-US" sz="4000" dirty="0">
                <a:sym typeface="Symbol" panose="05050102010706020507" pitchFamily="18" charset="2"/>
              </a:rPr>
              <a:t> </a:t>
            </a:r>
            <a:r>
              <a:rPr lang="en-US" altLang="en-US" sz="4000" i="1" dirty="0">
                <a:sym typeface="Symbol" panose="05050102010706020507" pitchFamily="18" charset="2"/>
              </a:rPr>
              <a:t>T E</a:t>
            </a:r>
            <a:r>
              <a:rPr lang="en-US" altLang="en-US" sz="4000" i="1" baseline="-25000" dirty="0">
                <a:sym typeface="Symbol" panose="05050102010706020507" pitchFamily="18" charset="2"/>
              </a:rPr>
              <a:t>R</a:t>
            </a:r>
            <a:br>
              <a:rPr lang="en-US" altLang="en-US" sz="4000" dirty="0">
                <a:sym typeface="Symbol" panose="05050102010706020507" pitchFamily="18" charset="2"/>
              </a:rPr>
            </a:br>
            <a:r>
              <a:rPr lang="en-US" altLang="en-US" sz="4000" i="1" dirty="0" err="1">
                <a:sym typeface="Symbol" panose="05050102010706020507" pitchFamily="18" charset="2"/>
              </a:rPr>
              <a:t>E</a:t>
            </a:r>
            <a:r>
              <a:rPr lang="en-US" altLang="en-US" sz="4000" i="1" baseline="-25000" dirty="0" err="1">
                <a:sym typeface="Symbol" panose="05050102010706020507" pitchFamily="18" charset="2"/>
              </a:rPr>
              <a:t>R</a:t>
            </a:r>
            <a:r>
              <a:rPr lang="en-US" altLang="en-US" sz="4000" i="1" dirty="0">
                <a:sym typeface="Symbol" panose="05050102010706020507" pitchFamily="18" charset="2"/>
              </a:rPr>
              <a:t> </a:t>
            </a:r>
            <a:r>
              <a:rPr lang="en-US" altLang="en-US" sz="4000" dirty="0">
                <a:sym typeface="Symbol" panose="05050102010706020507" pitchFamily="18" charset="2"/>
              </a:rPr>
              <a:t></a:t>
            </a:r>
            <a:r>
              <a:rPr lang="en-US" altLang="en-US" sz="4000" i="1" dirty="0">
                <a:sym typeface="Symbol" panose="05050102010706020507" pitchFamily="18" charset="2"/>
              </a:rPr>
              <a:t> </a:t>
            </a:r>
            <a:r>
              <a:rPr lang="en-US" altLang="en-US" sz="4000" b="1" dirty="0">
                <a:sym typeface="Symbol" panose="05050102010706020507" pitchFamily="18" charset="2"/>
              </a:rPr>
              <a:t>+</a:t>
            </a:r>
            <a:r>
              <a:rPr lang="en-US" altLang="en-US" sz="4000" b="1" i="1" dirty="0">
                <a:sym typeface="Symbol" panose="05050102010706020507" pitchFamily="18" charset="2"/>
              </a:rPr>
              <a:t> </a:t>
            </a:r>
            <a:r>
              <a:rPr lang="en-US" altLang="en-US" sz="4000" i="1" dirty="0">
                <a:sym typeface="Symbol" panose="05050102010706020507" pitchFamily="18" charset="2"/>
              </a:rPr>
              <a:t>T</a:t>
            </a:r>
            <a:r>
              <a:rPr lang="en-US" altLang="en-US" sz="4000" dirty="0">
                <a:sym typeface="Symbol" panose="05050102010706020507" pitchFamily="18" charset="2"/>
              </a:rPr>
              <a:t> </a:t>
            </a:r>
            <a:r>
              <a:rPr lang="en-US" altLang="en-US" sz="4000" i="1" dirty="0">
                <a:sym typeface="Symbol" panose="05050102010706020507" pitchFamily="18" charset="2"/>
              </a:rPr>
              <a:t>E</a:t>
            </a:r>
            <a:r>
              <a:rPr lang="en-US" altLang="en-US" sz="4000" i="1" baseline="-25000" dirty="0">
                <a:sym typeface="Symbol" panose="05050102010706020507" pitchFamily="18" charset="2"/>
              </a:rPr>
              <a:t>R</a:t>
            </a:r>
            <a:r>
              <a:rPr lang="en-US" altLang="en-US" sz="4000" dirty="0">
                <a:sym typeface="Symbol" panose="05050102010706020507" pitchFamily="18" charset="2"/>
              </a:rPr>
              <a:t> |  </a:t>
            </a:r>
            <a:br>
              <a:rPr lang="en-US" altLang="en-US" sz="4000" b="1" dirty="0">
                <a:sym typeface="Symbol" panose="05050102010706020507" pitchFamily="18" charset="2"/>
              </a:rPr>
            </a:br>
            <a:r>
              <a:rPr lang="en-US" altLang="en-US" sz="4000" i="1" dirty="0"/>
              <a:t>T</a:t>
            </a:r>
            <a:r>
              <a:rPr lang="en-US" altLang="en-US" sz="4000" dirty="0"/>
              <a:t> </a:t>
            </a:r>
            <a:r>
              <a:rPr lang="en-US" altLang="en-US" sz="4000" dirty="0">
                <a:sym typeface="Symbol" panose="05050102010706020507" pitchFamily="18" charset="2"/>
              </a:rPr>
              <a:t> </a:t>
            </a:r>
            <a:r>
              <a:rPr lang="en-US" altLang="en-US" sz="4000" i="1" dirty="0">
                <a:sym typeface="Symbol" panose="05050102010706020507" pitchFamily="18" charset="2"/>
              </a:rPr>
              <a:t>F T</a:t>
            </a:r>
            <a:r>
              <a:rPr lang="en-US" altLang="en-US" sz="4000" i="1" baseline="-25000" dirty="0">
                <a:sym typeface="Symbol" panose="05050102010706020507" pitchFamily="18" charset="2"/>
              </a:rPr>
              <a:t>R</a:t>
            </a:r>
            <a:br>
              <a:rPr lang="en-US" altLang="en-US" sz="4000" dirty="0">
                <a:sym typeface="Symbol" panose="05050102010706020507" pitchFamily="18" charset="2"/>
              </a:rPr>
            </a:br>
            <a:r>
              <a:rPr lang="en-US" altLang="en-US" sz="4000" i="1" dirty="0" err="1">
                <a:sym typeface="Symbol" panose="05050102010706020507" pitchFamily="18" charset="2"/>
              </a:rPr>
              <a:t>T</a:t>
            </a:r>
            <a:r>
              <a:rPr lang="en-US" altLang="en-US" sz="4000" i="1" baseline="-25000" dirty="0" err="1">
                <a:sym typeface="Symbol" panose="05050102010706020507" pitchFamily="18" charset="2"/>
              </a:rPr>
              <a:t>R</a:t>
            </a:r>
            <a:r>
              <a:rPr lang="en-US" altLang="en-US" sz="4000" i="1" dirty="0">
                <a:sym typeface="Symbol" panose="05050102010706020507" pitchFamily="18" charset="2"/>
              </a:rPr>
              <a:t> </a:t>
            </a:r>
            <a:r>
              <a:rPr lang="en-US" altLang="en-US" sz="4000" dirty="0">
                <a:sym typeface="Symbol" panose="05050102010706020507" pitchFamily="18" charset="2"/>
              </a:rPr>
              <a:t></a:t>
            </a:r>
            <a:r>
              <a:rPr lang="en-US" altLang="en-US" sz="4000" i="1" dirty="0">
                <a:sym typeface="Symbol" panose="05050102010706020507" pitchFamily="18" charset="2"/>
              </a:rPr>
              <a:t> </a:t>
            </a:r>
            <a:r>
              <a:rPr lang="en-US" altLang="en-US" sz="4000" b="1" dirty="0">
                <a:sym typeface="Symbol" panose="05050102010706020507" pitchFamily="18" charset="2"/>
              </a:rPr>
              <a:t>*</a:t>
            </a:r>
            <a:r>
              <a:rPr lang="en-US" altLang="en-US" sz="4000" b="1" i="1" dirty="0">
                <a:sym typeface="Symbol" panose="05050102010706020507" pitchFamily="18" charset="2"/>
              </a:rPr>
              <a:t> </a:t>
            </a:r>
            <a:r>
              <a:rPr lang="en-US" altLang="en-US" sz="4000" i="1" dirty="0">
                <a:sym typeface="Symbol" panose="05050102010706020507" pitchFamily="18" charset="2"/>
              </a:rPr>
              <a:t>F</a:t>
            </a:r>
            <a:r>
              <a:rPr lang="en-US" altLang="en-US" sz="4000" dirty="0">
                <a:sym typeface="Symbol" panose="05050102010706020507" pitchFamily="18" charset="2"/>
              </a:rPr>
              <a:t> </a:t>
            </a:r>
            <a:r>
              <a:rPr lang="en-US" altLang="en-US" sz="4000" i="1" dirty="0">
                <a:sym typeface="Symbol" panose="05050102010706020507" pitchFamily="18" charset="2"/>
              </a:rPr>
              <a:t>T</a:t>
            </a:r>
            <a:r>
              <a:rPr lang="en-US" altLang="en-US" sz="4000" i="1" baseline="-25000" dirty="0">
                <a:sym typeface="Symbol" panose="05050102010706020507" pitchFamily="18" charset="2"/>
              </a:rPr>
              <a:t>R</a:t>
            </a:r>
            <a:r>
              <a:rPr lang="en-US" altLang="en-US" sz="4000" dirty="0">
                <a:sym typeface="Symbol" panose="05050102010706020507" pitchFamily="18" charset="2"/>
              </a:rPr>
              <a:t> |  </a:t>
            </a:r>
            <a:br>
              <a:rPr lang="en-US" altLang="en-US" sz="4000" b="1" dirty="0">
                <a:sym typeface="Symbol" panose="05050102010706020507" pitchFamily="18" charset="2"/>
              </a:rPr>
            </a:br>
            <a:r>
              <a:rPr lang="en-US" altLang="en-US" sz="4000" i="1" dirty="0">
                <a:sym typeface="Symbol" panose="05050102010706020507" pitchFamily="18" charset="2"/>
              </a:rPr>
              <a:t>F</a:t>
            </a:r>
            <a:r>
              <a:rPr lang="en-US" altLang="en-US" sz="4000" dirty="0"/>
              <a:t> </a:t>
            </a:r>
            <a:r>
              <a:rPr lang="en-US" altLang="en-US" sz="4000" dirty="0">
                <a:sym typeface="Symbol" panose="05050102010706020507" pitchFamily="18" charset="2"/>
              </a:rPr>
              <a:t> </a:t>
            </a:r>
            <a:r>
              <a:rPr lang="en-US" altLang="en-US" sz="4000" b="1" dirty="0">
                <a:sym typeface="Symbol" panose="05050102010706020507" pitchFamily="18" charset="2"/>
              </a:rPr>
              <a:t>( </a:t>
            </a:r>
            <a:r>
              <a:rPr lang="en-US" altLang="en-US" sz="4000" i="1" dirty="0">
                <a:sym typeface="Symbol" panose="05050102010706020507" pitchFamily="18" charset="2"/>
              </a:rPr>
              <a:t>E </a:t>
            </a:r>
            <a:r>
              <a:rPr lang="en-US" altLang="en-US" sz="4000" b="1" dirty="0">
                <a:sym typeface="Symbol" panose="05050102010706020507" pitchFamily="18" charset="2"/>
              </a:rPr>
              <a:t>)</a:t>
            </a:r>
            <a:r>
              <a:rPr lang="en-US" altLang="en-US" sz="4000" dirty="0">
                <a:sym typeface="Symbol" panose="05050102010706020507" pitchFamily="18" charset="2"/>
              </a:rPr>
              <a:t> | </a:t>
            </a:r>
            <a:r>
              <a:rPr lang="en-US" altLang="en-US" sz="4000" b="1" dirty="0">
                <a:sym typeface="Symbol" panose="05050102010706020507" pitchFamily="18" charset="2"/>
              </a:rPr>
              <a:t>id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>
            <a:extLst>
              <a:ext uri="{FF2B5EF4-FFF2-40B4-BE49-F238E27FC236}">
                <a16:creationId xmlns:a16="http://schemas.microsoft.com/office/drawing/2014/main" id="{84C2E18F-92C9-4C83-BDB5-9893B752F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1485900" indent="-5715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22860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32004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4114800" indent="-457200"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50292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59436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68580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7772400" indent="-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35A8C6E0-A209-416D-B202-E089CD80F216}" type="slidenum">
              <a:rPr lang="en-US" altLang="en-US" sz="2800"/>
              <a:pPr/>
              <a:t>37</a:t>
            </a:fld>
            <a:endParaRPr lang="en-US" altLang="en-US" sz="28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76FAE1F-E637-404B-AFD9-89B299EDFD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FOLLOW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281247E7-2A7F-41AC-BF76-1D2107BAB4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7037" y="4132555"/>
            <a:ext cx="11926076" cy="663787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4400" dirty="0">
                <a:ea typeface="ＭＳ Ｐゴシック" panose="020B0600070205080204" pitchFamily="34" charset="-128"/>
              </a:rPr>
              <a:t>FOLLOW(</a:t>
            </a:r>
            <a:r>
              <a:rPr lang="en-US" altLang="en-US" sz="4400" i="1" dirty="0">
                <a:ea typeface="ＭＳ Ｐゴシック" panose="020B0600070205080204" pitchFamily="34" charset="-128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</a:rPr>
              <a:t>) = { </a:t>
            </a:r>
            <a:r>
              <a:rPr lang="en-US" altLang="en-US" sz="4400" i="1" dirty="0">
                <a:ea typeface="ＭＳ Ｐゴシック" panose="020B0600070205080204" pitchFamily="34" charset="-128"/>
              </a:rPr>
              <a:t>the set of terminals that can immediately follow nonterminal</a:t>
            </a:r>
            <a:r>
              <a:rPr lang="en-US" altLang="en-US" sz="4400" dirty="0">
                <a:ea typeface="ＭＳ Ｐゴシック" panose="020B0600070205080204" pitchFamily="34" charset="-128"/>
              </a:rPr>
              <a:t> </a:t>
            </a:r>
            <a:r>
              <a:rPr lang="en-US" altLang="en-US" sz="4400" i="1" dirty="0">
                <a:ea typeface="ＭＳ Ｐゴシック" panose="020B0600070205080204" pitchFamily="34" charset="-128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</a:rPr>
              <a:t> }</a:t>
            </a:r>
            <a:br>
              <a:rPr lang="en-US" altLang="en-US" sz="4400" i="1" dirty="0">
                <a:ea typeface="ＭＳ Ｐゴシック" panose="020B0600070205080204" pitchFamily="34" charset="-128"/>
              </a:rPr>
            </a:br>
            <a:br>
              <a:rPr lang="en-US" altLang="en-US" sz="4400" i="1" dirty="0">
                <a:ea typeface="ＭＳ Ｐゴシック" panose="020B0600070205080204" pitchFamily="34" charset="-128"/>
              </a:rPr>
            </a:br>
            <a:r>
              <a:rPr lang="en-US" altLang="en-US" sz="4400" dirty="0">
                <a:ea typeface="ＭＳ Ｐゴシック" panose="020B0600070205080204" pitchFamily="34" charset="-128"/>
              </a:rPr>
              <a:t>FOLLOW(</a:t>
            </a:r>
            <a:r>
              <a:rPr lang="en-US" altLang="en-US" sz="4400" i="1" dirty="0">
                <a:ea typeface="ＭＳ Ｐゴシック" panose="020B0600070205080204" pitchFamily="34" charset="-128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</a:rPr>
              <a:t>) =</a:t>
            </a:r>
            <a:br>
              <a:rPr lang="en-US" altLang="en-US" sz="4400" dirty="0">
                <a:ea typeface="ＭＳ Ｐゴシック" panose="020B0600070205080204" pitchFamily="34" charset="-128"/>
              </a:rPr>
            </a:br>
            <a:r>
              <a:rPr lang="en-US" altLang="en-US" sz="4400" dirty="0">
                <a:ea typeface="ＭＳ Ｐゴシック" panose="020B0600070205080204" pitchFamily="34" charset="-128"/>
              </a:rPr>
              <a:t>	</a:t>
            </a:r>
            <a:r>
              <a:rPr lang="en-US" altLang="en-US" sz="4400" b="1" dirty="0">
                <a:ea typeface="ＭＳ Ｐゴシック" panose="020B0600070205080204" pitchFamily="34" charset="-128"/>
              </a:rPr>
              <a:t>for</a:t>
            </a:r>
            <a:r>
              <a:rPr lang="en-US" altLang="en-US" sz="4400" dirty="0">
                <a:ea typeface="ＭＳ Ｐゴシック" panose="020B0600070205080204" pitchFamily="34" charset="-128"/>
              </a:rPr>
              <a:t> all (</a:t>
            </a:r>
            <a:r>
              <a:rPr lang="en-US" altLang="en-US" sz="4400" i="1" dirty="0">
                <a:ea typeface="ＭＳ Ｐゴシック" panose="020B0600070205080204" pitchFamily="34" charset="-128"/>
              </a:rPr>
              <a:t>B</a:t>
            </a:r>
            <a:r>
              <a:rPr lang="en-US" altLang="en-US" sz="4400" dirty="0">
                <a:ea typeface="ＭＳ Ｐゴシック" panose="020B0600070205080204" pitchFamily="34" charset="-128"/>
              </a:rPr>
              <a:t> </a:t>
            </a:r>
            <a:r>
              <a:rPr lang="en-US" altLang="en-US" sz="4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  </a:t>
            </a:r>
            <a:r>
              <a:rPr lang="en-US" altLang="en-US" sz="4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)  </a:t>
            </a:r>
            <a:r>
              <a:rPr lang="en-US" altLang="en-US" sz="4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  <a:r>
              <a:rPr lang="en-US" altLang="en-US" sz="4400" b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 do</a:t>
            </a:r>
            <a:br>
              <a:rPr lang="en-US" altLang="en-US" sz="4400" i="1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4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		</a:t>
            </a:r>
            <a:r>
              <a:rPr lang="en-US" altLang="en-US" sz="4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add FIRST()\{} to FOLLOW(</a:t>
            </a:r>
            <a:r>
              <a:rPr lang="en-US" altLang="en-US" sz="4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</a:t>
            </a:r>
            <a:br>
              <a:rPr lang="en-US" altLang="en-US" sz="4400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4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	</a:t>
            </a:r>
            <a:r>
              <a:rPr lang="en-US" altLang="en-US" sz="4400" b="1" dirty="0">
                <a:ea typeface="ＭＳ Ｐゴシック" panose="020B0600070205080204" pitchFamily="34" charset="-128"/>
              </a:rPr>
              <a:t>for</a:t>
            </a:r>
            <a:r>
              <a:rPr lang="en-US" altLang="en-US" sz="4400" dirty="0">
                <a:ea typeface="ＭＳ Ｐゴシック" panose="020B0600070205080204" pitchFamily="34" charset="-128"/>
              </a:rPr>
              <a:t> all (</a:t>
            </a:r>
            <a:r>
              <a:rPr lang="en-US" altLang="en-US" sz="4400" i="1" dirty="0">
                <a:ea typeface="ＭＳ Ｐゴシック" panose="020B0600070205080204" pitchFamily="34" charset="-128"/>
              </a:rPr>
              <a:t>B</a:t>
            </a:r>
            <a:r>
              <a:rPr lang="en-US" altLang="en-US" sz="4400" dirty="0">
                <a:ea typeface="ＭＳ Ｐゴシック" panose="020B0600070205080204" pitchFamily="34" charset="-128"/>
              </a:rPr>
              <a:t> </a:t>
            </a:r>
            <a:r>
              <a:rPr lang="en-US" altLang="en-US" sz="4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  </a:t>
            </a:r>
            <a:r>
              <a:rPr lang="en-US" altLang="en-US" sz="4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)  </a:t>
            </a:r>
            <a:r>
              <a:rPr lang="en-US" altLang="en-US" sz="4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  <a:r>
              <a:rPr lang="en-US" altLang="en-US" sz="4400" b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4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and   FIRST() </a:t>
            </a:r>
            <a:r>
              <a:rPr lang="en-US" altLang="en-US" sz="4400" b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do</a:t>
            </a:r>
            <a:br>
              <a:rPr lang="en-US" altLang="en-US" sz="4400" i="1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4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		</a:t>
            </a:r>
            <a:r>
              <a:rPr lang="en-US" altLang="en-US" sz="4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add FOLLOW(</a:t>
            </a:r>
            <a:r>
              <a:rPr lang="en-US" altLang="en-US" sz="4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4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 to FOLLOW(</a:t>
            </a:r>
            <a:r>
              <a:rPr lang="en-US" altLang="en-US" sz="4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</a:t>
            </a:r>
            <a:br>
              <a:rPr lang="en-US" altLang="en-US" sz="4400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4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	</a:t>
            </a:r>
            <a:r>
              <a:rPr lang="en-US" altLang="en-US" sz="4400" b="1" dirty="0">
                <a:ea typeface="ＭＳ Ｐゴシック" panose="020B0600070205080204" pitchFamily="34" charset="-128"/>
              </a:rPr>
              <a:t>for</a:t>
            </a:r>
            <a:r>
              <a:rPr lang="en-US" altLang="en-US" sz="4400" dirty="0">
                <a:ea typeface="ＭＳ Ｐゴシック" panose="020B0600070205080204" pitchFamily="34" charset="-128"/>
              </a:rPr>
              <a:t> all (</a:t>
            </a:r>
            <a:r>
              <a:rPr lang="en-US" altLang="en-US" sz="4400" i="1" dirty="0">
                <a:ea typeface="ＭＳ Ｐゴシック" panose="020B0600070205080204" pitchFamily="34" charset="-128"/>
              </a:rPr>
              <a:t>B</a:t>
            </a:r>
            <a:r>
              <a:rPr lang="en-US" altLang="en-US" sz="4400" dirty="0">
                <a:ea typeface="ＭＳ Ｐゴシック" panose="020B0600070205080204" pitchFamily="34" charset="-128"/>
              </a:rPr>
              <a:t> </a:t>
            </a:r>
            <a:r>
              <a:rPr lang="en-US" altLang="en-US" sz="4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  </a:t>
            </a:r>
            <a:r>
              <a:rPr lang="en-US" altLang="en-US" sz="4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  </a:t>
            </a:r>
            <a:r>
              <a:rPr lang="en-US" altLang="en-US" sz="4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  <a:r>
              <a:rPr lang="en-US" altLang="en-US" sz="4400" b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 do</a:t>
            </a:r>
            <a:br>
              <a:rPr lang="en-US" altLang="en-US" sz="4400" i="1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4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		</a:t>
            </a:r>
            <a:r>
              <a:rPr lang="en-US" altLang="en-US" sz="4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add FOLLOW(</a:t>
            </a:r>
            <a:r>
              <a:rPr lang="en-US" altLang="en-US" sz="4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4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 to FOLLOW(</a:t>
            </a:r>
            <a:r>
              <a:rPr lang="en-US" altLang="en-US" sz="4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</a:t>
            </a:r>
            <a:br>
              <a:rPr lang="en-US" altLang="en-US" sz="4400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4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	</a:t>
            </a:r>
            <a:r>
              <a:rPr lang="en-US" altLang="en-US" sz="4400" b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if</a:t>
            </a:r>
            <a:r>
              <a:rPr lang="en-US" altLang="en-US" sz="4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4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is the start symbol </a:t>
            </a:r>
            <a:r>
              <a:rPr lang="en-US" altLang="en-US" sz="4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4400" b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then</a:t>
            </a:r>
            <a:br>
              <a:rPr lang="en-US" altLang="en-US" sz="4400" dirty="0">
                <a:ea typeface="ＭＳ Ｐゴシック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4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		add </a:t>
            </a:r>
            <a:r>
              <a:rPr lang="en-US" altLang="en-US" sz="4400" b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$</a:t>
            </a:r>
            <a:r>
              <a:rPr lang="en-US" altLang="en-US" sz="4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to FOLLOW(</a:t>
            </a:r>
            <a:r>
              <a:rPr lang="en-US" altLang="en-US" sz="44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5" name="Group 64">
            <a:extLst>
              <a:ext uri="{FF2B5EF4-FFF2-40B4-BE49-F238E27FC236}">
                <a16:creationId xmlns:a16="http://schemas.microsoft.com/office/drawing/2014/main" id="{7DC55CE7-0336-4462-9F20-6910313C66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975772"/>
              </p:ext>
            </p:extLst>
          </p:nvPr>
        </p:nvGraphicFramePr>
        <p:xfrm>
          <a:off x="13925956" y="4473733"/>
          <a:ext cx="6248400" cy="7132032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24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A</a:t>
                      </a: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 </a:t>
                      </a: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 </a:t>
                      </a:r>
                    </a:p>
                  </a:txBody>
                  <a:tcPr marL="182880" marR="182880" marT="91424" marB="914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FOLLOW(</a:t>
                      </a: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A</a:t>
                      </a: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)</a:t>
                      </a:r>
                    </a:p>
                  </a:txBody>
                  <a:tcPr marL="182880" marR="182880" marT="91424" marB="914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 </a:t>
                      </a: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 </a:t>
                      </a: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T E</a:t>
                      </a:r>
                      <a:r>
                        <a:rPr kumimoji="0" lang="en-US" sz="4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R</a:t>
                      </a:r>
                    </a:p>
                  </a:txBody>
                  <a:tcPr marL="182880" marR="182880" marT="91424" marB="914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$ )</a:t>
                      </a:r>
                    </a:p>
                  </a:txBody>
                  <a:tcPr marL="182880" marR="182880" marT="91424" marB="914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E</a:t>
                      </a:r>
                      <a:r>
                        <a:rPr kumimoji="0" lang="en-US" sz="4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R</a:t>
                      </a: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 </a:t>
                      </a: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</a:t>
                      </a: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 </a:t>
                      </a: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+</a:t>
                      </a:r>
                      <a:r>
                        <a:rPr kumimoji="0" lang="en-US" sz="4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 </a:t>
                      </a: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T</a:t>
                      </a: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 </a:t>
                      </a: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E</a:t>
                      </a:r>
                      <a:r>
                        <a:rPr kumimoji="0" lang="en-US" sz="4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R</a:t>
                      </a:r>
                    </a:p>
                  </a:txBody>
                  <a:tcPr marL="182880" marR="182880" marT="91424" marB="914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$ )</a:t>
                      </a:r>
                      <a:endParaRPr kumimoji="0" 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ＭＳ Ｐゴシック" charset="-128"/>
                      </a:endParaRPr>
                    </a:p>
                  </a:txBody>
                  <a:tcPr marL="182880" marR="182880" marT="91424" marB="914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E</a:t>
                      </a:r>
                      <a:r>
                        <a:rPr kumimoji="0" lang="en-US" sz="4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R</a:t>
                      </a: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 </a:t>
                      </a: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 </a:t>
                      </a:r>
                    </a:p>
                  </a:txBody>
                  <a:tcPr marL="182880" marR="182880" marT="91424" marB="914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$ )</a:t>
                      </a:r>
                    </a:p>
                  </a:txBody>
                  <a:tcPr marL="182880" marR="182880" marT="91424" marB="914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4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T</a:t>
                      </a: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 </a:t>
                      </a: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 </a:t>
                      </a: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F T</a:t>
                      </a:r>
                      <a:r>
                        <a:rPr kumimoji="0" lang="en-US" sz="4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R</a:t>
                      </a:r>
                    </a:p>
                  </a:txBody>
                  <a:tcPr marL="182880" marR="182880" marT="91424" marB="914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+ $ )</a:t>
                      </a:r>
                    </a:p>
                  </a:txBody>
                  <a:tcPr marL="182880" marR="182880" marT="91424" marB="914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4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T</a:t>
                      </a:r>
                      <a:r>
                        <a:rPr kumimoji="0" lang="en-US" sz="4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R</a:t>
                      </a: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 </a:t>
                      </a: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</a:t>
                      </a: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 </a:t>
                      </a: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*</a:t>
                      </a:r>
                      <a:r>
                        <a:rPr kumimoji="0" lang="en-US" sz="4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 </a:t>
                      </a: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F</a:t>
                      </a: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 </a:t>
                      </a: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T</a:t>
                      </a:r>
                      <a:r>
                        <a:rPr kumimoji="0" lang="en-US" sz="4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R</a:t>
                      </a:r>
                    </a:p>
                  </a:txBody>
                  <a:tcPr marL="182880" marR="182880" marT="91424" marB="914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+ $ )</a:t>
                      </a:r>
                      <a:endParaRPr kumimoji="0" 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ＭＳ Ｐゴシック" charset="-128"/>
                      </a:endParaRPr>
                    </a:p>
                  </a:txBody>
                  <a:tcPr marL="182880" marR="182880" marT="91424" marB="914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24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T</a:t>
                      </a:r>
                      <a:r>
                        <a:rPr kumimoji="0" lang="en-US" sz="4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R</a:t>
                      </a: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 </a:t>
                      </a: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 </a:t>
                      </a:r>
                    </a:p>
                  </a:txBody>
                  <a:tcPr marL="182880" marR="182880" marT="91424" marB="914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+ $ )</a:t>
                      </a:r>
                    </a:p>
                  </a:txBody>
                  <a:tcPr marL="182880" marR="182880" marT="91424" marB="914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24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F</a:t>
                      </a: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 </a:t>
                      </a: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 </a:t>
                      </a: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( </a:t>
                      </a:r>
                      <a:r>
                        <a:rPr kumimoji="0" lang="en-US" sz="4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E </a:t>
                      </a: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)</a:t>
                      </a:r>
                    </a:p>
                  </a:txBody>
                  <a:tcPr marL="182880" marR="182880" marT="91424" marB="914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* + $ )</a:t>
                      </a:r>
                      <a:endParaRPr kumimoji="0" 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ＭＳ Ｐゴシック" charset="-128"/>
                      </a:endParaRPr>
                    </a:p>
                  </a:txBody>
                  <a:tcPr marL="182880" marR="182880" marT="91424" marB="914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924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F</a:t>
                      </a: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 </a:t>
                      </a: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 </a:t>
                      </a: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  <a:sym typeface="Symbol" pitchFamily="18" charset="2"/>
                        </a:rPr>
                        <a:t>id</a:t>
                      </a:r>
                    </a:p>
                  </a:txBody>
                  <a:tcPr marL="182880" marR="182880" marT="91424" marB="914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ＭＳ Ｐゴシック" charset="-128"/>
                        </a:rPr>
                        <a:t>* + $ )</a:t>
                      </a:r>
                    </a:p>
                  </a:txBody>
                  <a:tcPr marL="182880" marR="182880" marT="91424" marB="914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E297E89-289B-4CB0-AA05-BE83E6D69D68}"/>
              </a:ext>
            </a:extLst>
          </p:cNvPr>
          <p:cNvSpPr txBox="1">
            <a:spLocks/>
          </p:cNvSpPr>
          <p:nvPr/>
        </p:nvSpPr>
        <p:spPr>
          <a:xfrm>
            <a:off x="8583562" y="11621464"/>
            <a:ext cx="5692877" cy="543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778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 Monika Shah (Nirma University)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44851787-A3CF-4462-9A60-54B9130332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82685" y="1219200"/>
            <a:ext cx="3534942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4000" i="1" dirty="0"/>
              <a:t>E</a:t>
            </a:r>
            <a:r>
              <a:rPr lang="en-US" altLang="en-US" sz="4000" dirty="0"/>
              <a:t> </a:t>
            </a:r>
            <a:r>
              <a:rPr lang="en-US" altLang="en-US" sz="4000" dirty="0">
                <a:sym typeface="Symbol" panose="05050102010706020507" pitchFamily="18" charset="2"/>
              </a:rPr>
              <a:t> </a:t>
            </a:r>
            <a:r>
              <a:rPr lang="en-US" altLang="en-US" sz="4000" i="1" dirty="0">
                <a:sym typeface="Symbol" panose="05050102010706020507" pitchFamily="18" charset="2"/>
              </a:rPr>
              <a:t>T E</a:t>
            </a:r>
            <a:r>
              <a:rPr lang="en-US" altLang="en-US" sz="4000" i="1" baseline="-25000" dirty="0">
                <a:sym typeface="Symbol" panose="05050102010706020507" pitchFamily="18" charset="2"/>
              </a:rPr>
              <a:t>R</a:t>
            </a:r>
            <a:br>
              <a:rPr lang="en-US" altLang="en-US" sz="4000" dirty="0">
                <a:sym typeface="Symbol" panose="05050102010706020507" pitchFamily="18" charset="2"/>
              </a:rPr>
            </a:br>
            <a:r>
              <a:rPr lang="en-US" altLang="en-US" sz="4000" i="1" dirty="0" err="1">
                <a:sym typeface="Symbol" panose="05050102010706020507" pitchFamily="18" charset="2"/>
              </a:rPr>
              <a:t>E</a:t>
            </a:r>
            <a:r>
              <a:rPr lang="en-US" altLang="en-US" sz="4000" i="1" baseline="-25000" dirty="0" err="1">
                <a:sym typeface="Symbol" panose="05050102010706020507" pitchFamily="18" charset="2"/>
              </a:rPr>
              <a:t>R</a:t>
            </a:r>
            <a:r>
              <a:rPr lang="en-US" altLang="en-US" sz="4000" i="1" dirty="0">
                <a:sym typeface="Symbol" panose="05050102010706020507" pitchFamily="18" charset="2"/>
              </a:rPr>
              <a:t> </a:t>
            </a:r>
            <a:r>
              <a:rPr lang="en-US" altLang="en-US" sz="4000" dirty="0">
                <a:sym typeface="Symbol" panose="05050102010706020507" pitchFamily="18" charset="2"/>
              </a:rPr>
              <a:t></a:t>
            </a:r>
            <a:r>
              <a:rPr lang="en-US" altLang="en-US" sz="4000" i="1" dirty="0">
                <a:sym typeface="Symbol" panose="05050102010706020507" pitchFamily="18" charset="2"/>
              </a:rPr>
              <a:t> </a:t>
            </a:r>
            <a:r>
              <a:rPr lang="en-US" altLang="en-US" sz="4000" b="1" dirty="0">
                <a:sym typeface="Symbol" panose="05050102010706020507" pitchFamily="18" charset="2"/>
              </a:rPr>
              <a:t>+</a:t>
            </a:r>
            <a:r>
              <a:rPr lang="en-US" altLang="en-US" sz="4000" b="1" i="1" dirty="0">
                <a:sym typeface="Symbol" panose="05050102010706020507" pitchFamily="18" charset="2"/>
              </a:rPr>
              <a:t> </a:t>
            </a:r>
            <a:r>
              <a:rPr lang="en-US" altLang="en-US" sz="4000" i="1" dirty="0">
                <a:sym typeface="Symbol" panose="05050102010706020507" pitchFamily="18" charset="2"/>
              </a:rPr>
              <a:t>T</a:t>
            </a:r>
            <a:r>
              <a:rPr lang="en-US" altLang="en-US" sz="4000" dirty="0">
                <a:sym typeface="Symbol" panose="05050102010706020507" pitchFamily="18" charset="2"/>
              </a:rPr>
              <a:t> </a:t>
            </a:r>
            <a:r>
              <a:rPr lang="en-US" altLang="en-US" sz="4000" i="1" dirty="0">
                <a:sym typeface="Symbol" panose="05050102010706020507" pitchFamily="18" charset="2"/>
              </a:rPr>
              <a:t>E</a:t>
            </a:r>
            <a:r>
              <a:rPr lang="en-US" altLang="en-US" sz="4000" i="1" baseline="-25000" dirty="0">
                <a:sym typeface="Symbol" panose="05050102010706020507" pitchFamily="18" charset="2"/>
              </a:rPr>
              <a:t>R</a:t>
            </a:r>
            <a:r>
              <a:rPr lang="en-US" altLang="en-US" sz="4000" dirty="0">
                <a:sym typeface="Symbol" panose="05050102010706020507" pitchFamily="18" charset="2"/>
              </a:rPr>
              <a:t> |  </a:t>
            </a:r>
            <a:br>
              <a:rPr lang="en-US" altLang="en-US" sz="4000" b="1" dirty="0">
                <a:sym typeface="Symbol" panose="05050102010706020507" pitchFamily="18" charset="2"/>
              </a:rPr>
            </a:br>
            <a:r>
              <a:rPr lang="en-US" altLang="en-US" sz="4000" i="1" dirty="0"/>
              <a:t>T</a:t>
            </a:r>
            <a:r>
              <a:rPr lang="en-US" altLang="en-US" sz="4000" dirty="0"/>
              <a:t> </a:t>
            </a:r>
            <a:r>
              <a:rPr lang="en-US" altLang="en-US" sz="4000" dirty="0">
                <a:sym typeface="Symbol" panose="05050102010706020507" pitchFamily="18" charset="2"/>
              </a:rPr>
              <a:t> </a:t>
            </a:r>
            <a:r>
              <a:rPr lang="en-US" altLang="en-US" sz="4000" i="1" dirty="0">
                <a:sym typeface="Symbol" panose="05050102010706020507" pitchFamily="18" charset="2"/>
              </a:rPr>
              <a:t>F T</a:t>
            </a:r>
            <a:r>
              <a:rPr lang="en-US" altLang="en-US" sz="4000" i="1" baseline="-25000" dirty="0">
                <a:sym typeface="Symbol" panose="05050102010706020507" pitchFamily="18" charset="2"/>
              </a:rPr>
              <a:t>R</a:t>
            </a:r>
            <a:br>
              <a:rPr lang="en-US" altLang="en-US" sz="4000" dirty="0">
                <a:sym typeface="Symbol" panose="05050102010706020507" pitchFamily="18" charset="2"/>
              </a:rPr>
            </a:br>
            <a:r>
              <a:rPr lang="en-US" altLang="en-US" sz="4000" i="1" dirty="0" err="1">
                <a:sym typeface="Symbol" panose="05050102010706020507" pitchFamily="18" charset="2"/>
              </a:rPr>
              <a:t>T</a:t>
            </a:r>
            <a:r>
              <a:rPr lang="en-US" altLang="en-US" sz="4000" i="1" baseline="-25000" dirty="0" err="1">
                <a:sym typeface="Symbol" panose="05050102010706020507" pitchFamily="18" charset="2"/>
              </a:rPr>
              <a:t>R</a:t>
            </a:r>
            <a:r>
              <a:rPr lang="en-US" altLang="en-US" sz="4000" i="1" dirty="0">
                <a:sym typeface="Symbol" panose="05050102010706020507" pitchFamily="18" charset="2"/>
              </a:rPr>
              <a:t> </a:t>
            </a:r>
            <a:r>
              <a:rPr lang="en-US" altLang="en-US" sz="4000" dirty="0">
                <a:sym typeface="Symbol" panose="05050102010706020507" pitchFamily="18" charset="2"/>
              </a:rPr>
              <a:t></a:t>
            </a:r>
            <a:r>
              <a:rPr lang="en-US" altLang="en-US" sz="4000" i="1" dirty="0">
                <a:sym typeface="Symbol" panose="05050102010706020507" pitchFamily="18" charset="2"/>
              </a:rPr>
              <a:t> </a:t>
            </a:r>
            <a:r>
              <a:rPr lang="en-US" altLang="en-US" sz="4000" b="1" dirty="0">
                <a:sym typeface="Symbol" panose="05050102010706020507" pitchFamily="18" charset="2"/>
              </a:rPr>
              <a:t>*</a:t>
            </a:r>
            <a:r>
              <a:rPr lang="en-US" altLang="en-US" sz="4000" b="1" i="1" dirty="0">
                <a:sym typeface="Symbol" panose="05050102010706020507" pitchFamily="18" charset="2"/>
              </a:rPr>
              <a:t> </a:t>
            </a:r>
            <a:r>
              <a:rPr lang="en-US" altLang="en-US" sz="4000" i="1" dirty="0">
                <a:sym typeface="Symbol" panose="05050102010706020507" pitchFamily="18" charset="2"/>
              </a:rPr>
              <a:t>F</a:t>
            </a:r>
            <a:r>
              <a:rPr lang="en-US" altLang="en-US" sz="4000" dirty="0">
                <a:sym typeface="Symbol" panose="05050102010706020507" pitchFamily="18" charset="2"/>
              </a:rPr>
              <a:t> </a:t>
            </a:r>
            <a:r>
              <a:rPr lang="en-US" altLang="en-US" sz="4000" i="1" dirty="0">
                <a:sym typeface="Symbol" panose="05050102010706020507" pitchFamily="18" charset="2"/>
              </a:rPr>
              <a:t>T</a:t>
            </a:r>
            <a:r>
              <a:rPr lang="en-US" altLang="en-US" sz="4000" i="1" baseline="-25000" dirty="0">
                <a:sym typeface="Symbol" panose="05050102010706020507" pitchFamily="18" charset="2"/>
              </a:rPr>
              <a:t>R</a:t>
            </a:r>
            <a:r>
              <a:rPr lang="en-US" altLang="en-US" sz="4000" dirty="0">
                <a:sym typeface="Symbol" panose="05050102010706020507" pitchFamily="18" charset="2"/>
              </a:rPr>
              <a:t> |  </a:t>
            </a:r>
            <a:br>
              <a:rPr lang="en-US" altLang="en-US" sz="4000" b="1" dirty="0">
                <a:sym typeface="Symbol" panose="05050102010706020507" pitchFamily="18" charset="2"/>
              </a:rPr>
            </a:br>
            <a:r>
              <a:rPr lang="en-US" altLang="en-US" sz="4000" i="1" dirty="0">
                <a:sym typeface="Symbol" panose="05050102010706020507" pitchFamily="18" charset="2"/>
              </a:rPr>
              <a:t>F</a:t>
            </a:r>
            <a:r>
              <a:rPr lang="en-US" altLang="en-US" sz="4000" dirty="0"/>
              <a:t> </a:t>
            </a:r>
            <a:r>
              <a:rPr lang="en-US" altLang="en-US" sz="4000" dirty="0">
                <a:sym typeface="Symbol" panose="05050102010706020507" pitchFamily="18" charset="2"/>
              </a:rPr>
              <a:t> </a:t>
            </a:r>
            <a:r>
              <a:rPr lang="en-US" altLang="en-US" sz="4000" b="1" dirty="0">
                <a:sym typeface="Symbol" panose="05050102010706020507" pitchFamily="18" charset="2"/>
              </a:rPr>
              <a:t>( </a:t>
            </a:r>
            <a:r>
              <a:rPr lang="en-US" altLang="en-US" sz="4000" i="1" dirty="0">
                <a:sym typeface="Symbol" panose="05050102010706020507" pitchFamily="18" charset="2"/>
              </a:rPr>
              <a:t>E </a:t>
            </a:r>
            <a:r>
              <a:rPr lang="en-US" altLang="en-US" sz="4000" b="1" dirty="0">
                <a:sym typeface="Symbol" panose="05050102010706020507" pitchFamily="18" charset="2"/>
              </a:rPr>
              <a:t>)</a:t>
            </a:r>
            <a:r>
              <a:rPr lang="en-US" altLang="en-US" sz="4000" dirty="0">
                <a:sym typeface="Symbol" panose="05050102010706020507" pitchFamily="18" charset="2"/>
              </a:rPr>
              <a:t> | </a:t>
            </a:r>
            <a:r>
              <a:rPr lang="en-US" altLang="en-US" sz="4000" b="1" dirty="0">
                <a:sym typeface="Symbol" panose="05050102010706020507" pitchFamily="18" charset="2"/>
              </a:rPr>
              <a:t>id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2866</TotalTime>
  <Words>3505</Words>
  <Application>Microsoft Office PowerPoint</Application>
  <PresentationFormat>Custom</PresentationFormat>
  <Paragraphs>500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Apple Chancery</vt:lpstr>
      <vt:lpstr>Arial</vt:lpstr>
      <vt:lpstr>Calibri</vt:lpstr>
      <vt:lpstr>Garamond</vt:lpstr>
      <vt:lpstr>Times</vt:lpstr>
      <vt:lpstr>Times New Roman</vt:lpstr>
      <vt:lpstr>Wingdings</vt:lpstr>
      <vt:lpstr>Organic</vt:lpstr>
      <vt:lpstr>Position of a Parser in the Compiler Model</vt:lpstr>
      <vt:lpstr>PowerPoint Presentation</vt:lpstr>
      <vt:lpstr>Where is Syntax Analysis?</vt:lpstr>
      <vt:lpstr>Parse Tree vs Abstract Syntax Tree</vt:lpstr>
      <vt:lpstr>Role of Syntax Analyzer</vt:lpstr>
      <vt:lpstr>Syntax Analysis Overview</vt:lpstr>
      <vt:lpstr>Chomsky Hierarchy: Language Classification</vt:lpstr>
      <vt:lpstr>Grammars (Recap)</vt:lpstr>
      <vt:lpstr>CFG Example 1: Grammar for Binary Arithmetic Expression</vt:lpstr>
      <vt:lpstr>CFG Example 2: Grammar for IFST</vt:lpstr>
      <vt:lpstr>CFG Example 3: Grammar for functions in C program</vt:lpstr>
      <vt:lpstr>CFG Example 3: Grammar for functions in C program CONTD… </vt:lpstr>
      <vt:lpstr>CFG Example 4: Balanced Parenthesis</vt:lpstr>
      <vt:lpstr>Derivation</vt:lpstr>
      <vt:lpstr>Leftmost|Rightmost Derivation Examples</vt:lpstr>
      <vt:lpstr>Ambiguous Grammar</vt:lpstr>
      <vt:lpstr>Ambiguous Grammar - Example</vt:lpstr>
      <vt:lpstr>Eliminating Ambiguity from Grammar</vt:lpstr>
      <vt:lpstr>Class Problem (Tough)</vt:lpstr>
      <vt:lpstr>Ambiguity Review: If-Then-Else Grammar</vt:lpstr>
      <vt:lpstr>Grammar for Closest-if Rule</vt:lpstr>
      <vt:lpstr>Parsing</vt:lpstr>
      <vt:lpstr>Parsing</vt:lpstr>
      <vt:lpstr>Parsers </vt:lpstr>
      <vt:lpstr>Top-Down Parsing</vt:lpstr>
      <vt:lpstr>Problem with Top-Down Parsing</vt:lpstr>
      <vt:lpstr>Issue with Top-down parsing  Number of backtracking</vt:lpstr>
      <vt:lpstr>Left Recursion (Recap)</vt:lpstr>
      <vt:lpstr>A General Systematic Left Recursion Elimination Method</vt:lpstr>
      <vt:lpstr>Immediate Left-Recursion Elimination</vt:lpstr>
      <vt:lpstr>Example Left Recursion Elimination completely</vt:lpstr>
      <vt:lpstr>Self Evaluation</vt:lpstr>
      <vt:lpstr>Left Factoring</vt:lpstr>
      <vt:lpstr>Left Factoring Example</vt:lpstr>
      <vt:lpstr>Predictive Parsing</vt:lpstr>
      <vt:lpstr>FIRST (Revisited)</vt:lpstr>
      <vt:lpstr>FOLLOW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IT794  Compiler Construction</dc:title>
  <dc:creator>CMS</dc:creator>
  <cp:lastModifiedBy>Tarjni Vyas</cp:lastModifiedBy>
  <cp:revision>173</cp:revision>
  <dcterms:created xsi:type="dcterms:W3CDTF">2020-07-23T15:13:35Z</dcterms:created>
  <dcterms:modified xsi:type="dcterms:W3CDTF">2026-09-05T04:54:46Z</dcterms:modified>
</cp:coreProperties>
</file>