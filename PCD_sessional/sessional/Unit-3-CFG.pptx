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560" r:id="rId2"/>
    <p:sldId id="470" r:id="rId3"/>
    <p:sldId id="520" r:id="rId4"/>
    <p:sldId id="561" r:id="rId5"/>
    <p:sldId id="562" r:id="rId6"/>
    <p:sldId id="563" r:id="rId7"/>
    <p:sldId id="564" r:id="rId8"/>
    <p:sldId id="565" r:id="rId9"/>
    <p:sldId id="566" r:id="rId10"/>
    <p:sldId id="600" r:id="rId11"/>
    <p:sldId id="591" r:id="rId12"/>
    <p:sldId id="592" r:id="rId13"/>
    <p:sldId id="593" r:id="rId14"/>
    <p:sldId id="594" r:id="rId15"/>
    <p:sldId id="595" r:id="rId16"/>
    <p:sldId id="596" r:id="rId17"/>
    <p:sldId id="597" r:id="rId18"/>
    <p:sldId id="598" r:id="rId19"/>
    <p:sldId id="599" r:id="rId20"/>
    <p:sldId id="605" r:id="rId21"/>
    <p:sldId id="606" r:id="rId22"/>
    <p:sldId id="602" r:id="rId23"/>
    <p:sldId id="567" r:id="rId24"/>
    <p:sldId id="568" r:id="rId25"/>
    <p:sldId id="569" r:id="rId26"/>
    <p:sldId id="571" r:id="rId27"/>
    <p:sldId id="570" r:id="rId28"/>
    <p:sldId id="603" r:id="rId29"/>
    <p:sldId id="572" r:id="rId30"/>
    <p:sldId id="575" r:id="rId31"/>
    <p:sldId id="576" r:id="rId32"/>
    <p:sldId id="577" r:id="rId33"/>
    <p:sldId id="578" r:id="rId34"/>
    <p:sldId id="581" r:id="rId35"/>
    <p:sldId id="580" r:id="rId36"/>
    <p:sldId id="582" r:id="rId37"/>
    <p:sldId id="583" r:id="rId38"/>
    <p:sldId id="58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4A7EBB"/>
    <a:srgbClr val="E40524"/>
    <a:srgbClr val="E329C0"/>
    <a:srgbClr val="11C1FF"/>
    <a:srgbClr val="34495E"/>
    <a:srgbClr val="FF6702"/>
    <a:srgbClr val="D6B580"/>
    <a:srgbClr val="F8E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82" autoAdjust="0"/>
    <p:restoredTop sz="93896" autoAdjust="0"/>
  </p:normalViewPr>
  <p:slideViewPr>
    <p:cSldViewPr>
      <p:cViewPr varScale="1">
        <p:scale>
          <a:sx n="66" d="100"/>
          <a:sy n="66" d="100"/>
        </p:scale>
        <p:origin x="708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01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75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49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81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5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ktangel 11"/>
          <p:cNvSpPr/>
          <p:nvPr userDrawn="1"/>
        </p:nvSpPr>
        <p:spPr>
          <a:xfrm>
            <a:off x="5356085" y="6507231"/>
            <a:ext cx="841515" cy="3613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sz="3600" b="1">
                <a:latin typeface="+mj-lt"/>
                <a:ea typeface="Open Sans" panose="020B0606030504020204"/>
                <a:cs typeface="Open Sans" panose="020B06060305040202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5356085" y="6507231"/>
            <a:ext cx="841515" cy="3613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ktangel 11"/>
          <p:cNvSpPr/>
          <p:nvPr userDrawn="1"/>
        </p:nvSpPr>
        <p:spPr>
          <a:xfrm>
            <a:off x="5356085" y="6507231"/>
            <a:ext cx="841515" cy="3613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2362200" y="1529373"/>
            <a:ext cx="5486400" cy="3041647"/>
            <a:chOff x="838200" y="1529372"/>
            <a:chExt cx="5486400" cy="3086099"/>
          </a:xfrm>
        </p:grpSpPr>
        <p:sp>
          <p:nvSpPr>
            <p:cNvPr id="48" name="TextBox 47"/>
            <p:cNvSpPr txBox="1"/>
            <p:nvPr/>
          </p:nvSpPr>
          <p:spPr>
            <a:xfrm>
              <a:off x="838200" y="2369803"/>
              <a:ext cx="4188156" cy="1405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200" b="1" dirty="0">
                  <a:ea typeface="Open Sans Bold" panose="020B0806030504020204" pitchFamily="34" charset="0"/>
                  <a:cs typeface="Open Sans Bold" panose="020B0806030504020204" pitchFamily="34" charset="0"/>
                </a:rPr>
                <a:t>Context Free Grammar</a:t>
              </a:r>
            </a:p>
          </p:txBody>
        </p:sp>
        <p:sp>
          <p:nvSpPr>
            <p:cNvPr id="50" name="Freeform 49"/>
            <p:cNvSpPr/>
            <p:nvPr/>
          </p:nvSpPr>
          <p:spPr>
            <a:xfrm>
              <a:off x="4652237" y="1529372"/>
              <a:ext cx="1672363" cy="3086099"/>
            </a:xfrm>
            <a:custGeom>
              <a:avLst/>
              <a:gdLst>
                <a:gd name="connsiteX0" fmla="*/ 0 w 1672363"/>
                <a:gd name="connsiteY0" fmla="*/ 0 h 3086099"/>
                <a:gd name="connsiteX1" fmla="*/ 129314 w 1672363"/>
                <a:gd name="connsiteY1" fmla="*/ 0 h 3086099"/>
                <a:gd name="connsiteX2" fmla="*/ 1672363 w 1672363"/>
                <a:gd name="connsiteY2" fmla="*/ 1543050 h 3086099"/>
                <a:gd name="connsiteX3" fmla="*/ 129314 w 1672363"/>
                <a:gd name="connsiteY3" fmla="*/ 3086099 h 3086099"/>
                <a:gd name="connsiteX4" fmla="*/ 0 w 1672363"/>
                <a:gd name="connsiteY4" fmla="*/ 3086099 h 3086099"/>
                <a:gd name="connsiteX5" fmla="*/ 1543049 w 1672363"/>
                <a:gd name="connsiteY5" fmla="*/ 1543050 h 3086099"/>
                <a:gd name="connsiteX6" fmla="*/ 0 w 1672363"/>
                <a:gd name="connsiteY6" fmla="*/ 0 h 3086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363" h="3086099">
                  <a:moveTo>
                    <a:pt x="0" y="0"/>
                  </a:moveTo>
                  <a:lnTo>
                    <a:pt x="129314" y="0"/>
                  </a:lnTo>
                  <a:lnTo>
                    <a:pt x="1672363" y="1543050"/>
                  </a:lnTo>
                  <a:lnTo>
                    <a:pt x="129314" y="3086099"/>
                  </a:lnTo>
                  <a:lnTo>
                    <a:pt x="0" y="3086099"/>
                  </a:lnTo>
                  <a:lnTo>
                    <a:pt x="1543049" y="154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>
              <a:noFill/>
            </a:ln>
            <a:effectLst>
              <a:outerShdw blurRad="50800" dist="381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5805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Chomsky hierarchy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 free grammar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Recursive 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 to regular grammar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Derivation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Ambiguity &amp; unambiguous grammar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Simplified forms &amp; normal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CFG to CNF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Union, Concatenation &amp; Kleene’s of CFG</a:t>
            </a:r>
          </a:p>
        </p:txBody>
      </p:sp>
    </p:spTree>
    <p:extLst>
      <p:ext uri="{BB962C8B-B14F-4D97-AF65-F5344CB8AC3E}">
        <p14:creationId xmlns:p14="http://schemas.microsoft.com/office/powerpoint/2010/main" val="11251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Chomsky Hierarchy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Chomsky hierarchy (Classification of grammar)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089515" y="2357171"/>
            <a:ext cx="2058349" cy="73586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Restricted grammar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236121" y="3797246"/>
            <a:ext cx="1152144" cy="1399914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Regular grammar(type 3)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549554" y="3812806"/>
            <a:ext cx="1152144" cy="1399032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 free grammar(type 2)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883950" y="3781684"/>
            <a:ext cx="1149350" cy="1399916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 sensitive grammar (type 1)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3810001" y="2367779"/>
            <a:ext cx="2058349" cy="73586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Unrestricted grammar (type 0)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4966521" y="1238717"/>
            <a:ext cx="2058349" cy="492209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Grammar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cxnSp>
        <p:nvCxnSpPr>
          <p:cNvPr id="26" name="Elbow Connector 25"/>
          <p:cNvCxnSpPr/>
          <p:nvPr/>
        </p:nvCxnSpPr>
        <p:spPr>
          <a:xfrm rot="16200000" flipH="1">
            <a:off x="7620277" y="2598391"/>
            <a:ext cx="704207" cy="1693504"/>
          </a:xfrm>
          <a:prstGeom prst="bentConnector3">
            <a:avLst>
              <a:gd name="adj1" fmla="val 48647"/>
            </a:avLst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>
            <a:off x="5958623" y="2607330"/>
            <a:ext cx="688645" cy="1660064"/>
          </a:xfrm>
          <a:prstGeom prst="bentConnector3">
            <a:avLst/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rot="5400000">
            <a:off x="5111485" y="1480884"/>
            <a:ext cx="651142" cy="1142232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/>
          <p:nvPr/>
        </p:nvCxnSpPr>
        <p:spPr>
          <a:xfrm rot="16200000" flipH="1">
            <a:off x="6256684" y="1481009"/>
            <a:ext cx="640534" cy="1137282"/>
          </a:xfrm>
          <a:prstGeom prst="bentConnector3">
            <a:avLst>
              <a:gd name="adj1" fmla="val 50199"/>
            </a:avLst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128801" y="3440537"/>
            <a:ext cx="0" cy="375445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07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0 grammar (Phrase Structure Grammar)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Their productions are of the form: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where both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can be strings of terminal and nonterminal </a:t>
                </a:r>
                <a:r>
                  <a:rPr lang="en-US" dirty="0"/>
                  <a:t>symbols.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Example: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S →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ACaB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1543050" algn="just">
                  <a:buNone/>
                </a:pP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Bc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→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acB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1543050" algn="just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CB → DB </a:t>
                </a:r>
              </a:p>
              <a:p>
                <a:pPr marL="0" indent="1543050" algn="just">
                  <a:buNone/>
                </a:pP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aD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→ Db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6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500" dirty="0"/>
              <a:t>Type 1 grammar (Context Sensitive Grammar)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0" rIns="91440" bIns="0" rtlCol="0">
                <a:no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Their productions are of the form: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𝜶𝝅𝜷</m:t>
                      </m:r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where </a:t>
                </a:r>
                <a:r>
                  <a:rPr lang="en-US" b="1" dirty="0">
                    <a:solidFill>
                      <a:srgbClr val="C00000"/>
                    </a:solidFill>
                  </a:rPr>
                  <a:t>A </a:t>
                </a:r>
                <a:r>
                  <a:rPr lang="en-US" dirty="0">
                    <a:solidFill>
                      <a:srgbClr val="C00000"/>
                    </a:solidFill>
                  </a:rPr>
                  <a:t>is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non terminal </a:t>
                </a:r>
                <a:r>
                  <a:rPr lang="en-US" dirty="0"/>
                  <a:t>and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are strings of terminals and non terminals</a:t>
                </a:r>
                <a:r>
                  <a:rPr lang="en-US" dirty="0"/>
                  <a:t>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The strings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/>
                  <a:t> and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may be empty, but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dirty="0"/>
                  <a:t> must be non-empty.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Here, a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can be replaced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(or vice versa) only when it is enclosed by the strings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in a sentential form. 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Example: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AB →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AbBc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1544638" algn="just" defTabSz="974725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A →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bcA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1544638" algn="just" defTabSz="963613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B → b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13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58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grammar (Context Free Grammar)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14500" y="1023850"/>
                <a:ext cx="8763000" cy="5334000"/>
              </a:xfrm>
            </p:spPr>
            <p:txBody>
              <a:bodyPr>
                <a:no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Their productions are of the form: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IN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Where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is non terminal </a:t>
                </a:r>
                <a:r>
                  <a:rPr lang="en-US" dirty="0"/>
                  <a:t>and 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is string of terminals and non terminals.</a:t>
                </a:r>
                <a:endParaRPr lang="en-US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Example: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S →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Xa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1485900" algn="just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X → a </a:t>
                </a:r>
              </a:p>
              <a:p>
                <a:pPr marL="0" indent="1485900" algn="just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X →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aX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pPr marL="0" indent="1485900" algn="just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X →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abc</a:t>
                </a:r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00" y="1023850"/>
                <a:ext cx="8763000" cy="5334000"/>
              </a:xfrm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41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Type 3 grammar (Linear or Regular grammar)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0" rtlCol="0">
                <a:no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Their productions are of the form: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b="1" i="1" dirty="0" err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𝒕𝑩</m:t>
                    </m:r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err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err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/>
                  <a:t>	or	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b="1" i="1" dirty="0" err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𝑩𝒕</m:t>
                    </m:r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are non terminals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 is terminal</a:t>
                </a:r>
                <a:r>
                  <a:rPr lang="en-US" dirty="0"/>
                  <a:t>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Example: </a:t>
                </a:r>
                <a:r>
                  <a:rPr lang="es-ES" dirty="0">
                    <a:solidFill>
                      <a:schemeClr val="accent1">
                        <a:lumMod val="75000"/>
                      </a:schemeClr>
                    </a:solidFill>
                  </a:rPr>
                  <a:t>X → a | </a:t>
                </a:r>
                <a:r>
                  <a:rPr lang="es-ES" dirty="0" err="1">
                    <a:solidFill>
                      <a:schemeClr val="accent1">
                        <a:lumMod val="75000"/>
                      </a:schemeClr>
                    </a:solidFill>
                  </a:rPr>
                  <a:t>aY</a:t>
                </a:r>
                <a:endParaRPr lang="es-ES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1544638" algn="just">
                  <a:buNone/>
                </a:pPr>
                <a:r>
                  <a:rPr lang="es-ES" dirty="0">
                    <a:solidFill>
                      <a:schemeClr val="accent1">
                        <a:lumMod val="75000"/>
                      </a:schemeClr>
                    </a:solidFill>
                  </a:rPr>
                  <a:t>Y → b</a:t>
                </a:r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84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Hierarchy of grammar</a:t>
            </a:r>
          </a:p>
        </p:txBody>
      </p:sp>
      <p:sp>
        <p:nvSpPr>
          <p:cNvPr id="4" name="Oval 3"/>
          <p:cNvSpPr/>
          <p:nvPr/>
        </p:nvSpPr>
        <p:spPr>
          <a:xfrm>
            <a:off x="3486083" y="1067768"/>
            <a:ext cx="5340096" cy="53400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034723" y="1630124"/>
            <a:ext cx="4242816" cy="42428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583363" y="2178764"/>
            <a:ext cx="3118104" cy="31181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150291" y="2712164"/>
            <a:ext cx="2011680" cy="2011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Type 3 (Regular)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928930" y="1392989"/>
            <a:ext cx="2497222" cy="894090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Up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Type 0(Phrase structure)</a:t>
            </a:r>
            <a:endParaRPr lang="en-US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04539" y="1901787"/>
            <a:ext cx="2584104" cy="159926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Up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Type 1(Context sensitive)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6439" y="2486580"/>
            <a:ext cx="2584104" cy="1926247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Up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Type 2(Context free)</a:t>
            </a:r>
          </a:p>
        </p:txBody>
      </p:sp>
    </p:spTree>
    <p:extLst>
      <p:ext uri="{BB962C8B-B14F-4D97-AF65-F5344CB8AC3E}">
        <p14:creationId xmlns:p14="http://schemas.microsoft.com/office/powerpoint/2010/main" val="381014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3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Context free grammar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3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Context Free Grammar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A context free grammar (CFG) is a 4-tuple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dirty="0"/>
                  <a:t>where,</a:t>
                </a:r>
              </a:p>
              <a:p>
                <a:pPr marL="347663" indent="0" algn="just">
                  <a:buNone/>
                </a:pP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	is finite set of </a:t>
                </a: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non terminals</a:t>
                </a:r>
                <a:r>
                  <a:rPr lang="en-IN" dirty="0"/>
                  <a:t>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</a:t>
                </a:r>
                <a:r>
                  <a:rPr lang="en-IN" dirty="0"/>
                  <a:t>	is disjoint finite set of </a:t>
                </a: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terminals</a:t>
                </a:r>
                <a:r>
                  <a:rPr lang="en-IN" dirty="0"/>
                  <a:t>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0" algn="just">
                  <a:buNone/>
                </a:pP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	is an element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and it’s a </a:t>
                </a: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start symbol</a:t>
                </a:r>
                <a:r>
                  <a:rPr lang="en-IN" dirty="0"/>
                  <a:t>,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7663" indent="0" algn="just">
                  <a:buNone/>
                </a:pP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dirty="0"/>
                  <a:t> 	is a finite </a:t>
                </a: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set of productions </a:t>
                </a:r>
                <a:r>
                  <a:rPr lang="en-IN" dirty="0"/>
                  <a:t>of the form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 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	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∪ 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dirty="0"/>
                  <a:t>.</a:t>
                </a:r>
              </a:p>
              <a:p>
                <a:pPr algn="just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accent1">
                        <a:lumMod val="75000"/>
                      </a:schemeClr>
                    </a:solidFill>
                  </a:rPr>
                  <a:t>Application of CFG: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IN" sz="2400" dirty="0"/>
                  <a:t>CFG are extensively used to specify the </a:t>
                </a:r>
                <a:r>
                  <a:rPr lang="en-IN" sz="2400" dirty="0">
                    <a:solidFill>
                      <a:srgbClr val="C00000"/>
                    </a:solidFill>
                  </a:rPr>
                  <a:t>syntax of programming language</a:t>
                </a:r>
                <a:r>
                  <a:rPr lang="en-IN" sz="2400" dirty="0"/>
                  <a:t>. 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en-IN" sz="2400" dirty="0"/>
                  <a:t>CFG is </a:t>
                </a:r>
                <a:r>
                  <a:rPr lang="en-IN" sz="2400" dirty="0">
                    <a:solidFill>
                      <a:srgbClr val="C00000"/>
                    </a:solidFill>
                  </a:rPr>
                  <a:t>used to develop a parser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252" t="-457" r="-10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07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</a:t>
            </a:r>
            <a:r>
              <a:rPr lang="en-US"/>
              <a:t>Free Language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Let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be a CFG. The language generated by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IN" dirty="0"/>
                  <a:t> is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begChr m:val="{"/>
                          <m:endChr m:val="|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∈ 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A language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dirty="0"/>
                  <a:t> is a </a:t>
                </a:r>
                <a:r>
                  <a:rPr lang="en-IN" dirty="0">
                    <a:solidFill>
                      <a:schemeClr val="tx2"/>
                    </a:solidFill>
                  </a:rPr>
                  <a:t>context free Language </a:t>
                </a:r>
                <a:r>
                  <a:rPr lang="en-IN" dirty="0"/>
                  <a:t>(CFL) if there is a CFG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IN" dirty="0"/>
                  <a:t> so that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22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Write CFG for either a or 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</a:t>
            </a:r>
            <a:r>
              <a:rPr lang="en-US" dirty="0"/>
              <a:t> | 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 CFG for a</a:t>
            </a:r>
            <a:r>
              <a:rPr lang="en-US" b="1" baseline="30000" dirty="0"/>
              <a:t>+</a:t>
            </a:r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aS</a:t>
            </a:r>
            <a:r>
              <a:rPr lang="en-US" dirty="0">
                <a:sym typeface="Wingdings" panose="05000000000000000000" pitchFamily="2" charset="2"/>
              </a:rPr>
              <a:t> | 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 CFG for a*</a:t>
            </a:r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aS</a:t>
            </a:r>
            <a:r>
              <a:rPr lang="en-US" dirty="0">
                <a:sym typeface="Wingdings" panose="05000000000000000000" pitchFamily="2" charset="2"/>
              </a:rPr>
              <a:t> | ^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 CFG for (ab)*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abS</a:t>
            </a:r>
            <a:r>
              <a:rPr lang="en-US" dirty="0">
                <a:sym typeface="Wingdings" panose="05000000000000000000" pitchFamily="2" charset="2"/>
              </a:rPr>
              <a:t> | ^</a:t>
            </a: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Write CFG for any string of a and 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aS</a:t>
            </a:r>
            <a:r>
              <a:rPr lang="en-US" dirty="0">
                <a:sym typeface="Wingdings" panose="05000000000000000000" pitchFamily="2" charset="2"/>
              </a:rPr>
              <a:t> | </a:t>
            </a:r>
            <a:r>
              <a:rPr lang="en-US" dirty="0" err="1">
                <a:sym typeface="Wingdings" panose="05000000000000000000" pitchFamily="2" charset="2"/>
              </a:rPr>
              <a:t>bS</a:t>
            </a:r>
            <a:r>
              <a:rPr lang="en-US" dirty="0">
                <a:sym typeface="Wingdings" panose="05000000000000000000" pitchFamily="2" charset="2"/>
              </a:rPr>
              <a:t> | a | b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8842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870679"/>
            <a:ext cx="8763000" cy="5715000"/>
          </a:xfrm>
        </p:spPr>
        <p:txBody>
          <a:bodyPr>
            <a:noAutofit/>
          </a:bodyPr>
          <a:lstStyle/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for ab*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aX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X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˄| </a:t>
            </a:r>
            <a:r>
              <a:rPr lang="en-US" dirty="0" err="1"/>
              <a:t>bX</a:t>
            </a:r>
            <a:endParaRPr lang="en-US" dirty="0"/>
          </a:p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for a*b*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XY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X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aX</a:t>
            </a:r>
            <a:r>
              <a:rPr lang="en-US" dirty="0"/>
              <a:t>|˄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Y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bY</a:t>
            </a:r>
            <a:r>
              <a:rPr lang="en-US" dirty="0"/>
              <a:t>|˄</a:t>
            </a:r>
          </a:p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for (</a:t>
            </a:r>
            <a:r>
              <a:rPr lang="en-US" b="1" dirty="0" err="1"/>
              <a:t>a+b</a:t>
            </a:r>
            <a:r>
              <a:rPr lang="en-US" b="1" dirty="0"/>
              <a:t>)*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aS</a:t>
            </a:r>
            <a:r>
              <a:rPr lang="en-US" dirty="0"/>
              <a:t> | </a:t>
            </a:r>
            <a:r>
              <a:rPr lang="en-US" dirty="0" err="1"/>
              <a:t>bS</a:t>
            </a:r>
            <a:r>
              <a:rPr lang="en-US" dirty="0"/>
              <a:t> | ^</a:t>
            </a:r>
          </a:p>
          <a:p>
            <a:pPr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for a(</a:t>
            </a:r>
            <a:r>
              <a:rPr lang="en-US" b="1" dirty="0" err="1"/>
              <a:t>a+b</a:t>
            </a:r>
            <a:r>
              <a:rPr lang="en-US" b="1" dirty="0"/>
              <a:t>)*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aX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lnSpc>
                <a:spcPct val="109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XaX</a:t>
            </a:r>
            <a:r>
              <a:rPr lang="en-US" dirty="0">
                <a:sym typeface="Wingdings" panose="05000000000000000000" pitchFamily="2" charset="2"/>
              </a:rPr>
              <a:t> | </a:t>
            </a:r>
            <a:r>
              <a:rPr lang="en-US" dirty="0" err="1">
                <a:sym typeface="Wingdings" panose="05000000000000000000" pitchFamily="2" charset="2"/>
              </a:rPr>
              <a:t>bX</a:t>
            </a:r>
            <a:r>
              <a:rPr lang="en-US" dirty="0">
                <a:sym typeface="Wingdings" panose="05000000000000000000" pitchFamily="2" charset="2"/>
              </a:rPr>
              <a:t> | ^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5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Write CFG for a* | b*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A | B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A</a:t>
            </a:r>
            <a:r>
              <a:rPr lang="en-US" dirty="0"/>
              <a:t>˄| </a:t>
            </a:r>
            <a:r>
              <a:rPr lang="en-US" dirty="0" err="1"/>
              <a:t>aA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B</a:t>
            </a:r>
            <a:r>
              <a:rPr lang="en-US" dirty="0">
                <a:sym typeface="Wingdings" panose="05000000000000000000" pitchFamily="2" charset="2"/>
              </a:rPr>
              <a:t>^ |</a:t>
            </a:r>
            <a:r>
              <a:rPr lang="en-US" dirty="0" err="1">
                <a:sym typeface="Wingdings" panose="05000000000000000000" pitchFamily="2" charset="2"/>
              </a:rPr>
              <a:t>bB</a:t>
            </a: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Write CFG for (011+1)*(01)*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AB</a:t>
            </a:r>
          </a:p>
          <a:p>
            <a:pPr marL="0" indent="0">
              <a:buNone/>
            </a:pPr>
            <a:r>
              <a:rPr lang="en-US" dirty="0"/>
              <a:t>	A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011A | 1A | ^</a:t>
            </a:r>
          </a:p>
          <a:p>
            <a:pPr marL="0" indent="0">
              <a:buNone/>
            </a:pPr>
            <a:r>
              <a:rPr lang="en-US" dirty="0"/>
              <a:t>	B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01B | ^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 CFG for balanced parenthesis</a:t>
            </a:r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 [] | {} | [s] | {s} | ^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8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7011" y="869430"/>
            <a:ext cx="8763000" cy="5334000"/>
          </a:xfrm>
        </p:spPr>
        <p:txBody>
          <a:bodyPr>
            <a:noAutofit/>
          </a:bodyPr>
          <a:lstStyle/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which contains at least three times 1. 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A1A1A1A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A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0A | 1A | ^</a:t>
            </a:r>
          </a:p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that must start and end with same symbol.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0A0 | 1A1 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A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0A | 1A | ^</a:t>
            </a:r>
          </a:p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language of even &amp; odd length palindrome string over {</a:t>
            </a:r>
            <a:r>
              <a:rPr lang="en-US" b="1" dirty="0" err="1"/>
              <a:t>a,b</a:t>
            </a:r>
            <a:r>
              <a:rPr lang="en-US" b="1" dirty="0"/>
              <a:t>}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aSa|bSb|a|b</a:t>
            </a:r>
            <a:r>
              <a:rPr lang="en-US" dirty="0"/>
              <a:t>|˄</a:t>
            </a:r>
          </a:p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No. of a and no. of b are same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aSb|bSa|aSa|bSb</a:t>
            </a:r>
            <a:r>
              <a:rPr lang="en-US" dirty="0"/>
              <a:t>|˄</a:t>
            </a:r>
          </a:p>
          <a:p>
            <a:pPr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language of {a, b} ends in a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aS</a:t>
            </a:r>
            <a:r>
              <a:rPr lang="en-US" dirty="0">
                <a:sym typeface="Wingdings" panose="05000000000000000000" pitchFamily="2" charset="2"/>
              </a:rPr>
              <a:t> | </a:t>
            </a:r>
            <a:r>
              <a:rPr lang="en-US" dirty="0" err="1">
                <a:sym typeface="Wingdings" panose="05000000000000000000" pitchFamily="2" charset="2"/>
              </a:rPr>
              <a:t>bS</a:t>
            </a:r>
            <a:r>
              <a:rPr lang="en-US" dirty="0">
                <a:sym typeface="Wingdings" panose="05000000000000000000" pitchFamily="2" charset="2"/>
              </a:rPr>
              <a:t> |a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6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Write CFG for regular expression (</a:t>
            </a:r>
            <a:r>
              <a:rPr lang="en-US" b="1" dirty="0" err="1"/>
              <a:t>a+b</a:t>
            </a:r>
            <a:r>
              <a:rPr lang="en-US" b="1" dirty="0"/>
              <a:t>)*a(</a:t>
            </a:r>
            <a:r>
              <a:rPr lang="en-US" b="1" dirty="0" err="1"/>
              <a:t>a+b</a:t>
            </a:r>
            <a:r>
              <a:rPr lang="en-US" b="1" dirty="0"/>
              <a:t>)*a(</a:t>
            </a:r>
            <a:r>
              <a:rPr lang="en-US" b="1" dirty="0" err="1"/>
              <a:t>a+b</a:t>
            </a:r>
            <a:r>
              <a:rPr lang="en-US" b="1" dirty="0"/>
              <a:t>)*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XaXaX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X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aX|bX</a:t>
            </a:r>
            <a:r>
              <a:rPr lang="en-US" dirty="0"/>
              <a:t>|˄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 CFG for number of 0’s and 1’s are same (n</a:t>
            </a:r>
            <a:r>
              <a:rPr lang="en-US" b="1" baseline="-25000" dirty="0"/>
              <a:t>0</a:t>
            </a:r>
            <a:r>
              <a:rPr lang="en-US" b="1" dirty="0"/>
              <a:t>(x)=n</a:t>
            </a:r>
            <a:r>
              <a:rPr lang="en-US" b="1" baseline="-25000" dirty="0"/>
              <a:t>1</a:t>
            </a:r>
            <a:r>
              <a:rPr lang="en-US" b="1" dirty="0"/>
              <a:t>(x))</a:t>
            </a:r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0S1 | 1S0 | ^</a:t>
            </a: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b="1" dirty="0"/>
              <a:t>Write CFG for L={</a:t>
            </a:r>
            <a:r>
              <a:rPr lang="en-US" b="1" dirty="0" err="1"/>
              <a:t>a</a:t>
            </a:r>
            <a:r>
              <a:rPr lang="en-US" b="1" baseline="30000" dirty="0" err="1"/>
              <a:t>i</a:t>
            </a:r>
            <a:r>
              <a:rPr lang="en-US" b="1" dirty="0" err="1"/>
              <a:t>b</a:t>
            </a:r>
            <a:r>
              <a:rPr lang="en-US" b="1" baseline="30000" dirty="0" err="1"/>
              <a:t>j</a:t>
            </a:r>
            <a:r>
              <a:rPr lang="en-US" b="1" dirty="0" err="1"/>
              <a:t>c</a:t>
            </a:r>
            <a:r>
              <a:rPr lang="en-US" b="1" baseline="30000" dirty="0" err="1"/>
              <a:t>k</a:t>
            </a:r>
            <a:r>
              <a:rPr lang="en-US" b="1" dirty="0"/>
              <a:t> | </a:t>
            </a:r>
            <a:r>
              <a:rPr lang="en-US" b="1" dirty="0" err="1"/>
              <a:t>i</a:t>
            </a:r>
            <a:r>
              <a:rPr lang="en-US" b="1" dirty="0"/>
              <a:t>=j or j=k}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For </a:t>
            </a:r>
            <a:r>
              <a:rPr lang="en-US" dirty="0" err="1"/>
              <a:t>i</a:t>
            </a:r>
            <a:r>
              <a:rPr lang="en-US" dirty="0"/>
              <a:t>=j				for j=k</a:t>
            </a:r>
          </a:p>
          <a:p>
            <a:pPr marL="0" indent="0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AB			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CD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aAb</a:t>
            </a:r>
            <a:r>
              <a:rPr lang="en-US" dirty="0"/>
              <a:t> | ab			</a:t>
            </a:r>
            <a:r>
              <a:rPr lang="en-US" dirty="0" err="1"/>
              <a:t>C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aC</a:t>
            </a:r>
            <a:r>
              <a:rPr lang="en-US" dirty="0"/>
              <a:t> | 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cB</a:t>
            </a:r>
            <a:r>
              <a:rPr lang="en-US" dirty="0"/>
              <a:t> | c			</a:t>
            </a:r>
            <a:r>
              <a:rPr lang="en-US" dirty="0" err="1"/>
              <a:t>D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bDc</a:t>
            </a:r>
            <a:r>
              <a:rPr lang="en-US" dirty="0"/>
              <a:t> | </a:t>
            </a:r>
            <a:r>
              <a:rPr lang="en-US" dirty="0" err="1"/>
              <a:t>bc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38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870680"/>
            <a:ext cx="8763000" cy="5334000"/>
          </a:xfrm>
        </p:spPr>
        <p:txBody>
          <a:bodyPr>
            <a:noAutofit/>
          </a:bodyPr>
          <a:lstStyle/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for L={ </a:t>
            </a:r>
            <a:r>
              <a:rPr lang="en-US" b="1" dirty="0" err="1"/>
              <a:t>a</a:t>
            </a:r>
            <a:r>
              <a:rPr lang="en-US" b="1" baseline="30000" dirty="0" err="1"/>
              <a:t>i</a:t>
            </a:r>
            <a:r>
              <a:rPr lang="en-US" b="1" dirty="0" err="1"/>
              <a:t>b</a:t>
            </a:r>
            <a:r>
              <a:rPr lang="en-US" b="1" baseline="30000" dirty="0" err="1"/>
              <a:t>j</a:t>
            </a:r>
            <a:r>
              <a:rPr lang="en-US" b="1" dirty="0" err="1"/>
              <a:t>c</a:t>
            </a:r>
            <a:r>
              <a:rPr lang="en-US" b="1" baseline="30000" dirty="0" err="1"/>
              <a:t>k</a:t>
            </a:r>
            <a:r>
              <a:rPr lang="en-US" b="1" dirty="0"/>
              <a:t> | j&gt;</a:t>
            </a:r>
            <a:r>
              <a:rPr lang="en-US" b="1" dirty="0" err="1"/>
              <a:t>i+k</a:t>
            </a:r>
            <a:r>
              <a:rPr lang="en-US" b="1" dirty="0"/>
              <a:t>} 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ABC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aAb</a:t>
            </a:r>
            <a:r>
              <a:rPr lang="en-US" dirty="0"/>
              <a:t> |˄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B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bB</a:t>
            </a:r>
            <a:r>
              <a:rPr lang="en-US" dirty="0"/>
              <a:t> | b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C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/>
              <a:t>bCc</a:t>
            </a:r>
            <a:r>
              <a:rPr lang="en-US" dirty="0"/>
              <a:t> |˄</a:t>
            </a:r>
          </a:p>
          <a:p>
            <a:pPr lvl="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for L={ 0</a:t>
            </a:r>
            <a:r>
              <a:rPr lang="en-US" b="1" baseline="30000" dirty="0"/>
              <a:t>i</a:t>
            </a:r>
            <a:r>
              <a:rPr lang="en-US" b="1" dirty="0"/>
              <a:t>1</a:t>
            </a:r>
            <a:r>
              <a:rPr lang="en-US" b="1" baseline="30000" dirty="0"/>
              <a:t>j</a:t>
            </a:r>
            <a:r>
              <a:rPr lang="en-US" b="1" dirty="0"/>
              <a:t>0</a:t>
            </a:r>
            <a:r>
              <a:rPr lang="en-US" b="1" baseline="30000" dirty="0"/>
              <a:t>k</a:t>
            </a:r>
            <a:r>
              <a:rPr lang="en-US" b="1" dirty="0"/>
              <a:t> | j&gt;</a:t>
            </a:r>
            <a:r>
              <a:rPr lang="en-US" b="1" dirty="0" err="1"/>
              <a:t>i+k</a:t>
            </a:r>
            <a:r>
              <a:rPr lang="en-US" b="1" dirty="0"/>
              <a:t>} </a:t>
            </a:r>
            <a:endParaRPr lang="en-US" dirty="0"/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ABC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A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0A1 |˄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B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1B | 1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C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1C0 |˄</a:t>
            </a:r>
          </a:p>
          <a:p>
            <a:pPr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Write CFG for the language of Algebraic expressions</a:t>
            </a:r>
          </a:p>
          <a:p>
            <a:pPr marL="0" indent="0">
              <a:lnSpc>
                <a:spcPct val="109000"/>
              </a:lnSpc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S+S | S*S | S-S | S/S | (S) |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58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1" y="1066801"/>
            <a:ext cx="57016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CFG for syntax of programming language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09801" y="1680865"/>
                <a:ext cx="61297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r>
                  <a:rPr lang="en-IN" sz="2000" dirty="0"/>
                  <a:t>&lt;statement&gt;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… | </a:t>
                </a:r>
                <a:r>
                  <a:rPr lang="en-US" sz="2000" i="1" dirty="0"/>
                  <a:t>&lt;if</a:t>
                </a:r>
                <a:r>
                  <a:rPr lang="en-US" sz="2000" dirty="0"/>
                  <a:t>-statement</a:t>
                </a:r>
                <a:r>
                  <a:rPr lang="en-US" sz="2000" i="1" dirty="0"/>
                  <a:t>&gt; </a:t>
                </a:r>
                <a:r>
                  <a:rPr lang="en-US" sz="2000" dirty="0"/>
                  <a:t>| </a:t>
                </a:r>
                <a:r>
                  <a:rPr lang="en-US" sz="2000" i="1" dirty="0"/>
                  <a:t>&lt;for</a:t>
                </a:r>
                <a:r>
                  <a:rPr lang="en-US" sz="2000" dirty="0"/>
                  <a:t>-statement</a:t>
                </a:r>
                <a:r>
                  <a:rPr lang="en-US" sz="2000" i="1" dirty="0"/>
                  <a:t>&gt; </a:t>
                </a:r>
                <a:r>
                  <a:rPr lang="en-US" sz="2000" dirty="0"/>
                  <a:t>| …</a:t>
                </a:r>
                <a:endParaRPr lang="en-US" sz="2000" i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1680865"/>
                <a:ext cx="6129755" cy="400110"/>
              </a:xfrm>
              <a:prstGeom prst="rect">
                <a:avLst/>
              </a:prstGeom>
              <a:blipFill>
                <a:blip r:embed="rId2"/>
                <a:stretch>
                  <a:fillRect l="-1095" t="-9231" r="-100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09800" y="2199620"/>
                <a:ext cx="527509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r>
                  <a:rPr lang="en-IN" sz="2000" dirty="0"/>
                  <a:t>&lt;</a:t>
                </a:r>
                <a:r>
                  <a:rPr lang="en-US" sz="2000" i="1" dirty="0"/>
                  <a:t>if</a:t>
                </a:r>
                <a:r>
                  <a:rPr lang="en-US" sz="2000" dirty="0"/>
                  <a:t>-</a:t>
                </a:r>
                <a:r>
                  <a:rPr lang="en-IN" sz="2000" dirty="0"/>
                  <a:t>statement&gt;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if ( &lt;expression&gt;</a:t>
                </a:r>
                <a:r>
                  <a:rPr lang="en-US" sz="2000" i="1" dirty="0"/>
                  <a:t> </a:t>
                </a:r>
                <a:r>
                  <a:rPr lang="en-US" sz="2000" dirty="0"/>
                  <a:t>) </a:t>
                </a:r>
                <a:r>
                  <a:rPr lang="en-US" sz="2000" i="1" dirty="0"/>
                  <a:t>&lt;</a:t>
                </a:r>
                <a:r>
                  <a:rPr lang="en-US" sz="2000" dirty="0"/>
                  <a:t>statement</a:t>
                </a:r>
                <a:r>
                  <a:rPr lang="en-US" sz="2000" i="1" dirty="0"/>
                  <a:t>&gt;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199620"/>
                <a:ext cx="5275098" cy="400110"/>
              </a:xfrm>
              <a:prstGeom prst="rect">
                <a:avLst/>
              </a:prstGeom>
              <a:blipFill>
                <a:blip r:embed="rId3"/>
                <a:stretch>
                  <a:fillRect l="-1272" t="-9231" r="-462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209801" y="2718375"/>
                <a:ext cx="863711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>
                <a:spAutoFit/>
              </a:bodyPr>
              <a:lstStyle/>
              <a:p>
                <a:r>
                  <a:rPr lang="en-IN" sz="2000" dirty="0"/>
                  <a:t>&lt;</a:t>
                </a:r>
                <a:r>
                  <a:rPr lang="en-US" sz="2000" i="1" dirty="0"/>
                  <a:t>for</a:t>
                </a:r>
                <a:r>
                  <a:rPr lang="en-US" sz="2000" dirty="0"/>
                  <a:t>-</a:t>
                </a:r>
                <a:r>
                  <a:rPr lang="en-IN" sz="2000" dirty="0"/>
                  <a:t>statement&gt;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for ( &lt;expression&gt;; &lt;expression&gt;; &lt;expression&gt;</a:t>
                </a:r>
                <a:r>
                  <a:rPr lang="en-US" sz="2000" i="1" dirty="0"/>
                  <a:t> </a:t>
                </a:r>
                <a:r>
                  <a:rPr lang="en-US" sz="2000" dirty="0"/>
                  <a:t>) </a:t>
                </a:r>
                <a:r>
                  <a:rPr lang="en-US" sz="2000" i="1" dirty="0"/>
                  <a:t>&lt;</a:t>
                </a:r>
                <a:r>
                  <a:rPr lang="en-US" sz="2000" dirty="0"/>
                  <a:t>statement</a:t>
                </a:r>
                <a:r>
                  <a:rPr lang="en-US" sz="2000" i="1" dirty="0"/>
                  <a:t>&gt;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1" y="2718375"/>
                <a:ext cx="8637115" cy="400110"/>
              </a:xfrm>
              <a:prstGeom prst="rect">
                <a:avLst/>
              </a:prstGeom>
              <a:blipFill>
                <a:blip r:embed="rId4"/>
                <a:stretch>
                  <a:fillRect l="-777" t="-9091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39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Recursive Definitions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73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Definitions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50259"/>
            <a:ext cx="8763000" cy="5334000"/>
          </a:xfrm>
        </p:spPr>
        <p:txBody>
          <a:bodyPr>
            <a:noAutofit/>
          </a:bodyPr>
          <a:lstStyle/>
          <a:p>
            <a:pPr marL="344488" indent="-344488">
              <a:buFont typeface="+mj-lt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Recursive Definition of {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a,b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}*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	˄∈L.</a:t>
            </a:r>
          </a:p>
          <a:p>
            <a:pPr marL="0" indent="0">
              <a:buNone/>
            </a:pPr>
            <a:r>
              <a:rPr lang="en-US" sz="2000" dirty="0"/>
              <a:t>	For any S∈L, </a:t>
            </a:r>
            <a:r>
              <a:rPr lang="en-US" sz="2000" dirty="0" err="1"/>
              <a:t>aS∈L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	For any S∈L, </a:t>
            </a:r>
            <a:r>
              <a:rPr lang="en-US" sz="2000" dirty="0" err="1"/>
              <a:t>bS∈L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	No other strings are in L.</a:t>
            </a:r>
          </a:p>
          <a:p>
            <a:pPr marL="344488" indent="-344488">
              <a:buFont typeface="+mj-lt"/>
              <a:buAutoNum type="arabicPeriod" startAt="2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Recursive Definition of Palindrome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	˄, a, b ∈ L </a:t>
            </a:r>
          </a:p>
          <a:p>
            <a:pPr marL="0" indent="0">
              <a:buNone/>
            </a:pPr>
            <a:r>
              <a:rPr lang="en-US" sz="2000" dirty="0"/>
              <a:t>	For any S ∈ L , </a:t>
            </a:r>
            <a:r>
              <a:rPr lang="en-US" sz="2000" dirty="0" err="1"/>
              <a:t>aSa</a:t>
            </a:r>
            <a:r>
              <a:rPr lang="en-US" sz="2000" dirty="0"/>
              <a:t> ∈ L and </a:t>
            </a:r>
            <a:r>
              <a:rPr lang="en-US" sz="2000" dirty="0" err="1"/>
              <a:t>bSb</a:t>
            </a:r>
            <a:r>
              <a:rPr lang="en-US" sz="2000" dirty="0"/>
              <a:t> ∈ L </a:t>
            </a:r>
          </a:p>
          <a:p>
            <a:pPr marL="0" indent="0">
              <a:buNone/>
            </a:pPr>
            <a:r>
              <a:rPr lang="en-US" sz="2000" dirty="0"/>
              <a:t>	No other string are in L </a:t>
            </a:r>
          </a:p>
          <a:p>
            <a:pPr marL="344488" indent="-344488">
              <a:buFont typeface="+mj-lt"/>
              <a:buAutoNum type="arabicPeriod" startAt="3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Recursive Definition of the language {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b="1" baseline="30000" dirty="0" err="1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en-US" b="1" baseline="30000" dirty="0" err="1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| n≥0}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	˄∈ L</a:t>
            </a:r>
          </a:p>
          <a:p>
            <a:pPr marL="0" indent="0">
              <a:buNone/>
            </a:pPr>
            <a:r>
              <a:rPr lang="en-US" sz="2000" dirty="0"/>
              <a:t>	For every S ∈ L, </a:t>
            </a:r>
            <a:r>
              <a:rPr lang="en-US" sz="2000" dirty="0" err="1"/>
              <a:t>aSb</a:t>
            </a:r>
            <a:r>
              <a:rPr lang="en-US" sz="2000" dirty="0"/>
              <a:t> ∈L</a:t>
            </a:r>
          </a:p>
          <a:p>
            <a:pPr marL="0" indent="0">
              <a:buNone/>
            </a:pPr>
            <a:r>
              <a:rPr lang="en-US" sz="2000" dirty="0"/>
              <a:t>	No other strings are in L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1" y="967749"/>
            <a:ext cx="2683107" cy="4731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9000"/>
              </a:lnSpc>
            </a:pPr>
            <a:r>
              <a:rPr lang="en-US" sz="2400" b="1" dirty="0">
                <a:solidFill>
                  <a:srgbClr val="C00000"/>
                </a:solidFill>
              </a:rPr>
              <a:t>CFG: S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en-US" sz="2400" b="1" dirty="0" err="1">
                <a:solidFill>
                  <a:srgbClr val="C00000"/>
                </a:solidFill>
              </a:rPr>
              <a:t>aS</a:t>
            </a:r>
            <a:r>
              <a:rPr lang="en-US" sz="2400" b="1" dirty="0">
                <a:solidFill>
                  <a:srgbClr val="C00000"/>
                </a:solidFill>
              </a:rPr>
              <a:t> | </a:t>
            </a:r>
            <a:r>
              <a:rPr lang="en-US" sz="2400" b="1" dirty="0" err="1">
                <a:solidFill>
                  <a:srgbClr val="C00000"/>
                </a:solidFill>
              </a:rPr>
              <a:t>bS</a:t>
            </a:r>
            <a:r>
              <a:rPr lang="en-US" sz="2400" b="1" dirty="0">
                <a:solidFill>
                  <a:srgbClr val="C00000"/>
                </a:solidFill>
              </a:rPr>
              <a:t> | ^</a:t>
            </a:r>
          </a:p>
        </p:txBody>
      </p:sp>
      <p:sp>
        <p:nvSpPr>
          <p:cNvPr id="5" name="Rectangle 4"/>
          <p:cNvSpPr/>
          <p:nvPr/>
        </p:nvSpPr>
        <p:spPr>
          <a:xfrm>
            <a:off x="6711460" y="3116135"/>
            <a:ext cx="3896580" cy="4731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9000"/>
              </a:lnSpc>
            </a:pPr>
            <a:r>
              <a:rPr lang="en-US" sz="2400" b="1" dirty="0">
                <a:solidFill>
                  <a:srgbClr val="C00000"/>
                </a:solidFill>
              </a:rPr>
              <a:t>CFG: S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en-US" sz="2400" b="1" dirty="0" err="1">
                <a:solidFill>
                  <a:srgbClr val="C00000"/>
                </a:solidFill>
              </a:rPr>
              <a:t>aSa</a:t>
            </a:r>
            <a:r>
              <a:rPr lang="en-US" sz="2400" b="1" dirty="0">
                <a:solidFill>
                  <a:srgbClr val="C00000"/>
                </a:solidFill>
              </a:rPr>
              <a:t> | </a:t>
            </a:r>
            <a:r>
              <a:rPr lang="en-US" sz="2400" b="1" dirty="0" err="1">
                <a:solidFill>
                  <a:srgbClr val="C00000"/>
                </a:solidFill>
              </a:rPr>
              <a:t>bSb</a:t>
            </a:r>
            <a:r>
              <a:rPr lang="en-US" sz="2400" b="1" dirty="0">
                <a:solidFill>
                  <a:srgbClr val="C00000"/>
                </a:solidFill>
              </a:rPr>
              <a:t> | a | b | ˄</a:t>
            </a:r>
          </a:p>
        </p:txBody>
      </p:sp>
      <p:sp>
        <p:nvSpPr>
          <p:cNvPr id="6" name="Rectangle 5"/>
          <p:cNvSpPr/>
          <p:nvPr/>
        </p:nvSpPr>
        <p:spPr>
          <a:xfrm>
            <a:off x="8358308" y="4818360"/>
            <a:ext cx="2264723" cy="4731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9000"/>
              </a:lnSpc>
            </a:pPr>
            <a:r>
              <a:rPr lang="en-US" sz="2400" b="1" dirty="0">
                <a:solidFill>
                  <a:srgbClr val="C00000"/>
                </a:solidFill>
              </a:rPr>
              <a:t>CFG: S</a:t>
            </a:r>
            <a:r>
              <a:rPr lang="en-US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en-US" sz="2400" b="1" dirty="0" err="1">
                <a:solidFill>
                  <a:srgbClr val="C00000"/>
                </a:solidFill>
              </a:rPr>
              <a:t>aSb</a:t>
            </a:r>
            <a:r>
              <a:rPr lang="en-US" sz="2400" b="1" dirty="0">
                <a:solidFill>
                  <a:srgbClr val="C00000"/>
                </a:solidFill>
              </a:rPr>
              <a:t> | ˄</a:t>
            </a:r>
          </a:p>
        </p:txBody>
      </p:sp>
    </p:spTree>
    <p:extLst>
      <p:ext uri="{BB962C8B-B14F-4D97-AF65-F5344CB8AC3E}">
        <p14:creationId xmlns:p14="http://schemas.microsoft.com/office/powerpoint/2010/main" val="309283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Derivation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63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Derivation is used to find whether the string belongs to a given grammar or not.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There are two types of derivation: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Leftmost derivation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Rightmost derivation</a:t>
            </a:r>
          </a:p>
        </p:txBody>
      </p:sp>
    </p:spTree>
    <p:extLst>
      <p:ext uri="{BB962C8B-B14F-4D97-AF65-F5344CB8AC3E}">
        <p14:creationId xmlns:p14="http://schemas.microsoft.com/office/powerpoint/2010/main" val="116290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j-lt"/>
              </a:rPr>
              <a:t> Leftmost derivation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19262" y="1083515"/>
                <a:ext cx="8763000" cy="533400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 derivation of a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in a grammar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left most derivation if at every step the </a:t>
                </a:r>
                <a:r>
                  <a:rPr lang="en-US" dirty="0">
                    <a:solidFill>
                      <a:srgbClr val="C00000"/>
                    </a:solidFill>
                  </a:rPr>
                  <a:t>left most non terminal </a:t>
                </a:r>
                <a:r>
                  <a:rPr lang="en-US" dirty="0"/>
                  <a:t>is replaced.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Grammar: S</a:t>
                </a:r>
                <a:r>
                  <a:rPr lang="en-IN" sz="2000" dirty="0">
                    <a:solidFill>
                      <a:schemeClr val="accent1">
                        <a:lumMod val="75000"/>
                      </a:schemeClr>
                    </a:solidFill>
                    <a:sym typeface="Wingdings" pitchFamily="2" charset="2"/>
                  </a:rPr>
                  <a:t></a:t>
                </a: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  <a:sym typeface="Wingdings" pitchFamily="2" charset="2"/>
                  </a:rPr>
                  <a:t>S+S | S-S | S*S | S/S | a</a:t>
                </a:r>
                <a:r>
                  <a:rPr lang="en-IN" b="1" dirty="0">
                    <a:solidFill>
                      <a:schemeClr val="accent1">
                        <a:lumMod val="75000"/>
                      </a:schemeClr>
                    </a:solidFill>
                    <a:sym typeface="Wingdings" pitchFamily="2" charset="2"/>
                  </a:rPr>
                  <a:t> 	</a:t>
                </a: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  <a:sym typeface="Wingdings" pitchFamily="2" charset="2"/>
                  </a:rPr>
                  <a:t>Output string: a*a-a</a:t>
                </a:r>
                <a:endParaRPr lang="en-IN" b="1" dirty="0">
                  <a:solidFill>
                    <a:schemeClr val="accent1">
                      <a:lumMod val="75000"/>
                    </a:schemeClr>
                  </a:solidFill>
                  <a:sym typeface="Wingdings" pitchFamily="2" charset="2"/>
                </a:endParaRPr>
              </a:p>
              <a:p>
                <a:pPr defTabSz="631825">
                  <a:buNone/>
                </a:pPr>
                <a:endParaRPr lang="en-IN" dirty="0">
                  <a:sym typeface="Wingdings" pitchFamily="2" charset="2"/>
                </a:endParaRPr>
              </a:p>
              <a:p>
                <a:pPr defTabSz="565150">
                  <a:buNone/>
                </a:pPr>
                <a:r>
                  <a:rPr lang="en-IN" dirty="0">
                    <a:sym typeface="Wingdings" pitchFamily="2" charset="2"/>
                  </a:rPr>
                  <a:t>		S</a:t>
                </a:r>
              </a:p>
              <a:p>
                <a:pPr defTabSz="349250">
                  <a:buNone/>
                </a:pPr>
                <a:r>
                  <a:rPr lang="en-IN" dirty="0">
                    <a:sym typeface="Wingdings" pitchFamily="2" charset="2"/>
                  </a:rPr>
                  <a:t>		</a:t>
                </a:r>
                <a:r>
                  <a:rPr lang="en-IN" sz="2000" dirty="0">
                    <a:sym typeface="Wingdings" panose="05000000000000000000" pitchFamily="2" charset="2"/>
                  </a:rPr>
                  <a:t></a:t>
                </a:r>
                <a:r>
                  <a:rPr lang="en-IN" b="1" dirty="0">
                    <a:sym typeface="Wingdings" pitchFamily="2" charset="2"/>
                  </a:rPr>
                  <a:t>S-S</a:t>
                </a:r>
              </a:p>
              <a:p>
                <a:pPr indent="6350" defTabSz="349250">
                  <a:buNone/>
                </a:pP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b="1" dirty="0">
                    <a:sym typeface="Wingdings" pitchFamily="2" charset="2"/>
                  </a:rPr>
                  <a:t>S*S</a:t>
                </a:r>
                <a:r>
                  <a:rPr lang="en-IN" dirty="0">
                    <a:sym typeface="Wingdings" pitchFamily="2" charset="2"/>
                  </a:rPr>
                  <a:t>-S</a:t>
                </a:r>
              </a:p>
              <a:p>
                <a:pPr defTabSz="349250">
                  <a:buNone/>
                </a:pPr>
                <a:r>
                  <a:rPr lang="en-IN" dirty="0">
                    <a:sym typeface="Wingdings" pitchFamily="2" charset="2"/>
                  </a:rPr>
                  <a:t>		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b="1" dirty="0">
                    <a:sym typeface="Wingdings" pitchFamily="2" charset="2"/>
                  </a:rPr>
                  <a:t>a</a:t>
                </a:r>
                <a:r>
                  <a:rPr lang="en-IN" dirty="0">
                    <a:sym typeface="Wingdings" pitchFamily="2" charset="2"/>
                  </a:rPr>
                  <a:t>*S-S</a:t>
                </a:r>
              </a:p>
              <a:p>
                <a:pPr>
                  <a:buNone/>
                  <a:tabLst>
                    <a:tab pos="349250" algn="l"/>
                  </a:tabLst>
                </a:pPr>
                <a:r>
                  <a:rPr lang="en-IN" dirty="0">
                    <a:sym typeface="Wingdings" pitchFamily="2" charset="2"/>
                  </a:rPr>
                  <a:t>		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dirty="0">
                    <a:sym typeface="Wingdings" pitchFamily="2" charset="2"/>
                  </a:rPr>
                  <a:t>a*</a:t>
                </a:r>
                <a:r>
                  <a:rPr lang="en-IN" b="1" dirty="0">
                    <a:sym typeface="Wingdings" pitchFamily="2" charset="2"/>
                  </a:rPr>
                  <a:t>a</a:t>
                </a:r>
                <a:r>
                  <a:rPr lang="en-IN" dirty="0">
                    <a:sym typeface="Wingdings" pitchFamily="2" charset="2"/>
                  </a:rPr>
                  <a:t>-S</a:t>
                </a:r>
              </a:p>
              <a:p>
                <a:pPr>
                  <a:buNone/>
                </a:pPr>
                <a:r>
                  <a:rPr lang="en-IN" dirty="0">
                    <a:sym typeface="Wingdings" pitchFamily="2" charset="2"/>
                  </a:rPr>
                  <a:t>	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dirty="0">
                    <a:sym typeface="Wingdings" pitchFamily="2" charset="2"/>
                  </a:rPr>
                  <a:t>a*a-</a:t>
                </a:r>
                <a:r>
                  <a:rPr lang="en-IN" b="1" dirty="0">
                    <a:sym typeface="Wingdings" pitchFamily="2" charset="2"/>
                  </a:rPr>
                  <a:t>a</a:t>
                </a:r>
                <a:endParaRPr lang="en-IN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9262" y="1083515"/>
                <a:ext cx="8763000" cy="5334000"/>
              </a:xfrm>
              <a:blipFill>
                <a:blip r:embed="rId3"/>
                <a:stretch>
                  <a:fillRect l="-904" t="-457" r="-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/>
          <p:cNvGrpSpPr/>
          <p:nvPr/>
        </p:nvGrpSpPr>
        <p:grpSpPr>
          <a:xfrm>
            <a:off x="7772400" y="3338314"/>
            <a:ext cx="1066800" cy="457200"/>
            <a:chOff x="6248400" y="2338172"/>
            <a:chExt cx="1066800" cy="457200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8077200" y="5273606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7543800" y="3700475"/>
            <a:ext cx="1509932" cy="457200"/>
            <a:chOff x="6019800" y="2743200"/>
            <a:chExt cx="1509932" cy="457200"/>
          </a:xfrm>
        </p:grpSpPr>
        <p:sp>
          <p:nvSpPr>
            <p:cNvPr id="11" name="Rectangle 10"/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-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>
            <a:off x="7239000" y="4886342"/>
            <a:ext cx="0" cy="475488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/>
          <p:nvPr/>
        </p:nvGrpSpPr>
        <p:grpSpPr>
          <a:xfrm>
            <a:off x="7239000" y="4124342"/>
            <a:ext cx="1066800" cy="457200"/>
            <a:chOff x="5715000" y="3124200"/>
            <a:chExt cx="1066800" cy="457200"/>
          </a:xfrm>
        </p:grpSpPr>
        <p:cxnSp>
          <p:nvCxnSpPr>
            <p:cNvPr id="19" name="Straight Arrow Connector 18"/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/>
          <p:cNvSpPr/>
          <p:nvPr/>
        </p:nvSpPr>
        <p:spPr>
          <a:xfrm>
            <a:off x="7010400" y="5295923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10600" y="452099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7029230" y="4480009"/>
            <a:ext cx="1509932" cy="457200"/>
            <a:chOff x="5486400" y="3505200"/>
            <a:chExt cx="1509932" cy="457200"/>
          </a:xfrm>
        </p:grpSpPr>
        <p:sp>
          <p:nvSpPr>
            <p:cNvPr id="32" name="Rectangle 31"/>
            <p:cNvSpPr/>
            <p:nvPr/>
          </p:nvSpPr>
          <p:spPr>
            <a:xfrm>
              <a:off x="5486400" y="3505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019800" y="3581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539132" y="3533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36" name="Straight Arrow Connector 35"/>
          <p:cNvCxnSpPr/>
          <p:nvPr/>
        </p:nvCxnSpPr>
        <p:spPr>
          <a:xfrm>
            <a:off x="8305800" y="4886342"/>
            <a:ext cx="0" cy="475488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120000">
            <a:off x="8825132" y="4109612"/>
            <a:ext cx="14068" cy="471931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139170" y="5979996"/>
            <a:ext cx="2280430" cy="416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Leftmost Derivation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6798" y="5369531"/>
            <a:ext cx="3648405" cy="1081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Parse tree</a:t>
            </a:r>
          </a:p>
        </p:txBody>
      </p:sp>
      <p:cxnSp>
        <p:nvCxnSpPr>
          <p:cNvPr id="80" name="Straight Connector 79"/>
          <p:cNvCxnSpPr/>
          <p:nvPr/>
        </p:nvCxnSpPr>
        <p:spPr>
          <a:xfrm>
            <a:off x="2362200" y="3912525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2362200" y="4436762"/>
            <a:ext cx="2514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646910" y="4903853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908760" y="5386155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067894" y="2923768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4" name="Oval Callout 3"/>
          <p:cNvSpPr/>
          <p:nvPr/>
        </p:nvSpPr>
        <p:spPr>
          <a:xfrm>
            <a:off x="3430029" y="4292592"/>
            <a:ext cx="3589525" cy="777565"/>
          </a:xfrm>
          <a:prstGeom prst="wedgeEllipseCallout">
            <a:avLst>
              <a:gd name="adj1" fmla="val 61401"/>
              <a:gd name="adj2" fmla="val 160522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just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Parse tree represents the structure of derivation  </a:t>
            </a:r>
          </a:p>
        </p:txBody>
      </p:sp>
    </p:spTree>
    <p:extLst>
      <p:ext uri="{BB962C8B-B14F-4D97-AF65-F5344CB8AC3E}">
        <p14:creationId xmlns:p14="http://schemas.microsoft.com/office/powerpoint/2010/main" val="522050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25" grpId="0"/>
      <p:bldP spid="39" grpId="0"/>
      <p:bldP spid="40" grpId="0"/>
      <p:bldP spid="52" grpId="0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j-lt"/>
              </a:rPr>
              <a:t> Rightmost derivation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19262" y="1083515"/>
                <a:ext cx="8763000" cy="533400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A derivation of a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in a grammar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right most derivation if at every step the </a:t>
                </a:r>
                <a:r>
                  <a:rPr lang="en-US" dirty="0">
                    <a:solidFill>
                      <a:srgbClr val="C00000"/>
                    </a:solidFill>
                  </a:rPr>
                  <a:t>right most non terminal </a:t>
                </a:r>
                <a:r>
                  <a:rPr lang="en-US" dirty="0"/>
                  <a:t>is replaced.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It is all called canonical derivation.</a:t>
                </a:r>
                <a:endParaRPr lang="en-IN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Grammar: S</a:t>
                </a:r>
                <a:r>
                  <a:rPr lang="en-IN" sz="2000" dirty="0">
                    <a:solidFill>
                      <a:schemeClr val="accent1">
                        <a:lumMod val="75000"/>
                      </a:schemeClr>
                    </a:solidFill>
                    <a:sym typeface="Wingdings" pitchFamily="2" charset="2"/>
                  </a:rPr>
                  <a:t></a:t>
                </a: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  <a:sym typeface="Wingdings" pitchFamily="2" charset="2"/>
                  </a:rPr>
                  <a:t>S+S | S-S | S*S | S/S | a 	Output string: a*a-a</a:t>
                </a:r>
              </a:p>
              <a:p>
                <a:pPr defTabSz="285750">
                  <a:buNone/>
                </a:pPr>
                <a:r>
                  <a:rPr lang="en-IN" dirty="0">
                    <a:sym typeface="Wingdings" pitchFamily="2" charset="2"/>
                  </a:rPr>
                  <a:t>		S</a:t>
                </a:r>
              </a:p>
              <a:p>
                <a:pPr marL="285750" indent="-228600" defTabSz="114300">
                  <a:buNone/>
                </a:pPr>
                <a:r>
                  <a:rPr lang="en-IN" dirty="0">
                    <a:sym typeface="Wingdings" pitchFamily="2" charset="2"/>
                  </a:rPr>
                  <a:t>		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b="1" dirty="0">
                    <a:sym typeface="Wingdings" pitchFamily="2" charset="2"/>
                  </a:rPr>
                  <a:t>S*S</a:t>
                </a:r>
              </a:p>
              <a:p>
                <a:pPr marL="282575" indent="-282575" defTabSz="285750">
                  <a:buNone/>
                </a:pPr>
                <a:r>
                  <a:rPr lang="en-IN" dirty="0">
                    <a:sym typeface="Wingdings" pitchFamily="2" charset="2"/>
                  </a:rPr>
                  <a:t>		 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dirty="0">
                    <a:sym typeface="Wingdings" pitchFamily="2" charset="2"/>
                  </a:rPr>
                  <a:t>S*</a:t>
                </a:r>
                <a:r>
                  <a:rPr lang="en-IN" b="1" dirty="0">
                    <a:sym typeface="Wingdings" pitchFamily="2" charset="2"/>
                  </a:rPr>
                  <a:t>S-S</a:t>
                </a:r>
              </a:p>
              <a:p>
                <a:pPr marL="282575" indent="-282575" defTabSz="285750">
                  <a:buNone/>
                </a:pPr>
                <a:r>
                  <a:rPr lang="en-IN" dirty="0">
                    <a:sym typeface="Wingdings" pitchFamily="2" charset="2"/>
                  </a:rPr>
                  <a:t>		 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dirty="0">
                    <a:sym typeface="Wingdings" pitchFamily="2" charset="2"/>
                  </a:rPr>
                  <a:t>S*S-</a:t>
                </a:r>
                <a:r>
                  <a:rPr lang="en-IN" b="1" dirty="0">
                    <a:sym typeface="Wingdings" pitchFamily="2" charset="2"/>
                  </a:rPr>
                  <a:t>a</a:t>
                </a:r>
              </a:p>
              <a:p>
                <a:pPr marL="282575" indent="-282575" defTabSz="285750">
                  <a:buNone/>
                </a:pPr>
                <a:r>
                  <a:rPr lang="en-IN" dirty="0">
                    <a:sym typeface="Wingdings" pitchFamily="2" charset="2"/>
                  </a:rPr>
                  <a:t>		 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dirty="0">
                    <a:sym typeface="Wingdings" pitchFamily="2" charset="2"/>
                  </a:rPr>
                  <a:t>S*</a:t>
                </a:r>
                <a:r>
                  <a:rPr lang="en-IN" b="1" dirty="0">
                    <a:sym typeface="Wingdings" pitchFamily="2" charset="2"/>
                  </a:rPr>
                  <a:t>a</a:t>
                </a:r>
                <a:r>
                  <a:rPr lang="en-IN" dirty="0">
                    <a:sym typeface="Wingdings" pitchFamily="2" charset="2"/>
                  </a:rPr>
                  <a:t>-a</a:t>
                </a:r>
              </a:p>
              <a:p>
                <a:pPr marL="282575" indent="-282575" defTabSz="285750">
                  <a:buNone/>
                </a:pPr>
                <a:r>
                  <a:rPr lang="en-IN" dirty="0">
                    <a:sym typeface="Wingdings" pitchFamily="2" charset="2"/>
                  </a:rPr>
                  <a:t>		 </a:t>
                </a:r>
                <a:r>
                  <a:rPr lang="en-IN" sz="2000" dirty="0">
                    <a:sym typeface="Wingdings" pitchFamily="2" charset="2"/>
                  </a:rPr>
                  <a:t></a:t>
                </a:r>
                <a:r>
                  <a:rPr lang="en-IN" b="1" dirty="0">
                    <a:sym typeface="Wingdings" pitchFamily="2" charset="2"/>
                  </a:rPr>
                  <a:t>a</a:t>
                </a:r>
                <a:r>
                  <a:rPr lang="en-IN" dirty="0">
                    <a:sym typeface="Wingdings" pitchFamily="2" charset="2"/>
                  </a:rPr>
                  <a:t>*a-a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9262" y="1083515"/>
                <a:ext cx="8763000" cy="5334000"/>
              </a:xfrm>
              <a:blipFill>
                <a:blip r:embed="rId3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/>
          <p:cNvGrpSpPr/>
          <p:nvPr/>
        </p:nvGrpSpPr>
        <p:grpSpPr>
          <a:xfrm>
            <a:off x="7772400" y="3338314"/>
            <a:ext cx="1066800" cy="457200"/>
            <a:chOff x="6248400" y="2338172"/>
            <a:chExt cx="1066800" cy="457200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8091488" y="5287894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7543800" y="3700475"/>
            <a:ext cx="1509932" cy="457200"/>
            <a:chOff x="6019800" y="2743200"/>
            <a:chExt cx="1509932" cy="457200"/>
          </a:xfrm>
        </p:grpSpPr>
        <p:sp>
          <p:nvSpPr>
            <p:cNvPr id="11" name="Rectangle 10"/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>
            <a:off x="9410720" y="4929206"/>
            <a:ext cx="0" cy="45720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/>
          <p:nvPr/>
        </p:nvGrpSpPr>
        <p:grpSpPr>
          <a:xfrm>
            <a:off x="8305800" y="4123684"/>
            <a:ext cx="1066800" cy="457200"/>
            <a:chOff x="5715000" y="3124200"/>
            <a:chExt cx="1066800" cy="457200"/>
          </a:xfrm>
        </p:grpSpPr>
        <p:cxnSp>
          <p:nvCxnSpPr>
            <p:cNvPr id="19" name="Straight Arrow Connector 18"/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/>
          <p:cNvSpPr/>
          <p:nvPr/>
        </p:nvSpPr>
        <p:spPr>
          <a:xfrm>
            <a:off x="9182120" y="533878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9031" y="450056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8087844" y="4566160"/>
            <a:ext cx="1509932" cy="429064"/>
            <a:chOff x="5486400" y="3533336"/>
            <a:chExt cx="1509932" cy="429064"/>
          </a:xfrm>
        </p:grpSpPr>
        <p:sp>
          <p:nvSpPr>
            <p:cNvPr id="32" name="Rectangle 31"/>
            <p:cNvSpPr/>
            <p:nvPr/>
          </p:nvSpPr>
          <p:spPr>
            <a:xfrm>
              <a:off x="5486400" y="353377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019800" y="3581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-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539132" y="3533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36" name="Straight Arrow Connector 35"/>
          <p:cNvCxnSpPr/>
          <p:nvPr/>
        </p:nvCxnSpPr>
        <p:spPr>
          <a:xfrm>
            <a:off x="8315324" y="4943494"/>
            <a:ext cx="0" cy="45720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753563" y="4113086"/>
            <a:ext cx="14068" cy="45134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139170" y="5979996"/>
            <a:ext cx="2432830" cy="416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Rightmost Derivation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67330" y="5658662"/>
            <a:ext cx="314347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Parse Tree</a:t>
            </a:r>
          </a:p>
        </p:txBody>
      </p:sp>
      <p:cxnSp>
        <p:nvCxnSpPr>
          <p:cNvPr id="80" name="Straight Connector 79"/>
          <p:cNvCxnSpPr/>
          <p:nvPr/>
        </p:nvCxnSpPr>
        <p:spPr>
          <a:xfrm>
            <a:off x="2649708" y="3886200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2897358" y="4378688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647371" y="4846811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363956" y="5347084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067894" y="2923768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718757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25" grpId="0"/>
      <p:bldP spid="39" grpId="0"/>
      <p:bldP spid="40" grpId="0"/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Derivation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A1B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A0A |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B0B | 1B | 𝜖 Perform leftmost &amp; Rightmost derivation.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(String: 00101)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Leftmost Derivation		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S 				 			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A1B 							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0A1B				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00A1B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001B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0010B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00101B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00101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8800" y="2514600"/>
            <a:ext cx="3238500" cy="3733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Rightmost Derivation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S 		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	A1B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A10B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A101B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A101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0A101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00A101</a:t>
            </a:r>
          </a:p>
          <a:p>
            <a:r>
              <a:rPr lang="en-US" sz="2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00101</a:t>
            </a:r>
            <a:endParaRPr lang="en-US" sz="22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785258" y="3229434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785258" y="3610434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941288" y="4005948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070102" y="4405092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255160" y="4786092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69460" y="5156208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9400" y="3381828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010400" y="3733800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24700" y="4038600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268156" y="4419600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629400" y="4724400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772855" y="5061858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939770" y="5410200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598060" y="5562600"/>
            <a:ext cx="228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84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Derivation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Perform leftmost derivation and draw parse tree.</a:t>
            </a:r>
          </a:p>
          <a:p>
            <a:pPr marL="0" indent="0" defTabSz="465138">
              <a:buNone/>
            </a:pPr>
            <a:r>
              <a:rPr lang="en-US" dirty="0"/>
              <a:t>	S</a:t>
            </a:r>
            <a:r>
              <a:rPr lang="en-US" dirty="0">
                <a:sym typeface="Wingdings" panose="05000000000000000000" pitchFamily="2" charset="2"/>
              </a:rPr>
              <a:t>A1B</a:t>
            </a:r>
          </a:p>
          <a:p>
            <a:pPr marL="457200" indent="0">
              <a:buNone/>
            </a:pPr>
            <a:r>
              <a:rPr lang="en-US" dirty="0">
                <a:sym typeface="Wingdings" panose="05000000000000000000" pitchFamily="2" charset="2"/>
              </a:rPr>
              <a:t>A0A |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45720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B0B | 1B | 𝜖 </a:t>
            </a:r>
          </a:p>
          <a:p>
            <a:pPr marL="45720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Output string: 1001. </a:t>
            </a:r>
          </a:p>
          <a:p>
            <a:pPr marL="465138" indent="-415925">
              <a:buFont typeface="+mj-lt"/>
              <a:buAutoNum type="arabicPeriod" startAt="2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Perform rightmost derivation and draw parse tree.</a:t>
            </a:r>
          </a:p>
          <a:p>
            <a:pPr marL="45720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EE+E | E*E | id | (E) | -E</a:t>
            </a:r>
          </a:p>
          <a:p>
            <a:pPr marL="0" indent="45720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Output string : id + id * id. </a:t>
            </a:r>
          </a:p>
          <a:p>
            <a:pPr marL="0" indent="4572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98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Ambiguous grammar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570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+mj-lt"/>
              </a:rPr>
              <a:t>Ambiguous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Ambiguous grammar is one that produces </a:t>
            </a:r>
            <a:r>
              <a:rPr lang="en-IN" dirty="0">
                <a:solidFill>
                  <a:srgbClr val="C00000"/>
                </a:solidFill>
              </a:rPr>
              <a:t>more than one leftmost </a:t>
            </a:r>
            <a:r>
              <a:rPr lang="en-IN" dirty="0"/>
              <a:t>or</a:t>
            </a:r>
            <a:r>
              <a:rPr lang="en-IN" dirty="0">
                <a:solidFill>
                  <a:srgbClr val="C00000"/>
                </a:solidFill>
              </a:rPr>
              <a:t> more then one rightmost derivation </a:t>
            </a:r>
            <a:r>
              <a:rPr lang="en-IN" dirty="0"/>
              <a:t>for the same sentence.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Grammar: S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S+S | S*S | (S) | a		Output string: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a+a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*a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>
              <a:sym typeface="Wingdings" pitchFamily="2" charset="2"/>
            </a:endParaRPr>
          </a:p>
          <a:p>
            <a:pPr marL="0" indent="285750" algn="just" defTabSz="971550">
              <a:buNone/>
            </a:pPr>
            <a:r>
              <a:rPr lang="en-IN" dirty="0">
                <a:sym typeface="Wingdings" pitchFamily="2" charset="2"/>
              </a:rPr>
              <a:t>S					                  S</a:t>
            </a:r>
          </a:p>
          <a:p>
            <a:pPr marL="0" indent="0" algn="just">
              <a:buNone/>
            </a:pPr>
            <a:r>
              <a:rPr lang="en-IN" sz="2000" dirty="0">
                <a:sym typeface="Wingdings" pitchFamily="2" charset="2"/>
              </a:rPr>
              <a:t></a:t>
            </a:r>
            <a:r>
              <a:rPr lang="en-IN" b="1" dirty="0">
                <a:sym typeface="Wingdings" pitchFamily="2" charset="2"/>
              </a:rPr>
              <a:t>S*S</a:t>
            </a:r>
            <a:r>
              <a:rPr lang="en-IN" dirty="0">
                <a:sym typeface="Wingdings" pitchFamily="2" charset="2"/>
              </a:rPr>
              <a:t>					                     </a:t>
            </a:r>
            <a:r>
              <a:rPr lang="en-IN" sz="2000" dirty="0">
                <a:sym typeface="Wingdings" pitchFamily="2" charset="2"/>
              </a:rPr>
              <a:t></a:t>
            </a:r>
            <a:r>
              <a:rPr lang="en-IN" b="1" dirty="0">
                <a:sym typeface="Wingdings" pitchFamily="2" charset="2"/>
              </a:rPr>
              <a:t>S+S</a:t>
            </a:r>
          </a:p>
          <a:p>
            <a:pPr marL="0" indent="0" algn="just">
              <a:buNone/>
            </a:pP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b="1" dirty="0">
                <a:sym typeface="Wingdings" panose="05000000000000000000" pitchFamily="2" charset="2"/>
              </a:rPr>
              <a:t>S+S</a:t>
            </a:r>
            <a:r>
              <a:rPr lang="en-IN" dirty="0">
                <a:sym typeface="Wingdings" panose="05000000000000000000" pitchFamily="2" charset="2"/>
              </a:rPr>
              <a:t>*S				                    </a:t>
            </a: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b="1" dirty="0" err="1">
                <a:sym typeface="Wingdings" panose="05000000000000000000" pitchFamily="2" charset="2"/>
              </a:rPr>
              <a:t>a</a:t>
            </a:r>
            <a:r>
              <a:rPr lang="en-IN" dirty="0" err="1">
                <a:sym typeface="Wingdings" panose="05000000000000000000" pitchFamily="2" charset="2"/>
              </a:rPr>
              <a:t>+S</a:t>
            </a:r>
            <a:endParaRPr lang="en-IN" dirty="0"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b="1" dirty="0" err="1">
                <a:sym typeface="Wingdings" panose="05000000000000000000" pitchFamily="2" charset="2"/>
              </a:rPr>
              <a:t>a</a:t>
            </a:r>
            <a:r>
              <a:rPr lang="en-IN" dirty="0" err="1">
                <a:sym typeface="Wingdings" panose="05000000000000000000" pitchFamily="2" charset="2"/>
              </a:rPr>
              <a:t>+S</a:t>
            </a:r>
            <a:r>
              <a:rPr lang="en-IN" dirty="0">
                <a:sym typeface="Wingdings" panose="05000000000000000000" pitchFamily="2" charset="2"/>
              </a:rPr>
              <a:t>*S				                    </a:t>
            </a: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a+</a:t>
            </a:r>
            <a:r>
              <a:rPr lang="en-IN" b="1" dirty="0" err="1">
                <a:sym typeface="Wingdings" panose="05000000000000000000" pitchFamily="2" charset="2"/>
              </a:rPr>
              <a:t>S</a:t>
            </a:r>
            <a:r>
              <a:rPr lang="en-IN" b="1" dirty="0">
                <a:sym typeface="Wingdings" panose="05000000000000000000" pitchFamily="2" charset="2"/>
              </a:rPr>
              <a:t>*S</a:t>
            </a:r>
          </a:p>
          <a:p>
            <a:pPr marL="0" indent="0" algn="just">
              <a:buNone/>
            </a:pP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a+</a:t>
            </a:r>
            <a:r>
              <a:rPr lang="en-IN" b="1" dirty="0" err="1">
                <a:sym typeface="Wingdings" panose="05000000000000000000" pitchFamily="2" charset="2"/>
              </a:rPr>
              <a:t>a</a:t>
            </a:r>
            <a:r>
              <a:rPr lang="en-IN" dirty="0">
                <a:sym typeface="Wingdings" panose="05000000000000000000" pitchFamily="2" charset="2"/>
              </a:rPr>
              <a:t>*S				                    </a:t>
            </a: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a+</a:t>
            </a:r>
            <a:r>
              <a:rPr lang="en-IN" b="1" dirty="0" err="1">
                <a:sym typeface="Wingdings" panose="05000000000000000000" pitchFamily="2" charset="2"/>
              </a:rPr>
              <a:t>a</a:t>
            </a:r>
            <a:r>
              <a:rPr lang="en-IN" dirty="0">
                <a:sym typeface="Wingdings" panose="05000000000000000000" pitchFamily="2" charset="2"/>
              </a:rPr>
              <a:t>*S</a:t>
            </a:r>
          </a:p>
          <a:p>
            <a:pPr marL="0" indent="0" algn="just">
              <a:buNone/>
            </a:pP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a+a</a:t>
            </a:r>
            <a:r>
              <a:rPr lang="en-IN" dirty="0">
                <a:sym typeface="Wingdings" panose="05000000000000000000" pitchFamily="2" charset="2"/>
              </a:rPr>
              <a:t>*</a:t>
            </a:r>
            <a:r>
              <a:rPr lang="en-IN" b="1" dirty="0">
                <a:sym typeface="Wingdings" panose="05000000000000000000" pitchFamily="2" charset="2"/>
              </a:rPr>
              <a:t>a</a:t>
            </a:r>
            <a:r>
              <a:rPr lang="en-IN" dirty="0">
                <a:sym typeface="Wingdings" pitchFamily="2" charset="2"/>
              </a:rPr>
              <a:t>				                    </a:t>
            </a: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dirty="0" err="1">
                <a:sym typeface="Wingdings" panose="05000000000000000000" pitchFamily="2" charset="2"/>
              </a:rPr>
              <a:t>a+a</a:t>
            </a:r>
            <a:r>
              <a:rPr lang="en-IN" dirty="0">
                <a:sym typeface="Wingdings" panose="05000000000000000000" pitchFamily="2" charset="2"/>
              </a:rPr>
              <a:t>*</a:t>
            </a:r>
            <a:r>
              <a:rPr lang="en-IN" b="1" dirty="0">
                <a:sym typeface="Wingdings" panose="05000000000000000000" pitchFamily="2" charset="2"/>
              </a:rPr>
              <a:t>a</a:t>
            </a:r>
          </a:p>
          <a:p>
            <a:pPr marL="0" indent="0" algn="just">
              <a:buNone/>
            </a:pPr>
            <a:r>
              <a:rPr lang="en-US" dirty="0"/>
              <a:t>Here, </a:t>
            </a:r>
            <a:r>
              <a:rPr lang="en-US" b="1" i="1" dirty="0">
                <a:solidFill>
                  <a:srgbClr val="C00000"/>
                </a:solidFill>
              </a:rPr>
              <a:t>Two leftmost derivation </a:t>
            </a:r>
            <a:r>
              <a:rPr lang="en-US" dirty="0"/>
              <a:t>for string </a:t>
            </a:r>
            <a:r>
              <a:rPr lang="en-US" dirty="0" err="1"/>
              <a:t>a+a</a:t>
            </a:r>
            <a:r>
              <a:rPr lang="en-US" dirty="0"/>
              <a:t>*a is possible hence, above grammar is ambiguous.</a:t>
            </a:r>
            <a:endParaRPr lang="en-IN" dirty="0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533400" y="3573782"/>
            <a:ext cx="288748" cy="166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570635" y="3578843"/>
            <a:ext cx="2514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33400" y="4030929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38200" y="4476618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066800" y="4919750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781800" y="4016861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781800" y="4490266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086600" y="4936375"/>
            <a:ext cx="3048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411083" y="1403556"/>
            <a:ext cx="2926080" cy="0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430117" y="1786137"/>
            <a:ext cx="4572000" cy="0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76604" y="2492991"/>
            <a:ext cx="0" cy="287287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4280876" y="3064813"/>
            <a:ext cx="1066800" cy="457200"/>
            <a:chOff x="6248400" y="2338172"/>
            <a:chExt cx="1066800" cy="457200"/>
          </a:xfrm>
        </p:grpSpPr>
        <p:cxnSp>
          <p:nvCxnSpPr>
            <p:cNvPr id="19" name="Straight Arrow Connector 18"/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4585676" y="5000105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052276" y="3426974"/>
            <a:ext cx="1509932" cy="457200"/>
            <a:chOff x="6019800" y="2743200"/>
            <a:chExt cx="1509932" cy="457200"/>
          </a:xfrm>
        </p:grpSpPr>
        <p:sp>
          <p:nvSpPr>
            <p:cNvPr id="25" name="Rectangle 24"/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29" name="Straight Arrow Connector 28"/>
          <p:cNvCxnSpPr/>
          <p:nvPr/>
        </p:nvCxnSpPr>
        <p:spPr>
          <a:xfrm>
            <a:off x="3747476" y="4612841"/>
            <a:ext cx="0" cy="475488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747476" y="3850841"/>
            <a:ext cx="1066800" cy="457200"/>
            <a:chOff x="5715000" y="3124200"/>
            <a:chExt cx="1066800" cy="457200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/>
          <p:cNvSpPr/>
          <p:nvPr/>
        </p:nvSpPr>
        <p:spPr>
          <a:xfrm>
            <a:off x="3518876" y="5022422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19076" y="4247489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814276" y="4612841"/>
            <a:ext cx="0" cy="475488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20000">
            <a:off x="5333608" y="3836111"/>
            <a:ext cx="14068" cy="471931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576370" y="265026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3523638" y="4211866"/>
            <a:ext cx="1509932" cy="457200"/>
            <a:chOff x="6019800" y="2743200"/>
            <a:chExt cx="1509932" cy="457200"/>
          </a:xfrm>
        </p:grpSpPr>
        <p:sp>
          <p:nvSpPr>
            <p:cNvPr id="46" name="Rectangle 45"/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8201919" y="3031267"/>
            <a:ext cx="1066800" cy="457200"/>
            <a:chOff x="6248400" y="2338172"/>
            <a:chExt cx="1066800" cy="457200"/>
          </a:xfrm>
        </p:grpSpPr>
        <p:cxnSp>
          <p:nvCxnSpPr>
            <p:cNvPr id="50" name="Straight Arrow Connector 49"/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/>
          <p:cNvSpPr/>
          <p:nvPr/>
        </p:nvSpPr>
        <p:spPr>
          <a:xfrm>
            <a:off x="8521007" y="4980847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7973319" y="3393428"/>
            <a:ext cx="1509932" cy="457200"/>
            <a:chOff x="6019800" y="2743200"/>
            <a:chExt cx="1509932" cy="457200"/>
          </a:xfrm>
        </p:grpSpPr>
        <p:sp>
          <p:nvSpPr>
            <p:cNvPr id="55" name="Rectangle 54"/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58" name="Straight Arrow Connector 57"/>
          <p:cNvCxnSpPr/>
          <p:nvPr/>
        </p:nvCxnSpPr>
        <p:spPr>
          <a:xfrm>
            <a:off x="9840239" y="4622159"/>
            <a:ext cx="0" cy="45720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/>
          <p:nvPr/>
        </p:nvGrpSpPr>
        <p:grpSpPr>
          <a:xfrm>
            <a:off x="8735319" y="3816637"/>
            <a:ext cx="1066800" cy="457200"/>
            <a:chOff x="5715000" y="3124200"/>
            <a:chExt cx="1066800" cy="457200"/>
          </a:xfrm>
        </p:grpSpPr>
        <p:cxnSp>
          <p:nvCxnSpPr>
            <p:cNvPr id="60" name="Straight Arrow Connector 59"/>
            <p:cNvCxnSpPr/>
            <p:nvPr/>
          </p:nvCxnSpPr>
          <p:spPr>
            <a:xfrm flipH="1">
              <a:off x="57150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>
              <a:off x="6248400" y="3124200"/>
              <a:ext cx="533400" cy="3810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6248400" y="3124200"/>
              <a:ext cx="0" cy="457200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/>
          <p:cNvSpPr/>
          <p:nvPr/>
        </p:nvSpPr>
        <p:spPr>
          <a:xfrm>
            <a:off x="9611639" y="503174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68550" y="4193513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8517363" y="4259113"/>
            <a:ext cx="1509932" cy="429064"/>
            <a:chOff x="5486400" y="3533336"/>
            <a:chExt cx="1509932" cy="429064"/>
          </a:xfrm>
        </p:grpSpPr>
        <p:sp>
          <p:nvSpPr>
            <p:cNvPr id="66" name="Rectangle 65"/>
            <p:cNvSpPr/>
            <p:nvPr/>
          </p:nvSpPr>
          <p:spPr>
            <a:xfrm>
              <a:off x="5486400" y="353377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019800" y="3581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539132" y="3533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69" name="Straight Arrow Connector 68"/>
          <p:cNvCxnSpPr/>
          <p:nvPr/>
        </p:nvCxnSpPr>
        <p:spPr>
          <a:xfrm>
            <a:off x="8744843" y="4636447"/>
            <a:ext cx="0" cy="45720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55" idx="2"/>
          </p:cNvCxnSpPr>
          <p:nvPr/>
        </p:nvCxnSpPr>
        <p:spPr>
          <a:xfrm>
            <a:off x="8201919" y="3774429"/>
            <a:ext cx="0" cy="532749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497413" y="2616721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7759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/>
      <p:bldP spid="40" grpId="0"/>
      <p:bldP spid="41" grpId="0"/>
      <p:bldP spid="44" grpId="0"/>
      <p:bldP spid="53" grpId="0"/>
      <p:bldP spid="63" grpId="0"/>
      <p:bldP spid="64" grpId="0"/>
      <p:bldP spid="7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Ambiguous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 whether following grammars are ambiguous or not: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aS</a:t>
            </a:r>
            <a:r>
              <a:rPr lang="en-US" dirty="0">
                <a:sym typeface="Wingdings" panose="05000000000000000000" pitchFamily="2" charset="2"/>
              </a:rPr>
              <a:t> | Sa |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  (string: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aaaa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aSbS</a:t>
            </a:r>
            <a:r>
              <a:rPr lang="en-US" dirty="0">
                <a:sym typeface="Wingdings" panose="05000000000000000000" pitchFamily="2" charset="2"/>
              </a:rPr>
              <a:t> | </a:t>
            </a:r>
            <a:r>
              <a:rPr lang="en-US" dirty="0" err="1">
                <a:sym typeface="Wingdings" panose="05000000000000000000" pitchFamily="2" charset="2"/>
              </a:rPr>
              <a:t>bSaS</a:t>
            </a:r>
            <a:r>
              <a:rPr lang="en-US" dirty="0">
                <a:sym typeface="Wingdings" panose="05000000000000000000" pitchFamily="2" charset="2"/>
              </a:rPr>
              <a:t> |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  (string: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abab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SSS+ | SS* | a (string: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aa+a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*)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335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Grammar: 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 S+S | S*S  | (S) | a 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Equivalent unambiguous grammar is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</a:t>
            </a:r>
          </a:p>
          <a:p>
            <a:pPr>
              <a:buNone/>
            </a:pPr>
            <a:endParaRPr lang="en-US" dirty="0">
              <a:sym typeface="Wingdings" pitchFamily="2" charset="2"/>
            </a:endParaRPr>
          </a:p>
          <a:p>
            <a:pPr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2503119" y="2331643"/>
            <a:ext cx="2514600" cy="1230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US" sz="2400" dirty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S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 S + T | T</a:t>
            </a:r>
          </a:p>
          <a:p>
            <a:pPr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T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 T * F | F</a:t>
            </a:r>
          </a:p>
          <a:p>
            <a:pPr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F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 (S) | a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40063" y="2230466"/>
            <a:ext cx="2514600" cy="1230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>
              <a:buNone/>
            </a:pPr>
            <a:endParaRPr lang="en-US" dirty="0">
              <a:solidFill>
                <a:srgbClr val="C00000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Equivalent 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unambiguous 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grammar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26598" y="5295022"/>
            <a:ext cx="6519704" cy="899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Here, </a:t>
            </a:r>
            <a:r>
              <a:rPr lang="en-US" sz="2400" b="1" i="1" dirty="0">
                <a:solidFill>
                  <a:srgbClr val="C00000"/>
                </a:solidFill>
              </a:rPr>
              <a:t>two left most derivation is not possible </a:t>
            </a:r>
            <a:r>
              <a:rPr lang="en-US" sz="2400" dirty="0">
                <a:solidFill>
                  <a:schemeClr val="tx1"/>
                </a:solidFill>
              </a:rPr>
              <a:t>for string </a:t>
            </a:r>
            <a:r>
              <a:rPr lang="en-US" sz="2400" dirty="0" err="1">
                <a:solidFill>
                  <a:schemeClr val="tx1"/>
                </a:solidFill>
              </a:rPr>
              <a:t>a+a</a:t>
            </a:r>
            <a:r>
              <a:rPr lang="en-US" sz="2400" dirty="0">
                <a:solidFill>
                  <a:schemeClr val="tx1"/>
                </a:solidFill>
              </a:rPr>
              <a:t>*a hence, grammar is unambiguous.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Wingdings" pitchFamily="2" charset="2"/>
              </a:rPr>
              <a:t>Unambiguous grammar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205184" y="2946805"/>
            <a:ext cx="978579" cy="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857352" y="2385129"/>
            <a:ext cx="3250521" cy="3220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Output string: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a+a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*a</a:t>
            </a:r>
          </a:p>
          <a:p>
            <a:pPr defTabSz="1143000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 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S+T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T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+T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+T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sym typeface="Wingdings" pitchFamily="2" charset="2"/>
              </a:rPr>
              <a:t>a</a:t>
            </a:r>
            <a:r>
              <a:rPr lang="en-US" sz="2400" dirty="0" err="1">
                <a:solidFill>
                  <a:schemeClr val="tx1"/>
                </a:solidFill>
                <a:sym typeface="Wingdings" pitchFamily="2" charset="2"/>
              </a:rPr>
              <a:t>+T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Wingdings" pitchFamily="2" charset="2"/>
              </a:rPr>
              <a:t>a+</a:t>
            </a:r>
            <a:r>
              <a:rPr lang="en-US" sz="2400" b="1" dirty="0" err="1">
                <a:solidFill>
                  <a:schemeClr val="tx1"/>
                </a:solidFill>
                <a:sym typeface="Wingdings" pitchFamily="2" charset="2"/>
              </a:rPr>
              <a:t>T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*F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Wingdings" pitchFamily="2" charset="2"/>
              </a:rPr>
              <a:t>a+</a:t>
            </a:r>
            <a:r>
              <a:rPr lang="en-US" sz="2400" b="1" dirty="0" err="1">
                <a:solidFill>
                  <a:schemeClr val="tx1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*F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Wingdings" pitchFamily="2" charset="2"/>
              </a:rPr>
              <a:t>a+</a:t>
            </a:r>
            <a:r>
              <a:rPr lang="en-US" sz="2400" b="1" dirty="0" err="1">
                <a:solidFill>
                  <a:schemeClr val="tx1"/>
                </a:solidFill>
                <a:sym typeface="Wingdings" pitchFamily="2" charset="2"/>
              </a:rPr>
              <a:t>a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*F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2400" dirty="0" err="1">
                <a:solidFill>
                  <a:schemeClr val="tx1"/>
                </a:solidFill>
                <a:sym typeface="Wingdings" pitchFamily="2" charset="2"/>
              </a:rPr>
              <a:t>a+a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*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a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		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9139326" y="1910500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160625" y="2475787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163400" y="3027192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132925" y="3561967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9452367" y="4129998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434950" y="4678638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421098" y="5196794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706498" y="5748194"/>
            <a:ext cx="228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Callout 7"/>
          <p:cNvSpPr/>
          <p:nvPr/>
        </p:nvSpPr>
        <p:spPr>
          <a:xfrm>
            <a:off x="5186450" y="3462218"/>
            <a:ext cx="3259852" cy="957383"/>
          </a:xfrm>
          <a:prstGeom prst="wedgeEllipseCallout">
            <a:avLst>
              <a:gd name="adj1" fmla="val 63318"/>
              <a:gd name="adj2" fmla="val 833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Try for second leftmost derivation</a:t>
            </a:r>
          </a:p>
        </p:txBody>
      </p:sp>
      <p:sp>
        <p:nvSpPr>
          <p:cNvPr id="21" name="Oval Callout 20"/>
          <p:cNvSpPr/>
          <p:nvPr/>
        </p:nvSpPr>
        <p:spPr>
          <a:xfrm>
            <a:off x="5186450" y="3462218"/>
            <a:ext cx="3259852" cy="957383"/>
          </a:xfrm>
          <a:prstGeom prst="wedgeEllipseCallout">
            <a:avLst>
              <a:gd name="adj1" fmla="val 63318"/>
              <a:gd name="adj2" fmla="val 833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possible????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352800" y="1893876"/>
            <a:ext cx="0" cy="565287"/>
          </a:xfrm>
          <a:prstGeom prst="straightConnector1">
            <a:avLst/>
          </a:prstGeom>
          <a:ln w="254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5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6" grpId="0"/>
      <p:bldP spid="8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Simplified forms &amp; Normal forms</a:t>
            </a:r>
            <a:br>
              <a:rPr lang="en-US" sz="96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10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Nullable</a:t>
            </a:r>
            <a:r>
              <a:rPr lang="en-US" dirty="0"/>
              <a:t>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 </a:t>
                </a:r>
                <a:r>
                  <a:rPr lang="en-US" dirty="0" err="1"/>
                  <a:t>Nullable</a:t>
                </a:r>
                <a:r>
                  <a:rPr lang="en-US" dirty="0"/>
                  <a:t> variable in a CFG,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defined as follows: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/>
                  <a:t>Any variable A for which P contains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→^</m:t>
                    </m:r>
                  </m:oMath>
                </a14:m>
                <a:r>
                  <a:rPr lang="en-US" sz="2400" dirty="0"/>
                  <a:t>  </a:t>
                </a:r>
                <a:r>
                  <a:rPr lang="en-US" sz="2400" dirty="0">
                    <a:solidFill>
                      <a:srgbClr val="C00000"/>
                    </a:solidFill>
                  </a:rPr>
                  <a:t>is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nullable</a:t>
                </a:r>
                <a:r>
                  <a:rPr lang="en-US" sz="2400" dirty="0"/>
                  <a:t>.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/>
                  <a:t>If P contains the production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i="1" baseline="-250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𝐵𝑛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are nullable variable, then A is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nullable</a:t>
                </a:r>
                <a:r>
                  <a:rPr lang="en-US" sz="2400" dirty="0"/>
                  <a:t>.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/>
                  <a:t>No other variables in V are </a:t>
                </a:r>
                <a:r>
                  <a:rPr lang="en-US" sz="2400" dirty="0" err="1"/>
                  <a:t>nullable</a:t>
                </a:r>
                <a:r>
                  <a:rPr lang="en-US" sz="2400" dirty="0"/>
                  <a:t>.</a:t>
                </a:r>
              </a:p>
              <a:p>
                <a:pPr marL="457200" indent="-457200"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71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Eliminate ˄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5000" y="1257727"/>
            <a:ext cx="1600200" cy="12573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400" dirty="0" err="1">
                <a:solidFill>
                  <a:schemeClr val="tx1"/>
                </a:solidFill>
              </a:rPr>
              <a:t>S</a:t>
            </a:r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tx1"/>
                </a:solidFill>
              </a:rPr>
              <a:t>a</a:t>
            </a:r>
            <a:r>
              <a:rPr lang="en-US" sz="2400" dirty="0">
                <a:solidFill>
                  <a:schemeClr val="tx1"/>
                </a:solidFill>
              </a:rPr>
              <a:t>  X |</a:t>
            </a:r>
            <a:r>
              <a:rPr lang="en-US" sz="2400" dirty="0" err="1">
                <a:solidFill>
                  <a:schemeClr val="tx1"/>
                </a:solidFill>
              </a:rPr>
              <a:t>Yb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rgbClr val="C00000"/>
                </a:solidFill>
              </a:rPr>
              <a:t> ˄ </a:t>
            </a:r>
            <a:r>
              <a:rPr lang="en-US" sz="2400" dirty="0">
                <a:solidFill>
                  <a:schemeClr val="tx1"/>
                </a:solidFill>
              </a:rPr>
              <a:t>| S 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Y</a:t>
            </a:r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tx1"/>
                </a:solidFill>
              </a:rPr>
              <a:t>bY|b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98458" y="1257727"/>
            <a:ext cx="2220266" cy="12573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</a:rPr>
              <a:t>S</a:t>
            </a:r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tx1"/>
                </a:solidFill>
              </a:rPr>
              <a:t>aX</a:t>
            </a:r>
            <a:r>
              <a:rPr lang="en-US" sz="2400" dirty="0">
                <a:solidFill>
                  <a:schemeClr val="tx1"/>
                </a:solidFill>
              </a:rPr>
              <a:t> | </a:t>
            </a:r>
            <a:r>
              <a:rPr lang="en-US" sz="2400" dirty="0" err="1">
                <a:solidFill>
                  <a:schemeClr val="tx1"/>
                </a:solidFill>
              </a:rPr>
              <a:t>Yb</a:t>
            </a:r>
            <a:r>
              <a:rPr lang="en-US" sz="2400" dirty="0">
                <a:solidFill>
                  <a:schemeClr val="tx1"/>
                </a:solidFill>
              </a:rPr>
              <a:t> | </a:t>
            </a:r>
            <a:r>
              <a:rPr lang="en-US" sz="2400" dirty="0">
                <a:solidFill>
                  <a:srgbClr val="C00000"/>
                </a:solidFill>
              </a:rPr>
              <a:t>a^</a:t>
            </a:r>
          </a:p>
          <a:p>
            <a:r>
              <a:rPr lang="en-US" sz="2400" dirty="0">
                <a:solidFill>
                  <a:schemeClr val="tx1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^ | </a:t>
            </a:r>
            <a:r>
              <a:rPr lang="en-US" sz="2400" dirty="0">
                <a:solidFill>
                  <a:schemeClr val="tx1"/>
                </a:solidFill>
              </a:rPr>
              <a:t>S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Y</a:t>
            </a:r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tx1"/>
                </a:solidFill>
              </a:rPr>
              <a:t>bY|b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26496" y="1257727"/>
            <a:ext cx="1862710" cy="12573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</a:rPr>
              <a:t>S</a:t>
            </a:r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tx1"/>
                </a:solidFill>
              </a:rPr>
              <a:t>aX|Yb|a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X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</a:rPr>
              <a:t>S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Y</a:t>
            </a:r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chemeClr val="tx1"/>
                </a:solidFill>
              </a:rPr>
              <a:t>bY|b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1529" y="2846564"/>
            <a:ext cx="2400300" cy="533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Nullable</a:t>
            </a:r>
            <a:r>
              <a:rPr lang="en-US" sz="2000" dirty="0">
                <a:solidFill>
                  <a:schemeClr val="tx1"/>
                </a:solidFill>
              </a:rPr>
              <a:t> variable={X}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8102" y="2860706"/>
            <a:ext cx="2743200" cy="13146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Replacing X by ^ in all  productions containing X on RHS and rewriting the production again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44605" y="2860705"/>
            <a:ext cx="2454906" cy="5192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Removing ^ productions</a:t>
            </a:r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>
            <a:off x="3505200" y="1886377"/>
            <a:ext cx="1293258" cy="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033238" y="1854307"/>
            <a:ext cx="1293258" cy="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28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Eliminate ^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90600"/>
            <a:ext cx="415290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AC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aAb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|˄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aC|a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After elimination of ^ production:</a:t>
            </a:r>
          </a:p>
          <a:p>
            <a:pPr marL="0" indent="0">
              <a:buNone/>
            </a:pPr>
            <a:r>
              <a:rPr lang="en-US" sz="2200" dirty="0"/>
              <a:t>S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AC | C</a:t>
            </a:r>
          </a:p>
          <a:p>
            <a:pPr marL="0" indent="0">
              <a:buNone/>
            </a:pPr>
            <a:r>
              <a:rPr lang="en-US" sz="2200" dirty="0" err="1"/>
              <a:t>A</a:t>
            </a:r>
            <a:r>
              <a:rPr lang="en-US" sz="2200" dirty="0" err="1">
                <a:sym typeface="Wingdings" panose="05000000000000000000" pitchFamily="2" charset="2"/>
              </a:rPr>
              <a:t></a:t>
            </a:r>
            <a:r>
              <a:rPr lang="en-US" sz="2200" dirty="0" err="1"/>
              <a:t>aAb</a:t>
            </a:r>
            <a:r>
              <a:rPr lang="en-US" sz="2200" dirty="0"/>
              <a:t>| ab</a:t>
            </a:r>
          </a:p>
          <a:p>
            <a:pPr marL="0" indent="0">
              <a:buNone/>
            </a:pPr>
            <a:r>
              <a:rPr lang="en-US" sz="2200" dirty="0" err="1"/>
              <a:t>C</a:t>
            </a:r>
            <a:r>
              <a:rPr lang="en-US" sz="2200" dirty="0" err="1">
                <a:sym typeface="Wingdings" panose="05000000000000000000" pitchFamily="2" charset="2"/>
              </a:rPr>
              <a:t></a:t>
            </a:r>
            <a:r>
              <a:rPr lang="en-US" sz="2200" dirty="0" err="1"/>
              <a:t>aC|a</a:t>
            </a:r>
            <a:endParaRPr lang="en-US" sz="22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5000" y="990600"/>
            <a:ext cx="50673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XaX|bX|Y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XaX|XbX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|˄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Y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ab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After elimination of ^ production:</a:t>
            </a:r>
          </a:p>
          <a:p>
            <a:pPr marL="0" indent="0">
              <a:buNone/>
            </a:pPr>
            <a:r>
              <a:rPr lang="en-US" sz="2200" dirty="0"/>
              <a:t>S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/>
              <a:t>XaX</a:t>
            </a:r>
            <a:r>
              <a:rPr lang="en-US" sz="2200" dirty="0"/>
              <a:t> | </a:t>
            </a:r>
            <a:r>
              <a:rPr lang="en-US" sz="2200" dirty="0" err="1"/>
              <a:t>bX</a:t>
            </a:r>
            <a:r>
              <a:rPr lang="en-US" sz="2200" dirty="0"/>
              <a:t> | Y | </a:t>
            </a:r>
            <a:r>
              <a:rPr lang="en-US" sz="2200" dirty="0" err="1"/>
              <a:t>aX</a:t>
            </a:r>
            <a:r>
              <a:rPr lang="en-US" sz="2200" dirty="0"/>
              <a:t> | </a:t>
            </a:r>
            <a:r>
              <a:rPr lang="en-US" sz="2200" dirty="0" err="1"/>
              <a:t>Xa</a:t>
            </a:r>
            <a:r>
              <a:rPr lang="en-US" sz="2200" dirty="0"/>
              <a:t> | a | b</a:t>
            </a:r>
          </a:p>
          <a:p>
            <a:pPr marL="0" indent="0">
              <a:buNone/>
            </a:pPr>
            <a:r>
              <a:rPr lang="en-US" sz="2200" dirty="0"/>
              <a:t>X</a:t>
            </a: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 err="1"/>
              <a:t>XaX</a:t>
            </a:r>
            <a:r>
              <a:rPr lang="en-US" sz="2200" dirty="0"/>
              <a:t> |</a:t>
            </a:r>
            <a:r>
              <a:rPr lang="en-US" sz="2200" dirty="0" err="1"/>
              <a:t>XbX</a:t>
            </a:r>
            <a:r>
              <a:rPr lang="en-US" sz="2200" dirty="0"/>
              <a:t> | </a:t>
            </a:r>
            <a:r>
              <a:rPr lang="en-US" sz="2200" dirty="0" err="1"/>
              <a:t>aX</a:t>
            </a:r>
            <a:r>
              <a:rPr lang="en-US" sz="2200" dirty="0"/>
              <a:t> | </a:t>
            </a:r>
            <a:r>
              <a:rPr lang="en-US" sz="2200" dirty="0" err="1"/>
              <a:t>Xa</a:t>
            </a:r>
            <a:r>
              <a:rPr lang="en-US" sz="2200" dirty="0"/>
              <a:t> | a | </a:t>
            </a:r>
            <a:r>
              <a:rPr lang="en-US" sz="2200" dirty="0" err="1"/>
              <a:t>Xb</a:t>
            </a:r>
            <a:r>
              <a:rPr lang="en-US" sz="2200" dirty="0"/>
              <a:t> | </a:t>
            </a:r>
            <a:r>
              <a:rPr lang="en-US" sz="2200" dirty="0" err="1"/>
              <a:t>bX</a:t>
            </a:r>
            <a:r>
              <a:rPr lang="en-US" sz="2200" dirty="0"/>
              <a:t> | b</a:t>
            </a:r>
          </a:p>
          <a:p>
            <a:pPr marL="0" indent="0">
              <a:buNone/>
            </a:pPr>
            <a:r>
              <a:rPr lang="en-US" sz="2200" dirty="0" err="1"/>
              <a:t>Y</a:t>
            </a:r>
            <a:r>
              <a:rPr lang="en-US" sz="2200" dirty="0" err="1">
                <a:sym typeface="Wingdings" panose="05000000000000000000" pitchFamily="2" charset="2"/>
              </a:rPr>
              <a:t></a:t>
            </a:r>
            <a:r>
              <a:rPr lang="en-US" sz="2200" dirty="0" err="1"/>
              <a:t>ab</a:t>
            </a:r>
            <a:endParaRPr lang="en-US" sz="2200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685972" y="1066800"/>
            <a:ext cx="0" cy="52578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82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A-derivable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 variable is called A-derivable ,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is a production, B is A-derivable.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sz="2400" dirty="0"/>
                  <a:t>If C is  A-derivable,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 is a production,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, then B is A-derivable.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sz="2400" dirty="0"/>
                  <a:t>No other variables are A-derivable.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457" r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628900" y="4191000"/>
            <a:ext cx="2362200" cy="15017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A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SB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S-derivable={A,B}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53200" y="4191000"/>
            <a:ext cx="2362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A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AB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S-derivable={A,B}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73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Production &amp; Elimination of Unit productions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A production of the form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A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B</a:t>
                </a:r>
                <a:r>
                  <a:rPr lang="en-US" dirty="0">
                    <a:sym typeface="Wingdings" panose="05000000000000000000" pitchFamily="2" charset="2"/>
                  </a:rPr>
                  <a:t> is termed as unit production. Where </a:t>
                </a:r>
                <a:r>
                  <a:rPr lang="en-US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A &amp; B are </a:t>
                </a:r>
                <a:r>
                  <a:rPr lang="en-US" dirty="0" err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nonterminals</a:t>
                </a:r>
                <a:r>
                  <a:rPr lang="en-US" dirty="0">
                    <a:sym typeface="Wingdings" panose="05000000000000000000" pitchFamily="2" charset="2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b="1" u="sng" dirty="0">
                    <a:sym typeface="Wingdings" panose="05000000000000000000" pitchFamily="2" charset="2"/>
                  </a:rPr>
                  <a:t>Algorithm 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Given a CFG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no ^ productions, construct a CFG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having no unit production as follows.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/>
                  <a:t>Initialize P1 to be P.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/>
                  <a:t>For each A ∈ V ,finding the set of A derivable variable.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>
                    <a:sym typeface="Wingdings" panose="05000000000000000000" pitchFamily="2" charset="2"/>
                  </a:rPr>
                  <a:t>For every pair (A, B) such that B is A- derivable and every non unit production B</a:t>
                </a:r>
                <a:r>
                  <a:rPr lang="el-GR" sz="2400" dirty="0">
                    <a:sym typeface="Wingdings" panose="05000000000000000000" pitchFamily="2" charset="2"/>
                  </a:rPr>
                  <a:t>α</a:t>
                </a:r>
                <a:r>
                  <a:rPr lang="en-US" sz="2400" dirty="0">
                    <a:sym typeface="Wingdings" panose="05000000000000000000" pitchFamily="2" charset="2"/>
                  </a:rPr>
                  <a:t>, add the production A</a:t>
                </a:r>
                <a:r>
                  <a:rPr lang="el-GR" sz="2400" dirty="0">
                    <a:sym typeface="Wingdings" panose="05000000000000000000" pitchFamily="2" charset="2"/>
                  </a:rPr>
                  <a:t>α</a:t>
                </a:r>
                <a:r>
                  <a:rPr lang="en-US" sz="2400" dirty="0">
                    <a:sym typeface="Wingdings" panose="05000000000000000000" pitchFamily="2" charset="2"/>
                  </a:rPr>
                  <a:t> to P1 if it is not already present in P1.</a:t>
                </a:r>
              </a:p>
              <a:p>
                <a:pPr marL="857250" lvl="1" indent="-457200" algn="just">
                  <a:buFont typeface="+mj-lt"/>
                  <a:buAutoNum type="arabicPeriod"/>
                </a:pPr>
                <a:r>
                  <a:rPr lang="en-US" sz="2400" dirty="0">
                    <a:sym typeface="Wingdings" panose="05000000000000000000" pitchFamily="2" charset="2"/>
                  </a:rPr>
                  <a:t>Delete all unit productions from P1.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83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3766458" y="1922582"/>
            <a:ext cx="878302" cy="2423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782039" y="1581245"/>
            <a:ext cx="878302" cy="2335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Elimination of unit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47750"/>
            <a:ext cx="3352800" cy="12573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400" dirty="0">
                <a:solidFill>
                  <a:schemeClr val="tx1"/>
                </a:solidFill>
              </a:rPr>
              <a:t>S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</a:rPr>
              <a:t>ABA|BA|AA|AB|</a:t>
            </a:r>
            <a:r>
              <a:rPr lang="en-US" sz="2400" dirty="0">
                <a:solidFill>
                  <a:srgbClr val="C00000"/>
                </a:solidFill>
              </a:rPr>
              <a:t>A</a:t>
            </a:r>
            <a:r>
              <a:rPr lang="en-US" sz="2400" dirty="0">
                <a:solidFill>
                  <a:schemeClr val="tx1"/>
                </a:solidFill>
              </a:rPr>
              <a:t>|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B</a:t>
            </a:r>
          </a:p>
          <a:p>
            <a:r>
              <a:rPr lang="en-US" sz="2400" dirty="0">
                <a:solidFill>
                  <a:schemeClr val="tx1"/>
                </a:solidFill>
              </a:rPr>
              <a:t>A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rgbClr val="C00000"/>
                </a:solidFill>
              </a:rPr>
              <a:t>aA|a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B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bB|b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7449" y="1047751"/>
            <a:ext cx="2918352" cy="1257299"/>
          </a:xfrm>
          <a:prstGeom prst="rect">
            <a:avLst/>
          </a:prstGeom>
          <a:noFill/>
          <a:ln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Unit Productions are S</a:t>
            </a:r>
            <a:r>
              <a:rPr 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A and SB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14768" y="3578838"/>
            <a:ext cx="4324064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A</a:t>
            </a:r>
            <a:r>
              <a:rPr lang="en-US" sz="2400" dirty="0" err="1">
                <a:solidFill>
                  <a:schemeClr val="tx1"/>
                </a:solidFill>
              </a:rPr>
              <a:t>aA|a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B</a:t>
            </a:r>
            <a:r>
              <a:rPr lang="en-US" sz="2400" dirty="0" err="1">
                <a:solidFill>
                  <a:schemeClr val="tx1"/>
                </a:solidFill>
              </a:rPr>
              <a:t>bB|b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7450" y="3891884"/>
            <a:ext cx="2918352" cy="897911"/>
          </a:xfrm>
          <a:prstGeom prst="rect">
            <a:avLst/>
          </a:prstGeom>
          <a:noFill/>
          <a:ln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Removing unit productions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738048" y="2305050"/>
            <a:ext cx="235998" cy="127378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660342" y="1482423"/>
            <a:ext cx="1283259" cy="229044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7" idx="3"/>
          </p:cNvCxnSpPr>
          <p:nvPr/>
        </p:nvCxnSpPr>
        <p:spPr>
          <a:xfrm flipV="1">
            <a:off x="4644760" y="1443957"/>
            <a:ext cx="1603640" cy="599824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685694" y="3830758"/>
            <a:ext cx="2667000" cy="358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1"/>
                </a:solidFill>
              </a:rPr>
              <a:t>ABA|BA|AA|AB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5054728" y="3830758"/>
            <a:ext cx="1166888" cy="358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|</a:t>
            </a:r>
            <a:r>
              <a:rPr lang="en-US" sz="2400" dirty="0" err="1">
                <a:solidFill>
                  <a:srgbClr val="C00000"/>
                </a:solidFill>
              </a:rPr>
              <a:t>aA|a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19085" y="3825071"/>
            <a:ext cx="990600" cy="358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|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bB|b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80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3" grpId="0" animBg="1"/>
      <p:bldP spid="3" grpId="1" animBg="1"/>
      <p:bldP spid="4" grpId="0" animBg="1"/>
      <p:bldP spid="5" grpId="0" animBg="1"/>
      <p:bldP spid="6" grpId="0" animBg="1"/>
      <p:bldP spid="7" grpId="0" animBg="1"/>
      <p:bldP spid="8" grpId="0" animBg="1"/>
      <p:bldP spid="11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42337</TotalTime>
  <Words>2571</Words>
  <Application>Microsoft Office PowerPoint</Application>
  <PresentationFormat>Widescreen</PresentationFormat>
  <Paragraphs>386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 Math</vt:lpstr>
      <vt:lpstr>Wingdings</vt:lpstr>
      <vt:lpstr>Office Theme</vt:lpstr>
      <vt:lpstr>PowerPoint Presentation</vt:lpstr>
      <vt:lpstr>Topics to be covered</vt:lpstr>
      <vt:lpstr>Chomsky Hierarchy</vt:lpstr>
      <vt:lpstr>Chomsky hierarchy (Classification of grammar)</vt:lpstr>
      <vt:lpstr>Type 0 grammar (Phrase Structure Grammar)</vt:lpstr>
      <vt:lpstr>Type 1 grammar (Context Sensitive Grammar)</vt:lpstr>
      <vt:lpstr>Type 2 grammar (Context Free Grammar)</vt:lpstr>
      <vt:lpstr>Type 3 grammar (Linear or Regular grammar)</vt:lpstr>
      <vt:lpstr>Hierarchy of grammar</vt:lpstr>
      <vt:lpstr>Context free grammar</vt:lpstr>
      <vt:lpstr>Context Free Grammar</vt:lpstr>
      <vt:lpstr>Context Free Language</vt:lpstr>
      <vt:lpstr>CFG Examples</vt:lpstr>
      <vt:lpstr>CFG Examples</vt:lpstr>
      <vt:lpstr>CFG Examples</vt:lpstr>
      <vt:lpstr>CFG Examples</vt:lpstr>
      <vt:lpstr>CFG Examples</vt:lpstr>
      <vt:lpstr>CFG Examples</vt:lpstr>
      <vt:lpstr>CFG Examples</vt:lpstr>
      <vt:lpstr>Recursive Definitions </vt:lpstr>
      <vt:lpstr>Recursive Definitions </vt:lpstr>
      <vt:lpstr>Derivation </vt:lpstr>
      <vt:lpstr>Derivation </vt:lpstr>
      <vt:lpstr> Leftmost derivation </vt:lpstr>
      <vt:lpstr> Rightmost derivation </vt:lpstr>
      <vt:lpstr>Example: Derivation </vt:lpstr>
      <vt:lpstr>Exercise: Derivation </vt:lpstr>
      <vt:lpstr>Ambiguous grammar</vt:lpstr>
      <vt:lpstr>Ambiguous grammar</vt:lpstr>
      <vt:lpstr>Exercise: Ambiguous grammar</vt:lpstr>
      <vt:lpstr>Unambiguous grammar</vt:lpstr>
      <vt:lpstr>Simplified forms &amp; Normal forms </vt:lpstr>
      <vt:lpstr>Nullable Variable</vt:lpstr>
      <vt:lpstr>Eliminate ˄ production</vt:lpstr>
      <vt:lpstr>Exercise: Eliminate ^ production</vt:lpstr>
      <vt:lpstr>A-derivable</vt:lpstr>
      <vt:lpstr>Unit Production &amp; Elimination of Unit productions </vt:lpstr>
      <vt:lpstr>Elimination of unit production</vt:lpstr>
    </vt:vector>
  </TitlesOfParts>
  <Company>Darshan Institute of Engg. &amp; Tech.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 of Computer Engineering (Why, What, When, Where, How)</dc:title>
  <dc:creator>Darshan Institute of Engg. &amp; Tech.</dc:creator>
  <cp:lastModifiedBy>Tarjni Vyas</cp:lastModifiedBy>
  <cp:revision>3103</cp:revision>
  <dcterms:created xsi:type="dcterms:W3CDTF">2013-05-17T03:00:03Z</dcterms:created>
  <dcterms:modified xsi:type="dcterms:W3CDTF">2026-07-21T10:24:08Z</dcterms:modified>
</cp:coreProperties>
</file>