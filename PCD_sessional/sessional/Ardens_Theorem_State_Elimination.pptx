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goal: we already know how to draw an automaton; today we describe the same language using one regular expression.</a:t>
            </a:r>
          </a:p>
          <a:p>
            <a:r>
              <a:t>Tell students that the deck contains two methods, but Arden’s Theorem comes first because it makes the algebra visible.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Ask: If two machines accept exactly the same strings, do they define different languages? Answer: no.</a:t>
            </a:r>
          </a:p>
          <a:p>
            <a:r>
              <a:t>Emphasize that DFA → RE is a change of representation. This gives students the overall purpose before the algebra.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Preview the structure of the lecture. Arden’s Theorem is an equation-solving method; state elimination is a graph-reduction method.</a:t>
            </a:r>
          </a:p>
          <a:p>
            <a:r>
              <a:t>Tell students both methods must produce equivalent regular expressions, although their written forms may look different.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to the arrows, not the states. We write an equation using transitions that come into X.</a:t>
            </a:r>
          </a:p>
          <a:p>
            <a:r>
              <a:t>Read Y·a aloud as: reach Y first, then consume a to enter X.</a:t>
            </a:r>
          </a:p>
          <a:p>
            <a:r>
              <a:t>If X were the initial state, add ε because we can be at X before reading any input.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theorem in the exact orientation used in the examples: R = Q + R·P, therefore R = Q·P*.</a:t>
            </a:r>
          </a:p>
          <a:p>
            <a:r>
              <a:t>Warn students not to move P across Q; concatenation is not commutative.</a:t>
            </a:r>
          </a:p>
          <a:p>
            <a:r>
              <a:t>Mention the left-linear companion only to prevent memorization errors: R = Q + P·R gives P*·Q.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present the theorem as magic. Expand the recurrence two or three times.</a:t>
            </a:r>
          </a:p>
          <a:p>
            <a:r>
              <a:t>Explain that ε represents zero loop repetitions, P represents one, P² represents two, and so on. Their union is P*.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 a common oversimplification: the theorem’s real condition is about P, the coefficient of R.</a:t>
            </a:r>
          </a:p>
          <a:p>
            <a:r>
              <a:t>A DFA has no ε-transitions by definition. For an ε-NFA, ε may appear in state equations; the uniqueness test still concerns whether ε belongs to L(P).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the procedure students can copy into notes.</a:t>
            </a:r>
          </a:p>
          <a:p>
            <a:r>
              <a:t>Emphasize that step 2 uses incoming transitions. Most errors happen because students accidentally use outgoing transitions.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writing equations, ask students to predict accepted strings: 0, 010, 01010, ...</a:t>
            </a:r>
          </a:p>
          <a:p>
            <a:r>
              <a:t>This prediction becomes a quick correctness check for the algebraic answer.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A first. Ask which arrows enter A; answer: the transition labelled 1 from B. Then add ε because A is initial.</a:t>
            </a:r>
          </a:p>
          <a:p>
            <a:r>
              <a:t>Build B second. Only A —0→ B enters it, so B = A·0.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concatenation order exactly as the path order: first 1, then 0, giving 10.</a:t>
            </a:r>
          </a:p>
          <a:p>
            <a:r>
              <a:t>Remind students that ε·0 = 0; ε disappears from concatenation, while ∅ would eliminate the term.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Circle 0 as Q and 10 as P. Students should see the theorem pattern before substitution.</a:t>
            </a:r>
          </a:p>
          <a:p>
            <a:r>
              <a:t>Because B is the only final state, the expression for B is the regular expression for the whole DFA.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three strings from 0(10)*. Then test a few rejected strings.</a:t>
            </a:r>
          </a:p>
          <a:p>
            <a:r>
              <a:t>This is a semantic check: the expression must match the behavior of the automaton, not just the algebra.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q3, physically point to each incoming transition: q1 via b, q2 via a, and q3’s own a-loop.</a:t>
            </a:r>
          </a:p>
          <a:p>
            <a:r>
              <a:t>This visual counting technique prevents missing a term.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q2 before q3 because q2 has no self-reference.</a:t>
            </a:r>
          </a:p>
          <a:p>
            <a:r>
              <a:t>Repeat the identity rule: ε·a = 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 all non-q3 terms into Q: b + aa. The q3 self-loop contributes P = a.</a:t>
            </a:r>
          </a:p>
          <a:p>
            <a:r>
              <a:t>Keep parentheses around b + aa so students see Q as one unit.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Translate the result into words. There are two ways to enter q3: directly with b, or through q2 with aa. Once in q3, any number of a’s may follow.</a:t>
            </a:r>
          </a:p>
          <a:p>
            <a:r>
              <a:t>Test b, ba, aaa, aaaa as accepted examples; a and ab are rejected.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Rf represents strings that end at one accepting state. The automaton accepts if it ends at any final state, so we take their union.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students two minutes. Ask them to write incoming-transition equations, not solve immediately.</a:t>
            </a:r>
          </a:p>
          <a:p>
            <a:r>
              <a:t>Hint only if needed: both states have a b-loop, and each a-transition comes from the other state.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Arden to q2: q2 = q1·a + q2·b, so Q = q1·a and P = b. Therefore q2 = q1·a·b*.</a:t>
            </a:r>
          </a:p>
          <a:p>
            <a:r>
              <a:t>Then return to the final-state equation q1.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Q = ε, Arden gives ε·P* = P*. This explains why the final expression begins directly with a star group.</a:t>
            </a:r>
          </a:p>
          <a:p>
            <a:r>
              <a:t>Interpret the two cycles back to q1: loop on b, or go a to q2, take b* there, then return on 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identify cycles that start and end at q1. Since q1 is final, any sequence of such cycles is accepted.</a:t>
            </a:r>
          </a:p>
          <a:p>
            <a:r>
              <a:t>Do not reveal the inside of the longer cycle yet.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Substitute q3 into q2. The self-repeating part of q2 is either b or ab.</a:t>
            </a:r>
          </a:p>
          <a:p>
            <a:r>
              <a:t>Apply Arden with Q = q1·b and P = b + ab.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longer cycle is: b to q2; repeat either b or ab while returning to q2; then a to q3 and a back to q1.</a:t>
            </a:r>
          </a:p>
          <a:p>
            <a:r>
              <a:t>Because q1 is initial and final, Q = ε and the complete cycle expression receives the outer star.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state elimination as path preservation: every time we remove a state, we create an equivalent direct path around it.</a:t>
            </a:r>
          </a:p>
          <a:p>
            <a:r>
              <a:t>The method operates on a GNFA, where edges may be labelled by regular expressions, including ε and ∅.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these rules are structural: they ensure the final expression is exactly one edge from s to f.</a:t>
            </a:r>
          </a:p>
          <a:p>
            <a:r>
              <a:t>Adding ε preserves the language because it consumes no symbol.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update formula in words. Every path from i to j either avoids k (old label) or goes into k, loops any number of times, and leaves k.</a:t>
            </a:r>
          </a:p>
          <a:p>
            <a:r>
              <a:t>If an edge is absent, treat its label as ∅. If k has no loop, Rkk = ∅ and ∅* = ε.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original automaton directly: every accepted path is a, then one of b, c, or d.</a:t>
            </a:r>
          </a:p>
          <a:p>
            <a:r>
              <a:t>Use this simple prediction to check the state-elimination result.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that changing old final states to ordinary states is safe because ε moves immediately to the new final qf.</a:t>
            </a:r>
          </a:p>
          <a:p>
            <a:r>
              <a:t>Now the automaton satisfies the one-final-state rule.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no loops on q4, q3, or q5. Eliminating each branch simply joins its incoming label with ε to qf.</a:t>
            </a:r>
          </a:p>
          <a:p>
            <a:r>
              <a:t>Parallel labels between q2 and qf combine by union: b + c + 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Eliminating q2 concatenates a with the outgoing union b + c + d.</a:t>
            </a:r>
          </a:p>
          <a:p>
            <a:r>
              <a:t>Expand distributively to verify: a(b+c+d) = ab+ac+ad, exactly the three original accepting paths.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Neither method is universally shorter. Encourage students to inspect the automaton before choosing.</a:t>
            </a:r>
          </a:p>
          <a:p>
            <a:r>
              <a:t>Different elimination orders may produce different-looking but equivalent regular expressions.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a checklist while solving problems on the board.</a:t>
            </a:r>
          </a:p>
          <a:p>
            <a:r>
              <a:t>Ask students to explain the difference between ε and ∅: ε is one string of length zero; ∅ is an empty language.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three questions as a quick formative assessment.</a:t>
            </a:r>
          </a:p>
          <a:p>
            <a:r>
              <a:t>Expected answers: ε means the start is reachable with no input; Q contains non-self terms and P is the repeated suffix; the elimination product enters k, loops at k, and leaves k.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 of original slides 78–85; content reorganized and notation corrected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7EA636-AA58-4DCF-8B28-0CF43F13D5C2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FORMAL LANGUAGES • UNIT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2AFC1-1BA8-4D16-AC34-2D0C146E379E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1066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4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DFA to Regular Expression
using Arden’s Theorem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0FBF0-7019-466C-92F8-78D0367F5FF6}"/>
              </a:ext>
            </a:extLst>
          </p:cNvPr>
          <p:cNvSpPr>
            <a:spLocks noGrp="1"/>
          </p:cNvSpPr>
          <p:nvPr/>
        </p:nvSpPr>
        <p:spPr>
          <a:xfrm>
            <a:off x="457200" y="4800600"/>
            <a:ext cx="762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Step-by-step classroom deck • with State Elimination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30CDA-76CE-488E-8BA1-DD4790525B10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Dr. Tarjni Vyas</a:t>
            </a:r>
          </a:p>
        </p:txBody>
      </p:sp>
    </p:spTree>
    <p:extLst>
      <p:ext uri="{BB962C8B-B14F-4D97-AF65-F5344CB8AC3E}">
        <p14:creationId xmlns:p14="http://schemas.microsoft.com/office/powerpoint/2010/main" val="148110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D968BA2-A0F1-4B89-8283-9E8A00136704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DFA → REGULAR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C085BB-4943-4BBD-BB65-DD495958A09A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automaton and the expression describe the same language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EA0E9DE-9F67-4317-8C5F-F57FAE2B93E7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48F13-ADC7-43E8-B089-13F1236F340E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262FC7-C254-408C-97E2-D16D95F8AC66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2476500" cy="523875"/>
          </a:xfrm>
          <a:prstGeom prst="roundRect">
            <a:avLst>
              <a:gd name="adj" fmla="val 21818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DFA / NFA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C74F4E-9E16-4674-91BC-9E3F3EC38AF7}"/>
              </a:ext>
            </a:extLst>
          </p:cNvPr>
          <p:cNvSpPr>
            <a:spLocks noGrp="1"/>
          </p:cNvSpPr>
          <p:nvPr/>
        </p:nvSpPr>
        <p:spPr>
          <a:xfrm>
            <a:off x="8839200" y="2209800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Regular Expression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16F7E-63D4-412F-808E-A61562B3CD58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states + transitions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1E0A3-2BDF-43B8-9D83-3A57641B1B49}"/>
              </a:ext>
            </a:extLst>
          </p:cNvPr>
          <p:cNvSpPr>
            <a:spLocks noGrp="1"/>
          </p:cNvSpPr>
          <p:nvPr/>
        </p:nvSpPr>
        <p:spPr>
          <a:xfrm>
            <a:off x="8839200" y="30861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symbols + operators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59B845-76C5-49C7-BF23-73A46EA58235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4191000" cy="666750"/>
          </a:xfrm>
          <a:prstGeom prst="roundRect">
            <a:avLst>
              <a:gd name="adj" fmla="val 17143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8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SAME SET OF ACCEPTED STRINGS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1891D6-83D4-463C-969C-9B7CB5DE55FB}"/>
              </a:ext>
            </a:extLst>
          </p:cNvPr>
          <p:cNvSpPr>
            <a:spLocks noGrp="1"/>
          </p:cNvSpPr>
          <p:nvPr/>
        </p:nvSpPr>
        <p:spPr>
          <a:xfrm>
            <a:off x="2286000" y="4476750"/>
            <a:ext cx="7620000" cy="781050"/>
          </a:xfrm>
          <a:prstGeom prst="roundRect">
            <a:avLst>
              <a:gd name="adj" fmla="val 14634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E93B9-5C56-45EA-8D8C-90055F3CE048}"/>
              </a:ext>
            </a:extLst>
          </p:cNvPr>
          <p:cNvSpPr>
            <a:spLocks noGrp="1"/>
          </p:cNvSpPr>
          <p:nvPr/>
        </p:nvSpPr>
        <p:spPr>
          <a:xfrm>
            <a:off x="2457450" y="4610100"/>
            <a:ext cx="727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Conversion changes the representation — not the language.</a:t>
            </a:r>
          </a:p>
        </p:txBody>
      </p:sp>
    </p:spTree>
    <p:extLst>
      <p:ext uri="{BB962C8B-B14F-4D97-AF65-F5344CB8AC3E}">
        <p14:creationId xmlns:p14="http://schemas.microsoft.com/office/powerpoint/2010/main" val="59220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FA1B2A-AD45-4744-B878-9ECBAC57987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DFA → REGULAR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7215F-F719-49F2-A9B1-4EE85800B9FB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Two reliable routes lead from an automaton to a regular expression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219ACC9-3E7F-44C7-B512-A1E2D1D70BD6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9A4005-E05F-4750-905F-0FB27FEE8FAF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BD2ECD-6C8F-46E9-96FE-1C48FFC3BE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160A1-2EFB-44C6-8776-97C1FEBEDF3D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5CD15-CAFF-4FA1-AADC-65AFA6FB5ADF}"/>
              </a:ext>
            </a:extLst>
          </p:cNvPr>
          <p:cNvSpPr>
            <a:spLocks noGrp="1"/>
          </p:cNvSpPr>
          <p:nvPr/>
        </p:nvSpPr>
        <p:spPr>
          <a:xfrm>
            <a:off x="1790700" y="20955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1E0EA-4291-4972-A3CC-78A82D1B91C4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Write one equation for each state.</a:t>
            </a:r>
          </a:p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Solve the equations algebraically.</a:t>
            </a:r>
          </a:p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Read the expression of the final state.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AFE133-1056-4D7D-8756-5C92BF344C1F}"/>
              </a:ext>
            </a:extLst>
          </p:cNvPr>
          <p:cNvSpPr>
            <a:spLocks noGrp="1"/>
          </p:cNvSpPr>
          <p:nvPr/>
        </p:nvSpPr>
        <p:spPr>
          <a:xfrm>
            <a:off x="6553200" y="180975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9711AB-ADE4-4FDF-8703-F697BB9C0F1F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31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03570-6896-4B22-B2C9-C603A032A650}"/>
              </a:ext>
            </a:extLst>
          </p:cNvPr>
          <p:cNvSpPr>
            <a:spLocks noGrp="1"/>
          </p:cNvSpPr>
          <p:nvPr/>
        </p:nvSpPr>
        <p:spPr>
          <a:xfrm>
            <a:off x="7658100" y="20955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State Elimination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2EE6C-EB71-44FC-83E2-F3B4FD3FD2DF}"/>
              </a:ext>
            </a:extLst>
          </p:cNvPr>
          <p:cNvSpPr>
            <a:spLocks noGrp="1"/>
          </p:cNvSpPr>
          <p:nvPr/>
        </p:nvSpPr>
        <p:spPr>
          <a:xfrm>
            <a:off x="6934200" y="302895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Convert to one start and one final state.</a:t>
            </a:r>
          </a:p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Remove intermediate states one by one.</a:t>
            </a:r>
          </a:p>
          <a:p>
            <a:pPr algn="l">
              <a:lnSpc>
                <a:spcPct val="115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remaining edge label is the RE.</a:t>
            </a:r>
          </a:p>
        </p:txBody>
      </p:sp>
    </p:spTree>
    <p:extLst>
      <p:ext uri="{BB962C8B-B14F-4D97-AF65-F5344CB8AC3E}">
        <p14:creationId xmlns:p14="http://schemas.microsoft.com/office/powerpoint/2010/main" val="58827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A9A2C8D-6047-4366-B3B8-4AB249BF99B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45B588-32D7-486C-AFF2-5057C46F22A7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rule builds every state equation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5EF27F0-5A41-4612-943D-7E999235B657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CC033-4038-4C42-BCB5-899EE0BCFD8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C87311-FF2E-4D2B-843E-136A3C032B8C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68580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0C1CB-8E5A-4CE6-AE4A-222C3C4C55B1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Expression for X = (ε if X is initial) + every path entering 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7ECEBD-8FA6-4812-A77F-FF5691E3D2E3}"/>
              </a:ext>
            </a:extLst>
          </p:cNvPr>
          <p:cNvSpPr>
            <a:spLocks noGrp="1"/>
          </p:cNvSpPr>
          <p:nvPr/>
        </p:nvSpPr>
        <p:spPr>
          <a:xfrm>
            <a:off x="1676400" y="319087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0C0DD7-8641-4D92-B08C-1167130042CB}"/>
              </a:ext>
            </a:extLst>
          </p:cNvPr>
          <p:cNvSpPr>
            <a:spLocks noGrp="1"/>
          </p:cNvSpPr>
          <p:nvPr/>
        </p:nvSpPr>
        <p:spPr>
          <a:xfrm>
            <a:off x="1676400" y="4762500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BA3B4F-794C-429C-984C-769B543587AA}"/>
              </a:ext>
            </a:extLst>
          </p:cNvPr>
          <p:cNvSpPr>
            <a:spLocks noGrp="1"/>
          </p:cNvSpPr>
          <p:nvPr/>
        </p:nvSpPr>
        <p:spPr>
          <a:xfrm>
            <a:off x="4953000" y="396240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cxnSp>
        <p:nvCxnSpPr>
          <p:cNvPr id="26" name="Straight Arrow Connector 25"/>
          <p:cNvCxnSpPr>
            <a:stCxn id="7" idx="6"/>
            <a:endCxn id="9" idx="0"/>
          </p:cNvCxnSpPr>
          <p:nvPr/>
        </p:nvCxnSpPr>
        <p:spPr>
          <a:xfrm>
            <a:off x="2305050" y="3505200"/>
            <a:ext cx="2962275" cy="45720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5F2B3-0AC4-40B9-96D5-9091ACC00BBA}"/>
              </a:ext>
            </a:extLst>
          </p:cNvPr>
          <p:cNvSpPr>
            <a:spLocks noGrp="1"/>
          </p:cNvSpPr>
          <p:nvPr/>
        </p:nvSpPr>
        <p:spPr>
          <a:xfrm>
            <a:off x="3171825" y="32099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28" name="Straight Arrow Connector 27"/>
          <p:cNvCxnSpPr>
            <a:stCxn id="8" idx="6"/>
            <a:endCxn id="9" idx="4"/>
          </p:cNvCxnSpPr>
          <p:nvPr/>
        </p:nvCxnSpPr>
        <p:spPr>
          <a:xfrm flipV="1">
            <a:off x="2305050" y="4591050"/>
            <a:ext cx="2962275" cy="48577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62AA1AD-AA26-4B5C-87CA-EB47E12ED2FD}"/>
              </a:ext>
            </a:extLst>
          </p:cNvPr>
          <p:cNvSpPr>
            <a:spLocks noGrp="1"/>
          </p:cNvSpPr>
          <p:nvPr/>
        </p:nvSpPr>
        <p:spPr>
          <a:xfrm>
            <a:off x="3171825" y="4857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BCFAAA-86B8-4DBC-BC1F-0DF35E5D86C8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3810000" cy="838200"/>
          </a:xfrm>
          <a:prstGeom prst="roundRect">
            <a:avLst>
              <a:gd name="adj" fmla="val 11364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8D43C-BF77-4967-AAD4-31BBC3BDC343}"/>
              </a:ext>
            </a:extLst>
          </p:cNvPr>
          <p:cNvSpPr>
            <a:spLocks noGrp="1"/>
          </p:cNvSpPr>
          <p:nvPr/>
        </p:nvSpPr>
        <p:spPr>
          <a:xfrm>
            <a:off x="7124700" y="3409950"/>
            <a:ext cx="3467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 = Y·a + Z·b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A723A4-99C1-4899-8265-166235C4DFF1}"/>
              </a:ext>
            </a:extLst>
          </p:cNvPr>
          <p:cNvSpPr>
            <a:spLocks noGrp="1"/>
          </p:cNvSpPr>
          <p:nvPr/>
        </p:nvSpPr>
        <p:spPr>
          <a:xfrm>
            <a:off x="7086600" y="4429125"/>
            <a:ext cx="361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Read each term as:</a:t>
            </a:r>
          </a:p>
          <a:p>
            <a:pPr algn="l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(expression reaching predecessor) · (edge label)</a:t>
            </a:r>
          </a:p>
        </p:txBody>
      </p:sp>
    </p:spTree>
    <p:extLst>
      <p:ext uri="{BB962C8B-B14F-4D97-AF65-F5344CB8AC3E}">
        <p14:creationId xmlns:p14="http://schemas.microsoft.com/office/powerpoint/2010/main" val="123072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BA1DFC-16EC-4002-A7FD-F7925B35660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C10AC-540F-4461-908D-E39282627883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Arden’s Theorem removes a right-side self-reference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5253AA3-E81A-41CA-AF31-EA8B213BF2C3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CE6A18-2324-4F15-BAF6-76E5820EA26E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2160-E9BC-443B-B716-A5D41495C4D9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RIGHT-LINEAR FORM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E38698-FE8B-49E2-A05C-211EA1104756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4667250" cy="1028700"/>
          </a:xfrm>
          <a:prstGeom prst="roundRect">
            <a:avLst>
              <a:gd name="adj" fmla="val 925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9A90B-D5DF-49DA-BDD1-C9C0E770AEDA}"/>
              </a:ext>
            </a:extLst>
          </p:cNvPr>
          <p:cNvSpPr>
            <a:spLocks noGrp="1"/>
          </p:cNvSpPr>
          <p:nvPr/>
        </p:nvSpPr>
        <p:spPr>
          <a:xfrm>
            <a:off x="952500" y="2124075"/>
            <a:ext cx="4324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 + R·P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DB5E1-8DCB-4897-ACC3-1ACBCB7F2D21}"/>
              </a:ext>
            </a:extLst>
          </p:cNvPr>
          <p:cNvSpPr>
            <a:spLocks noGrp="1"/>
          </p:cNvSpPr>
          <p:nvPr/>
        </p:nvSpPr>
        <p:spPr>
          <a:xfrm>
            <a:off x="5829300" y="23050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BB5AE0-8394-40B1-A15F-CB6F5E622F12}"/>
              </a:ext>
            </a:extLst>
          </p:cNvPr>
          <p:cNvSpPr>
            <a:spLocks noGrp="1"/>
          </p:cNvSpPr>
          <p:nvPr/>
        </p:nvSpPr>
        <p:spPr>
          <a:xfrm>
            <a:off x="8115300" y="2047875"/>
            <a:ext cx="3295650" cy="1028700"/>
          </a:xfrm>
          <a:prstGeom prst="roundRect">
            <a:avLst>
              <a:gd name="adj" fmla="val 9259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85C7C-6578-435B-B038-704305A5D5B0}"/>
              </a:ext>
            </a:extLst>
          </p:cNvPr>
          <p:cNvSpPr>
            <a:spLocks noGrp="1"/>
          </p:cNvSpPr>
          <p:nvPr/>
        </p:nvSpPr>
        <p:spPr>
          <a:xfrm>
            <a:off x="8286750" y="2124075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 = Q·P*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902F62-4B6F-4E6A-9DBA-9B40B48B4CAF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2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60AE9-9E39-4B58-862E-E4567B0DCC79}"/>
              </a:ext>
            </a:extLst>
          </p:cNvPr>
          <p:cNvSpPr>
            <a:spLocks noGrp="1"/>
          </p:cNvSpPr>
          <p:nvPr/>
        </p:nvSpPr>
        <p:spPr>
          <a:xfrm>
            <a:off x="1905000" y="36671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ways to enter R without using its repeated loop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7E7D26-21B3-4B24-9570-ED3609CC7F8E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5D67A5-F9DF-42A2-BC9B-53125A2180A0}"/>
              </a:ext>
            </a:extLst>
          </p:cNvPr>
          <p:cNvSpPr>
            <a:spLocks noGrp="1"/>
          </p:cNvSpPr>
          <p:nvPr/>
        </p:nvSpPr>
        <p:spPr>
          <a:xfrm>
            <a:off x="1905000" y="43910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repeat the loop zero or more times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3475BC-314F-4913-B4EC-FAB984A060A9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8191500" cy="590550"/>
          </a:xfrm>
          <a:prstGeom prst="roundRect">
            <a:avLst>
              <a:gd name="adj" fmla="val 19355"/>
            </a:avLst>
          </a:prstGeom>
          <a:solidFill>
            <a:srgbClr val="FDE8E7"/>
          </a:solidFill>
          <a:ln w="9525">
            <a:solidFill>
              <a:srgbClr val="C2413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7C4E5-AD33-42AC-BB59-BC2E503B3FDE}"/>
              </a:ext>
            </a:extLst>
          </p:cNvPr>
          <p:cNvSpPr>
            <a:spLocks noGrp="1"/>
          </p:cNvSpPr>
          <p:nvPr/>
        </p:nvSpPr>
        <p:spPr>
          <a:xfrm>
            <a:off x="2171700" y="5562600"/>
            <a:ext cx="784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Order matters: R = Q + P·R gives R = P*·Q.</a:t>
            </a:r>
          </a:p>
        </p:txBody>
      </p:sp>
    </p:spTree>
    <p:extLst>
      <p:ext uri="{BB962C8B-B14F-4D97-AF65-F5344CB8AC3E}">
        <p14:creationId xmlns:p14="http://schemas.microsoft.com/office/powerpoint/2010/main" val="52399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E6D2175-5201-4A4E-BF83-446478B27EE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BC5039-0C8D-427A-ACC9-E5DA0C6F7289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star appears because the loop may repeat any number of times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4E081D2-119F-475D-B1E2-0606B205A50B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5978E-3A1C-41C8-B7D7-027BA1DD5CA7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ABD969-3245-4E4D-8517-B14CD23C4A48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40005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EF459-F586-41A7-90B5-18DC73F75EFB}"/>
              </a:ext>
            </a:extLst>
          </p:cNvPr>
          <p:cNvSpPr>
            <a:spLocks noGrp="1"/>
          </p:cNvSpPr>
          <p:nvPr/>
        </p:nvSpPr>
        <p:spPr>
          <a:xfrm>
            <a:off x="1219200" y="1695450"/>
            <a:ext cx="3657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 + R·P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0C268A-263B-4640-9D33-2C20D4C14DEF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Substitute R into itself: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F8DB52-2DF0-4F73-A29B-AA237BAF3C09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59055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1FFD59-B395-47E4-95C2-9DD3D6E6CA01}"/>
              </a:ext>
            </a:extLst>
          </p:cNvPr>
          <p:cNvSpPr>
            <a:spLocks noGrp="1"/>
          </p:cNvSpPr>
          <p:nvPr/>
        </p:nvSpPr>
        <p:spPr>
          <a:xfrm>
            <a:off x="1219200" y="3219450"/>
            <a:ext cx="5562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 + Q·P + R·P²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FC111B-06AA-4E28-89B8-2444B3271363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752475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E07316-7842-4A3B-8644-312CE66174E2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7181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 + Q·P + Q·P² + R·P³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ABA5F-62C4-446F-AC9F-EC48EC0C6456}"/>
              </a:ext>
            </a:extLst>
          </p:cNvPr>
          <p:cNvSpPr>
            <a:spLocks noGrp="1"/>
          </p:cNvSpPr>
          <p:nvPr/>
        </p:nvSpPr>
        <p:spPr>
          <a:xfrm>
            <a:off x="8763000" y="43053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650" b="0" i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…continuing forever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45BA06-4106-483C-899D-3E816A0D69BE}"/>
              </a:ext>
            </a:extLst>
          </p:cNvPr>
          <p:cNvSpPr>
            <a:spLocks noGrp="1"/>
          </p:cNvSpPr>
          <p:nvPr/>
        </p:nvSpPr>
        <p:spPr>
          <a:xfrm>
            <a:off x="2095500" y="5381625"/>
            <a:ext cx="8001000" cy="666750"/>
          </a:xfrm>
          <a:prstGeom prst="roundRect">
            <a:avLst>
              <a:gd name="adj" fmla="val 17143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Q(ε + P + P² + …) = Q·P*</a:t>
            </a:r>
          </a:p>
        </p:txBody>
      </p:sp>
    </p:spTree>
    <p:extLst>
      <p:ext uri="{BB962C8B-B14F-4D97-AF65-F5344CB8AC3E}">
        <p14:creationId xmlns:p14="http://schemas.microsoft.com/office/powerpoint/2010/main" val="12086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A1019E8-EB9E-40E7-8FDD-EE81CAC7F51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9EEA4-E548-4CE1-B840-089205BF8074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uniqueness condition is ε ∉ L(P)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A432AD1-E42A-4F8A-9735-C07E2FDCEE8E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1705F-AD88-4EB9-A7CD-B6DAA77D3F4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558EB3-4C21-4B66-89BD-F5D6A6304539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5095875" cy="3190875"/>
          </a:xfrm>
          <a:prstGeom prst="roundRect">
            <a:avLst>
              <a:gd name="adj" fmla="val 3582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CE517-B25F-446F-84F5-4A958C73A574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2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When ε is not generated by 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1622D-E7FB-4678-9128-545615E1D0B7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4429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 = Q·P* is the unique solution.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D5072-2F14-4D20-819C-3D6813E77526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4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This is the usual situation when P is a real transition label or loop expression that consumes input.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D0AA4-C03D-48FD-963A-37BABC645A85}"/>
              </a:ext>
            </a:extLst>
          </p:cNvPr>
          <p:cNvSpPr>
            <a:spLocks noGrp="1"/>
          </p:cNvSpPr>
          <p:nvPr/>
        </p:nvSpPr>
        <p:spPr>
          <a:xfrm>
            <a:off x="6353175" y="1676400"/>
            <a:ext cx="5095875" cy="3190875"/>
          </a:xfrm>
          <a:prstGeom prst="roundRect">
            <a:avLst>
              <a:gd name="adj" fmla="val 3582"/>
            </a:avLst>
          </a:prstGeom>
          <a:solidFill>
            <a:srgbClr val="FDE8E7"/>
          </a:solidFill>
          <a:ln w="9525">
            <a:solidFill>
              <a:srgbClr val="C2413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0FD3B0-40B6-4ECF-993D-322194B71E83}"/>
              </a:ext>
            </a:extLst>
          </p:cNvPr>
          <p:cNvSpPr>
            <a:spLocks noGrp="1"/>
          </p:cNvSpPr>
          <p:nvPr/>
        </p:nvSpPr>
        <p:spPr>
          <a:xfrm>
            <a:off x="6677025" y="2019300"/>
            <a:ext cx="442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250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When ε belongs to 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BAA11-E39D-49EF-8C19-B17587DBAE21}"/>
              </a:ext>
            </a:extLst>
          </p:cNvPr>
          <p:cNvSpPr>
            <a:spLocks noGrp="1"/>
          </p:cNvSpPr>
          <p:nvPr/>
        </p:nvSpPr>
        <p:spPr>
          <a:xfrm>
            <a:off x="6677025" y="2781300"/>
            <a:ext cx="4429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Q·P* is still a solution, but uniqueness is not guaranteed.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34C8A-B93A-4BB3-8105-F3924E95A46D}"/>
              </a:ext>
            </a:extLst>
          </p:cNvPr>
          <p:cNvSpPr>
            <a:spLocks noGrp="1"/>
          </p:cNvSpPr>
          <p:nvPr/>
        </p:nvSpPr>
        <p:spPr>
          <a:xfrm>
            <a:off x="6677025" y="382905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4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Check the coefficient of the self-reference before applying the theorem mechanically.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1CA6B6-7BA2-4899-9F01-51CB9A996266}"/>
              </a:ext>
            </a:extLst>
          </p:cNvPr>
          <p:cNvSpPr>
            <a:spLocks noGrp="1"/>
          </p:cNvSpPr>
          <p:nvPr/>
        </p:nvSpPr>
        <p:spPr>
          <a:xfrm>
            <a:off x="1447800" y="5314950"/>
            <a:ext cx="9296400" cy="628650"/>
          </a:xfrm>
          <a:prstGeom prst="roundRect">
            <a:avLst>
              <a:gd name="adj" fmla="val 18182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799D9-B3CA-457E-896E-D36FD2A4EC47}"/>
              </a:ext>
            </a:extLst>
          </p:cNvPr>
          <p:cNvSpPr>
            <a:spLocks noGrp="1"/>
          </p:cNvSpPr>
          <p:nvPr/>
        </p:nvSpPr>
        <p:spPr>
          <a:xfrm>
            <a:off x="1619250" y="54483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Clarification: Arden’s Theorem itself does not require a special ‘no ε-edge’ diagram rule.</a:t>
            </a:r>
          </a:p>
        </p:txBody>
      </p:sp>
    </p:spTree>
    <p:extLst>
      <p:ext uri="{BB962C8B-B14F-4D97-AF65-F5344CB8AC3E}">
        <p14:creationId xmlns:p14="http://schemas.microsoft.com/office/powerpoint/2010/main" val="162856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C3E0029-570F-4180-A831-D07BFFD70F3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6169-4BA6-4BBC-AE82-F49F360B1D7E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the same six-step routine every time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DA9C97C-BC56-4A75-9060-47E76C1FB2B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D61E1-DF33-4F4A-9119-905410218A9F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5DE7A-5337-4225-BF88-3005461F756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1D1C5-ABBD-442A-BD79-C0DAAFD0A198}"/>
              </a:ext>
            </a:extLst>
          </p:cNvPr>
          <p:cNvSpPr>
            <a:spLocks noGrp="1"/>
          </p:cNvSpPr>
          <p:nvPr/>
        </p:nvSpPr>
        <p:spPr>
          <a:xfrm>
            <a:off x="1295400" y="16192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Name the state expressions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1045-AFC5-4434-9753-05E9A5EAF2B9}"/>
              </a:ext>
            </a:extLst>
          </p:cNvPr>
          <p:cNvSpPr>
            <a:spLocks noGrp="1"/>
          </p:cNvSpPr>
          <p:nvPr/>
        </p:nvSpPr>
        <p:spPr>
          <a:xfrm>
            <a:off x="1295400" y="20193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Let Rᵢ denote all strings that take the start state to qᵢ.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82D4A0-FAF8-4D47-B8CC-991DF9690658}"/>
              </a:ext>
            </a:extLst>
          </p:cNvPr>
          <p:cNvSpPr>
            <a:spLocks noGrp="1"/>
          </p:cNvSpPr>
          <p:nvPr/>
        </p:nvSpPr>
        <p:spPr>
          <a:xfrm>
            <a:off x="6315075" y="1619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135680-631C-4C3E-8791-AC002CA2E6ED}"/>
              </a:ext>
            </a:extLst>
          </p:cNvPr>
          <p:cNvSpPr>
            <a:spLocks noGrp="1"/>
          </p:cNvSpPr>
          <p:nvPr/>
        </p:nvSpPr>
        <p:spPr>
          <a:xfrm>
            <a:off x="6924675" y="16192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Write incoming-transition equations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5669D-4A66-466B-83FB-7AB4A497A3E8}"/>
              </a:ext>
            </a:extLst>
          </p:cNvPr>
          <p:cNvSpPr>
            <a:spLocks noGrp="1"/>
          </p:cNvSpPr>
          <p:nvPr/>
        </p:nvSpPr>
        <p:spPr>
          <a:xfrm>
            <a:off x="6924675" y="20193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every edge qⱼ —x→ qᵢ, add Rⱼ·x to Rᵢ.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783EA8-CEA5-41BB-ACCD-9CCC294D09C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A3DDF5-0F6C-461A-A0EC-83BBC0421B93}"/>
              </a:ext>
            </a:extLst>
          </p:cNvPr>
          <p:cNvSpPr>
            <a:spLocks noGrp="1"/>
          </p:cNvSpPr>
          <p:nvPr/>
        </p:nvSpPr>
        <p:spPr>
          <a:xfrm>
            <a:off x="1295400" y="29527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Add ε to the initial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0EDE7-FC3B-464A-86ED-6AA1BF18AEA0}"/>
              </a:ext>
            </a:extLst>
          </p:cNvPr>
          <p:cNvSpPr>
            <a:spLocks noGrp="1"/>
          </p:cNvSpPr>
          <p:nvPr/>
        </p:nvSpPr>
        <p:spPr>
          <a:xfrm>
            <a:off x="1295400" y="33528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Because the initial state is reachable without reading a symbol.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FAD564-0002-4903-946A-19766B3DACB5}"/>
              </a:ext>
            </a:extLst>
          </p:cNvPr>
          <p:cNvSpPr>
            <a:spLocks noGrp="1"/>
          </p:cNvSpPr>
          <p:nvPr/>
        </p:nvSpPr>
        <p:spPr>
          <a:xfrm>
            <a:off x="6315075" y="29527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A873D-A63D-4A90-AB53-90B5A7F120C1}"/>
              </a:ext>
            </a:extLst>
          </p:cNvPr>
          <p:cNvSpPr>
            <a:spLocks noGrp="1"/>
          </p:cNvSpPr>
          <p:nvPr/>
        </p:nvSpPr>
        <p:spPr>
          <a:xfrm>
            <a:off x="6924675" y="29527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Substitute simpler equations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C56958-7BF0-41B5-817B-A52D6572B252}"/>
              </a:ext>
            </a:extLst>
          </p:cNvPr>
          <p:cNvSpPr>
            <a:spLocks noGrp="1"/>
          </p:cNvSpPr>
          <p:nvPr/>
        </p:nvSpPr>
        <p:spPr>
          <a:xfrm>
            <a:off x="6924675" y="33528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Express each final-state equation using as few unknowns as possible.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F146FC-041E-4897-A72C-1AC46D9FD275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027321-8847-4427-974E-8FC44AE56888}"/>
              </a:ext>
            </a:extLst>
          </p:cNvPr>
          <p:cNvSpPr>
            <a:spLocks noGrp="1"/>
          </p:cNvSpPr>
          <p:nvPr/>
        </p:nvSpPr>
        <p:spPr>
          <a:xfrm>
            <a:off x="1295400" y="42862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Match R = Q + R·P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0A4C75-E459-4555-A415-BF3875517CF3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Group every non-R term inside Q and the repeated suffix inside P.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9CEBEF-73DB-4FF2-A1C8-F2A6FBA070DA}"/>
              </a:ext>
            </a:extLst>
          </p:cNvPr>
          <p:cNvSpPr>
            <a:spLocks noGrp="1"/>
          </p:cNvSpPr>
          <p:nvPr/>
        </p:nvSpPr>
        <p:spPr>
          <a:xfrm>
            <a:off x="6315075" y="4286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5BD7DC-BC4A-4BA2-AF70-202FF1863D13}"/>
              </a:ext>
            </a:extLst>
          </p:cNvPr>
          <p:cNvSpPr>
            <a:spLocks noGrp="1"/>
          </p:cNvSpPr>
          <p:nvPr/>
        </p:nvSpPr>
        <p:spPr>
          <a:xfrm>
            <a:off x="6924675" y="4286250"/>
            <a:ext cx="4581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Apply Arden and collect finals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2E9C52-1459-4B2B-94CC-02F87E3366E6}"/>
              </a:ext>
            </a:extLst>
          </p:cNvPr>
          <p:cNvSpPr>
            <a:spLocks noGrp="1"/>
          </p:cNvSpPr>
          <p:nvPr/>
        </p:nvSpPr>
        <p:spPr>
          <a:xfrm>
            <a:off x="6924675" y="4686300"/>
            <a:ext cx="45815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one final state, its expression is the answer; for many, take the union.</a:t>
            </a:r>
          </a:p>
        </p:txBody>
      </p:sp>
    </p:spTree>
    <p:extLst>
      <p:ext uri="{BB962C8B-B14F-4D97-AF65-F5344CB8AC3E}">
        <p14:creationId xmlns:p14="http://schemas.microsoft.com/office/powerpoint/2010/main" val="80220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0CD9CFE-5DF2-444D-BED0-B12906DDAEE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AE2F5-ACBE-4DA2-8D5D-94521F5C4ED6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1: first read the language directly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C5511A9-CB0E-4591-A58E-B01092C868C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30625-0FA5-4116-8D3D-8CD12E887683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5DD5FF-5EB0-49D9-AF91-B9B4A7853ECA}"/>
              </a:ext>
            </a:extLst>
          </p:cNvPr>
          <p:cNvSpPr>
            <a:spLocks noGrp="1"/>
          </p:cNvSpPr>
          <p:nvPr/>
        </p:nvSpPr>
        <p:spPr>
          <a:xfrm>
            <a:off x="4095750" y="2476500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45C508-0A9A-49CB-B60D-85DE7DCAEF5D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ED7750-FFBB-4016-A901-43969A4A3A8C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26" name="Straight Arrow Connector 25"/>
          <p:cNvCxnSpPr>
            <a:stCxn id="5" idx="6"/>
            <a:endCxn id="6" idx="2"/>
          </p:cNvCxnSpPr>
          <p:nvPr/>
        </p:nvCxnSpPr>
        <p:spPr>
          <a:xfrm>
            <a:off x="4724400" y="2790825"/>
            <a:ext cx="17526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CAF5D5B-99D6-4DB7-ACC5-38CBDC0E7AE4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28" name="Connector: Curved 27"/>
          <p:cNvCxnSpPr>
            <a:cxnSpLocks/>
            <a:stCxn id="6" idx="4"/>
            <a:endCxn id="5" idx="4"/>
          </p:cNvCxnSpPr>
          <p:nvPr/>
        </p:nvCxnSpPr>
        <p:spPr>
          <a:xfrm rot="5400000">
            <a:off x="5600700" y="1914525"/>
            <a:ext cx="12700" cy="2381250"/>
          </a:xfrm>
          <a:prstGeom prst="curvedConnector3">
            <a:avLst>
              <a:gd name="adj1" fmla="val 1800000"/>
            </a:avLst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249032D-31C8-4FE6-A051-64200CC6DE0C}"/>
              </a:ext>
            </a:extLst>
          </p:cNvPr>
          <p:cNvSpPr>
            <a:spLocks noGrp="1"/>
          </p:cNvSpPr>
          <p:nvPr/>
        </p:nvSpPr>
        <p:spPr>
          <a:xfrm>
            <a:off x="5095875" y="33147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BBF01F-7DCA-4CE8-8203-1F6D61425E78}"/>
              </a:ext>
            </a:extLst>
          </p:cNvPr>
          <p:cNvSpPr>
            <a:spLocks noGrp="1"/>
          </p:cNvSpPr>
          <p:nvPr/>
        </p:nvSpPr>
        <p:spPr>
          <a:xfrm>
            <a:off x="3295650" y="27813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31" name="Straight Arrow Connector 30"/>
          <p:cNvCxnSpPr>
            <a:stCxn id="12" idx="6"/>
            <a:endCxn id="5" idx="2"/>
          </p:cNvCxnSpPr>
          <p:nvPr/>
        </p:nvCxnSpPr>
        <p:spPr>
          <a:xfrm>
            <a:off x="3314700" y="2790825"/>
            <a:ext cx="7810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36AEBBA-B66B-462D-A03E-013CFC71565C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 at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BD1D4-3045-413D-BA76-3119BA089AB5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0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Accept at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7BE53F-04D8-409D-AE54-557B09697C6F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2857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 reach B the first symbol must be 0.</a:t>
            </a:r>
          </a:p>
          <a:p>
            <a:pPr algn="l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After that, every return to B uses the pair 10.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6A44C9-7DC7-4EA7-A7B7-9060992A50F4}"/>
              </a:ext>
            </a:extLst>
          </p:cNvPr>
          <p:cNvSpPr>
            <a:spLocks noGrp="1"/>
          </p:cNvSpPr>
          <p:nvPr/>
        </p:nvSpPr>
        <p:spPr>
          <a:xfrm>
            <a:off x="7477125" y="4714875"/>
            <a:ext cx="3143250" cy="685800"/>
          </a:xfrm>
          <a:prstGeom prst="roundRect">
            <a:avLst>
              <a:gd name="adj" fmla="val 16667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056AA6-CCD8-40E2-9D1F-B7EC48517385}"/>
              </a:ext>
            </a:extLst>
          </p:cNvPr>
          <p:cNvSpPr>
            <a:spLocks noGrp="1"/>
          </p:cNvSpPr>
          <p:nvPr/>
        </p:nvSpPr>
        <p:spPr>
          <a:xfrm>
            <a:off x="7648575" y="484822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Prediction: 0(10)*</a:t>
            </a:r>
          </a:p>
        </p:txBody>
      </p:sp>
    </p:spTree>
    <p:extLst>
      <p:ext uri="{BB962C8B-B14F-4D97-AF65-F5344CB8AC3E}">
        <p14:creationId xmlns:p14="http://schemas.microsoft.com/office/powerpoint/2010/main" val="1219647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D30561A-7031-4BF6-A797-69D16BD55314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F4A80C-BE73-4BBA-9D4D-E277907F70BB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1: write one equation for each state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DC0D0DB-47FF-4F69-BF39-655880B5A230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E06699-DB68-49B8-8204-3A1851DC9414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0A7B02-B947-44DF-935D-2D7BF6C57844}"/>
              </a:ext>
            </a:extLst>
          </p:cNvPr>
          <p:cNvSpPr>
            <a:spLocks noGrp="1"/>
          </p:cNvSpPr>
          <p:nvPr/>
        </p:nvSpPr>
        <p:spPr>
          <a:xfrm>
            <a:off x="7334250" y="2333625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3D23A4-BE04-4C82-930A-D20E0A04DF00}"/>
              </a:ext>
            </a:extLst>
          </p:cNvPr>
          <p:cNvSpPr>
            <a:spLocks noGrp="1"/>
          </p:cNvSpPr>
          <p:nvPr/>
        </p:nvSpPr>
        <p:spPr>
          <a:xfrm>
            <a:off x="9477375" y="2333625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7D8CF5-EC79-4AA2-85E2-0188403149D0}"/>
              </a:ext>
            </a:extLst>
          </p:cNvPr>
          <p:cNvSpPr>
            <a:spLocks noGrp="1"/>
          </p:cNvSpPr>
          <p:nvPr/>
        </p:nvSpPr>
        <p:spPr>
          <a:xfrm>
            <a:off x="9534525" y="2390775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29" name="Straight Arrow Connector 28"/>
          <p:cNvCxnSpPr>
            <a:stCxn id="5" idx="6"/>
            <a:endCxn id="6" idx="2"/>
          </p:cNvCxnSpPr>
          <p:nvPr/>
        </p:nvCxnSpPr>
        <p:spPr>
          <a:xfrm>
            <a:off x="7962900" y="2647950"/>
            <a:ext cx="1514475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6A0A8C-CD04-4727-96A5-31D0660348F8}"/>
              </a:ext>
            </a:extLst>
          </p:cNvPr>
          <p:cNvSpPr>
            <a:spLocks noGrp="1"/>
          </p:cNvSpPr>
          <p:nvPr/>
        </p:nvSpPr>
        <p:spPr>
          <a:xfrm>
            <a:off x="8234363" y="20002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31" name="Connector: Curved 30"/>
          <p:cNvCxnSpPr>
            <a:cxnSpLocks/>
            <a:stCxn id="6" idx="4"/>
            <a:endCxn id="5" idx="4"/>
          </p:cNvCxnSpPr>
          <p:nvPr/>
        </p:nvCxnSpPr>
        <p:spPr>
          <a:xfrm rot="5400000">
            <a:off x="8720138" y="1890713"/>
            <a:ext cx="12700" cy="2143125"/>
          </a:xfrm>
          <a:prstGeom prst="curvedConnector3">
            <a:avLst>
              <a:gd name="adj1" fmla="val 1800000"/>
            </a:avLst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92484-77FB-49A9-9249-9C9E12B40D50}"/>
              </a:ext>
            </a:extLst>
          </p:cNvPr>
          <p:cNvSpPr>
            <a:spLocks noGrp="1"/>
          </p:cNvSpPr>
          <p:nvPr/>
        </p:nvSpPr>
        <p:spPr>
          <a:xfrm>
            <a:off x="8234363" y="31718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EF4446-256B-4DFC-AAD6-7E9FA5F3116A}"/>
              </a:ext>
            </a:extLst>
          </p:cNvPr>
          <p:cNvSpPr>
            <a:spLocks noGrp="1"/>
          </p:cNvSpPr>
          <p:nvPr/>
        </p:nvSpPr>
        <p:spPr>
          <a:xfrm>
            <a:off x="6534150" y="2638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34" name="Straight Arrow Connector 33"/>
          <p:cNvCxnSpPr>
            <a:stCxn id="12" idx="6"/>
            <a:endCxn id="5" idx="2"/>
          </p:cNvCxnSpPr>
          <p:nvPr/>
        </p:nvCxnSpPr>
        <p:spPr>
          <a:xfrm>
            <a:off x="6553200" y="2647950"/>
            <a:ext cx="7810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1934D-AF8F-4992-9AB6-B606298CB665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Equation for 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CEC29D-C0A4-4FE3-AD05-AEE2C217C607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4953000" cy="742950"/>
          </a:xfrm>
          <a:prstGeom prst="roundRect">
            <a:avLst>
              <a:gd name="adj" fmla="val 12821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D4E60-1DFB-4251-AD77-07C7514ED317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4610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= ε + B·1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BC1507-58B1-4026-A34C-773A2021E10B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4572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ε because A is initial</a:t>
            </a:r>
          </a:p>
          <a:p>
            <a:pPr algn="l">
              <a:lnSpc>
                <a:spcPct val="115000"/>
              </a:lnSpc>
              <a:buNone/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B·1 because B —1→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052A95-BB4D-49B7-AC8B-0168F256C059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Equation for 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105A6F-5D11-4378-8C55-805E90FC1029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4953000" cy="742950"/>
          </a:xfrm>
          <a:prstGeom prst="roundRect">
            <a:avLst>
              <a:gd name="adj" fmla="val 12821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6ABA4A-982E-4283-988E-96C71B5D42F6}"/>
              </a:ext>
            </a:extLst>
          </p:cNvPr>
          <p:cNvSpPr>
            <a:spLocks noGrp="1"/>
          </p:cNvSpPr>
          <p:nvPr/>
        </p:nvSpPr>
        <p:spPr>
          <a:xfrm>
            <a:off x="933450" y="4743450"/>
            <a:ext cx="4610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 = A·0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06DDAC-ECD1-40AA-8090-F337E26A0500}"/>
              </a:ext>
            </a:extLst>
          </p:cNvPr>
          <p:cNvSpPr>
            <a:spLocks noGrp="1"/>
          </p:cNvSpPr>
          <p:nvPr/>
        </p:nvSpPr>
        <p:spPr>
          <a:xfrm>
            <a:off x="1028700" y="5524500"/>
            <a:ext cx="466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Only one transition enters B: A —0→ B</a:t>
            </a:r>
          </a:p>
        </p:txBody>
      </p:sp>
    </p:spTree>
    <p:extLst>
      <p:ext uri="{BB962C8B-B14F-4D97-AF65-F5344CB8AC3E}">
        <p14:creationId xmlns:p14="http://schemas.microsoft.com/office/powerpoint/2010/main" val="8589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B06CA7-CA37-4225-BB10-BB1C0657CF2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F8FD5-7B71-4FB8-AE87-A9DBE39696D3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1: substitute A into the final-state equation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275EBEF-BFB3-45A7-AFDC-C019F0EBF181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660FD4-6A25-474E-8BD0-924EFE38EE7C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C968E7-CDC2-42CC-8657-EA8E1FE96048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4095750" cy="647700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82F6E1-2B15-4B24-A093-5762BDB7A7FC}"/>
              </a:ext>
            </a:extLst>
          </p:cNvPr>
          <p:cNvSpPr>
            <a:spLocks noGrp="1"/>
          </p:cNvSpPr>
          <p:nvPr/>
        </p:nvSpPr>
        <p:spPr>
          <a:xfrm>
            <a:off x="1219200" y="1647825"/>
            <a:ext cx="3752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 = A·0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F7CB6-C876-48CE-B09A-1EAC924A1099}"/>
              </a:ext>
            </a:extLst>
          </p:cNvPr>
          <p:cNvSpPr>
            <a:spLocks noGrp="1"/>
          </p:cNvSpPr>
          <p:nvPr/>
        </p:nvSpPr>
        <p:spPr>
          <a:xfrm>
            <a:off x="5810250" y="1685925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Use A = ε + B·1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4E834E-CEC4-4801-844D-1847F0D8C5DA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6191250" cy="723900"/>
          </a:xfrm>
          <a:prstGeom prst="roundRect">
            <a:avLst>
              <a:gd name="adj" fmla="val 13158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2301D7-2DA4-4507-A448-CF761127933E}"/>
              </a:ext>
            </a:extLst>
          </p:cNvPr>
          <p:cNvSpPr>
            <a:spLocks noGrp="1"/>
          </p:cNvSpPr>
          <p:nvPr/>
        </p:nvSpPr>
        <p:spPr>
          <a:xfrm>
            <a:off x="1219200" y="2762250"/>
            <a:ext cx="584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 = (ε + B·1)·0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48475D-E815-4A80-8905-C84724589386}"/>
              </a:ext>
            </a:extLst>
          </p:cNvPr>
          <p:cNvSpPr>
            <a:spLocks noGrp="1"/>
          </p:cNvSpPr>
          <p:nvPr/>
        </p:nvSpPr>
        <p:spPr>
          <a:xfrm>
            <a:off x="7620000" y="28575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72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Distribute ·0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FB0A85-F580-48F4-B0E7-C05C70FF17E5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6191250" cy="723900"/>
          </a:xfrm>
          <a:prstGeom prst="roundRect">
            <a:avLst>
              <a:gd name="adj" fmla="val 13158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77A217-0B71-4CF0-AC72-22B1D05C9F73}"/>
              </a:ext>
            </a:extLst>
          </p:cNvPr>
          <p:cNvSpPr>
            <a:spLocks noGrp="1"/>
          </p:cNvSpPr>
          <p:nvPr/>
        </p:nvSpPr>
        <p:spPr>
          <a:xfrm>
            <a:off x="1219200" y="3905250"/>
            <a:ext cx="584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 = ε·0 + B·1·0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E792E4-50EB-40F2-97E7-473A1BE7F992}"/>
              </a:ext>
            </a:extLst>
          </p:cNvPr>
          <p:cNvSpPr>
            <a:spLocks noGrp="1"/>
          </p:cNvSpPr>
          <p:nvPr/>
        </p:nvSpPr>
        <p:spPr>
          <a:xfrm>
            <a:off x="7620000" y="40005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72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Use ε·0 = 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9E895E-4634-4205-AF27-BE977C0E9BE4}"/>
              </a:ext>
            </a:extLst>
          </p:cNvPr>
          <p:cNvSpPr>
            <a:spLocks noGrp="1"/>
          </p:cNvSpPr>
          <p:nvPr/>
        </p:nvSpPr>
        <p:spPr>
          <a:xfrm>
            <a:off x="2286000" y="5105400"/>
            <a:ext cx="7620000" cy="781050"/>
          </a:xfrm>
          <a:prstGeom prst="roundRect">
            <a:avLst>
              <a:gd name="adj" fmla="val 12195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AD661C-A178-4FEA-AC10-3B7FCCA8A6D2}"/>
              </a:ext>
            </a:extLst>
          </p:cNvPr>
          <p:cNvSpPr>
            <a:spLocks noGrp="1"/>
          </p:cNvSpPr>
          <p:nvPr/>
        </p:nvSpPr>
        <p:spPr>
          <a:xfrm>
            <a:off x="2457450" y="5181600"/>
            <a:ext cx="727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 = 0 + B·(10)</a:t>
            </a:r>
          </a:p>
        </p:txBody>
      </p:sp>
    </p:spTree>
    <p:extLst>
      <p:ext uri="{BB962C8B-B14F-4D97-AF65-F5344CB8AC3E}">
        <p14:creationId xmlns:p14="http://schemas.microsoft.com/office/powerpoint/2010/main" val="386714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342060-A324-47EE-ABE2-8CE34DAFDD64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EBB633-C6E6-4918-979B-199C9634B3FC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1: match Q and P, then apply Arden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C66060A-339F-465B-953B-4166A343B8F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04FAA-447B-4D68-936F-4568222F9783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87E9EC-BBD8-4F9B-A19F-6E59C95F1646}"/>
              </a:ext>
            </a:extLst>
          </p:cNvPr>
          <p:cNvSpPr>
            <a:spLocks noGrp="1"/>
          </p:cNvSpPr>
          <p:nvPr/>
        </p:nvSpPr>
        <p:spPr>
          <a:xfrm>
            <a:off x="1619250" y="1619250"/>
            <a:ext cx="8953500" cy="85725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3F6A2-5C1A-428D-9FD9-5A4186C682F6}"/>
              </a:ext>
            </a:extLst>
          </p:cNvPr>
          <p:cNvSpPr>
            <a:spLocks noGrp="1"/>
          </p:cNvSpPr>
          <p:nvPr/>
        </p:nvSpPr>
        <p:spPr>
          <a:xfrm>
            <a:off x="1790700" y="1695450"/>
            <a:ext cx="8610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 = 0 + B·(10)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05847B-335B-4266-A40D-31042A6D97A1}"/>
              </a:ext>
            </a:extLst>
          </p:cNvPr>
          <p:cNvSpPr>
            <a:spLocks noGrp="1"/>
          </p:cNvSpPr>
          <p:nvPr/>
        </p:nvSpPr>
        <p:spPr>
          <a:xfrm>
            <a:off x="2438400" y="3095625"/>
            <a:ext cx="2381250" cy="571500"/>
          </a:xfrm>
          <a:prstGeom prst="roundRect">
            <a:avLst>
              <a:gd name="adj" fmla="val 16667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40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Q = 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B4C633-FC05-4A3F-BC48-AF188C4D1ADE}"/>
              </a:ext>
            </a:extLst>
          </p:cNvPr>
          <p:cNvSpPr>
            <a:spLocks noGrp="1"/>
          </p:cNvSpPr>
          <p:nvPr/>
        </p:nvSpPr>
        <p:spPr>
          <a:xfrm>
            <a:off x="7372350" y="3095625"/>
            <a:ext cx="2381250" cy="57150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20A85-1ADC-47E8-8CEC-DC26BFC558AF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Arden: B = Q·P*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841D4F-BEA6-4505-A764-3CA84EF37834}"/>
              </a:ext>
            </a:extLst>
          </p:cNvPr>
          <p:cNvSpPr>
            <a:spLocks noGrp="1"/>
          </p:cNvSpPr>
          <p:nvPr/>
        </p:nvSpPr>
        <p:spPr>
          <a:xfrm>
            <a:off x="2952750" y="4905375"/>
            <a:ext cx="6286500" cy="952500"/>
          </a:xfrm>
          <a:prstGeom prst="roundRect">
            <a:avLst>
              <a:gd name="adj" fmla="val 1000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7A3E22-0968-4AEE-B86F-75B0A318157E}"/>
              </a:ext>
            </a:extLst>
          </p:cNvPr>
          <p:cNvSpPr>
            <a:spLocks noGrp="1"/>
          </p:cNvSpPr>
          <p:nvPr/>
        </p:nvSpPr>
        <p:spPr>
          <a:xfrm>
            <a:off x="3124200" y="4981575"/>
            <a:ext cx="5943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4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B = 0(10)*</a:t>
            </a:r>
          </a:p>
        </p:txBody>
      </p:sp>
    </p:spTree>
    <p:extLst>
      <p:ext uri="{BB962C8B-B14F-4D97-AF65-F5344CB8AC3E}">
        <p14:creationId xmlns:p14="http://schemas.microsoft.com/office/powerpoint/2010/main" val="92647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FD3A91-5642-4CD7-B06D-167DBD506598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79435-D83E-41FF-B286-2418D6D2356D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1 check: the expression generates exactly the predicted strings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25003ED-0E2A-4976-8D7F-6B84CE0E0068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65B5-DF5C-4F05-8478-82C02A7D46A9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E7135-FF63-4733-8D44-24F61A1E8BC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 repeats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631ACB-0044-4493-8F08-F2C65CE80A86}"/>
              </a:ext>
            </a:extLst>
          </p:cNvPr>
          <p:cNvSpPr>
            <a:spLocks noGrp="1"/>
          </p:cNvSpPr>
          <p:nvPr/>
        </p:nvSpPr>
        <p:spPr>
          <a:xfrm>
            <a:off x="3619500" y="1752600"/>
            <a:ext cx="2667000" cy="552450"/>
          </a:xfrm>
          <a:prstGeom prst="roundRect">
            <a:avLst>
              <a:gd name="adj" fmla="val 17241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26DA3-F90C-4E56-9418-F3F02CE4D0B3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53D669-FB20-49D0-B78A-9A7FC5E0AAC9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repeat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267F46-2611-49BE-A60F-AE1A86DC0383}"/>
              </a:ext>
            </a:extLst>
          </p:cNvPr>
          <p:cNvSpPr>
            <a:spLocks noGrp="1"/>
          </p:cNvSpPr>
          <p:nvPr/>
        </p:nvSpPr>
        <p:spPr>
          <a:xfrm>
            <a:off x="3619500" y="2971800"/>
            <a:ext cx="2667000" cy="552450"/>
          </a:xfrm>
          <a:prstGeom prst="roundRect">
            <a:avLst>
              <a:gd name="adj" fmla="val 17241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22C42-F17A-4A84-A445-9948A13A8005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0·10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2A9CA-9E06-40A7-9296-E7734487228F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repeats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1CD49E-ECC4-40DF-8954-DAF51438ADE7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2667000" cy="552450"/>
          </a:xfrm>
          <a:prstGeom prst="roundRect">
            <a:avLst>
              <a:gd name="adj" fmla="val 17241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01010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A7D1F-2648-4C74-A4EB-BDD16264305C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0·10·10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4BCE9A-B0D3-4772-8BB0-A05F50886B65}"/>
              </a:ext>
            </a:extLst>
          </p:cNvPr>
          <p:cNvSpPr>
            <a:spLocks noGrp="1"/>
          </p:cNvSpPr>
          <p:nvPr/>
        </p:nvSpPr>
        <p:spPr>
          <a:xfrm>
            <a:off x="2286000" y="5619750"/>
            <a:ext cx="7620000" cy="552450"/>
          </a:xfrm>
          <a:prstGeom prst="roundRect">
            <a:avLst>
              <a:gd name="adj" fmla="val 20690"/>
            </a:avLst>
          </a:prstGeom>
          <a:solidFill>
            <a:srgbClr val="FDE8E7"/>
          </a:solidFill>
          <a:ln w="9525">
            <a:solidFill>
              <a:srgbClr val="C2413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6B64C8-03FB-4845-8A88-022C4E7AA669}"/>
              </a:ext>
            </a:extLst>
          </p:cNvPr>
          <p:cNvSpPr>
            <a:spLocks noGrp="1"/>
          </p:cNvSpPr>
          <p:nvPr/>
        </p:nvSpPr>
        <p:spPr>
          <a:xfrm>
            <a:off x="2457450" y="5753100"/>
            <a:ext cx="727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0(10)* does not accept ε, 1, 00, or 01.</a:t>
            </a:r>
          </a:p>
        </p:txBody>
      </p:sp>
    </p:spTree>
    <p:extLst>
      <p:ext uri="{BB962C8B-B14F-4D97-AF65-F5344CB8AC3E}">
        <p14:creationId xmlns:p14="http://schemas.microsoft.com/office/powerpoint/2010/main" val="104523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60B6426-FF92-4272-AD70-52220E6AFC2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D390F-CA86-4643-8765-65985DB5583B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2: build equations from the arrows entering each state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7ED65D1-1E3D-4107-A9F1-D6D8144038DA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276B6-AE36-40EE-A939-F6744C6303FE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E01E5E-685C-4967-A41F-D4ED4120C6A2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7D9220-B55F-48D7-BEA5-F7B9D5F25CFB}"/>
              </a:ext>
            </a:extLst>
          </p:cNvPr>
          <p:cNvSpPr>
            <a:spLocks noGrp="1"/>
          </p:cNvSpPr>
          <p:nvPr/>
        </p:nvSpPr>
        <p:spPr>
          <a:xfrm>
            <a:off x="8620125" y="376237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1F113-1DD1-4A3E-A071-FCB4D598AD28}"/>
              </a:ext>
            </a:extLst>
          </p:cNvPr>
          <p:cNvSpPr>
            <a:spLocks noGrp="1"/>
          </p:cNvSpPr>
          <p:nvPr/>
        </p:nvSpPr>
        <p:spPr>
          <a:xfrm>
            <a:off x="10287000" y="238125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3B04F4-4E85-466C-9ED9-E6A3A6C9C027}"/>
              </a:ext>
            </a:extLst>
          </p:cNvPr>
          <p:cNvSpPr>
            <a:spLocks noGrp="1"/>
          </p:cNvSpPr>
          <p:nvPr/>
        </p:nvSpPr>
        <p:spPr>
          <a:xfrm>
            <a:off x="10344150" y="243840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34" name="Straight Arrow Connector 33"/>
          <p:cNvCxnSpPr>
            <a:stCxn id="5" idx="6"/>
            <a:endCxn id="7" idx="2"/>
          </p:cNvCxnSpPr>
          <p:nvPr/>
        </p:nvCxnSpPr>
        <p:spPr>
          <a:xfrm>
            <a:off x="7867650" y="2695575"/>
            <a:ext cx="24193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B212F05-70DE-441B-9478-E4F60F0701CC}"/>
              </a:ext>
            </a:extLst>
          </p:cNvPr>
          <p:cNvSpPr>
            <a:spLocks noGrp="1"/>
          </p:cNvSpPr>
          <p:nvPr/>
        </p:nvSpPr>
        <p:spPr>
          <a:xfrm>
            <a:off x="8524875" y="20764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36" name="Straight Arrow Connector 35"/>
          <p:cNvCxnSpPr>
            <a:stCxn id="5" idx="4"/>
            <a:endCxn id="6" idx="0"/>
          </p:cNvCxnSpPr>
          <p:nvPr/>
        </p:nvCxnSpPr>
        <p:spPr>
          <a:xfrm>
            <a:off x="7553325" y="3009900"/>
            <a:ext cx="1381125" cy="75247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F8C69-2BE5-4BA7-8212-2FCB75267160}"/>
              </a:ext>
            </a:extLst>
          </p:cNvPr>
          <p:cNvSpPr>
            <a:spLocks noGrp="1"/>
          </p:cNvSpPr>
          <p:nvPr/>
        </p:nvSpPr>
        <p:spPr>
          <a:xfrm>
            <a:off x="7886700" y="31908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38" name="Straight Arrow Connector 37"/>
          <p:cNvCxnSpPr>
            <a:stCxn id="6" idx="6"/>
            <a:endCxn id="7" idx="4"/>
          </p:cNvCxnSpPr>
          <p:nvPr/>
        </p:nvCxnSpPr>
        <p:spPr>
          <a:xfrm flipV="1">
            <a:off x="9248775" y="3009900"/>
            <a:ext cx="1352550" cy="106680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636F5-50C0-4191-AD4D-5CA4F5D10AF2}"/>
              </a:ext>
            </a:extLst>
          </p:cNvPr>
          <p:cNvSpPr>
            <a:spLocks noGrp="1"/>
          </p:cNvSpPr>
          <p:nvPr/>
        </p:nvSpPr>
        <p:spPr>
          <a:xfrm>
            <a:off x="9334500" y="31623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A0DB03-6401-4B42-B981-9B28E1B4133C}"/>
              </a:ext>
            </a:extLst>
          </p:cNvPr>
          <p:cNvSpPr>
            <a:spLocks noGrp="1"/>
          </p:cNvSpPr>
          <p:nvPr/>
        </p:nvSpPr>
        <p:spPr>
          <a:xfrm>
            <a:off x="10382250" y="18288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F7C7BB-CA07-4975-8EA4-C3EC0C2A8E69}"/>
              </a:ext>
            </a:extLst>
          </p:cNvPr>
          <p:cNvSpPr>
            <a:spLocks noGrp="1"/>
          </p:cNvSpPr>
          <p:nvPr/>
        </p:nvSpPr>
        <p:spPr>
          <a:xfrm>
            <a:off x="10706100" y="1790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DBB3B0-3633-434D-AF63-D3B9492C4D6B}"/>
              </a:ext>
            </a:extLst>
          </p:cNvPr>
          <p:cNvSpPr>
            <a:spLocks noGrp="1"/>
          </p:cNvSpPr>
          <p:nvPr/>
        </p:nvSpPr>
        <p:spPr>
          <a:xfrm>
            <a:off x="6457950" y="26860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" name="Straight Arrow Connector 42"/>
          <p:cNvCxnSpPr>
            <a:stCxn id="17" idx="6"/>
            <a:endCxn id="5" idx="2"/>
          </p:cNvCxnSpPr>
          <p:nvPr/>
        </p:nvCxnSpPr>
        <p:spPr>
          <a:xfrm>
            <a:off x="6477000" y="2695575"/>
            <a:ext cx="762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8C7703-B366-4E78-B82E-7D2BEF163119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4953000" cy="590550"/>
          </a:xfrm>
          <a:prstGeom prst="roundRect">
            <a:avLst>
              <a:gd name="adj" fmla="val 16129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CACEFF-CA1E-4515-A2B5-3524518748F2}"/>
              </a:ext>
            </a:extLst>
          </p:cNvPr>
          <p:cNvSpPr>
            <a:spLocks noGrp="1"/>
          </p:cNvSpPr>
          <p:nvPr/>
        </p:nvSpPr>
        <p:spPr>
          <a:xfrm>
            <a:off x="885825" y="179070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C30960-BF13-4CF0-B475-7AE1A573C17F}"/>
              </a:ext>
            </a:extLst>
          </p:cNvPr>
          <p:cNvSpPr>
            <a:spLocks noGrp="1"/>
          </p:cNvSpPr>
          <p:nvPr/>
        </p:nvSpPr>
        <p:spPr>
          <a:xfrm>
            <a:off x="714375" y="2667000"/>
            <a:ext cx="4953000" cy="590550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1ED7BA-12D3-4D27-94A7-F5668AF59993}"/>
              </a:ext>
            </a:extLst>
          </p:cNvPr>
          <p:cNvSpPr>
            <a:spLocks noGrp="1"/>
          </p:cNvSpPr>
          <p:nvPr/>
        </p:nvSpPr>
        <p:spPr>
          <a:xfrm>
            <a:off x="885825" y="274320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6546E7-F677-4ED6-B600-C70FD5E8C267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5715000" cy="685800"/>
          </a:xfrm>
          <a:prstGeom prst="roundRect">
            <a:avLst>
              <a:gd name="adj" fmla="val 13889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A482C0-386A-4471-B160-92A745B9D6F7}"/>
              </a:ext>
            </a:extLst>
          </p:cNvPr>
          <p:cNvSpPr>
            <a:spLocks noGrp="1"/>
          </p:cNvSpPr>
          <p:nvPr/>
        </p:nvSpPr>
        <p:spPr>
          <a:xfrm>
            <a:off x="885825" y="3695700"/>
            <a:ext cx="5372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q₁·b + q₂·a + q₃·a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A570A3-267F-4452-B44F-B10C94332131}"/>
              </a:ext>
            </a:extLst>
          </p:cNvPr>
          <p:cNvSpPr>
            <a:spLocks noGrp="1"/>
          </p:cNvSpPr>
          <p:nvPr/>
        </p:nvSpPr>
        <p:spPr>
          <a:xfrm>
            <a:off x="714375" y="4762500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q₃ equation has three terms because three transitions enter q₃.</a:t>
            </a:r>
          </a:p>
        </p:txBody>
      </p:sp>
    </p:spTree>
    <p:extLst>
      <p:ext uri="{BB962C8B-B14F-4D97-AF65-F5344CB8AC3E}">
        <p14:creationId xmlns:p14="http://schemas.microsoft.com/office/powerpoint/2010/main" val="1712183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35E77B4-7734-4CD4-A467-C5DB85E9D5A9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15A2B9-83E9-40B6-A2E9-E197FBE1676E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2: solve the easy state first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3B8B6CC-A833-4669-88EA-BB262E85801F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22F35-2EAE-4248-9F34-2F253E1534B1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3808B4-AED4-4F72-B35C-D653792ECFCA}"/>
              </a:ext>
            </a:extLst>
          </p:cNvPr>
          <p:cNvSpPr>
            <a:spLocks noGrp="1"/>
          </p:cNvSpPr>
          <p:nvPr/>
        </p:nvSpPr>
        <p:spPr>
          <a:xfrm>
            <a:off x="1571625" y="1666875"/>
            <a:ext cx="3619500" cy="685800"/>
          </a:xfrm>
          <a:prstGeom prst="roundRect">
            <a:avLst>
              <a:gd name="adj" fmla="val 13889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CF8479-25C8-40FF-81C2-05BB92897988}"/>
              </a:ext>
            </a:extLst>
          </p:cNvPr>
          <p:cNvSpPr>
            <a:spLocks noGrp="1"/>
          </p:cNvSpPr>
          <p:nvPr/>
        </p:nvSpPr>
        <p:spPr>
          <a:xfrm>
            <a:off x="1743075" y="1743075"/>
            <a:ext cx="3276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396763-18FA-4DCF-AA24-40C500F3724B}"/>
              </a:ext>
            </a:extLst>
          </p:cNvPr>
          <p:cNvSpPr>
            <a:spLocks noGrp="1"/>
          </p:cNvSpPr>
          <p:nvPr/>
        </p:nvSpPr>
        <p:spPr>
          <a:xfrm>
            <a:off x="7000875" y="1666875"/>
            <a:ext cx="36195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6861F-630E-4F76-B9B9-147C1CFFF6CC}"/>
              </a:ext>
            </a:extLst>
          </p:cNvPr>
          <p:cNvSpPr>
            <a:spLocks noGrp="1"/>
          </p:cNvSpPr>
          <p:nvPr/>
        </p:nvSpPr>
        <p:spPr>
          <a:xfrm>
            <a:off x="7172325" y="1743075"/>
            <a:ext cx="3276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C3785-5AD9-441B-BF1B-B5CA91DE1A9E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Substitute q₁ = ε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DAD700-54B2-4118-BCFE-2F9E1166BD98}"/>
              </a:ext>
            </a:extLst>
          </p:cNvPr>
          <p:cNvSpPr>
            <a:spLocks noGrp="1"/>
          </p:cNvSpPr>
          <p:nvPr/>
        </p:nvSpPr>
        <p:spPr>
          <a:xfrm>
            <a:off x="2857500" y="3619500"/>
            <a:ext cx="64770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7C4695-1C3E-4FA1-A314-E9A40FC110D3}"/>
              </a:ext>
            </a:extLst>
          </p:cNvPr>
          <p:cNvSpPr>
            <a:spLocks noGrp="1"/>
          </p:cNvSpPr>
          <p:nvPr/>
        </p:nvSpPr>
        <p:spPr>
          <a:xfrm>
            <a:off x="3028950" y="3695700"/>
            <a:ext cx="6134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ε·a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568795-4606-4C7E-9230-EC2DBF2EDA3B}"/>
              </a:ext>
            </a:extLst>
          </p:cNvPr>
          <p:cNvSpPr>
            <a:spLocks noGrp="1"/>
          </p:cNvSpPr>
          <p:nvPr/>
        </p:nvSpPr>
        <p:spPr>
          <a:xfrm>
            <a:off x="3714750" y="45243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ε is the identity for concatenation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961A68-4A76-4E4D-B84C-0437BA8EC7CA}"/>
              </a:ext>
            </a:extLst>
          </p:cNvPr>
          <p:cNvSpPr>
            <a:spLocks noGrp="1"/>
          </p:cNvSpPr>
          <p:nvPr/>
        </p:nvSpPr>
        <p:spPr>
          <a:xfrm>
            <a:off x="3714750" y="5191125"/>
            <a:ext cx="4762500" cy="742950"/>
          </a:xfrm>
          <a:prstGeom prst="roundRect">
            <a:avLst>
              <a:gd name="adj" fmla="val 12821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937EC2-4717-478C-BEEB-5C71DBD22B8C}"/>
              </a:ext>
            </a:extLst>
          </p:cNvPr>
          <p:cNvSpPr>
            <a:spLocks noGrp="1"/>
          </p:cNvSpPr>
          <p:nvPr/>
        </p:nvSpPr>
        <p:spPr>
          <a:xfrm>
            <a:off x="3886200" y="5267325"/>
            <a:ext cx="4419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q₂ = a</a:t>
            </a:r>
          </a:p>
        </p:txBody>
      </p:sp>
    </p:spTree>
    <p:extLst>
      <p:ext uri="{BB962C8B-B14F-4D97-AF65-F5344CB8AC3E}">
        <p14:creationId xmlns:p14="http://schemas.microsoft.com/office/powerpoint/2010/main" val="129008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C460D7F-87CD-45F7-84D5-1D596AA2D8F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72B5A-9740-401F-9B3C-0DAC804731D1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2: substitute into q₃ and isolate its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DC47472-1C58-4EF4-AAF3-8F218960AC9F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A4395-E56C-401A-8C44-4F4967349CF1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1B5C13-7CFD-48B7-8141-37F881EAF487}"/>
              </a:ext>
            </a:extLst>
          </p:cNvPr>
          <p:cNvSpPr>
            <a:spLocks noGrp="1"/>
          </p:cNvSpPr>
          <p:nvPr/>
        </p:nvSpPr>
        <p:spPr>
          <a:xfrm>
            <a:off x="1238250" y="1524000"/>
            <a:ext cx="97155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F083CA-767C-4BC2-8958-EE477C39FF3F}"/>
              </a:ext>
            </a:extLst>
          </p:cNvPr>
          <p:cNvSpPr>
            <a:spLocks noGrp="1"/>
          </p:cNvSpPr>
          <p:nvPr/>
        </p:nvSpPr>
        <p:spPr>
          <a:xfrm>
            <a:off x="1409700" y="1600200"/>
            <a:ext cx="9372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q₁·b + q₂·a + q₃·a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E7FD4-790A-4A06-AECB-9A4848D94678}"/>
              </a:ext>
            </a:extLst>
          </p:cNvPr>
          <p:cNvSpPr>
            <a:spLocks noGrp="1"/>
          </p:cNvSpPr>
          <p:nvPr/>
        </p:nvSpPr>
        <p:spPr>
          <a:xfrm>
            <a:off x="4000500" y="249555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Use q₁ = ε and q₂ = 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66483A-A73E-47D3-88A8-2F05B884F864}"/>
              </a:ext>
            </a:extLst>
          </p:cNvPr>
          <p:cNvSpPr>
            <a:spLocks noGrp="1"/>
          </p:cNvSpPr>
          <p:nvPr/>
        </p:nvSpPr>
        <p:spPr>
          <a:xfrm>
            <a:off x="1809750" y="3143250"/>
            <a:ext cx="85725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7CCECF-0CFD-457D-9222-1EE974EBFC94}"/>
              </a:ext>
            </a:extLst>
          </p:cNvPr>
          <p:cNvSpPr>
            <a:spLocks noGrp="1"/>
          </p:cNvSpPr>
          <p:nvPr/>
        </p:nvSpPr>
        <p:spPr>
          <a:xfrm>
            <a:off x="1981200" y="3219450"/>
            <a:ext cx="822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ε·b + a·a + q₃·a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0D2E93-AF38-4DED-891D-ECFB364ADF29}"/>
              </a:ext>
            </a:extLst>
          </p:cNvPr>
          <p:cNvSpPr>
            <a:spLocks noGrp="1"/>
          </p:cNvSpPr>
          <p:nvPr/>
        </p:nvSpPr>
        <p:spPr>
          <a:xfrm>
            <a:off x="1809750" y="4191000"/>
            <a:ext cx="8572500" cy="723900"/>
          </a:xfrm>
          <a:prstGeom prst="roundRect">
            <a:avLst>
              <a:gd name="adj" fmla="val 13158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5A8FC-52CE-4DFB-8FCC-FD01F93B965C}"/>
              </a:ext>
            </a:extLst>
          </p:cNvPr>
          <p:cNvSpPr>
            <a:spLocks noGrp="1"/>
          </p:cNvSpPr>
          <p:nvPr/>
        </p:nvSpPr>
        <p:spPr>
          <a:xfrm>
            <a:off x="1981200" y="4267200"/>
            <a:ext cx="8229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q₃ = (b + aa) + q₃·a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CB9C4B-0B83-44A3-98A9-E03CB9AEBCB8}"/>
              </a:ext>
            </a:extLst>
          </p:cNvPr>
          <p:cNvSpPr>
            <a:spLocks noGrp="1"/>
          </p:cNvSpPr>
          <p:nvPr/>
        </p:nvSpPr>
        <p:spPr>
          <a:xfrm>
            <a:off x="2619375" y="5238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7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Q = b + aa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F37DC-E788-41AB-87A6-4E018C307F22}"/>
              </a:ext>
            </a:extLst>
          </p:cNvPr>
          <p:cNvSpPr>
            <a:spLocks noGrp="1"/>
          </p:cNvSpPr>
          <p:nvPr/>
        </p:nvSpPr>
        <p:spPr>
          <a:xfrm>
            <a:off x="6810375" y="5238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a</a:t>
            </a:r>
          </a:p>
        </p:txBody>
      </p:sp>
    </p:spTree>
    <p:extLst>
      <p:ext uri="{BB962C8B-B14F-4D97-AF65-F5344CB8AC3E}">
        <p14:creationId xmlns:p14="http://schemas.microsoft.com/office/powerpoint/2010/main" val="474639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4DF75E-A0A8-4ABF-BB08-E729887BA0B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EXAMPLE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D6F232-4B44-40E3-AD52-8C33BADB6BA3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 2: the final-state expression is the answer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EDCD7DC-2123-4C1B-A826-A4FA1C8537D7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20EED0-BCB8-4C98-9941-AFFEEAE61121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EB7E13-7F00-4A24-B745-A9426E09CF72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781050"/>
          </a:xfrm>
          <a:prstGeom prst="roundRect">
            <a:avLst>
              <a:gd name="adj" fmla="val 12195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1F03A-9F6E-46F8-93F3-7C8895C44685}"/>
              </a:ext>
            </a:extLst>
          </p:cNvPr>
          <p:cNvSpPr>
            <a:spLocks noGrp="1"/>
          </p:cNvSpPr>
          <p:nvPr/>
        </p:nvSpPr>
        <p:spPr>
          <a:xfrm>
            <a:off x="1885950" y="1743075"/>
            <a:ext cx="8420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(b + aa) + q₃·a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E5A69-140F-4412-9D61-2796BB64FD0F}"/>
              </a:ext>
            </a:extLst>
          </p:cNvPr>
          <p:cNvSpPr>
            <a:spLocks noGrp="1"/>
          </p:cNvSpPr>
          <p:nvPr/>
        </p:nvSpPr>
        <p:spPr>
          <a:xfrm>
            <a:off x="2381250" y="3143250"/>
            <a:ext cx="742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Arden: R = Q + R·P  ⇒  R = Q·P*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486CA1-C60E-40EC-88D9-67C73E194CB7}"/>
              </a:ext>
            </a:extLst>
          </p:cNvPr>
          <p:cNvSpPr>
            <a:spLocks noGrp="1"/>
          </p:cNvSpPr>
          <p:nvPr/>
        </p:nvSpPr>
        <p:spPr>
          <a:xfrm>
            <a:off x="2714625" y="4095750"/>
            <a:ext cx="6762750" cy="952500"/>
          </a:xfrm>
          <a:prstGeom prst="roundRect">
            <a:avLst>
              <a:gd name="adj" fmla="val 1000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0167C-F027-4FE6-B250-DE18AAFE4CCE}"/>
              </a:ext>
            </a:extLst>
          </p:cNvPr>
          <p:cNvSpPr>
            <a:spLocks noGrp="1"/>
          </p:cNvSpPr>
          <p:nvPr/>
        </p:nvSpPr>
        <p:spPr>
          <a:xfrm>
            <a:off x="2886075" y="4171950"/>
            <a:ext cx="641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3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q₃ = (b + aa)a*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30ED4-37F8-4AEC-A0EB-4C0970A3ECD8}"/>
              </a:ext>
            </a:extLst>
          </p:cNvPr>
          <p:cNvSpPr>
            <a:spLocks noGrp="1"/>
          </p:cNvSpPr>
          <p:nvPr/>
        </p:nvSpPr>
        <p:spPr>
          <a:xfrm>
            <a:off x="2047875" y="542925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Interpretation: reach q₃ by b or aa, then use its a-loop any number of times.</a:t>
            </a:r>
          </a:p>
        </p:txBody>
      </p:sp>
    </p:spTree>
    <p:extLst>
      <p:ext uri="{BB962C8B-B14F-4D97-AF65-F5344CB8AC3E}">
        <p14:creationId xmlns:p14="http://schemas.microsoft.com/office/powerpoint/2010/main" val="2123815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7F13BB5-8AE6-4103-B487-76F853A9748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24119E-92FF-4797-ADA1-FFFD9F5D9926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 several final states, take the union of their expressions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A296EBB-47DB-4CE2-8508-FA95D1E93C8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CF6BF-5454-4D39-9B86-26FA3CC1A95E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8D021-A52A-4091-932F-AE1BC831AEAF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Suppose F = {q₂, q₄, q₅}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50792-8DFF-46D5-8C6F-FFFC66F6D38F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Solve the state equations as usual.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9FAFF2-0484-42DA-960A-C75E68A19F05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Then collect only the final-state expressions: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A1E41B-02C3-4A05-9C9F-1D156617C4A1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095750" cy="952500"/>
          </a:xfrm>
          <a:prstGeom prst="roundRect">
            <a:avLst>
              <a:gd name="adj" fmla="val 10000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33CA4-3F31-4051-AB62-3FB7D63D770D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3752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 = R₂ + R₄ + R₅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B11E26-E194-4129-8767-F187DC7C429A}"/>
              </a:ext>
            </a:extLst>
          </p:cNvPr>
          <p:cNvSpPr>
            <a:spLocks noGrp="1"/>
          </p:cNvSpPr>
          <p:nvPr/>
        </p:nvSpPr>
        <p:spPr>
          <a:xfrm>
            <a:off x="3571875" y="4572000"/>
            <a:ext cx="5048250" cy="666750"/>
          </a:xfrm>
          <a:prstGeom prst="roundRect">
            <a:avLst>
              <a:gd name="adj" fmla="val 17143"/>
            </a:avLst>
          </a:prstGeom>
          <a:solidFill>
            <a:srgbClr val="FDE8E7"/>
          </a:solidFill>
          <a:ln w="9525">
            <a:solidFill>
              <a:srgbClr val="C2413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9F6B6-F6F2-491E-BF6C-E7360CCC63B3}"/>
              </a:ext>
            </a:extLst>
          </p:cNvPr>
          <p:cNvSpPr>
            <a:spLocks noGrp="1"/>
          </p:cNvSpPr>
          <p:nvPr/>
        </p:nvSpPr>
        <p:spPr>
          <a:xfrm>
            <a:off x="3743325" y="470535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Do not add expressions of non-final states.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A64944-4ADA-457B-A9B8-5D824DD499E8}"/>
              </a:ext>
            </a:extLst>
          </p:cNvPr>
          <p:cNvSpPr>
            <a:spLocks noGrp="1"/>
          </p:cNvSpPr>
          <p:nvPr/>
        </p:nvSpPr>
        <p:spPr>
          <a:xfrm>
            <a:off x="4524375" y="5572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+ means union / choice</a:t>
            </a:r>
          </a:p>
        </p:txBody>
      </p:sp>
    </p:spTree>
    <p:extLst>
      <p:ext uri="{BB962C8B-B14F-4D97-AF65-F5344CB8AC3E}">
        <p14:creationId xmlns:p14="http://schemas.microsoft.com/office/powerpoint/2010/main" val="1504682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B3D9FDD-8424-484E-A3A9-DA228423CBC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B5B5A2-630C-46AD-94E8-FE79CD6A8B92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1: pause and write the two state equations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B412A34-1E03-4975-A409-47C3E7EA8644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84434-C430-468C-8B86-04DF8569FE74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B0BD84-191B-44A8-894D-4882C1ECBB8B}"/>
              </a:ext>
            </a:extLst>
          </p:cNvPr>
          <p:cNvSpPr>
            <a:spLocks noGrp="1"/>
          </p:cNvSpPr>
          <p:nvPr/>
        </p:nvSpPr>
        <p:spPr>
          <a:xfrm>
            <a:off x="4095750" y="2428875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0260F8-6259-40F5-8838-3332BCEFFD45}"/>
              </a:ext>
            </a:extLst>
          </p:cNvPr>
          <p:cNvSpPr>
            <a:spLocks noGrp="1"/>
          </p:cNvSpPr>
          <p:nvPr/>
        </p:nvSpPr>
        <p:spPr>
          <a:xfrm>
            <a:off x="4152900" y="2486025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B54D2A-3DAF-4D4A-83BC-303E756CC64A}"/>
              </a:ext>
            </a:extLst>
          </p:cNvPr>
          <p:cNvSpPr>
            <a:spLocks noGrp="1"/>
          </p:cNvSpPr>
          <p:nvPr/>
        </p:nvSpPr>
        <p:spPr>
          <a:xfrm>
            <a:off x="7239000" y="242887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cxnSp>
        <p:nvCxnSpPr>
          <p:cNvPr id="28" name="Straight Arrow Connector 27"/>
          <p:cNvCxnSpPr>
            <a:stCxn id="5" idx="6"/>
            <a:endCxn id="7" idx="2"/>
          </p:cNvCxnSpPr>
          <p:nvPr/>
        </p:nvCxnSpPr>
        <p:spPr>
          <a:xfrm>
            <a:off x="4724400" y="2743200"/>
            <a:ext cx="25146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23E44DF-AB4A-4CD6-8635-CA5316CE5D26}"/>
              </a:ext>
            </a:extLst>
          </p:cNvPr>
          <p:cNvSpPr>
            <a:spLocks noGrp="1"/>
          </p:cNvSpPr>
          <p:nvPr/>
        </p:nvSpPr>
        <p:spPr>
          <a:xfrm>
            <a:off x="5334000" y="21050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30" name="Connector: Curved 29"/>
          <p:cNvCxnSpPr>
            <a:stCxn id="7" idx="4"/>
            <a:endCxn id="5" idx="4"/>
          </p:cNvCxnSpPr>
          <p:nvPr/>
        </p:nvCxnSpPr>
        <p:spPr>
          <a:xfrm flipH="1">
            <a:off x="4410075" y="3057525"/>
            <a:ext cx="3143250" cy="228600"/>
          </a:xfrm>
          <a:prstGeom prst="curvedConnector4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BD8BF-6D7F-4864-AAED-D9FB99B1CD6A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6AF7CB-7A5D-4D5D-9969-4EB682672675}"/>
              </a:ext>
            </a:extLst>
          </p:cNvPr>
          <p:cNvSpPr>
            <a:spLocks noGrp="1"/>
          </p:cNvSpPr>
          <p:nvPr/>
        </p:nvSpPr>
        <p:spPr>
          <a:xfrm>
            <a:off x="4191000" y="18383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0A9258-0EF4-4300-B036-AC7CC1B3C42F}"/>
              </a:ext>
            </a:extLst>
          </p:cNvPr>
          <p:cNvSpPr>
            <a:spLocks noGrp="1"/>
          </p:cNvSpPr>
          <p:nvPr/>
        </p:nvSpPr>
        <p:spPr>
          <a:xfrm>
            <a:off x="4514850" y="18002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58A132-A644-4A95-9B25-9C33E21E1F9C}"/>
              </a:ext>
            </a:extLst>
          </p:cNvPr>
          <p:cNvSpPr>
            <a:spLocks noGrp="1"/>
          </p:cNvSpPr>
          <p:nvPr/>
        </p:nvSpPr>
        <p:spPr>
          <a:xfrm>
            <a:off x="7334250" y="183832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FC668A-D446-4E5F-9CFA-ABC820180E4E}"/>
              </a:ext>
            </a:extLst>
          </p:cNvPr>
          <p:cNvSpPr>
            <a:spLocks noGrp="1"/>
          </p:cNvSpPr>
          <p:nvPr/>
        </p:nvSpPr>
        <p:spPr>
          <a:xfrm>
            <a:off x="7658100" y="18002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38A635-5C67-4A88-B013-9BFB6A6ED1D8}"/>
              </a:ext>
            </a:extLst>
          </p:cNvPr>
          <p:cNvSpPr>
            <a:spLocks noGrp="1"/>
          </p:cNvSpPr>
          <p:nvPr/>
        </p:nvSpPr>
        <p:spPr>
          <a:xfrm>
            <a:off x="3314700" y="2733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37" name="Straight Arrow Connector 36"/>
          <p:cNvCxnSpPr>
            <a:stCxn id="16" idx="6"/>
            <a:endCxn id="5" idx="2"/>
          </p:cNvCxnSpPr>
          <p:nvPr/>
        </p:nvCxnSpPr>
        <p:spPr>
          <a:xfrm>
            <a:off x="3333750" y="2743200"/>
            <a:ext cx="762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85577A-1F4E-4F3C-A560-0466E743E6DD}"/>
              </a:ext>
            </a:extLst>
          </p:cNvPr>
          <p:cNvSpPr>
            <a:spLocks noGrp="1"/>
          </p:cNvSpPr>
          <p:nvPr/>
        </p:nvSpPr>
        <p:spPr>
          <a:xfrm>
            <a:off x="2476500" y="4953000"/>
            <a:ext cx="7239000" cy="628650"/>
          </a:xfrm>
          <a:prstGeom prst="roundRect">
            <a:avLst>
              <a:gd name="adj" fmla="val 18182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855D0-3C7E-4E84-A030-D003F180B556}"/>
              </a:ext>
            </a:extLst>
          </p:cNvPr>
          <p:cNvSpPr>
            <a:spLocks noGrp="1"/>
          </p:cNvSpPr>
          <p:nvPr/>
        </p:nvSpPr>
        <p:spPr>
          <a:xfrm>
            <a:off x="2647950" y="5086350"/>
            <a:ext cx="6896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Try first: which transitions enter q₁ and q₂?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2764B5-FAE8-45F3-95F5-D37CC696BC13}"/>
              </a:ext>
            </a:extLst>
          </p:cNvPr>
          <p:cNvSpPr>
            <a:spLocks noGrp="1"/>
          </p:cNvSpPr>
          <p:nvPr/>
        </p:nvSpPr>
        <p:spPr>
          <a:xfrm>
            <a:off x="3238500" y="58102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Target expression: the expression for q₁, because q₁ is final.</a:t>
            </a:r>
          </a:p>
        </p:txBody>
      </p:sp>
    </p:spTree>
    <p:extLst>
      <p:ext uri="{BB962C8B-B14F-4D97-AF65-F5344CB8AC3E}">
        <p14:creationId xmlns:p14="http://schemas.microsoft.com/office/powerpoint/2010/main" val="1107956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9F6A9B0-0F47-478C-B243-0D23F78D492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908B8-9186-453A-80F9-1026194D63C4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1: the equations capture both loops and both a-transitions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29F52E3-2C3B-4DDE-B48B-9AAC20AE12D6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3B837-1DA7-42AD-8336-08C3E3E1F49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1EE337-55F5-4932-8531-FE4F7DEFAC4C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9906000" cy="800100"/>
          </a:xfrm>
          <a:prstGeom prst="roundRect">
            <a:avLst>
              <a:gd name="adj" fmla="val 11905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E0ABDB-87DF-4E0C-8569-F8B97EBD5682}"/>
              </a:ext>
            </a:extLst>
          </p:cNvPr>
          <p:cNvSpPr>
            <a:spLocks noGrp="1"/>
          </p:cNvSpPr>
          <p:nvPr/>
        </p:nvSpPr>
        <p:spPr>
          <a:xfrm>
            <a:off x="1314450" y="1790700"/>
            <a:ext cx="9563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 + q₁·b + q₂·a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969E31-F3F4-4CD2-8580-3962498FF2F4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9906000" cy="800100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047AAC-2F57-41C3-863B-A91666C5478A}"/>
              </a:ext>
            </a:extLst>
          </p:cNvPr>
          <p:cNvSpPr>
            <a:spLocks noGrp="1"/>
          </p:cNvSpPr>
          <p:nvPr/>
        </p:nvSpPr>
        <p:spPr>
          <a:xfrm>
            <a:off x="1314450" y="3124200"/>
            <a:ext cx="9563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q₁·a + q₂·b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B49EF-D8F3-4AFA-B014-E3E18FF30B4A}"/>
              </a:ext>
            </a:extLst>
          </p:cNvPr>
          <p:cNvSpPr>
            <a:spLocks noGrp="1"/>
          </p:cNvSpPr>
          <p:nvPr/>
        </p:nvSpPr>
        <p:spPr>
          <a:xfrm>
            <a:off x="2095500" y="43815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Solve q₂ first: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6423F0-756A-4CD6-8E41-73102061B517}"/>
              </a:ext>
            </a:extLst>
          </p:cNvPr>
          <p:cNvSpPr>
            <a:spLocks noGrp="1"/>
          </p:cNvSpPr>
          <p:nvPr/>
        </p:nvSpPr>
        <p:spPr>
          <a:xfrm>
            <a:off x="4953000" y="4238625"/>
            <a:ext cx="5143500" cy="647700"/>
          </a:xfrm>
          <a:prstGeom prst="roundRect">
            <a:avLst>
              <a:gd name="adj" fmla="val 14706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928299-B64A-4DB5-AA12-EE24A1C66A59}"/>
              </a:ext>
            </a:extLst>
          </p:cNvPr>
          <p:cNvSpPr>
            <a:spLocks noGrp="1"/>
          </p:cNvSpPr>
          <p:nvPr/>
        </p:nvSpPr>
        <p:spPr>
          <a:xfrm>
            <a:off x="5124450" y="4314825"/>
            <a:ext cx="4800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q₁·a·b*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5E9D6-74D6-4186-83F3-383151A964DE}"/>
              </a:ext>
            </a:extLst>
          </p:cNvPr>
          <p:cNvSpPr>
            <a:spLocks noGrp="1"/>
          </p:cNvSpPr>
          <p:nvPr/>
        </p:nvSpPr>
        <p:spPr>
          <a:xfrm>
            <a:off x="2952750" y="5381625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Now substitute this q₂ expression into q₁.</a:t>
            </a:r>
          </a:p>
        </p:txBody>
      </p:sp>
    </p:spTree>
    <p:extLst>
      <p:ext uri="{BB962C8B-B14F-4D97-AF65-F5344CB8AC3E}">
        <p14:creationId xmlns:p14="http://schemas.microsoft.com/office/powerpoint/2010/main" val="75456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B303A4A-33CD-4ABD-9687-91A49008111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2FADAB-EE12-4A21-AA23-6850E7A003BE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1 solution: one cycle is b or ab*a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E2E5B33-5663-4933-95D4-1F1191E1384D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460261-5D48-48F2-98A7-9EE4EA7044D4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B360CF-C711-4E04-9335-3EB8FF5FD4DA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685800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BBD57-4574-4E54-A82D-B86930E9D8DF}"/>
              </a:ext>
            </a:extLst>
          </p:cNvPr>
          <p:cNvSpPr>
            <a:spLocks noGrp="1"/>
          </p:cNvSpPr>
          <p:nvPr/>
        </p:nvSpPr>
        <p:spPr>
          <a:xfrm>
            <a:off x="1123950" y="1600200"/>
            <a:ext cx="9944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 + q₁·b + (q₁·a·b*)·a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4047E7-7C94-4F86-9C1F-C6959F55C45F}"/>
              </a:ext>
            </a:extLst>
          </p:cNvPr>
          <p:cNvSpPr>
            <a:spLocks noGrp="1"/>
          </p:cNvSpPr>
          <p:nvPr/>
        </p:nvSpPr>
        <p:spPr>
          <a:xfrm>
            <a:off x="1619250" y="2667000"/>
            <a:ext cx="8953500" cy="762000"/>
          </a:xfrm>
          <a:prstGeom prst="roundRect">
            <a:avLst>
              <a:gd name="adj" fmla="val 12500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3398E-FF7F-4D42-A12B-BF7DA80993AF}"/>
              </a:ext>
            </a:extLst>
          </p:cNvPr>
          <p:cNvSpPr>
            <a:spLocks noGrp="1"/>
          </p:cNvSpPr>
          <p:nvPr/>
        </p:nvSpPr>
        <p:spPr>
          <a:xfrm>
            <a:off x="1790700" y="2743200"/>
            <a:ext cx="8610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q₁ = ε + q₁·(b + ab*a)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9FCBF-4B9F-4540-B547-DB0B1CDB6592}"/>
              </a:ext>
            </a:extLst>
          </p:cNvPr>
          <p:cNvSpPr>
            <a:spLocks noGrp="1"/>
          </p:cNvSpPr>
          <p:nvPr/>
        </p:nvSpPr>
        <p:spPr>
          <a:xfrm>
            <a:off x="2286000" y="39528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7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Q = 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CD315-A73C-4132-A78D-F9C00AE1755A}"/>
              </a:ext>
            </a:extLst>
          </p:cNvPr>
          <p:cNvSpPr>
            <a:spLocks noGrp="1"/>
          </p:cNvSpPr>
          <p:nvPr/>
        </p:nvSpPr>
        <p:spPr>
          <a:xfrm>
            <a:off x="7048500" y="3952875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b + ab*a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42FBAE-9F2D-4F47-B935-75A00BA9258C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6858000" cy="876300"/>
          </a:xfrm>
          <a:prstGeom prst="roundRect">
            <a:avLst>
              <a:gd name="adj" fmla="val 1087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6223F-C148-48F3-8E63-2FCE4AE67E47}"/>
              </a:ext>
            </a:extLst>
          </p:cNvPr>
          <p:cNvSpPr>
            <a:spLocks noGrp="1"/>
          </p:cNvSpPr>
          <p:nvPr/>
        </p:nvSpPr>
        <p:spPr>
          <a:xfrm>
            <a:off x="2838450" y="5124450"/>
            <a:ext cx="6515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q₁ = (b + ab*a)*</a:t>
            </a:r>
          </a:p>
        </p:txBody>
      </p:sp>
    </p:spTree>
    <p:extLst>
      <p:ext uri="{BB962C8B-B14F-4D97-AF65-F5344CB8AC3E}">
        <p14:creationId xmlns:p14="http://schemas.microsoft.com/office/powerpoint/2010/main" val="206650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143459C-C8B8-4EB4-8C59-7DF88759132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208AE-EB82-4DE2-8485-9A03CBE1E0C8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2: identify a complete cycle back to the final state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E332979-58E7-4343-B4E0-A90C68E36929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96E6B3-DBDB-4AF2-AB37-486708FD4590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5AEB72-4661-4F5E-B3AF-DAF80A38BDF4}"/>
              </a:ext>
            </a:extLst>
          </p:cNvPr>
          <p:cNvSpPr>
            <a:spLocks noGrp="1"/>
          </p:cNvSpPr>
          <p:nvPr/>
        </p:nvSpPr>
        <p:spPr>
          <a:xfrm>
            <a:off x="7096125" y="1952625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E91408-4D4F-4FDF-B0D8-D584D766581C}"/>
              </a:ext>
            </a:extLst>
          </p:cNvPr>
          <p:cNvSpPr>
            <a:spLocks noGrp="1"/>
          </p:cNvSpPr>
          <p:nvPr/>
        </p:nvSpPr>
        <p:spPr>
          <a:xfrm>
            <a:off x="7153275" y="2009775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B6077-BFBD-404A-A443-9AE7E3715784}"/>
              </a:ext>
            </a:extLst>
          </p:cNvPr>
          <p:cNvSpPr>
            <a:spLocks noGrp="1"/>
          </p:cNvSpPr>
          <p:nvPr/>
        </p:nvSpPr>
        <p:spPr>
          <a:xfrm>
            <a:off x="9953625" y="195262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2664EF-CE04-4F1F-B512-77E64B9AEEF8}"/>
              </a:ext>
            </a:extLst>
          </p:cNvPr>
          <p:cNvSpPr>
            <a:spLocks noGrp="1"/>
          </p:cNvSpPr>
          <p:nvPr/>
        </p:nvSpPr>
        <p:spPr>
          <a:xfrm>
            <a:off x="8477250" y="4000500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cxnSp>
        <p:nvCxnSpPr>
          <p:cNvPr id="36" name="Straight Arrow Connector 35"/>
          <p:cNvCxnSpPr>
            <a:stCxn id="5" idx="6"/>
            <a:endCxn id="7" idx="2"/>
          </p:cNvCxnSpPr>
          <p:nvPr/>
        </p:nvCxnSpPr>
        <p:spPr>
          <a:xfrm>
            <a:off x="7724775" y="2266950"/>
            <a:ext cx="22288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846E24B-6A24-4B72-9E61-BD5BB1FDE04D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38" name="Straight Arrow Connector 37"/>
          <p:cNvCxnSpPr>
            <a:stCxn id="7" idx="4"/>
            <a:endCxn id="8" idx="6"/>
          </p:cNvCxnSpPr>
          <p:nvPr/>
        </p:nvCxnSpPr>
        <p:spPr>
          <a:xfrm flipH="1">
            <a:off x="9105900" y="2581275"/>
            <a:ext cx="1162050" cy="173355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AA24338-C8EA-454D-81E2-405BC2168310}"/>
              </a:ext>
            </a:extLst>
          </p:cNvPr>
          <p:cNvSpPr>
            <a:spLocks noGrp="1"/>
          </p:cNvSpPr>
          <p:nvPr/>
        </p:nvSpPr>
        <p:spPr>
          <a:xfrm>
            <a:off x="9429750" y="2952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40" name="Connector: Curved 39"/>
          <p:cNvCxnSpPr>
            <a:stCxn id="8" idx="0"/>
            <a:endCxn id="7" idx="4"/>
          </p:cNvCxnSpPr>
          <p:nvPr/>
        </p:nvCxnSpPr>
        <p:spPr>
          <a:xfrm rot="5400000">
            <a:off x="8820150" y="2552700"/>
            <a:ext cx="1419225" cy="1476375"/>
          </a:xfrm>
          <a:prstGeom prst="curvedConnector3">
            <a:avLst>
              <a:gd name="adj1" fmla="val 75000"/>
            </a:avLst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2E6E42-3936-43D1-9848-05822FCBCDB2}"/>
              </a:ext>
            </a:extLst>
          </p:cNvPr>
          <p:cNvSpPr>
            <a:spLocks noGrp="1"/>
          </p:cNvSpPr>
          <p:nvPr/>
        </p:nvSpPr>
        <p:spPr>
          <a:xfrm>
            <a:off x="8477250" y="28098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42" name="Straight Arrow Connector 41"/>
          <p:cNvCxnSpPr>
            <a:stCxn id="8" idx="2"/>
            <a:endCxn id="5" idx="4"/>
          </p:cNvCxnSpPr>
          <p:nvPr/>
        </p:nvCxnSpPr>
        <p:spPr>
          <a:xfrm flipH="1" flipV="1">
            <a:off x="7410450" y="2581275"/>
            <a:ext cx="1066800" cy="173355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E7DE3-BEF1-4C1A-A48F-1337A0BC70E8}"/>
              </a:ext>
            </a:extLst>
          </p:cNvPr>
          <p:cNvSpPr>
            <a:spLocks noGrp="1"/>
          </p:cNvSpPr>
          <p:nvPr/>
        </p:nvSpPr>
        <p:spPr>
          <a:xfrm>
            <a:off x="7286625" y="30575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879621-B47E-451E-AA32-79965B05E91F}"/>
              </a:ext>
            </a:extLst>
          </p:cNvPr>
          <p:cNvSpPr>
            <a:spLocks noGrp="1"/>
          </p:cNvSpPr>
          <p:nvPr/>
        </p:nvSpPr>
        <p:spPr>
          <a:xfrm>
            <a:off x="7172325" y="140017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0D78F-8D94-4DC2-A349-0D859B3CB065}"/>
              </a:ext>
            </a:extLst>
          </p:cNvPr>
          <p:cNvSpPr>
            <a:spLocks noGrp="1"/>
          </p:cNvSpPr>
          <p:nvPr/>
        </p:nvSpPr>
        <p:spPr>
          <a:xfrm>
            <a:off x="7496175" y="13620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E6E3FE-CAED-41ED-8769-BE92E8535BDE}"/>
              </a:ext>
            </a:extLst>
          </p:cNvPr>
          <p:cNvSpPr>
            <a:spLocks noGrp="1"/>
          </p:cNvSpPr>
          <p:nvPr/>
        </p:nvSpPr>
        <p:spPr>
          <a:xfrm>
            <a:off x="10020300" y="140017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6CE3E-9B67-491A-AF73-1DB268F63690}"/>
              </a:ext>
            </a:extLst>
          </p:cNvPr>
          <p:cNvSpPr>
            <a:spLocks noGrp="1"/>
          </p:cNvSpPr>
          <p:nvPr/>
        </p:nvSpPr>
        <p:spPr>
          <a:xfrm>
            <a:off x="10344150" y="13620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303E96-6B02-47E8-8D2A-CA45C457A190}"/>
              </a:ext>
            </a:extLst>
          </p:cNvPr>
          <p:cNvSpPr>
            <a:spLocks noGrp="1"/>
          </p:cNvSpPr>
          <p:nvPr/>
        </p:nvSpPr>
        <p:spPr>
          <a:xfrm>
            <a:off x="6315075" y="2257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9" name="Straight Arrow Connector 48"/>
          <p:cNvCxnSpPr>
            <a:stCxn id="21" idx="6"/>
            <a:endCxn id="5" idx="2"/>
          </p:cNvCxnSpPr>
          <p:nvPr/>
        </p:nvCxnSpPr>
        <p:spPr>
          <a:xfrm>
            <a:off x="6334125" y="2266950"/>
            <a:ext cx="762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9BDBD38-B900-4DB9-BC56-9B8A986C3509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q₁ is both initial and final.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E2525-0245-4596-8880-9BD91D68BF89}"/>
              </a:ext>
            </a:extLst>
          </p:cNvPr>
          <p:cNvSpPr>
            <a:spLocks noGrp="1"/>
          </p:cNvSpPr>
          <p:nvPr/>
        </p:nvSpPr>
        <p:spPr>
          <a:xfrm>
            <a:off x="781050" y="26193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Possible return cycles include: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637168-5D1E-4669-B7BA-9C85BD727B07}"/>
              </a:ext>
            </a:extLst>
          </p:cNvPr>
          <p:cNvSpPr>
            <a:spLocks noGrp="1"/>
          </p:cNvSpPr>
          <p:nvPr/>
        </p:nvSpPr>
        <p:spPr>
          <a:xfrm>
            <a:off x="971550" y="3190875"/>
            <a:ext cx="5000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a  — stay at q₁</a:t>
            </a:r>
          </a:p>
          <a:p>
            <a:pPr algn="l">
              <a:lnSpc>
                <a:spcPct val="118000"/>
              </a:lnSpc>
              <a:buNone/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b … aa — travel through q₂ and q₃, then return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73E495-32E9-4347-BA25-F69BD2565B89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5238750" cy="628650"/>
          </a:xfrm>
          <a:prstGeom prst="roundRect">
            <a:avLst>
              <a:gd name="adj" fmla="val 18182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96EAFF-1FBA-4083-8FE1-FB7C86EF4952}"/>
              </a:ext>
            </a:extLst>
          </p:cNvPr>
          <p:cNvSpPr>
            <a:spLocks noGrp="1"/>
          </p:cNvSpPr>
          <p:nvPr/>
        </p:nvSpPr>
        <p:spPr>
          <a:xfrm>
            <a:off x="1047750" y="5086350"/>
            <a:ext cx="489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Expected structure: (a + longer cycle)*</a:t>
            </a:r>
          </a:p>
        </p:txBody>
      </p:sp>
    </p:spTree>
    <p:extLst>
      <p:ext uri="{BB962C8B-B14F-4D97-AF65-F5344CB8AC3E}">
        <p14:creationId xmlns:p14="http://schemas.microsoft.com/office/powerpoint/2010/main" val="1840785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814995F-2C71-4681-958D-A71E6EC8D03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5F47B4-5B80-4775-895A-F70051173683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2: solve q₃ and q₂ before returning to q₁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2A4235F-2CA2-423A-AB48-D403942DDB9B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DAC03-AEC8-419F-BB17-19B05C6B8703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1EF657-76B8-44F7-8B27-7E2BBA47CA14}"/>
              </a:ext>
            </a:extLst>
          </p:cNvPr>
          <p:cNvSpPr>
            <a:spLocks noGrp="1"/>
          </p:cNvSpPr>
          <p:nvPr/>
        </p:nvSpPr>
        <p:spPr>
          <a:xfrm>
            <a:off x="904875" y="1524000"/>
            <a:ext cx="10382250" cy="628650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A186AB-76D9-4BB0-AFAD-484BBFC4D30C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1003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 + q₁·a + q₃·a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962808-C249-4A1A-B0D1-5F3FAB0D0F34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10382250" cy="628650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B4D39F-7678-498C-AB09-7F65B5042A59}"/>
              </a:ext>
            </a:extLst>
          </p:cNvPr>
          <p:cNvSpPr>
            <a:spLocks noGrp="1"/>
          </p:cNvSpPr>
          <p:nvPr/>
        </p:nvSpPr>
        <p:spPr>
          <a:xfrm>
            <a:off x="1076325" y="2552700"/>
            <a:ext cx="1003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q₁·b + q₂·b + q₃·b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C3B44B-F399-471D-9900-7F8F9A16669F}"/>
              </a:ext>
            </a:extLst>
          </p:cNvPr>
          <p:cNvSpPr>
            <a:spLocks noGrp="1"/>
          </p:cNvSpPr>
          <p:nvPr/>
        </p:nvSpPr>
        <p:spPr>
          <a:xfrm>
            <a:off x="904875" y="3429000"/>
            <a:ext cx="10382250" cy="628650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8ED59-E3F9-44BB-9545-9BF5966885DC}"/>
              </a:ext>
            </a:extLst>
          </p:cNvPr>
          <p:cNvSpPr>
            <a:spLocks noGrp="1"/>
          </p:cNvSpPr>
          <p:nvPr/>
        </p:nvSpPr>
        <p:spPr>
          <a:xfrm>
            <a:off x="1076325" y="3505200"/>
            <a:ext cx="1003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q₂·a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151397-CE1D-47AF-B802-A4DB59190314}"/>
              </a:ext>
            </a:extLst>
          </p:cNvPr>
          <p:cNvSpPr>
            <a:spLocks noGrp="1"/>
          </p:cNvSpPr>
          <p:nvPr/>
        </p:nvSpPr>
        <p:spPr>
          <a:xfrm>
            <a:off x="1143000" y="45243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Substitute q₃ into q₂: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3A19E6-9101-4535-B45B-46EBAE495B8D}"/>
              </a:ext>
            </a:extLst>
          </p:cNvPr>
          <p:cNvSpPr>
            <a:spLocks noGrp="1"/>
          </p:cNvSpPr>
          <p:nvPr/>
        </p:nvSpPr>
        <p:spPr>
          <a:xfrm>
            <a:off x="4762500" y="4381500"/>
            <a:ext cx="5905500" cy="64770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611BCF-0D02-484E-AAC9-6C2982DBA91C}"/>
              </a:ext>
            </a:extLst>
          </p:cNvPr>
          <p:cNvSpPr>
            <a:spLocks noGrp="1"/>
          </p:cNvSpPr>
          <p:nvPr/>
        </p:nvSpPr>
        <p:spPr>
          <a:xfrm>
            <a:off x="4933950" y="4457700"/>
            <a:ext cx="556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q₂ = q₁·b + q₂·(b + ab)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4E68F1-97FA-407C-AD2C-3A231AAB2B33}"/>
              </a:ext>
            </a:extLst>
          </p:cNvPr>
          <p:cNvSpPr>
            <a:spLocks noGrp="1"/>
          </p:cNvSpPr>
          <p:nvPr/>
        </p:nvSpPr>
        <p:spPr>
          <a:xfrm>
            <a:off x="3143250" y="5429250"/>
            <a:ext cx="5905500" cy="685800"/>
          </a:xfrm>
          <a:prstGeom prst="roundRect">
            <a:avLst>
              <a:gd name="adj" fmla="val 13889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446B0-FF16-490E-A7C7-AA8C2ECB2A0C}"/>
              </a:ext>
            </a:extLst>
          </p:cNvPr>
          <p:cNvSpPr>
            <a:spLocks noGrp="1"/>
          </p:cNvSpPr>
          <p:nvPr/>
        </p:nvSpPr>
        <p:spPr>
          <a:xfrm>
            <a:off x="3314700" y="5505450"/>
            <a:ext cx="5562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q₂ = q₁·b(b + ab)*</a:t>
            </a:r>
          </a:p>
        </p:txBody>
      </p:sp>
    </p:spTree>
    <p:extLst>
      <p:ext uri="{BB962C8B-B14F-4D97-AF65-F5344CB8AC3E}">
        <p14:creationId xmlns:p14="http://schemas.microsoft.com/office/powerpoint/2010/main" val="1337696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366C35B-F0A7-41BA-AFCD-CC5D7F20B3F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 •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3F908-0CE6-47F7-861F-8E28B0B85D09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Practice 2 solution: substitute back into q₁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D8940B5-66B6-4533-B58B-FB60B79840C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A5D95-922F-49B6-BE1C-1B77F2701EC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2E2208-5E35-4641-ADFB-D249AC2F0DE2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10096500" cy="66675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E4A4E-F5FC-4DD9-98B5-172106850554}"/>
              </a:ext>
            </a:extLst>
          </p:cNvPr>
          <p:cNvSpPr>
            <a:spLocks noGrp="1"/>
          </p:cNvSpPr>
          <p:nvPr/>
        </p:nvSpPr>
        <p:spPr>
          <a:xfrm>
            <a:off x="1219200" y="1600200"/>
            <a:ext cx="975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q₃ = q₂·a = q₁·b(b + ab)*a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8AEBD7-C574-42E4-BC01-B96914F045EA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10096500" cy="66675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A85B86-7BB3-42AA-8A26-228CA34D4451}"/>
              </a:ext>
            </a:extLst>
          </p:cNvPr>
          <p:cNvSpPr>
            <a:spLocks noGrp="1"/>
          </p:cNvSpPr>
          <p:nvPr/>
        </p:nvSpPr>
        <p:spPr>
          <a:xfrm>
            <a:off x="1219200" y="2743200"/>
            <a:ext cx="975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q₁ = ε + q₁·a + q₁·b(b + ab)*aa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742B6E-16C5-449B-B5AE-D262F6305238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10096500" cy="723900"/>
          </a:xfrm>
          <a:prstGeom prst="roundRect">
            <a:avLst>
              <a:gd name="adj" fmla="val 13158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0CB5B-E38A-45B9-B288-6ECE8E274A97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9753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q₁ = ε + q₁·[a + b(b + ab)*aa]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1A3776-E4F5-4BAA-A6EC-19FED99ADD00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7429500" cy="876300"/>
          </a:xfrm>
          <a:prstGeom prst="roundRect">
            <a:avLst>
              <a:gd name="adj" fmla="val 1087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A3F0FF-8A6F-461E-9F64-477839420E55}"/>
              </a:ext>
            </a:extLst>
          </p:cNvPr>
          <p:cNvSpPr>
            <a:spLocks noGrp="1"/>
          </p:cNvSpPr>
          <p:nvPr/>
        </p:nvSpPr>
        <p:spPr>
          <a:xfrm>
            <a:off x="2552700" y="5172075"/>
            <a:ext cx="7086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q₁ = [a + b(b + ab)*aa]*</a:t>
            </a:r>
          </a:p>
        </p:txBody>
      </p:sp>
    </p:spTree>
    <p:extLst>
      <p:ext uri="{BB962C8B-B14F-4D97-AF65-F5344CB8AC3E}">
        <p14:creationId xmlns:p14="http://schemas.microsoft.com/office/powerpoint/2010/main" val="2070299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873A090-1823-4542-97B3-B4E67E8DE28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A0866-CC80-47B8-B9E9-37D7C7EEF060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State elimination converts the graph by preserving every path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C256033-7212-4C96-99BB-49968F8D8BFE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DAA57-C926-47B5-A1F5-070739941303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87E064-AE7C-4245-9784-0C7493B47641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3143250" cy="3048000"/>
          </a:xfrm>
          <a:prstGeom prst="roundRect">
            <a:avLst>
              <a:gd name="adj" fmla="val 3750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BFF67-65A5-41C8-8BC8-1498C045DDC1}"/>
              </a:ext>
            </a:extLst>
          </p:cNvPr>
          <p:cNvSpPr>
            <a:spLocks noGrp="1"/>
          </p:cNvSpPr>
          <p:nvPr/>
        </p:nvSpPr>
        <p:spPr>
          <a:xfrm>
            <a:off x="1028700" y="21431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8D9DD-BDE2-4342-A3F9-CDDC57806726}"/>
              </a:ext>
            </a:extLst>
          </p:cNvPr>
          <p:cNvSpPr>
            <a:spLocks noGrp="1"/>
          </p:cNvSpPr>
          <p:nvPr/>
        </p:nvSpPr>
        <p:spPr>
          <a:xfrm>
            <a:off x="1066800" y="30003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Create one start state with no incoming edges and one final state with no outgoing edges.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71850E-FE30-41C2-865B-23E45BF87E9F}"/>
              </a:ext>
            </a:extLst>
          </p:cNvPr>
          <p:cNvSpPr>
            <a:spLocks noGrp="1"/>
          </p:cNvSpPr>
          <p:nvPr/>
        </p:nvSpPr>
        <p:spPr>
          <a:xfrm>
            <a:off x="4000500" y="2971800"/>
            <a:ext cx="47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375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E685CC-7148-4EB5-B642-85D35F06CC2C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3143250" cy="3048000"/>
          </a:xfrm>
          <a:prstGeom prst="roundRect">
            <a:avLst>
              <a:gd name="adj" fmla="val 3750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6EA2D4-2647-4227-B6B1-FA80D92665FC}"/>
              </a:ext>
            </a:extLst>
          </p:cNvPr>
          <p:cNvSpPr>
            <a:spLocks noGrp="1"/>
          </p:cNvSpPr>
          <p:nvPr/>
        </p:nvSpPr>
        <p:spPr>
          <a:xfrm>
            <a:off x="4810125" y="21431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40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Eliminate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AE7FF-AF64-4144-98D3-F206D70F0447}"/>
              </a:ext>
            </a:extLst>
          </p:cNvPr>
          <p:cNvSpPr>
            <a:spLocks noGrp="1"/>
          </p:cNvSpPr>
          <p:nvPr/>
        </p:nvSpPr>
        <p:spPr>
          <a:xfrm>
            <a:off x="4848225" y="285750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Remove intermediate states one at a time and replace all paths through them by direct RE-labelled edges.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C434CC-FA67-4E2A-A6FF-3453A5277707}"/>
              </a:ext>
            </a:extLst>
          </p:cNvPr>
          <p:cNvSpPr>
            <a:spLocks noGrp="1"/>
          </p:cNvSpPr>
          <p:nvPr/>
        </p:nvSpPr>
        <p:spPr>
          <a:xfrm>
            <a:off x="7781925" y="2971800"/>
            <a:ext cx="47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375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EEE36F-C287-44A4-88C8-461B6D2E9B3F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143250" cy="3048000"/>
          </a:xfrm>
          <a:prstGeom prst="roundRect">
            <a:avLst>
              <a:gd name="adj" fmla="val 375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803A5E-5305-4BEB-9D97-DF1BADD7D7EC}"/>
              </a:ext>
            </a:extLst>
          </p:cNvPr>
          <p:cNvSpPr>
            <a:spLocks noGrp="1"/>
          </p:cNvSpPr>
          <p:nvPr/>
        </p:nvSpPr>
        <p:spPr>
          <a:xfrm>
            <a:off x="8591550" y="21431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24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7EC8C3-5612-44E3-8775-4EB8466F0B56}"/>
              </a:ext>
            </a:extLst>
          </p:cNvPr>
          <p:cNvSpPr>
            <a:spLocks noGrp="1"/>
          </p:cNvSpPr>
          <p:nvPr/>
        </p:nvSpPr>
        <p:spPr>
          <a:xfrm>
            <a:off x="8629650" y="30003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When only start and final remain, the edge label between them is the required regular expression.</a:t>
            </a:r>
          </a:p>
        </p:txBody>
      </p:sp>
    </p:spTree>
    <p:extLst>
      <p:ext uri="{BB962C8B-B14F-4D97-AF65-F5344CB8AC3E}">
        <p14:creationId xmlns:p14="http://schemas.microsoft.com/office/powerpoint/2010/main" val="1552840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82BEB8D-9055-4245-855E-BAE72A9F039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D737C4-1C34-4DA0-91EA-1F6B2A64A194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Normalize the automaton before eliminating states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81E7D02-1B5A-499A-A3D0-4720C3D7EECA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486A58-3D1D-4A7D-86FF-8F70C1BD6D76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1DE1D-09B2-49AA-8EF9-B2BFA8D883E7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450666-6A6E-4069-B803-399FBFF2C812}"/>
              </a:ext>
            </a:extLst>
          </p:cNvPr>
          <p:cNvSpPr>
            <a:spLocks noGrp="1"/>
          </p:cNvSpPr>
          <p:nvPr/>
        </p:nvSpPr>
        <p:spPr>
          <a:xfrm>
            <a:off x="1323975" y="161925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start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54D5E-7AB5-42A7-BEBB-25F863BFE547}"/>
              </a:ext>
            </a:extLst>
          </p:cNvPr>
          <p:cNvSpPr>
            <a:spLocks noGrp="1"/>
          </p:cNvSpPr>
          <p:nvPr/>
        </p:nvSpPr>
        <p:spPr>
          <a:xfrm>
            <a:off x="1323975" y="2019300"/>
            <a:ext cx="4629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If necessary, add a new start s with ε to the old start.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3CB5A-4238-46BE-8A67-01E397682AD4}"/>
              </a:ext>
            </a:extLst>
          </p:cNvPr>
          <p:cNvSpPr>
            <a:spLocks noGrp="1"/>
          </p:cNvSpPr>
          <p:nvPr/>
        </p:nvSpPr>
        <p:spPr>
          <a:xfrm>
            <a:off x="6238875" y="1619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1639BE-340D-4F55-88B6-EF11AA483482}"/>
              </a:ext>
            </a:extLst>
          </p:cNvPr>
          <p:cNvSpPr>
            <a:spLocks noGrp="1"/>
          </p:cNvSpPr>
          <p:nvPr/>
        </p:nvSpPr>
        <p:spPr>
          <a:xfrm>
            <a:off x="6848475" y="161925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incoming edge to 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77CC75-8C32-4B14-AFFC-169545B20D51}"/>
              </a:ext>
            </a:extLst>
          </p:cNvPr>
          <p:cNvSpPr>
            <a:spLocks noGrp="1"/>
          </p:cNvSpPr>
          <p:nvPr/>
        </p:nvSpPr>
        <p:spPr>
          <a:xfrm>
            <a:off x="6848475" y="2019300"/>
            <a:ext cx="4629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newly added start guarantees this condition.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252CB9-F859-4F6E-8FA7-1C0CEB5100A6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55A058-0E4C-4FCA-8E5F-AEF2C621BA94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final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F95A87-7ED5-4217-9B25-43B6C04722D7}"/>
              </a:ext>
            </a:extLst>
          </p:cNvPr>
          <p:cNvSpPr>
            <a:spLocks noGrp="1"/>
          </p:cNvSpPr>
          <p:nvPr/>
        </p:nvSpPr>
        <p:spPr>
          <a:xfrm>
            <a:off x="1323975" y="3543300"/>
            <a:ext cx="4629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Add a new final f and connect every old final to f using ε.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9FE4FB-A045-4EF2-9A61-5A70491078E0}"/>
              </a:ext>
            </a:extLst>
          </p:cNvPr>
          <p:cNvSpPr>
            <a:spLocks noGrp="1"/>
          </p:cNvSpPr>
          <p:nvPr/>
        </p:nvSpPr>
        <p:spPr>
          <a:xfrm>
            <a:off x="6238875" y="3143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Autofit/>
          </a:bodyPr>
          <a:lstStyle/>
          <a:p>
            <a:pPr algn="l">
              <a:defRPr sz="13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1D6A15-62AA-4134-B0B0-2315DA675882}"/>
              </a:ext>
            </a:extLst>
          </p:cNvPr>
          <p:cNvSpPr>
            <a:spLocks noGrp="1"/>
          </p:cNvSpPr>
          <p:nvPr/>
        </p:nvSpPr>
        <p:spPr>
          <a:xfrm>
            <a:off x="6848475" y="314325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outgoing edge from 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123CC-609D-4826-A763-48D32D698540}"/>
              </a:ext>
            </a:extLst>
          </p:cNvPr>
          <p:cNvSpPr>
            <a:spLocks noGrp="1"/>
          </p:cNvSpPr>
          <p:nvPr/>
        </p:nvSpPr>
        <p:spPr>
          <a:xfrm>
            <a:off x="6848475" y="3543300"/>
            <a:ext cx="4629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new final state is a sink with respect to transitions.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2FEC00-25C6-411D-BC7E-E1B5D40F26B8}"/>
              </a:ext>
            </a:extLst>
          </p:cNvPr>
          <p:cNvSpPr>
            <a:spLocks noGrp="1"/>
          </p:cNvSpPr>
          <p:nvPr/>
        </p:nvSpPr>
        <p:spPr>
          <a:xfrm>
            <a:off x="1762125" y="5095875"/>
            <a:ext cx="8667750" cy="685800"/>
          </a:xfrm>
          <a:prstGeom prst="roundRect">
            <a:avLst>
              <a:gd name="adj" fmla="val 16667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059373-07F0-44BB-9748-322DF1209D7D}"/>
              </a:ext>
            </a:extLst>
          </p:cNvPr>
          <p:cNvSpPr>
            <a:spLocks noGrp="1"/>
          </p:cNvSpPr>
          <p:nvPr/>
        </p:nvSpPr>
        <p:spPr>
          <a:xfrm>
            <a:off x="1933575" y="5229225"/>
            <a:ext cx="832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ε edges added here do not consume input; they only standardize the structure.</a:t>
            </a:r>
          </a:p>
        </p:txBody>
      </p:sp>
    </p:spTree>
    <p:extLst>
      <p:ext uri="{BB962C8B-B14F-4D97-AF65-F5344CB8AC3E}">
        <p14:creationId xmlns:p14="http://schemas.microsoft.com/office/powerpoint/2010/main" val="1122991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01DCFE-0DE4-4C2F-A81D-F0AA0B2C8D2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C6CF3-4001-4072-B7DC-7C0B9D86A341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Eliminating k replaces all paths through k by one direct label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D573B85-1365-4C5E-B215-22A9EC3640B8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D8950-7B1D-4FB9-A9C9-47C8474EB7E0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19F784-57FD-4BAA-817C-46A6BFB9A253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1EE373-18DD-4375-AAED-5871DD0B10AA}"/>
              </a:ext>
            </a:extLst>
          </p:cNvPr>
          <p:cNvSpPr>
            <a:spLocks noGrp="1"/>
          </p:cNvSpPr>
          <p:nvPr/>
        </p:nvSpPr>
        <p:spPr>
          <a:xfrm>
            <a:off x="4000500" y="285750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359E5B-123C-4A54-AC9E-5F83F4F1EE9A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628650" cy="628650"/>
          </a:xfrm>
          <a:prstGeom prst="ellipse">
            <a:avLst/>
          </a:prstGeom>
          <a:solidFill>
            <a:srgbClr val="E8F5EA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cxnSp>
        <p:nvCxnSpPr>
          <p:cNvPr id="24" name="Straight Arrow Connector 23"/>
          <p:cNvCxnSpPr>
            <a:stCxn id="5" idx="6"/>
            <a:endCxn id="6" idx="2"/>
          </p:cNvCxnSpPr>
          <p:nvPr/>
        </p:nvCxnSpPr>
        <p:spPr>
          <a:xfrm>
            <a:off x="1771650" y="3171825"/>
            <a:ext cx="22288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653F779-F87D-440F-B56D-4DF82F2277B9}"/>
              </a:ext>
            </a:extLst>
          </p:cNvPr>
          <p:cNvSpPr>
            <a:spLocks noGrp="1"/>
          </p:cNvSpPr>
          <p:nvPr/>
        </p:nvSpPr>
        <p:spPr>
          <a:xfrm>
            <a:off x="2362200" y="24765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Rᵢₖ</a:t>
            </a:r>
          </a:p>
        </p:txBody>
      </p:sp>
      <p:cxnSp>
        <p:nvCxnSpPr>
          <p:cNvPr id="26" name="Straight Arrow Connector 25"/>
          <p:cNvCxnSpPr>
            <a:stCxn id="6" idx="6"/>
            <a:endCxn id="7" idx="2"/>
          </p:cNvCxnSpPr>
          <p:nvPr/>
        </p:nvCxnSpPr>
        <p:spPr>
          <a:xfrm>
            <a:off x="4629150" y="3171825"/>
            <a:ext cx="22288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3DA14-4D4D-4DB3-A7DF-C6E5D1B57BB1}"/>
              </a:ext>
            </a:extLst>
          </p:cNvPr>
          <p:cNvSpPr>
            <a:spLocks noGrp="1"/>
          </p:cNvSpPr>
          <p:nvPr/>
        </p:nvSpPr>
        <p:spPr>
          <a:xfrm>
            <a:off x="5219700" y="24765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Rₖⱼ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115C89-F5F4-435A-BA0C-4C02113EA69D}"/>
              </a:ext>
            </a:extLst>
          </p:cNvPr>
          <p:cNvSpPr>
            <a:spLocks noGrp="1"/>
          </p:cNvSpPr>
          <p:nvPr/>
        </p:nvSpPr>
        <p:spPr>
          <a:xfrm>
            <a:off x="4095750" y="2238375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13402-0BD4-4822-88B1-2FBEDED92FDF}"/>
              </a:ext>
            </a:extLst>
          </p:cNvPr>
          <p:cNvSpPr>
            <a:spLocks noGrp="1"/>
          </p:cNvSpPr>
          <p:nvPr/>
        </p:nvSpPr>
        <p:spPr>
          <a:xfrm>
            <a:off x="4419600" y="22002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Rₖₖ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808F51-00BD-454A-AE94-15C56C38E354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9334500" cy="895350"/>
          </a:xfrm>
          <a:prstGeom prst="roundRect">
            <a:avLst>
              <a:gd name="adj" fmla="val 10638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6AD00-E2B3-44FC-88AE-D8EC5D5E134C}"/>
              </a:ext>
            </a:extLst>
          </p:cNvPr>
          <p:cNvSpPr>
            <a:spLocks noGrp="1"/>
          </p:cNvSpPr>
          <p:nvPr/>
        </p:nvSpPr>
        <p:spPr>
          <a:xfrm>
            <a:off x="1600200" y="4838700"/>
            <a:ext cx="8991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Rᵢⱼ(new) = Rᵢⱼ(old) + Rᵢₖ(Rₖₖ)*Rₖⱼ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4C91DC-09DC-4111-923B-A9571DC025BC}"/>
              </a:ext>
            </a:extLst>
          </p:cNvPr>
          <p:cNvSpPr>
            <a:spLocks noGrp="1"/>
          </p:cNvSpPr>
          <p:nvPr/>
        </p:nvSpPr>
        <p:spPr>
          <a:xfrm>
            <a:off x="2190750" y="59055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old direct path  +  enter k · loop at k any times · leave k</a:t>
            </a:r>
          </a:p>
        </p:txBody>
      </p:sp>
    </p:spTree>
    <p:extLst>
      <p:ext uri="{BB962C8B-B14F-4D97-AF65-F5344CB8AC3E}">
        <p14:creationId xmlns:p14="http://schemas.microsoft.com/office/powerpoint/2010/main" val="1748431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550AF69-423F-401C-8552-03CA8905CBE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 •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4B121-D6D4-4B11-B8C4-285BA4C37187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Worked example: three old final states share one new final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6ED996C-8ED2-4E7B-862B-4393E3A0D70F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C97E09-AC4D-41D0-A79D-27721854B004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78EF45-4317-4738-A68B-FE26F99CB893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A92223-4485-4A1B-A970-9E8AD4C2808D}"/>
              </a:ext>
            </a:extLst>
          </p:cNvPr>
          <p:cNvSpPr>
            <a:spLocks noGrp="1"/>
          </p:cNvSpPr>
          <p:nvPr/>
        </p:nvSpPr>
        <p:spPr>
          <a:xfrm>
            <a:off x="3619500" y="290512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D3FE30-F2EE-4B9A-AD1B-2A43DF5C4178}"/>
              </a:ext>
            </a:extLst>
          </p:cNvPr>
          <p:cNvSpPr>
            <a:spLocks noGrp="1"/>
          </p:cNvSpPr>
          <p:nvPr/>
        </p:nvSpPr>
        <p:spPr>
          <a:xfrm>
            <a:off x="6858000" y="161925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3C4204-12F4-489A-ADAA-5458A0A307FA}"/>
              </a:ext>
            </a:extLst>
          </p:cNvPr>
          <p:cNvSpPr>
            <a:spLocks noGrp="1"/>
          </p:cNvSpPr>
          <p:nvPr/>
        </p:nvSpPr>
        <p:spPr>
          <a:xfrm>
            <a:off x="6915150" y="167640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8ED254-8F9C-4A97-B96D-E989AF118A9F}"/>
              </a:ext>
            </a:extLst>
          </p:cNvPr>
          <p:cNvSpPr>
            <a:spLocks noGrp="1"/>
          </p:cNvSpPr>
          <p:nvPr/>
        </p:nvSpPr>
        <p:spPr>
          <a:xfrm>
            <a:off x="6858000" y="2905125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7FF1A4-CE89-4AB3-A4D2-05797132A8E5}"/>
              </a:ext>
            </a:extLst>
          </p:cNvPr>
          <p:cNvSpPr>
            <a:spLocks noGrp="1"/>
          </p:cNvSpPr>
          <p:nvPr/>
        </p:nvSpPr>
        <p:spPr>
          <a:xfrm>
            <a:off x="6915150" y="2962275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6CC707-2178-4307-9F0C-48EFF7C3112B}"/>
              </a:ext>
            </a:extLst>
          </p:cNvPr>
          <p:cNvSpPr>
            <a:spLocks noGrp="1"/>
          </p:cNvSpPr>
          <p:nvPr/>
        </p:nvSpPr>
        <p:spPr>
          <a:xfrm>
            <a:off x="6858000" y="419100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A37463-90A4-4D75-9BDD-75DDFFE21182}"/>
              </a:ext>
            </a:extLst>
          </p:cNvPr>
          <p:cNvSpPr>
            <a:spLocks noGrp="1"/>
          </p:cNvSpPr>
          <p:nvPr/>
        </p:nvSpPr>
        <p:spPr>
          <a:xfrm>
            <a:off x="6915150" y="424815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37" name="Straight Arrow Connector 36"/>
          <p:cNvCxnSpPr>
            <a:stCxn id="5" idx="6"/>
            <a:endCxn id="6" idx="2"/>
          </p:cNvCxnSpPr>
          <p:nvPr/>
        </p:nvCxnSpPr>
        <p:spPr>
          <a:xfrm>
            <a:off x="1676400" y="3219450"/>
            <a:ext cx="19431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71B7A-C0AC-418A-AF05-0E7F171C469A}"/>
              </a:ext>
            </a:extLst>
          </p:cNvPr>
          <p:cNvSpPr>
            <a:spLocks noGrp="1"/>
          </p:cNvSpPr>
          <p:nvPr/>
        </p:nvSpPr>
        <p:spPr>
          <a:xfrm>
            <a:off x="2143125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39" name="Straight Arrow Connector 38"/>
          <p:cNvCxnSpPr>
            <a:stCxn id="6" idx="6"/>
            <a:endCxn id="7" idx="2"/>
          </p:cNvCxnSpPr>
          <p:nvPr/>
        </p:nvCxnSpPr>
        <p:spPr>
          <a:xfrm flipV="1">
            <a:off x="4248150" y="1933575"/>
            <a:ext cx="2609850" cy="128587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F5BEC6B-D975-4055-B9F6-F54E8AEA7B4C}"/>
              </a:ext>
            </a:extLst>
          </p:cNvPr>
          <p:cNvSpPr>
            <a:spLocks noGrp="1"/>
          </p:cNvSpPr>
          <p:nvPr/>
        </p:nvSpPr>
        <p:spPr>
          <a:xfrm>
            <a:off x="5095875" y="1809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41" name="Straight Arrow Connector 40"/>
          <p:cNvCxnSpPr>
            <a:stCxn id="6" idx="6"/>
            <a:endCxn id="9" idx="2"/>
          </p:cNvCxnSpPr>
          <p:nvPr/>
        </p:nvCxnSpPr>
        <p:spPr>
          <a:xfrm>
            <a:off x="4248150" y="3219450"/>
            <a:ext cx="26098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592960E-A3D1-4CAD-A182-E6C6FC6B8043}"/>
              </a:ext>
            </a:extLst>
          </p:cNvPr>
          <p:cNvSpPr>
            <a:spLocks noGrp="1"/>
          </p:cNvSpPr>
          <p:nvPr/>
        </p:nvSpPr>
        <p:spPr>
          <a:xfrm>
            <a:off x="5095875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cxnSp>
        <p:nvCxnSpPr>
          <p:cNvPr id="43" name="Straight Arrow Connector 42"/>
          <p:cNvCxnSpPr>
            <a:stCxn id="6" idx="6"/>
            <a:endCxn id="11" idx="2"/>
          </p:cNvCxnSpPr>
          <p:nvPr/>
        </p:nvCxnSpPr>
        <p:spPr>
          <a:xfrm>
            <a:off x="4248150" y="3219450"/>
            <a:ext cx="2609850" cy="128587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C8D89-D09A-44EF-BBE0-79612DAC1C46}"/>
              </a:ext>
            </a:extLst>
          </p:cNvPr>
          <p:cNvSpPr>
            <a:spLocks noGrp="1"/>
          </p:cNvSpPr>
          <p:nvPr/>
        </p:nvSpPr>
        <p:spPr>
          <a:xfrm>
            <a:off x="5095875" y="42386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02686D-D9E9-4E46-B72E-AE3887A2F8FD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6" name="Straight Arrow Connector 45"/>
          <p:cNvCxnSpPr>
            <a:stCxn id="21" idx="6"/>
            <a:endCxn id="5" idx="2"/>
          </p:cNvCxnSpPr>
          <p:nvPr/>
        </p:nvCxnSpPr>
        <p:spPr>
          <a:xfrm flipV="1">
            <a:off x="285750" y="3219450"/>
            <a:ext cx="762000" cy="95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A7CCB9-0823-421D-B88F-D0F9C91BF4CD}"/>
              </a:ext>
            </a:extLst>
          </p:cNvPr>
          <p:cNvSpPr>
            <a:spLocks noGrp="1"/>
          </p:cNvSpPr>
          <p:nvPr/>
        </p:nvSpPr>
        <p:spPr>
          <a:xfrm>
            <a:off x="7953375" y="2619375"/>
            <a:ext cx="3429000" cy="104775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3F7A5-9800-471F-9D1C-9EFFD16DC56D}"/>
              </a:ext>
            </a:extLst>
          </p:cNvPr>
          <p:cNvSpPr>
            <a:spLocks noGrp="1"/>
          </p:cNvSpPr>
          <p:nvPr/>
        </p:nvSpPr>
        <p:spPr>
          <a:xfrm>
            <a:off x="8124825" y="2752725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Original language: a followed by b, c, or d</a:t>
            </a:r>
          </a:p>
        </p:txBody>
      </p:sp>
    </p:spTree>
    <p:extLst>
      <p:ext uri="{BB962C8B-B14F-4D97-AF65-F5344CB8AC3E}">
        <p14:creationId xmlns:p14="http://schemas.microsoft.com/office/powerpoint/2010/main" val="1318903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15E8A16-B8D7-41DE-BD24-F816915EB7D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 •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3518F-7AA5-4E08-B030-2E1EF01138D8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Step 1: add qf and connect each old final with ε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1E1CC71-B933-4327-A50E-0D81E21FECF9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F41BD-868F-4F60-898A-81D42CC4BDF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FB1B27-30D0-4A80-9AA1-07E2F973F705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503CB2-DB6B-4C13-BEAC-F52AA3B8DCBE}"/>
              </a:ext>
            </a:extLst>
          </p:cNvPr>
          <p:cNvSpPr>
            <a:spLocks noGrp="1"/>
          </p:cNvSpPr>
          <p:nvPr/>
        </p:nvSpPr>
        <p:spPr>
          <a:xfrm>
            <a:off x="2714625" y="290512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19ADB-7010-4A93-B985-D52F6187118D}"/>
              </a:ext>
            </a:extLst>
          </p:cNvPr>
          <p:cNvSpPr>
            <a:spLocks noGrp="1"/>
          </p:cNvSpPr>
          <p:nvPr/>
        </p:nvSpPr>
        <p:spPr>
          <a:xfrm>
            <a:off x="5286375" y="152400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8C3C1D-6A04-4852-87E1-C74818661C32}"/>
              </a:ext>
            </a:extLst>
          </p:cNvPr>
          <p:cNvSpPr>
            <a:spLocks noGrp="1"/>
          </p:cNvSpPr>
          <p:nvPr/>
        </p:nvSpPr>
        <p:spPr>
          <a:xfrm>
            <a:off x="5286375" y="2905125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779619-CA18-4D69-851C-51575327AEA8}"/>
              </a:ext>
            </a:extLst>
          </p:cNvPr>
          <p:cNvSpPr>
            <a:spLocks noGrp="1"/>
          </p:cNvSpPr>
          <p:nvPr/>
        </p:nvSpPr>
        <p:spPr>
          <a:xfrm>
            <a:off x="5286375" y="428625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9513EE-2F93-4799-9A50-DA7E90DC2AFD}"/>
              </a:ext>
            </a:extLst>
          </p:cNvPr>
          <p:cNvSpPr>
            <a:spLocks noGrp="1"/>
          </p:cNvSpPr>
          <p:nvPr/>
        </p:nvSpPr>
        <p:spPr>
          <a:xfrm>
            <a:off x="9048750" y="2905125"/>
            <a:ext cx="628650" cy="628650"/>
          </a:xfrm>
          <a:prstGeom prst="ellipse">
            <a:avLst/>
          </a:prstGeom>
          <a:solidFill>
            <a:srgbClr val="E8F5EA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F754BB-12F8-4967-85EF-1250964B0921}"/>
              </a:ext>
            </a:extLst>
          </p:cNvPr>
          <p:cNvSpPr>
            <a:spLocks noGrp="1"/>
          </p:cNvSpPr>
          <p:nvPr/>
        </p:nvSpPr>
        <p:spPr>
          <a:xfrm>
            <a:off x="9105900" y="2962275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40" name="Straight Arrow Connector 39"/>
          <p:cNvCxnSpPr>
            <a:stCxn id="5" idx="6"/>
            <a:endCxn id="6" idx="2"/>
          </p:cNvCxnSpPr>
          <p:nvPr/>
        </p:nvCxnSpPr>
        <p:spPr>
          <a:xfrm>
            <a:off x="1295400" y="3219450"/>
            <a:ext cx="1419225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5FF4C0C-DA00-407A-8902-D4D83AF6C406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42" name="Straight Arrow Connector 41"/>
          <p:cNvCxnSpPr>
            <a:stCxn id="6" idx="6"/>
            <a:endCxn id="7" idx="2"/>
          </p:cNvCxnSpPr>
          <p:nvPr/>
        </p:nvCxnSpPr>
        <p:spPr>
          <a:xfrm flipV="1">
            <a:off x="3343275" y="1838325"/>
            <a:ext cx="1943100" cy="13811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D7D138F-8000-48B6-B5E4-CF62253B4A92}"/>
              </a:ext>
            </a:extLst>
          </p:cNvPr>
          <p:cNvSpPr>
            <a:spLocks noGrp="1"/>
          </p:cNvSpPr>
          <p:nvPr/>
        </p:nvSpPr>
        <p:spPr>
          <a:xfrm>
            <a:off x="3857625" y="17145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44" name="Straight Arrow Connector 43"/>
          <p:cNvCxnSpPr>
            <a:stCxn id="6" idx="6"/>
            <a:endCxn id="8" idx="2"/>
          </p:cNvCxnSpPr>
          <p:nvPr/>
        </p:nvCxnSpPr>
        <p:spPr>
          <a:xfrm>
            <a:off x="3343275" y="3219450"/>
            <a:ext cx="19431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DF19F-79CC-4B31-9C20-39706E983E19}"/>
              </a:ext>
            </a:extLst>
          </p:cNvPr>
          <p:cNvSpPr>
            <a:spLocks noGrp="1"/>
          </p:cNvSpPr>
          <p:nvPr/>
        </p:nvSpPr>
        <p:spPr>
          <a:xfrm>
            <a:off x="3857625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cxnSp>
        <p:nvCxnSpPr>
          <p:cNvPr id="46" name="Straight Arrow Connector 45"/>
          <p:cNvCxnSpPr>
            <a:stCxn id="6" idx="6"/>
            <a:endCxn id="9" idx="2"/>
          </p:cNvCxnSpPr>
          <p:nvPr/>
        </p:nvCxnSpPr>
        <p:spPr>
          <a:xfrm>
            <a:off x="3343275" y="3219450"/>
            <a:ext cx="1943100" cy="13811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FE869D9-5ABD-4C4E-9D6D-81CACB19BD5E}"/>
              </a:ext>
            </a:extLst>
          </p:cNvPr>
          <p:cNvSpPr>
            <a:spLocks noGrp="1"/>
          </p:cNvSpPr>
          <p:nvPr/>
        </p:nvSpPr>
        <p:spPr>
          <a:xfrm>
            <a:off x="3857625" y="43338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cxnSp>
        <p:nvCxnSpPr>
          <p:cNvPr id="48" name="Straight Arrow Connector 47"/>
          <p:cNvCxnSpPr>
            <a:stCxn id="7" idx="6"/>
            <a:endCxn id="10" idx="0"/>
          </p:cNvCxnSpPr>
          <p:nvPr/>
        </p:nvCxnSpPr>
        <p:spPr>
          <a:xfrm>
            <a:off x="5915025" y="1838325"/>
            <a:ext cx="3448050" cy="106680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B11117C-A4D4-4DC3-81B8-F701DA2F385B}"/>
              </a:ext>
            </a:extLst>
          </p:cNvPr>
          <p:cNvSpPr>
            <a:spLocks noGrp="1"/>
          </p:cNvSpPr>
          <p:nvPr/>
        </p:nvSpPr>
        <p:spPr>
          <a:xfrm>
            <a:off x="7143750" y="16668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cxnSp>
        <p:nvCxnSpPr>
          <p:cNvPr id="50" name="Straight Arrow Connector 49"/>
          <p:cNvCxnSpPr>
            <a:stCxn id="8" idx="6"/>
            <a:endCxn id="10" idx="2"/>
          </p:cNvCxnSpPr>
          <p:nvPr/>
        </p:nvCxnSpPr>
        <p:spPr>
          <a:xfrm>
            <a:off x="5915025" y="3219450"/>
            <a:ext cx="3133725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8FFE3-0648-4371-91CA-9CA81B13157D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cxnSp>
        <p:nvCxnSpPr>
          <p:cNvPr id="52" name="Straight Arrow Connector 51"/>
          <p:cNvCxnSpPr>
            <a:stCxn id="9" idx="6"/>
            <a:endCxn id="10" idx="4"/>
          </p:cNvCxnSpPr>
          <p:nvPr/>
        </p:nvCxnSpPr>
        <p:spPr>
          <a:xfrm flipV="1">
            <a:off x="5915025" y="3533775"/>
            <a:ext cx="3448050" cy="106680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827BA9B-1BF0-43C2-BEA0-51EDE8F5EF2E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037D5A-C50B-4B1D-915B-E5BB434BAF39}"/>
              </a:ext>
            </a:extLst>
          </p:cNvPr>
          <p:cNvSpPr>
            <a:spLocks noGrp="1"/>
          </p:cNvSpPr>
          <p:nvPr/>
        </p:nvSpPr>
        <p:spPr>
          <a:xfrm>
            <a:off x="114300" y="3219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5" name="Straight Arrow Connector 54"/>
          <p:cNvCxnSpPr>
            <a:stCxn id="26" idx="6"/>
            <a:endCxn id="5" idx="2"/>
          </p:cNvCxnSpPr>
          <p:nvPr/>
        </p:nvCxnSpPr>
        <p:spPr>
          <a:xfrm flipV="1">
            <a:off x="133350" y="3219450"/>
            <a:ext cx="533400" cy="95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57EFE-B1EE-4BE0-8A1A-6408C3C7280E}"/>
              </a:ext>
            </a:extLst>
          </p:cNvPr>
          <p:cNvSpPr>
            <a:spLocks noGrp="1"/>
          </p:cNvSpPr>
          <p:nvPr/>
        </p:nvSpPr>
        <p:spPr>
          <a:xfrm>
            <a:off x="2571750" y="56197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q4, q3, and q5 are no longer final; qf is the only final state.</a:t>
            </a:r>
          </a:p>
        </p:txBody>
      </p:sp>
    </p:spTree>
    <p:extLst>
      <p:ext uri="{BB962C8B-B14F-4D97-AF65-F5344CB8AC3E}">
        <p14:creationId xmlns:p14="http://schemas.microsoft.com/office/powerpoint/2010/main" val="1068125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919F1B-178C-4343-B578-61FE1E69A72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 •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CDFCD-3411-48A5-80B3-A65F8FAD0186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Step 2: eliminate q4, q3, and q5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0877D9D-D04D-4470-80F2-CA69A73851E2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EBBF65-EB0E-416C-AB2E-CDE6EF62B39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3809B1-7AD2-46DA-8DF0-7C35DF140D58}"/>
              </a:ext>
            </a:extLst>
          </p:cNvPr>
          <p:cNvSpPr>
            <a:spLocks noGrp="1"/>
          </p:cNvSpPr>
          <p:nvPr/>
        </p:nvSpPr>
        <p:spPr>
          <a:xfrm>
            <a:off x="1666875" y="2952750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8CA403-8D58-47B9-ABBD-6B5386876078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628650" cy="628650"/>
          </a:xfrm>
          <a:prstGeom prst="ellipse">
            <a:avLst/>
          </a:prstGeom>
          <a:solidFill>
            <a:srgbClr val="FFF0D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557121-3E2C-46C2-BA4F-2310400459DC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628650" cy="628650"/>
          </a:xfrm>
          <a:prstGeom prst="ellipse">
            <a:avLst/>
          </a:prstGeom>
          <a:solidFill>
            <a:srgbClr val="E8F5EA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qf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2258B8-A3DC-4911-B94E-374614F606EB}"/>
              </a:ext>
            </a:extLst>
          </p:cNvPr>
          <p:cNvSpPr>
            <a:spLocks noGrp="1"/>
          </p:cNvSpPr>
          <p:nvPr/>
        </p:nvSpPr>
        <p:spPr>
          <a:xfrm>
            <a:off x="8629650" y="300990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26" name="Straight Arrow Connector 25"/>
          <p:cNvCxnSpPr>
            <a:stCxn id="5" idx="6"/>
            <a:endCxn id="6" idx="2"/>
          </p:cNvCxnSpPr>
          <p:nvPr/>
        </p:nvCxnSpPr>
        <p:spPr>
          <a:xfrm>
            <a:off x="2295525" y="3267075"/>
            <a:ext cx="2466975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D044941-19FE-4F86-AE4B-C02D888BF64A}"/>
              </a:ext>
            </a:extLst>
          </p:cNvPr>
          <p:cNvSpPr>
            <a:spLocks noGrp="1"/>
          </p:cNvSpPr>
          <p:nvPr/>
        </p:nvSpPr>
        <p:spPr>
          <a:xfrm>
            <a:off x="3000375" y="25717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cxnSp>
        <p:nvCxnSpPr>
          <p:cNvPr id="28" name="Straight Arrow Connector 27"/>
          <p:cNvCxnSpPr>
            <a:stCxn id="6" idx="6"/>
            <a:endCxn id="7" idx="2"/>
          </p:cNvCxnSpPr>
          <p:nvPr/>
        </p:nvCxnSpPr>
        <p:spPr>
          <a:xfrm>
            <a:off x="5391150" y="3267075"/>
            <a:ext cx="31813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D5BC6-ED1B-485D-8CF9-135F03C50EEA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b + c + 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7F4BA2-59B5-43B5-A7B4-70854802A9C5}"/>
              </a:ext>
            </a:extLst>
          </p:cNvPr>
          <p:cNvSpPr>
            <a:spLocks noGrp="1"/>
          </p:cNvSpPr>
          <p:nvPr/>
        </p:nvSpPr>
        <p:spPr>
          <a:xfrm>
            <a:off x="904875" y="3267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31" name="Straight Arrow Connector 30"/>
          <p:cNvCxnSpPr>
            <a:stCxn id="13" idx="6"/>
            <a:endCxn id="5" idx="2"/>
          </p:cNvCxnSpPr>
          <p:nvPr/>
        </p:nvCxnSpPr>
        <p:spPr>
          <a:xfrm flipV="1">
            <a:off x="923925" y="3267075"/>
            <a:ext cx="742950" cy="95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AA6F9C0-7145-4E28-9B3D-B1E42EDB42F6}"/>
              </a:ext>
            </a:extLst>
          </p:cNvPr>
          <p:cNvSpPr>
            <a:spLocks noGrp="1"/>
          </p:cNvSpPr>
          <p:nvPr/>
        </p:nvSpPr>
        <p:spPr>
          <a:xfrm>
            <a:off x="2381250" y="44767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Each removed branch contributes its label followed by ε: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F8F9DF-5A9A-4426-B428-BAE850EB28D9}"/>
              </a:ext>
            </a:extLst>
          </p:cNvPr>
          <p:cNvSpPr>
            <a:spLocks noGrp="1"/>
          </p:cNvSpPr>
          <p:nvPr/>
        </p:nvSpPr>
        <p:spPr>
          <a:xfrm>
            <a:off x="2143125" y="5048250"/>
            <a:ext cx="7905750" cy="723900"/>
          </a:xfrm>
          <a:prstGeom prst="roundRect">
            <a:avLst>
              <a:gd name="adj" fmla="val 13158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57A871-4BBC-4E17-8DEB-639706867E3C}"/>
              </a:ext>
            </a:extLst>
          </p:cNvPr>
          <p:cNvSpPr>
            <a:spLocks noGrp="1"/>
          </p:cNvSpPr>
          <p:nvPr/>
        </p:nvSpPr>
        <p:spPr>
          <a:xfrm>
            <a:off x="2314575" y="5124450"/>
            <a:ext cx="7562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b·ε + c·ε + d·ε = b + c + d</a:t>
            </a:r>
          </a:p>
        </p:txBody>
      </p:sp>
    </p:spTree>
    <p:extLst>
      <p:ext uri="{BB962C8B-B14F-4D97-AF65-F5344CB8AC3E}">
        <p14:creationId xmlns:p14="http://schemas.microsoft.com/office/powerpoint/2010/main" val="666766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CE74930-5C71-4E0E-98E2-63102986471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ELIMINATION •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E88DB-4DC4-4BE2-890B-1DB76173D3E7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Step 3: eliminate q₂ and read the remaining edge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F3FD9D4-3BFC-4B06-9446-EB756ACCAF05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D2142-8D53-4D84-8C91-EBB3B1B1D978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815386-E177-4E6B-8F2F-C5AD1D9DAC72}"/>
              </a:ext>
            </a:extLst>
          </p:cNvPr>
          <p:cNvSpPr>
            <a:spLocks noGrp="1"/>
          </p:cNvSpPr>
          <p:nvPr/>
        </p:nvSpPr>
        <p:spPr>
          <a:xfrm>
            <a:off x="2000250" y="2857500"/>
            <a:ext cx="628650" cy="628650"/>
          </a:xfrm>
          <a:prstGeom prst="ellipse">
            <a:avLst/>
          </a:prstGeom>
          <a:solidFill>
            <a:srgbClr val="DCEEFF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B81622-9CA3-4793-B68C-9F74C9B59290}"/>
              </a:ext>
            </a:extLst>
          </p:cNvPr>
          <p:cNvSpPr>
            <a:spLocks noGrp="1"/>
          </p:cNvSpPr>
          <p:nvPr/>
        </p:nvSpPr>
        <p:spPr>
          <a:xfrm>
            <a:off x="8477250" y="2857500"/>
            <a:ext cx="628650" cy="628650"/>
          </a:xfrm>
          <a:prstGeom prst="ellipse">
            <a:avLst/>
          </a:prstGeom>
          <a:solidFill>
            <a:srgbClr val="E8F5EA"/>
          </a:solidFill>
          <a:ln w="2095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qf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481E53-9238-4920-8AAE-E066A4033EF4}"/>
              </a:ext>
            </a:extLst>
          </p:cNvPr>
          <p:cNvSpPr>
            <a:spLocks noGrp="1"/>
          </p:cNvSpPr>
          <p:nvPr/>
        </p:nvSpPr>
        <p:spPr>
          <a:xfrm>
            <a:off x="8534400" y="2914650"/>
            <a:ext cx="514350" cy="514350"/>
          </a:xfrm>
          <a:prstGeom prst="ellipse">
            <a:avLst/>
          </a:prstGeom>
          <a:noFill/>
          <a:ln w="14288">
            <a:solidFill>
              <a:srgbClr val="111827"/>
            </a:solidFill>
            <a:prstDash val="solid"/>
          </a:ln>
        </p:spPr>
      </p:sp>
      <p:cxnSp>
        <p:nvCxnSpPr>
          <p:cNvPr id="22" name="Straight Arrow Connector 21"/>
          <p:cNvCxnSpPr>
            <a:stCxn id="5" idx="6"/>
            <a:endCxn id="6" idx="2"/>
          </p:cNvCxnSpPr>
          <p:nvPr/>
        </p:nvCxnSpPr>
        <p:spPr>
          <a:xfrm>
            <a:off x="2628900" y="3171825"/>
            <a:ext cx="58483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9B6D9D6-E1B5-423D-9EB0-B1AC326B0987}"/>
              </a:ext>
            </a:extLst>
          </p:cNvPr>
          <p:cNvSpPr>
            <a:spLocks noGrp="1"/>
          </p:cNvSpPr>
          <p:nvPr/>
        </p:nvSpPr>
        <p:spPr>
          <a:xfrm>
            <a:off x="4095750" y="23336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a(b + c + d)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E0BDAA-5AF5-4075-99C1-D076C76B0A57}"/>
              </a:ext>
            </a:extLst>
          </p:cNvPr>
          <p:cNvSpPr>
            <a:spLocks noGrp="1"/>
          </p:cNvSpPr>
          <p:nvPr/>
        </p:nvSpPr>
        <p:spPr>
          <a:xfrm>
            <a:off x="1190625" y="3171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25" name="Straight Arrow Connector 24"/>
          <p:cNvCxnSpPr>
            <a:stCxn id="10" idx="6"/>
            <a:endCxn id="5" idx="2"/>
          </p:cNvCxnSpPr>
          <p:nvPr/>
        </p:nvCxnSpPr>
        <p:spPr>
          <a:xfrm flipV="1">
            <a:off x="1209675" y="3171825"/>
            <a:ext cx="790575" cy="9525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  <a:tailEnd type="triangle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FC9091-C462-495E-9B86-63FB2B68F529}"/>
              </a:ext>
            </a:extLst>
          </p:cNvPr>
          <p:cNvSpPr>
            <a:spLocks noGrp="1"/>
          </p:cNvSpPr>
          <p:nvPr/>
        </p:nvSpPr>
        <p:spPr>
          <a:xfrm>
            <a:off x="2571750" y="4476750"/>
            <a:ext cx="7048500" cy="990600"/>
          </a:xfrm>
          <a:prstGeom prst="roundRect">
            <a:avLst>
              <a:gd name="adj" fmla="val 9615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E8C0E-5523-49FE-B703-7BEC71FB06D9}"/>
              </a:ext>
            </a:extLst>
          </p:cNvPr>
          <p:cNvSpPr>
            <a:spLocks noGrp="1"/>
          </p:cNvSpPr>
          <p:nvPr/>
        </p:nvSpPr>
        <p:spPr>
          <a:xfrm>
            <a:off x="2743200" y="4552950"/>
            <a:ext cx="6705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3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RE = a(b + c + 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C1657B-4872-4AFF-8F4E-1304E8836EA9}"/>
              </a:ext>
            </a:extLst>
          </p:cNvPr>
          <p:cNvSpPr>
            <a:spLocks noGrp="1"/>
          </p:cNvSpPr>
          <p:nvPr/>
        </p:nvSpPr>
        <p:spPr>
          <a:xfrm>
            <a:off x="3143250" y="58102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ctr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Matches the direct reading: ab + ac + ad</a:t>
            </a:r>
          </a:p>
        </p:txBody>
      </p:sp>
    </p:spTree>
    <p:extLst>
      <p:ext uri="{BB962C8B-B14F-4D97-AF65-F5344CB8AC3E}">
        <p14:creationId xmlns:p14="http://schemas.microsoft.com/office/powerpoint/2010/main" val="1583971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C4CA77-C263-4D11-84CF-F9830F83F20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4DDD06-E289-4781-B763-666F9819C939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the method that keeps the work simplest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85F5278-8D38-42E8-AE3F-549DDDAAAAB2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3CA12-A32B-42CD-9509-54FBF57562A9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365C63-7235-4321-9308-A609771E6589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5238750" cy="3714750"/>
          </a:xfrm>
          <a:prstGeom prst="roundRect">
            <a:avLst>
              <a:gd name="adj" fmla="val 3077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D88C1-C456-4989-9041-8C63E246F8ED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Arden’s Theorem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367151-C5C9-4996-9A84-7B321747DE50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when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984C2-ACAB-464D-8FFF-8553AA60A4DD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4048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state equations are short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substitutions stay manageable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you want an algebraic proof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E39C0-B645-481B-AC99-05B47A66E52C}"/>
              </a:ext>
            </a:extLst>
          </p:cNvPr>
          <p:cNvSpPr>
            <a:spLocks noGrp="1"/>
          </p:cNvSpPr>
          <p:nvPr/>
        </p:nvSpPr>
        <p:spPr>
          <a:xfrm>
            <a:off x="1047750" y="466725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650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Main risk: wrong concatenation order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D7A1E-9BA5-4F26-9526-57D6F611F5B0}"/>
              </a:ext>
            </a:extLst>
          </p:cNvPr>
          <p:cNvSpPr>
            <a:spLocks noGrp="1"/>
          </p:cNvSpPr>
          <p:nvPr/>
        </p:nvSpPr>
        <p:spPr>
          <a:xfrm>
            <a:off x="6248400" y="1619250"/>
            <a:ext cx="5238750" cy="3714750"/>
          </a:xfrm>
          <a:prstGeom prst="roundRect">
            <a:avLst>
              <a:gd name="adj" fmla="val 3077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30FDFD-7CFA-4361-965D-157BC12498C6}"/>
              </a:ext>
            </a:extLst>
          </p:cNvPr>
          <p:cNvSpPr>
            <a:spLocks noGrp="1"/>
          </p:cNvSpPr>
          <p:nvPr/>
        </p:nvSpPr>
        <p:spPr>
          <a:xfrm>
            <a:off x="6591300" y="195262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55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State Elimination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D0055-76B4-4F54-BEAB-474576027931}"/>
              </a:ext>
            </a:extLst>
          </p:cNvPr>
          <p:cNvSpPr>
            <a:spLocks noGrp="1"/>
          </p:cNvSpPr>
          <p:nvPr/>
        </p:nvSpPr>
        <p:spPr>
          <a:xfrm>
            <a:off x="6591300" y="2714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when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FB7214-2A7F-4661-BB96-5E85BF9CB120}"/>
              </a:ext>
            </a:extLst>
          </p:cNvPr>
          <p:cNvSpPr>
            <a:spLocks noGrp="1"/>
          </p:cNvSpPr>
          <p:nvPr/>
        </p:nvSpPr>
        <p:spPr>
          <a:xfrm>
            <a:off x="6781800" y="3143250"/>
            <a:ext cx="4048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graph reduction is visually clearer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equations become deeply nested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GNFA rules are familiar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C4D12-AD01-4660-9603-B3E4A252B916}"/>
              </a:ext>
            </a:extLst>
          </p:cNvPr>
          <p:cNvSpPr>
            <a:spLocks noGrp="1"/>
          </p:cNvSpPr>
          <p:nvPr/>
        </p:nvSpPr>
        <p:spPr>
          <a:xfrm>
            <a:off x="6591300" y="4667250"/>
            <a:ext cx="4429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650" b="1" i="0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2413A"/>
                </a:solidFill>
                <a:latin typeface="Arial"/>
                <a:ea typeface="Arial"/>
                <a:cs typeface="Arial"/>
              </a:rPr>
              <a:t>Main risk: forgetting an alternate path</a:t>
            </a:r>
          </a:p>
        </p:txBody>
      </p:sp>
    </p:spTree>
    <p:extLst>
      <p:ext uri="{BB962C8B-B14F-4D97-AF65-F5344CB8AC3E}">
        <p14:creationId xmlns:p14="http://schemas.microsoft.com/office/powerpoint/2010/main" val="479437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CB4381C-1FF3-4EC6-9006-BEFB60E032CF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219E11-221B-4AC0-8BC0-F0A027EF54F0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Most errors come from four small notation mistakes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A5E220F-8F9C-4EFE-8763-B1C8E1F59A30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1C4B9-E9C3-4F12-B8D7-184108F7C88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A51FF0-CDA7-4723-8579-768896E97C80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2C078-8669-4CFB-96BD-AB9D7951680B}"/>
              </a:ext>
            </a:extLst>
          </p:cNvPr>
          <p:cNvSpPr>
            <a:spLocks noGrp="1"/>
          </p:cNvSpPr>
          <p:nvPr/>
        </p:nvSpPr>
        <p:spPr>
          <a:xfrm>
            <a:off x="1571625" y="15716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Using outgoing edges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F9251-BC33-407F-9546-3BEA57737F63}"/>
              </a:ext>
            </a:extLst>
          </p:cNvPr>
          <p:cNvSpPr>
            <a:spLocks noGrp="1"/>
          </p:cNvSpPr>
          <p:nvPr/>
        </p:nvSpPr>
        <p:spPr>
          <a:xfrm>
            <a:off x="4953000" y="1571625"/>
            <a:ext cx="633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Build each equation from arrows entering the state.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98DAAD5-02D2-43B4-B0B3-206C7A90C2C6}"/>
              </a:ext>
            </a:extLst>
          </p:cNvPr>
          <p:cNvSpPr>
            <a:spLocks noGrp="1"/>
          </p:cNvSpPr>
          <p:nvPr/>
        </p:nvSpPr>
        <p:spPr>
          <a:xfrm>
            <a:off x="1571625" y="2390775"/>
            <a:ext cx="9715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618F35-112D-47C3-B903-9D584C514E5D}"/>
              </a:ext>
            </a:extLst>
          </p:cNvPr>
          <p:cNvSpPr>
            <a:spLocks noGrp="1"/>
          </p:cNvSpPr>
          <p:nvPr/>
        </p:nvSpPr>
        <p:spPr>
          <a:xfrm>
            <a:off x="742950" y="26384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A7C16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4C0E9-5F08-4F71-88AF-83638B703784}"/>
              </a:ext>
            </a:extLst>
          </p:cNvPr>
          <p:cNvSpPr>
            <a:spLocks noGrp="1"/>
          </p:cNvSpPr>
          <p:nvPr/>
        </p:nvSpPr>
        <p:spPr>
          <a:xfrm>
            <a:off x="1571625" y="26384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Swapping concatenation 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7FCF8-8C78-4922-826E-CE407198F5E0}"/>
              </a:ext>
            </a:extLst>
          </p:cNvPr>
          <p:cNvSpPr>
            <a:spLocks noGrp="1"/>
          </p:cNvSpPr>
          <p:nvPr/>
        </p:nvSpPr>
        <p:spPr>
          <a:xfrm>
            <a:off x="4953000" y="2638425"/>
            <a:ext cx="633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Path qᵢ —a→ qⱼ contributes Rᵢ·a, not a·Rᵢ.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6C744CC-DC3E-4F94-968F-810A9B9925A5}"/>
              </a:ext>
            </a:extLst>
          </p:cNvPr>
          <p:cNvSpPr>
            <a:spLocks noGrp="1"/>
          </p:cNvSpPr>
          <p:nvPr/>
        </p:nvSpPr>
        <p:spPr>
          <a:xfrm>
            <a:off x="1571625" y="3457575"/>
            <a:ext cx="9715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03DFF0-A851-443C-8469-38DD8586A28B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CE78E-C989-4A1D-828E-EB956482E0BE}"/>
              </a:ext>
            </a:extLst>
          </p:cNvPr>
          <p:cNvSpPr>
            <a:spLocks noGrp="1"/>
          </p:cNvSpPr>
          <p:nvPr/>
        </p:nvSpPr>
        <p:spPr>
          <a:xfrm>
            <a:off x="1571625" y="37052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Confusing ε and 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D6AABB-D398-4DB8-85D9-2245A153ACF7}"/>
              </a:ext>
            </a:extLst>
          </p:cNvPr>
          <p:cNvSpPr>
            <a:spLocks noGrp="1"/>
          </p:cNvSpPr>
          <p:nvPr/>
        </p:nvSpPr>
        <p:spPr>
          <a:xfrm>
            <a:off x="4953000" y="3705225"/>
            <a:ext cx="633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ε is the empty string; ∅ represents no strings.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4E2D38E-9209-4A35-BA7A-0BC6EB5BA08D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9715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63F9A3-38CE-4C82-BC99-FF126A79E9FA}"/>
              </a:ext>
            </a:extLst>
          </p:cNvPr>
          <p:cNvSpPr>
            <a:spLocks noGrp="1"/>
          </p:cNvSpPr>
          <p:nvPr/>
        </p:nvSpPr>
        <p:spPr>
          <a:xfrm>
            <a:off x="742950" y="47720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A7C16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390514-D933-44CA-AF2A-BF8921BFBEBF}"/>
              </a:ext>
            </a:extLst>
          </p:cNvPr>
          <p:cNvSpPr>
            <a:spLocks noGrp="1"/>
          </p:cNvSpPr>
          <p:nvPr/>
        </p:nvSpPr>
        <p:spPr>
          <a:xfrm>
            <a:off x="1571625" y="47720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Forgetting a union term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8CF29-9DAF-4DC6-8838-2EE41B436E36}"/>
              </a:ext>
            </a:extLst>
          </p:cNvPr>
          <p:cNvSpPr>
            <a:spLocks noGrp="1"/>
          </p:cNvSpPr>
          <p:nvPr/>
        </p:nvSpPr>
        <p:spPr>
          <a:xfrm>
            <a:off x="4953000" y="4772025"/>
            <a:ext cx="633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Count every incoming edge and every parallel path.</a:t>
            </a:r>
          </a:p>
        </p:txBody>
      </p:sp>
    </p:spTree>
    <p:extLst>
      <p:ext uri="{BB962C8B-B14F-4D97-AF65-F5344CB8AC3E}">
        <p14:creationId xmlns:p14="http://schemas.microsoft.com/office/powerpoint/2010/main" val="1456552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BA1034-86C0-43DF-96A9-82C4F244BC8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WRAP-UP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6219E-EDA7-44AB-A2B2-5953CCFB6460}"/>
              </a:ext>
            </a:extLst>
          </p:cNvPr>
          <p:cNvSpPr>
            <a:spLocks noGrp="1"/>
          </p:cNvSpPr>
          <p:nvPr/>
        </p:nvSpPr>
        <p:spPr>
          <a:xfrm>
            <a:off x="457200" y="514350"/>
            <a:ext cx="1104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6000"/>
              </a:lnSpc>
              <a:buNone/>
              <a:defRPr sz="35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Exit check: can you explain the method without memorizing it?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6A07B75-2BC5-4B96-95E6-09C26C8B1BB3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0DFD8-C69A-43E6-8EC0-1B613500DEE8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18B814-33DA-4BBB-A26E-28A1CD3227B1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909CA-9663-47E9-A4C8-DF19CACAC355}"/>
              </a:ext>
            </a:extLst>
          </p:cNvPr>
          <p:cNvSpPr>
            <a:spLocks noGrp="1"/>
          </p:cNvSpPr>
          <p:nvPr/>
        </p:nvSpPr>
        <p:spPr>
          <a:xfrm>
            <a:off x="1809750" y="17145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do we add ε to the initial-state equation?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0C2AD-505A-4C90-A53F-516CEF201C43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9525">
            <a:solidFill>
              <a:srgbClr val="EA7C16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400" b="1" i="0">
                <a:solidFill>
                  <a:srgbClr val="EA7C1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A7C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DDCE9-F5A1-4DCD-AEF4-3D86C39B7665}"/>
              </a:ext>
            </a:extLst>
          </p:cNvPr>
          <p:cNvSpPr>
            <a:spLocks noGrp="1"/>
          </p:cNvSpPr>
          <p:nvPr/>
        </p:nvSpPr>
        <p:spPr>
          <a:xfrm>
            <a:off x="1809750" y="302895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How do you identify Q and P in R = Q + R·P?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7A09F3-42EF-44A3-AE3D-9A0D009295B7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9525">
            <a:solidFill>
              <a:srgbClr val="15803D"/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40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2E814A-CE88-4214-9526-93B3CE4B13D8}"/>
              </a:ext>
            </a:extLst>
          </p:cNvPr>
          <p:cNvSpPr>
            <a:spLocks noGrp="1"/>
          </p:cNvSpPr>
          <p:nvPr/>
        </p:nvSpPr>
        <p:spPr>
          <a:xfrm>
            <a:off x="1809750" y="43434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1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path does Rᵢₖ(Rₖₖ)*Rₖⱼ represent?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3C816C-B75C-44C7-AE7F-B5223713F9B8}"/>
              </a:ext>
            </a:extLst>
          </p:cNvPr>
          <p:cNvSpPr>
            <a:spLocks noGrp="1"/>
          </p:cNvSpPr>
          <p:nvPr/>
        </p:nvSpPr>
        <p:spPr>
          <a:xfrm>
            <a:off x="1952625" y="5572125"/>
            <a:ext cx="8286750" cy="571500"/>
          </a:xfrm>
          <a:prstGeom prst="roundRect">
            <a:avLst>
              <a:gd name="adj" fmla="val 20000"/>
            </a:avLst>
          </a:prstGeom>
          <a:solidFill>
            <a:srgbClr val="DCEE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38049-C2F9-43B5-862F-75B60F7A34B8}"/>
              </a:ext>
            </a:extLst>
          </p:cNvPr>
          <p:cNvSpPr>
            <a:spLocks noGrp="1"/>
          </p:cNvSpPr>
          <p:nvPr/>
        </p:nvSpPr>
        <p:spPr>
          <a:xfrm>
            <a:off x="2124075" y="5705475"/>
            <a:ext cx="794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If you can answer all three in words, the algebra will be much easier.</a:t>
            </a:r>
          </a:p>
        </p:txBody>
      </p:sp>
    </p:spTree>
    <p:extLst>
      <p:ext uri="{BB962C8B-B14F-4D97-AF65-F5344CB8AC3E}">
        <p14:creationId xmlns:p14="http://schemas.microsoft.com/office/powerpoint/2010/main" val="14241646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4197</Words>
  <Application>Microsoft Office PowerPoint</Application>
  <DocSecurity>0</DocSecurity>
  <PresentationFormat>Widescreen</PresentationFormat>
  <Paragraphs>558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Tarjni Vyas</cp:lastModifiedBy>
  <cp:revision>2</cp:revision>
  <dcterms:created xsi:type="dcterms:W3CDTF">2026-08-21T05:23:53Z</dcterms:created>
  <dcterms:modified xsi:type="dcterms:W3CDTF">2026-08-21T08:02:55Z</dcterms:modified>
</cp:coreProperties>
</file>