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2"/>
  </p:notesMasterIdLst>
  <p:sldIdLst>
    <p:sldId id="560" r:id="rId2"/>
    <p:sldId id="440" r:id="rId3"/>
    <p:sldId id="441" r:id="rId4"/>
    <p:sldId id="724" r:id="rId5"/>
    <p:sldId id="442" r:id="rId6"/>
    <p:sldId id="444" r:id="rId7"/>
    <p:sldId id="445" r:id="rId8"/>
    <p:sldId id="446" r:id="rId9"/>
    <p:sldId id="693" r:id="rId10"/>
    <p:sldId id="692" r:id="rId11"/>
    <p:sldId id="520" r:id="rId12"/>
    <p:sldId id="561" r:id="rId13"/>
    <p:sldId id="562" r:id="rId14"/>
    <p:sldId id="563" r:id="rId15"/>
    <p:sldId id="564" r:id="rId16"/>
    <p:sldId id="565" r:id="rId17"/>
    <p:sldId id="566" r:id="rId18"/>
    <p:sldId id="567" r:id="rId19"/>
    <p:sldId id="568" r:id="rId20"/>
    <p:sldId id="569" r:id="rId21"/>
    <p:sldId id="570" r:id="rId22"/>
    <p:sldId id="571" r:id="rId23"/>
    <p:sldId id="708" r:id="rId24"/>
    <p:sldId id="696" r:id="rId25"/>
    <p:sldId id="695" r:id="rId26"/>
    <p:sldId id="694" r:id="rId27"/>
    <p:sldId id="575" r:id="rId28"/>
    <p:sldId id="572" r:id="rId29"/>
    <p:sldId id="574" r:id="rId30"/>
    <p:sldId id="702" r:id="rId31"/>
    <p:sldId id="736" r:id="rId32"/>
    <p:sldId id="577" r:id="rId33"/>
    <p:sldId id="579" r:id="rId34"/>
    <p:sldId id="697" r:id="rId35"/>
    <p:sldId id="698" r:id="rId36"/>
    <p:sldId id="699" r:id="rId37"/>
    <p:sldId id="700" r:id="rId38"/>
    <p:sldId id="710" r:id="rId39"/>
    <p:sldId id="711" r:id="rId40"/>
    <p:sldId id="701" r:id="rId41"/>
    <p:sldId id="703" r:id="rId42"/>
    <p:sldId id="704" r:id="rId43"/>
    <p:sldId id="705" r:id="rId44"/>
    <p:sldId id="706" r:id="rId45"/>
    <p:sldId id="707" r:id="rId46"/>
    <p:sldId id="576" r:id="rId47"/>
    <p:sldId id="580" r:id="rId48"/>
    <p:sldId id="581" r:id="rId49"/>
    <p:sldId id="709" r:id="rId50"/>
    <p:sldId id="738" r:id="rId51"/>
    <p:sldId id="739" r:id="rId52"/>
    <p:sldId id="740" r:id="rId53"/>
    <p:sldId id="741" r:id="rId54"/>
    <p:sldId id="578" r:id="rId55"/>
    <p:sldId id="742" r:id="rId56"/>
    <p:sldId id="743" r:id="rId57"/>
    <p:sldId id="744" r:id="rId58"/>
    <p:sldId id="745" r:id="rId59"/>
    <p:sldId id="746" r:id="rId60"/>
    <p:sldId id="747" r:id="rId61"/>
    <p:sldId id="748" r:id="rId62"/>
    <p:sldId id="595" r:id="rId63"/>
    <p:sldId id="754" r:id="rId64"/>
    <p:sldId id="755" r:id="rId65"/>
    <p:sldId id="756" r:id="rId66"/>
    <p:sldId id="757" r:id="rId67"/>
    <p:sldId id="596" r:id="rId68"/>
    <p:sldId id="758" r:id="rId69"/>
    <p:sldId id="759" r:id="rId70"/>
    <p:sldId id="764" r:id="rId71"/>
    <p:sldId id="766" r:id="rId72"/>
    <p:sldId id="835" r:id="rId73"/>
    <p:sldId id="836" r:id="rId74"/>
    <p:sldId id="837" r:id="rId75"/>
    <p:sldId id="838" r:id="rId76"/>
    <p:sldId id="839" r:id="rId77"/>
    <p:sldId id="734" r:id="rId78"/>
    <p:sldId id="767" r:id="rId79"/>
    <p:sldId id="768" r:id="rId80"/>
    <p:sldId id="769" r:id="rId81"/>
    <p:sldId id="770" r:id="rId82"/>
    <p:sldId id="771" r:id="rId83"/>
    <p:sldId id="772" r:id="rId84"/>
    <p:sldId id="773" r:id="rId85"/>
    <p:sldId id="774" r:id="rId86"/>
    <p:sldId id="842" r:id="rId87"/>
    <p:sldId id="843" r:id="rId88"/>
    <p:sldId id="844" r:id="rId89"/>
    <p:sldId id="788" r:id="rId90"/>
    <p:sldId id="789" r:id="rId91"/>
    <p:sldId id="801" r:id="rId92"/>
    <p:sldId id="823" r:id="rId93"/>
    <p:sldId id="824" r:id="rId94"/>
    <p:sldId id="825" r:id="rId95"/>
    <p:sldId id="826" r:id="rId96"/>
    <p:sldId id="804" r:id="rId97"/>
    <p:sldId id="805" r:id="rId98"/>
    <p:sldId id="790" r:id="rId99"/>
    <p:sldId id="806" r:id="rId100"/>
    <p:sldId id="803" r:id="rId101"/>
    <p:sldId id="807" r:id="rId102"/>
    <p:sldId id="808" r:id="rId103"/>
    <p:sldId id="809" r:id="rId104"/>
    <p:sldId id="840" r:id="rId105"/>
    <p:sldId id="793" r:id="rId106"/>
    <p:sldId id="794" r:id="rId107"/>
    <p:sldId id="795" r:id="rId108"/>
    <p:sldId id="796" r:id="rId109"/>
    <p:sldId id="797" r:id="rId110"/>
    <p:sldId id="802" r:id="rId1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7EBB"/>
    <a:srgbClr val="4F81BD"/>
    <a:srgbClr val="E40524"/>
    <a:srgbClr val="E329C0"/>
    <a:srgbClr val="11C1FF"/>
    <a:srgbClr val="34495E"/>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3896" autoAdjust="0"/>
  </p:normalViewPr>
  <p:slideViewPr>
    <p:cSldViewPr>
      <p:cViewPr varScale="1">
        <p:scale>
          <a:sx n="66" d="100"/>
          <a:sy n="66" d="100"/>
        </p:scale>
        <p:origin x="592" y="3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401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7/21/2026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29</a:t>
            </a:fld>
            <a:endParaRPr lang="en-US"/>
          </a:p>
        </p:txBody>
      </p:sp>
    </p:spTree>
    <p:extLst>
      <p:ext uri="{BB962C8B-B14F-4D97-AF65-F5344CB8AC3E}">
        <p14:creationId xmlns:p14="http://schemas.microsoft.com/office/powerpoint/2010/main" val="149546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67</a:t>
            </a:fld>
            <a:endParaRPr lang="en-US"/>
          </a:p>
        </p:txBody>
      </p:sp>
    </p:spTree>
    <p:extLst>
      <p:ext uri="{BB962C8B-B14F-4D97-AF65-F5344CB8AC3E}">
        <p14:creationId xmlns:p14="http://schemas.microsoft.com/office/powerpoint/2010/main" val="108845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b="1">
                <a:latin typeface="+mj-lt"/>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
        <p:nvSpPr>
          <p:cNvPr id="9" name="Rektangel 11"/>
          <p:cNvSpPr/>
          <p:nvPr userDrawn="1"/>
        </p:nvSpPr>
        <p:spPr>
          <a:xfrm>
            <a:off x="5356085" y="6507231"/>
            <a:ext cx="841515" cy="361398"/>
          </a:xfrm>
          <a:prstGeom prst="rect">
            <a:avLst/>
          </a:prstGeom>
          <a:no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normAutofit/>
          </a:bodyPr>
          <a:lstStyle>
            <a:lvl1pPr algn="l">
              <a:defRPr sz="3600" b="1">
                <a:latin typeface="+mj-lt"/>
                <a:ea typeface="Open Sans" panose="020B0606030504020204"/>
                <a:cs typeface="Open Sans" panose="020B0606030504020204"/>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ktangel 11"/>
          <p:cNvSpPr/>
          <p:nvPr userDrawn="1"/>
        </p:nvSpPr>
        <p:spPr>
          <a:xfrm>
            <a:off x="5356085" y="6507231"/>
            <a:ext cx="841515" cy="361398"/>
          </a:xfrm>
          <a:prstGeom prst="rect">
            <a:avLst/>
          </a:prstGeom>
          <a:no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54004" y="863444"/>
            <a:ext cx="11906817" cy="5633604"/>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0623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29"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cxnSp>
        <p:nvCxnSpPr>
          <p:cNvPr id="30" name="Straight Connector 2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386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
        <p:nvSpPr>
          <p:cNvPr id="9" name="Rektangel 11"/>
          <p:cNvSpPr/>
          <p:nvPr userDrawn="1"/>
        </p:nvSpPr>
        <p:spPr>
          <a:xfrm>
            <a:off x="5356085" y="6507231"/>
            <a:ext cx="841515" cy="361398"/>
          </a:xfrm>
          <a:prstGeom prst="rect">
            <a:avLst/>
          </a:prstGeom>
          <a:no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6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10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49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8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100.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2100.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10.png"/><Relationship Id="rId9" Type="http://schemas.openxmlformats.org/officeDocument/2006/relationships/image" Target="../media/image10.png"/><Relationship Id="rId1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19.xml.rels><?xml version="1.0" encoding="UTF-8" standalone="yes"?>
<Relationships xmlns="http://schemas.openxmlformats.org/package/2006/relationships"><Relationship Id="rId8" Type="http://schemas.openxmlformats.org/officeDocument/2006/relationships/image" Target="../media/image4710.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2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801.png"/><Relationship Id="rId3" Type="http://schemas.openxmlformats.org/officeDocument/2006/relationships/image" Target="../media/image78.png"/><Relationship Id="rId7" Type="http://schemas.openxmlformats.org/officeDocument/2006/relationships/image" Target="../media/image79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81.png"/><Relationship Id="rId5" Type="http://schemas.openxmlformats.org/officeDocument/2006/relationships/image" Target="../media/image770.png"/><Relationship Id="rId10" Type="http://schemas.openxmlformats.org/officeDocument/2006/relationships/image" Target="../media/image820.png"/><Relationship Id="rId4" Type="http://schemas.openxmlformats.org/officeDocument/2006/relationships/image" Target="../media/image761.png"/><Relationship Id="rId9" Type="http://schemas.openxmlformats.org/officeDocument/2006/relationships/image" Target="../media/image8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52.png"/><Relationship Id="rId2" Type="http://schemas.openxmlformats.org/officeDocument/2006/relationships/image" Target="../media/image840.png"/><Relationship Id="rId1" Type="http://schemas.openxmlformats.org/officeDocument/2006/relationships/slideLayout" Target="../slideLayouts/slideLayout2.xml"/><Relationship Id="rId4" Type="http://schemas.openxmlformats.org/officeDocument/2006/relationships/image" Target="../media/image88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2.png"/><Relationship Id="rId2" Type="http://schemas.openxmlformats.org/officeDocument/2006/relationships/image" Target="../media/image840.png"/><Relationship Id="rId1" Type="http://schemas.openxmlformats.org/officeDocument/2006/relationships/slideLayout" Target="../slideLayouts/slideLayout2.xml"/><Relationship Id="rId5" Type="http://schemas.openxmlformats.org/officeDocument/2006/relationships/image" Target="../media/image870.png"/><Relationship Id="rId4" Type="http://schemas.openxmlformats.org/officeDocument/2006/relationships/image" Target="../media/image8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61.png"/><Relationship Id="rId2" Type="http://schemas.openxmlformats.org/officeDocument/2006/relationships/image" Target="../media/image951.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52.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53.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6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s>
</file>

<file path=ppt/slides/_rels/slide6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34.png"/><Relationship Id="rId1" Type="http://schemas.openxmlformats.org/officeDocument/2006/relationships/slideLayout" Target="../slideLayouts/slideLayout2.xml"/><Relationship Id="rId5" Type="http://schemas.openxmlformats.org/officeDocument/2006/relationships/image" Target="../media/image202.png"/><Relationship Id="rId4" Type="http://schemas.openxmlformats.org/officeDocument/2006/relationships/image" Target="../media/image201.png"/></Relationships>
</file>

<file path=ppt/slides/_rels/slide6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21.png"/><Relationship Id="rId7" Type="http://schemas.openxmlformats.org/officeDocument/2006/relationships/image" Target="../media/image229.png"/><Relationship Id="rId2" Type="http://schemas.openxmlformats.org/officeDocument/2006/relationships/image" Target="../media/image225.png"/><Relationship Id="rId1" Type="http://schemas.openxmlformats.org/officeDocument/2006/relationships/slideLayout" Target="../slideLayouts/slideLayout2.xml"/><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image" Target="../media/image226.png"/></Relationships>
</file>

<file path=ppt/slides/_rels/slide6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5" Type="http://schemas.openxmlformats.org/officeDocument/2006/relationships/image" Target="../media/image138.png"/><Relationship Id="rId4" Type="http://schemas.openxmlformats.org/officeDocument/2006/relationships/image" Target="../media/image137.png"/></Relationships>
</file>

<file path=ppt/slides/_rels/slide67.xml.rels><?xml version="1.0" encoding="UTF-8" standalone="yes"?>
<Relationships xmlns="http://schemas.openxmlformats.org/package/2006/relationships"><Relationship Id="rId8" Type="http://schemas.openxmlformats.org/officeDocument/2006/relationships/image" Target="../media/image1901.png"/><Relationship Id="rId13" Type="http://schemas.openxmlformats.org/officeDocument/2006/relationships/image" Target="../media/image1950.png"/><Relationship Id="rId3" Type="http://schemas.openxmlformats.org/officeDocument/2006/relationships/image" Target="../media/image235.png"/><Relationship Id="rId7" Type="http://schemas.openxmlformats.org/officeDocument/2006/relationships/image" Target="../media/image1890.png"/><Relationship Id="rId12" Type="http://schemas.openxmlformats.org/officeDocument/2006/relationships/image" Target="../media/image194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80.png"/><Relationship Id="rId11" Type="http://schemas.openxmlformats.org/officeDocument/2006/relationships/image" Target="../media/image1930.png"/><Relationship Id="rId5" Type="http://schemas.openxmlformats.org/officeDocument/2006/relationships/image" Target="../media/image1870.png"/><Relationship Id="rId15" Type="http://schemas.openxmlformats.org/officeDocument/2006/relationships/image" Target="../media/image1971.png"/><Relationship Id="rId10" Type="http://schemas.openxmlformats.org/officeDocument/2006/relationships/image" Target="../media/image1920.png"/><Relationship Id="rId4" Type="http://schemas.openxmlformats.org/officeDocument/2006/relationships/image" Target="../media/image1210.png"/><Relationship Id="rId9" Type="http://schemas.openxmlformats.org/officeDocument/2006/relationships/image" Target="../media/image1910.png"/><Relationship Id="rId14" Type="http://schemas.openxmlformats.org/officeDocument/2006/relationships/image" Target="../media/image1960.png"/></Relationships>
</file>

<file path=ppt/slides/_rels/slide6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image" Target="../media/image159.png"/><Relationship Id="rId4" Type="http://schemas.openxmlformats.org/officeDocument/2006/relationships/image" Target="../media/image158.png"/></Relationships>
</file>

<file path=ppt/slides/_rels/slide86.xml.rels><?xml version="1.0" encoding="UTF-8" standalone="yes"?>
<Relationships xmlns="http://schemas.openxmlformats.org/package/2006/relationships"><Relationship Id="rId8" Type="http://schemas.openxmlformats.org/officeDocument/2006/relationships/image" Target="../media/image299.png"/><Relationship Id="rId13" Type="http://schemas.openxmlformats.org/officeDocument/2006/relationships/image" Target="../media/image304.png"/><Relationship Id="rId18" Type="http://schemas.openxmlformats.org/officeDocument/2006/relationships/image" Target="../media/image309.png"/><Relationship Id="rId3" Type="http://schemas.openxmlformats.org/officeDocument/2006/relationships/image" Target="../media/image294.png"/><Relationship Id="rId21" Type="http://schemas.openxmlformats.org/officeDocument/2006/relationships/image" Target="../media/image312.png"/><Relationship Id="rId7" Type="http://schemas.openxmlformats.org/officeDocument/2006/relationships/image" Target="../media/image298.png"/><Relationship Id="rId12" Type="http://schemas.openxmlformats.org/officeDocument/2006/relationships/image" Target="../media/image303.png"/><Relationship Id="rId17" Type="http://schemas.openxmlformats.org/officeDocument/2006/relationships/image" Target="../media/image308.png"/><Relationship Id="rId25" Type="http://schemas.openxmlformats.org/officeDocument/2006/relationships/image" Target="../media/image316.png"/><Relationship Id="rId2" Type="http://schemas.openxmlformats.org/officeDocument/2006/relationships/image" Target="../media/image293.png"/><Relationship Id="rId16" Type="http://schemas.openxmlformats.org/officeDocument/2006/relationships/image" Target="../media/image307.png"/><Relationship Id="rId20" Type="http://schemas.openxmlformats.org/officeDocument/2006/relationships/image" Target="../media/image311.png"/><Relationship Id="rId1" Type="http://schemas.openxmlformats.org/officeDocument/2006/relationships/slideLayout" Target="../slideLayouts/slideLayout2.xml"/><Relationship Id="rId6" Type="http://schemas.openxmlformats.org/officeDocument/2006/relationships/image" Target="../media/image297.png"/><Relationship Id="rId11" Type="http://schemas.openxmlformats.org/officeDocument/2006/relationships/image" Target="../media/image302.png"/><Relationship Id="rId24" Type="http://schemas.openxmlformats.org/officeDocument/2006/relationships/image" Target="../media/image315.png"/><Relationship Id="rId5" Type="http://schemas.openxmlformats.org/officeDocument/2006/relationships/image" Target="../media/image296.png"/><Relationship Id="rId15" Type="http://schemas.openxmlformats.org/officeDocument/2006/relationships/image" Target="../media/image306.png"/><Relationship Id="rId23" Type="http://schemas.openxmlformats.org/officeDocument/2006/relationships/image" Target="../media/image314.png"/><Relationship Id="rId10" Type="http://schemas.openxmlformats.org/officeDocument/2006/relationships/image" Target="../media/image301.png"/><Relationship Id="rId19" Type="http://schemas.openxmlformats.org/officeDocument/2006/relationships/image" Target="../media/image310.png"/><Relationship Id="rId4" Type="http://schemas.openxmlformats.org/officeDocument/2006/relationships/image" Target="../media/image295.png"/><Relationship Id="rId9" Type="http://schemas.openxmlformats.org/officeDocument/2006/relationships/image" Target="../media/image300.png"/><Relationship Id="rId14" Type="http://schemas.openxmlformats.org/officeDocument/2006/relationships/image" Target="../media/image305.png"/><Relationship Id="rId22" Type="http://schemas.openxmlformats.org/officeDocument/2006/relationships/image" Target="../media/image313.png"/></Relationships>
</file>

<file path=ppt/slides/_rels/slide87.xml.rels><?xml version="1.0" encoding="UTF-8" standalone="yes"?>
<Relationships xmlns="http://schemas.openxmlformats.org/package/2006/relationships"><Relationship Id="rId8" Type="http://schemas.openxmlformats.org/officeDocument/2006/relationships/image" Target="../media/image322.png"/><Relationship Id="rId13" Type="http://schemas.openxmlformats.org/officeDocument/2006/relationships/image" Target="../media/image327.png"/><Relationship Id="rId18" Type="http://schemas.openxmlformats.org/officeDocument/2006/relationships/image" Target="../media/image331.png"/><Relationship Id="rId3" Type="http://schemas.openxmlformats.org/officeDocument/2006/relationships/image" Target="../media/image318.png"/><Relationship Id="rId7" Type="http://schemas.openxmlformats.org/officeDocument/2006/relationships/image" Target="../media/image321.png"/><Relationship Id="rId12" Type="http://schemas.openxmlformats.org/officeDocument/2006/relationships/image" Target="../media/image326.png"/><Relationship Id="rId17" Type="http://schemas.openxmlformats.org/officeDocument/2006/relationships/image" Target="../media/image330.png"/><Relationship Id="rId2" Type="http://schemas.openxmlformats.org/officeDocument/2006/relationships/image" Target="../media/image317.png"/><Relationship Id="rId16" Type="http://schemas.openxmlformats.org/officeDocument/2006/relationships/image" Target="../media/image304.png"/><Relationship Id="rId20" Type="http://schemas.openxmlformats.org/officeDocument/2006/relationships/image" Target="../media/image333.png"/><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25.png"/><Relationship Id="rId5" Type="http://schemas.openxmlformats.org/officeDocument/2006/relationships/image" Target="../media/image299.png"/><Relationship Id="rId15" Type="http://schemas.openxmlformats.org/officeDocument/2006/relationships/image" Target="../media/image329.png"/><Relationship Id="rId10" Type="http://schemas.openxmlformats.org/officeDocument/2006/relationships/image" Target="../media/image324.png"/><Relationship Id="rId19" Type="http://schemas.openxmlformats.org/officeDocument/2006/relationships/image" Target="../media/image332.png"/><Relationship Id="rId4" Type="http://schemas.openxmlformats.org/officeDocument/2006/relationships/image" Target="../media/image319.png"/><Relationship Id="rId9" Type="http://schemas.openxmlformats.org/officeDocument/2006/relationships/image" Target="../media/image323.png"/><Relationship Id="rId14" Type="http://schemas.openxmlformats.org/officeDocument/2006/relationships/image" Target="../media/image328.png"/></Relationships>
</file>

<file path=ppt/slides/_rels/slide88.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335.png"/><Relationship Id="rId7" Type="http://schemas.openxmlformats.org/officeDocument/2006/relationships/image" Target="../media/image339.png"/><Relationship Id="rId2" Type="http://schemas.openxmlformats.org/officeDocument/2006/relationships/image" Target="../media/image334.png"/><Relationship Id="rId1" Type="http://schemas.openxmlformats.org/officeDocument/2006/relationships/slideLayout" Target="../slideLayouts/slideLayout2.xml"/><Relationship Id="rId6" Type="http://schemas.openxmlformats.org/officeDocument/2006/relationships/image" Target="../media/image338.png"/><Relationship Id="rId5" Type="http://schemas.openxmlformats.org/officeDocument/2006/relationships/image" Target="../media/image337.png"/><Relationship Id="rId10" Type="http://schemas.openxmlformats.org/officeDocument/2006/relationships/image" Target="../media/image342.png"/><Relationship Id="rId4" Type="http://schemas.openxmlformats.org/officeDocument/2006/relationships/image" Target="../media/image336.png"/><Relationship Id="rId9" Type="http://schemas.openxmlformats.org/officeDocument/2006/relationships/image" Target="../media/image34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s>
</file>

<file path=ppt/slides/_rels/slide9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0662" y="1747213"/>
            <a:ext cx="2797339" cy="2636431"/>
          </a:xfrm>
          <a:prstGeom prst="rect">
            <a:avLst/>
          </a:prstGeom>
        </p:spPr>
      </p:pic>
      <p:sp>
        <p:nvSpPr>
          <p:cNvPr id="21" name="TextBox 20">
            <a:extLst>
              <a:ext uri="{FF2B5EF4-FFF2-40B4-BE49-F238E27FC236}">
                <a16:creationId xmlns:a16="http://schemas.microsoft.com/office/drawing/2014/main" id="{BF61168F-06F1-4171-88FA-379C5E1B8A28}"/>
              </a:ext>
            </a:extLst>
          </p:cNvPr>
          <p:cNvSpPr txBox="1"/>
          <p:nvPr/>
        </p:nvSpPr>
        <p:spPr>
          <a:xfrm>
            <a:off x="2286000" y="2057400"/>
            <a:ext cx="4572000" cy="1754326"/>
          </a:xfrm>
          <a:prstGeom prst="rect">
            <a:avLst/>
          </a:prstGeom>
          <a:noFill/>
        </p:spPr>
        <p:txBody>
          <a:bodyPr wrap="square">
            <a:spAutoFit/>
          </a:bodyPr>
          <a:lstStyle/>
          <a:p>
            <a:r>
              <a:rPr lang="en-US" sz="3600" b="1" dirty="0">
                <a:ea typeface="Open Sans Bold" panose="020B0806030504020204" pitchFamily="34" charset="0"/>
                <a:cs typeface="Open Sans Bold" panose="020B0806030504020204" pitchFamily="34" charset="0"/>
              </a:rPr>
              <a:t>Unit-2</a:t>
            </a:r>
          </a:p>
          <a:p>
            <a:r>
              <a:rPr lang="en-US" sz="3600" b="1" dirty="0">
                <a:ea typeface="Open Sans Bold" panose="020B0806030504020204" pitchFamily="34" charset="0"/>
                <a:cs typeface="Open Sans Bold" panose="020B0806030504020204" pitchFamily="34" charset="0"/>
              </a:rPr>
              <a:t>Regular Languages &amp; Finite Automata</a:t>
            </a:r>
          </a:p>
        </p:txBody>
      </p:sp>
    </p:spTree>
    <p:extLst>
      <p:ext uri="{BB962C8B-B14F-4D97-AF65-F5344CB8AC3E}">
        <p14:creationId xmlns:p14="http://schemas.microsoft.com/office/powerpoint/2010/main" val="1358050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Languages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672188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Language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set of strings all of which are chosen from some </a:t>
                </a:r>
                <a14:m>
                  <m:oMath xmlns:m="http://schemas.openxmlformats.org/officeDocument/2006/math">
                    <m:sSup>
                      <m:sSupPr>
                        <m:ctrlPr>
                          <a:rPr lang="en-US"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US" i="1">
                            <a:latin typeface="Cambria Math" panose="02040503050406030204" pitchFamily="18" charset="0"/>
                          </a:rPr>
                          <m:t>∗</m:t>
                        </m:r>
                      </m:sup>
                    </m:sSup>
                  </m:oMath>
                </a14:m>
                <a:r>
                  <a:rPr lang="en-US" dirty="0"/>
                  <a:t>, where </a:t>
                </a:r>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oMath>
                </a14:m>
                <a:r>
                  <a:rPr lang="en-US" dirty="0"/>
                  <a:t> is a particular alphabet, is called a language. If </a:t>
                </a:r>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oMath>
                </a14:m>
                <a:r>
                  <a:rPr lang="en-US" dirty="0"/>
                  <a:t> is an alphabet, and </a:t>
                </a:r>
                <a14:m>
                  <m:oMath xmlns:m="http://schemas.openxmlformats.org/officeDocument/2006/math">
                    <m:r>
                      <a:rPr lang="en-US" i="1">
                        <a:latin typeface="Cambria Math" panose="02040503050406030204" pitchFamily="18" charset="0"/>
                      </a:rPr>
                      <m:t>𝐿</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US" i="1">
                            <a:latin typeface="Cambria Math" panose="02040503050406030204" pitchFamily="18" charset="0"/>
                          </a:rPr>
                          <m:t>∗</m:t>
                        </m:r>
                      </m:sup>
                    </m:sSup>
                  </m:oMath>
                </a14:m>
                <a:r>
                  <a:rPr lang="en-US" dirty="0"/>
                  <a:t>, then </a:t>
                </a:r>
                <a14:m>
                  <m:oMath xmlns:m="http://schemas.openxmlformats.org/officeDocument/2006/math">
                    <m:r>
                      <a:rPr lang="en-US" i="1">
                        <a:latin typeface="Cambria Math" panose="02040503050406030204" pitchFamily="18" charset="0"/>
                      </a:rPr>
                      <m:t>𝐿</m:t>
                    </m:r>
                  </m:oMath>
                </a14:m>
                <a:r>
                  <a:rPr lang="en-US" dirty="0"/>
                  <a:t> is said to be language over alphabet </a:t>
                </a:r>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oMath>
                </a14:m>
                <a:r>
                  <a:rPr lang="en-US" dirty="0"/>
                  <a:t>.</a:t>
                </a:r>
              </a:p>
              <a:p>
                <a:r>
                  <a:rPr lang="en-US" dirty="0">
                    <a:solidFill>
                      <a:srgbClr val="C00000"/>
                    </a:solidFill>
                  </a:rPr>
                  <a:t>Language comprises of:</a:t>
                </a:r>
              </a:p>
              <a:p>
                <a:pPr lvl="1"/>
                <a:r>
                  <a:rPr lang="en-US" sz="2400" dirty="0"/>
                  <a:t>Set of characters – </a:t>
                </a:r>
                <a14:m>
                  <m:oMath xmlns:m="http://schemas.openxmlformats.org/officeDocument/2006/math">
                    <m:r>
                      <m:rPr>
                        <m:sty m:val="p"/>
                      </m:rPr>
                      <a:rPr lang="el-GR" sz="2400" i="1">
                        <a:latin typeface="Cambria Math" panose="02040503050406030204" pitchFamily="18" charset="0"/>
                        <a:ea typeface="Cambria Math" panose="02040503050406030204" pitchFamily="18" charset="0"/>
                      </a:rPr>
                      <m:t>Σ</m:t>
                    </m:r>
                  </m:oMath>
                </a14:m>
                <a:endParaRPr lang="en-US" sz="2400" dirty="0"/>
              </a:p>
              <a:p>
                <a:pPr lvl="1"/>
                <a:r>
                  <a:rPr lang="en-US" sz="2400" dirty="0"/>
                  <a:t>Set of strings (words) defined from set of character - </a:t>
                </a:r>
                <a14:m>
                  <m:oMath xmlns:m="http://schemas.openxmlformats.org/officeDocument/2006/math">
                    <m:sSup>
                      <m:sSupPr>
                        <m:ctrlPr>
                          <a:rPr lang="en-US" sz="2400" i="1">
                            <a:latin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rPr>
                          <m:t>∗</m:t>
                        </m:r>
                      </m:sup>
                    </m:sSup>
                  </m:oMath>
                </a14:m>
                <a:endParaRPr lang="en-US" sz="2400" dirty="0"/>
              </a:p>
              <a:p>
                <a:pPr lvl="1"/>
                <a:r>
                  <a:rPr lang="en-US" sz="2400" dirty="0"/>
                  <a:t>Language </a:t>
                </a:r>
                <a:r>
                  <a:rPr lang="en-US" sz="2400" i="1" dirty="0">
                    <a:latin typeface="Cambria Math" panose="02040503050406030204" pitchFamily="18" charset="0"/>
                    <a:ea typeface="Cambria Math" panose="02040503050406030204" pitchFamily="18" charset="0"/>
                  </a:rPr>
                  <a:t>L</a:t>
                </a:r>
                <a:r>
                  <a:rPr lang="en-US" sz="2400" i="1" dirty="0"/>
                  <a:t> </a:t>
                </a:r>
                <a:r>
                  <a:rPr lang="en-US" sz="2400" dirty="0"/>
                  <a:t>is defined from </a:t>
                </a:r>
                <a14:m>
                  <m:oMath xmlns:m="http://schemas.openxmlformats.org/officeDocument/2006/math">
                    <m:sSup>
                      <m:sSupPr>
                        <m:ctrlPr>
                          <a:rPr lang="en-US" sz="2400" i="1">
                            <a:latin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rPr>
                          <m:t>∗</m:t>
                        </m:r>
                      </m:sup>
                    </m:sSup>
                  </m:oMath>
                </a14:m>
                <a:r>
                  <a:rPr lang="en-US" sz="2400" dirty="0"/>
                  <a:t>, and </a:t>
                </a:r>
                <a14:m>
                  <m:oMath xmlns:m="http://schemas.openxmlformats.org/officeDocument/2006/math">
                    <m:r>
                      <a:rPr lang="en-US" sz="2400" i="1">
                        <a:latin typeface="Cambria Math" panose="02040503050406030204" pitchFamily="18" charset="0"/>
                      </a:rPr>
                      <m:t>𝐿</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rPr>
                          <m:t>∗</m:t>
                        </m:r>
                      </m:sup>
                    </m:sSup>
                  </m:oMath>
                </a14:m>
                <a:r>
                  <a:rPr lang="en-US" sz="2400" dirty="0"/>
                  <a:t> because </a:t>
                </a:r>
                <a14:m>
                  <m:oMath xmlns:m="http://schemas.openxmlformats.org/officeDocument/2006/math">
                    <m:sSup>
                      <m:sSupPr>
                        <m:ctrlPr>
                          <a:rPr lang="en-US" sz="2400" i="1">
                            <a:latin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rPr>
                          <m:t>∗</m:t>
                        </m:r>
                      </m:sup>
                    </m:sSup>
                  </m:oMath>
                </a14:m>
                <a:r>
                  <a:rPr lang="en-US" sz="2400" dirty="0"/>
                  <a:t> contains many string which may not satisfy the rules of language.</a:t>
                </a:r>
              </a:p>
              <a:p>
                <a:r>
                  <a:rPr lang="en-US" dirty="0">
                    <a:solidFill>
                      <a:srgbClr val="0E47A1"/>
                    </a:solidFill>
                  </a:rPr>
                  <a:t>Example:</a:t>
                </a:r>
              </a:p>
              <a:p>
                <a:pPr lvl="1"/>
                <a14:m>
                  <m:oMath xmlns:m="http://schemas.openxmlformats.org/officeDocument/2006/math">
                    <m:r>
                      <m:rPr>
                        <m:sty m:val="p"/>
                      </m:rPr>
                      <a:rPr lang="el-GR" sz="2400" i="1">
                        <a:latin typeface="Cambria Math" panose="02040503050406030204" pitchFamily="18" charset="0"/>
                        <a:ea typeface="Cambria Math" panose="02040503050406030204" pitchFamily="18" charset="0"/>
                      </a:rPr>
                      <m:t>Σ</m:t>
                    </m:r>
                  </m:oMath>
                </a14:m>
                <a:r>
                  <a:rPr lang="en-US" sz="2400" dirty="0"/>
                  <a:t> = {a, b}</a:t>
                </a:r>
              </a:p>
              <a:p>
                <a:pPr lvl="1"/>
                <a14:m>
                  <m:oMath xmlns:m="http://schemas.openxmlformats.org/officeDocument/2006/math">
                    <m:sSup>
                      <m:sSupPr>
                        <m:ctrlPr>
                          <a:rPr lang="en-US" sz="2400" i="1">
                            <a:latin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rPr>
                          <m:t>∗</m:t>
                        </m:r>
                      </m:sup>
                    </m:sSup>
                  </m:oMath>
                </a14:m>
                <a:r>
                  <a:rPr lang="en-US" sz="2400" dirty="0"/>
                  <a:t> = {</a:t>
                </a:r>
                <a:r>
                  <a:rPr lang="az-Cyrl-AZ" sz="2400" dirty="0"/>
                  <a:t>Є</a:t>
                </a:r>
                <a:r>
                  <a:rPr lang="en-US" sz="2400" dirty="0"/>
                  <a:t>, a, b, aa, ab, </a:t>
                </a:r>
                <a:r>
                  <a:rPr lang="en-US" sz="2400" dirty="0" err="1"/>
                  <a:t>ba</a:t>
                </a:r>
                <a:r>
                  <a:rPr lang="en-US" sz="2400" dirty="0"/>
                  <a:t>, bb, </a:t>
                </a:r>
                <a:r>
                  <a:rPr lang="en-US" sz="2400" dirty="0" err="1"/>
                  <a:t>aaa</a:t>
                </a:r>
                <a:r>
                  <a:rPr lang="en-US" sz="2400" dirty="0"/>
                  <a:t>, </a:t>
                </a:r>
                <a:r>
                  <a:rPr lang="en-US" sz="2400" dirty="0" err="1"/>
                  <a:t>aab</a:t>
                </a:r>
                <a:r>
                  <a:rPr lang="en-US" sz="2400" dirty="0"/>
                  <a:t>, aba, abb, baa,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7" t="-866" r="-819"/>
                </a:stretch>
              </a:blipFill>
            </p:spPr>
            <p:txBody>
              <a:bodyPr/>
              <a:lstStyle/>
              <a:p>
                <a:r>
                  <a:rPr lang="en-IN">
                    <a:noFill/>
                  </a:rPr>
                  <a:t> </a:t>
                </a:r>
              </a:p>
            </p:txBody>
          </p:sp>
        </mc:Fallback>
      </mc:AlternateContent>
    </p:spTree>
    <p:extLst>
      <p:ext uri="{BB962C8B-B14F-4D97-AF65-F5344CB8AC3E}">
        <p14:creationId xmlns:p14="http://schemas.microsoft.com/office/powerpoint/2010/main" val="17172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98E1-B4F7-4D1A-A8AE-14C0499ECFE5}"/>
              </a:ext>
            </a:extLst>
          </p:cNvPr>
          <p:cNvSpPr>
            <a:spLocks noGrp="1"/>
          </p:cNvSpPr>
          <p:nvPr>
            <p:ph type="title"/>
          </p:nvPr>
        </p:nvSpPr>
        <p:spPr/>
        <p:txBody>
          <a:bodyPr>
            <a:normAutofit fontScale="90000"/>
          </a:bodyPr>
          <a:lstStyle/>
          <a:p>
            <a:pPr algn="l"/>
            <a:r>
              <a:rPr lang="en-US" b="1" i="0" dirty="0">
                <a:solidFill>
                  <a:srgbClr val="282829"/>
                </a:solidFill>
                <a:effectLst/>
                <a:latin typeface="-apple-system"/>
              </a:rPr>
              <a:t>Difference between epsilon and phi</a:t>
            </a:r>
            <a:endParaRPr lang="en-IN" dirty="0"/>
          </a:p>
        </p:txBody>
      </p:sp>
      <p:sp>
        <p:nvSpPr>
          <p:cNvPr id="3" name="Content Placeholder 2">
            <a:extLst>
              <a:ext uri="{FF2B5EF4-FFF2-40B4-BE49-F238E27FC236}">
                <a16:creationId xmlns:a16="http://schemas.microsoft.com/office/drawing/2014/main" id="{E247283B-F380-4BA8-B509-F5BCFBFDE446}"/>
              </a:ext>
            </a:extLst>
          </p:cNvPr>
          <p:cNvSpPr>
            <a:spLocks noGrp="1"/>
          </p:cNvSpPr>
          <p:nvPr>
            <p:ph idx="1"/>
          </p:nvPr>
        </p:nvSpPr>
        <p:spPr/>
        <p:txBody>
          <a:bodyPr/>
          <a:lstStyle/>
          <a:p>
            <a:r>
              <a:rPr lang="en-US" b="0" i="0" dirty="0">
                <a:solidFill>
                  <a:srgbClr val="282829"/>
                </a:solidFill>
                <a:effectLst/>
                <a:latin typeface="-apple-system"/>
              </a:rPr>
              <a:t>Epsilon(</a:t>
            </a:r>
            <a:r>
              <a:rPr lang="az-Cyrl-AZ" sz="2400" dirty="0"/>
              <a:t>Є</a:t>
            </a:r>
            <a:r>
              <a:rPr lang="en-US" b="0" i="0" dirty="0">
                <a:solidFill>
                  <a:srgbClr val="282829"/>
                </a:solidFill>
                <a:effectLst/>
                <a:latin typeface="-apple-system"/>
              </a:rPr>
              <a:t>) is a </a:t>
            </a:r>
            <a:r>
              <a:rPr lang="en-US" b="1" i="0" dirty="0">
                <a:solidFill>
                  <a:srgbClr val="FF0000"/>
                </a:solidFill>
                <a:effectLst/>
                <a:latin typeface="-apple-system"/>
              </a:rPr>
              <a:t>0 length string</a:t>
            </a:r>
            <a:r>
              <a:rPr lang="en-US" b="0" i="0" dirty="0">
                <a:solidFill>
                  <a:srgbClr val="282829"/>
                </a:solidFill>
                <a:effectLst/>
                <a:latin typeface="-apple-system"/>
              </a:rPr>
              <a:t>, whereas phi(</a:t>
            </a:r>
            <a:r>
              <a:rPr lang="en-US" b="0" i="0" dirty="0">
                <a:solidFill>
                  <a:srgbClr val="282829"/>
                </a:solidFill>
                <a:effectLst/>
                <a:latin typeface="Calibri" panose="020F0502020204030204" pitchFamily="34" charset="0"/>
                <a:cs typeface="Calibri" panose="020F0502020204030204" pitchFamily="34" charset="0"/>
              </a:rPr>
              <a:t>ɸ</a:t>
            </a:r>
            <a:r>
              <a:rPr lang="en-US" b="0" i="0" dirty="0">
                <a:solidFill>
                  <a:srgbClr val="282829"/>
                </a:solidFill>
                <a:effectLst/>
                <a:latin typeface="-apple-system"/>
              </a:rPr>
              <a:t>) is a </a:t>
            </a:r>
            <a:r>
              <a:rPr lang="en-US" b="1" i="0" dirty="0">
                <a:solidFill>
                  <a:srgbClr val="FF0000"/>
                </a:solidFill>
                <a:effectLst/>
                <a:latin typeface="-apple-system"/>
              </a:rPr>
              <a:t>null</a:t>
            </a:r>
            <a:r>
              <a:rPr lang="en-US" b="0" i="0" dirty="0">
                <a:solidFill>
                  <a:srgbClr val="282829"/>
                </a:solidFill>
                <a:effectLst/>
                <a:latin typeface="-apple-system"/>
              </a:rPr>
              <a:t>, i.e. no string.</a:t>
            </a:r>
            <a:endParaRPr lang="en-IN"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53EF4797-1B1F-4065-82FB-F764A6845F7A}"/>
                  </a:ext>
                </a:extLst>
              </p:cNvPr>
              <p:cNvSpPr/>
              <p:nvPr/>
            </p:nvSpPr>
            <p:spPr>
              <a:xfrm>
                <a:off x="6480525" y="224326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4" name="Oval 3">
                <a:extLst>
                  <a:ext uri="{FF2B5EF4-FFF2-40B4-BE49-F238E27FC236}">
                    <a16:creationId xmlns:a16="http://schemas.microsoft.com/office/drawing/2014/main" id="{53EF4797-1B1F-4065-82FB-F764A6845F7A}"/>
                  </a:ext>
                </a:extLst>
              </p:cNvPr>
              <p:cNvSpPr>
                <a:spLocks noRot="1" noChangeAspect="1" noMove="1" noResize="1" noEditPoints="1" noAdjustHandles="1" noChangeArrowheads="1" noChangeShapeType="1" noTextEdit="1"/>
              </p:cNvSpPr>
              <p:nvPr/>
            </p:nvSpPr>
            <p:spPr>
              <a:xfrm>
                <a:off x="6480525" y="2243262"/>
                <a:ext cx="609600" cy="609600"/>
              </a:xfrm>
              <a:prstGeom prst="ellipse">
                <a:avLst/>
              </a:prstGeom>
              <a:blipFill>
                <a:blip r:embed="rId2"/>
                <a:stretch>
                  <a:fillRect/>
                </a:stretch>
              </a:blipFill>
            </p:spPr>
            <p:txBody>
              <a:bodyPr/>
              <a:lstStyle/>
              <a:p>
                <a:r>
                  <a:rPr lang="en-IN">
                    <a:noFill/>
                  </a:rPr>
                  <a:t> </a:t>
                </a:r>
              </a:p>
            </p:txBody>
          </p:sp>
        </mc:Fallback>
      </mc:AlternateContent>
      <p:cxnSp>
        <p:nvCxnSpPr>
          <p:cNvPr id="5" name="Curved Connector 74">
            <a:extLst>
              <a:ext uri="{FF2B5EF4-FFF2-40B4-BE49-F238E27FC236}">
                <a16:creationId xmlns:a16="http://schemas.microsoft.com/office/drawing/2014/main" id="{D0D3E774-6366-4B7F-91F7-E2A506CBC5E3}"/>
              </a:ext>
            </a:extLst>
          </p:cNvPr>
          <p:cNvCxnSpPr/>
          <p:nvPr/>
        </p:nvCxnSpPr>
        <p:spPr>
          <a:xfrm rot="5400000" flipH="1" flipV="1">
            <a:off x="6774138" y="2117009"/>
            <a:ext cx="12700" cy="431052"/>
          </a:xfrm>
          <a:prstGeom prst="curvedConnector3">
            <a:avLst>
              <a:gd name="adj1" fmla="val 3602945"/>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A51C851-1A39-4323-BF9B-1D833149AA1E}"/>
              </a:ext>
            </a:extLst>
          </p:cNvPr>
          <p:cNvCxnSpPr>
            <a:endCxn id="4" idx="2"/>
          </p:cNvCxnSpPr>
          <p:nvPr/>
        </p:nvCxnSpPr>
        <p:spPr>
          <a:xfrm>
            <a:off x="5794725" y="2548062"/>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8EE41A0-8A22-4C84-8787-27139EF9CE10}"/>
                  </a:ext>
                </a:extLst>
              </p:cNvPr>
              <p:cNvSpPr/>
              <p:nvPr/>
            </p:nvSpPr>
            <p:spPr>
              <a:xfrm>
                <a:off x="2132214" y="228091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9" name="Oval 8">
                <a:extLst>
                  <a:ext uri="{FF2B5EF4-FFF2-40B4-BE49-F238E27FC236}">
                    <a16:creationId xmlns:a16="http://schemas.microsoft.com/office/drawing/2014/main" id="{E8EE41A0-8A22-4C84-8787-27139EF9CE10}"/>
                  </a:ext>
                </a:extLst>
              </p:cNvPr>
              <p:cNvSpPr>
                <a:spLocks noRot="1" noChangeAspect="1" noMove="1" noResize="1" noEditPoints="1" noAdjustHandles="1" noChangeArrowheads="1" noChangeShapeType="1" noTextEdit="1"/>
              </p:cNvSpPr>
              <p:nvPr/>
            </p:nvSpPr>
            <p:spPr>
              <a:xfrm>
                <a:off x="2132214" y="2280912"/>
                <a:ext cx="609600" cy="609600"/>
              </a:xfrm>
              <a:prstGeom prst="ellipse">
                <a:avLst/>
              </a:prstGeom>
              <a:blipFill>
                <a:blip r:embed="rId3"/>
                <a:stretch>
                  <a:fillRect/>
                </a:stretch>
              </a:blipFill>
            </p:spPr>
            <p:txBody>
              <a:bodyPr/>
              <a:lstStyle/>
              <a:p>
                <a:r>
                  <a:rPr lang="en-IN">
                    <a:noFill/>
                  </a:rPr>
                  <a:t> </a:t>
                </a:r>
              </a:p>
            </p:txBody>
          </p:sp>
        </mc:Fallback>
      </mc:AlternateContent>
      <p:sp>
        <p:nvSpPr>
          <p:cNvPr id="11" name="Oval 10">
            <a:extLst>
              <a:ext uri="{FF2B5EF4-FFF2-40B4-BE49-F238E27FC236}">
                <a16:creationId xmlns:a16="http://schemas.microsoft.com/office/drawing/2014/main" id="{E164BF5E-EC0A-4CB3-951C-37CD705FF44C}"/>
              </a:ext>
            </a:extLst>
          </p:cNvPr>
          <p:cNvSpPr/>
          <p:nvPr/>
        </p:nvSpPr>
        <p:spPr>
          <a:xfrm>
            <a:off x="2208414" y="235711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endParaRPr lang="en-US" dirty="0"/>
          </a:p>
        </p:txBody>
      </p:sp>
      <p:cxnSp>
        <p:nvCxnSpPr>
          <p:cNvPr id="12" name="Straight Arrow Connector 11">
            <a:extLst>
              <a:ext uri="{FF2B5EF4-FFF2-40B4-BE49-F238E27FC236}">
                <a16:creationId xmlns:a16="http://schemas.microsoft.com/office/drawing/2014/main" id="{596E5B25-9934-42FF-8DB0-6F0294AD3F91}"/>
              </a:ext>
            </a:extLst>
          </p:cNvPr>
          <p:cNvCxnSpPr>
            <a:endCxn id="9" idx="2"/>
          </p:cNvCxnSpPr>
          <p:nvPr/>
        </p:nvCxnSpPr>
        <p:spPr>
          <a:xfrm>
            <a:off x="1446414" y="2585712"/>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CCAAF71-A464-4325-8FCE-44387CF58AC7}"/>
              </a:ext>
            </a:extLst>
          </p:cNvPr>
          <p:cNvSpPr txBox="1"/>
          <p:nvPr/>
        </p:nvSpPr>
        <p:spPr>
          <a:xfrm>
            <a:off x="6564962" y="1544619"/>
            <a:ext cx="476412" cy="369332"/>
          </a:xfrm>
          <a:prstGeom prst="rect">
            <a:avLst/>
          </a:prstGeom>
          <a:noFill/>
        </p:spPr>
        <p:txBody>
          <a:bodyPr wrap="none" rtlCol="0">
            <a:spAutoFit/>
          </a:bodyPr>
          <a:lstStyle/>
          <a:p>
            <a:r>
              <a:rPr lang="en-IN" dirty="0"/>
              <a:t>0,1</a:t>
            </a:r>
          </a:p>
        </p:txBody>
      </p:sp>
      <p:sp>
        <p:nvSpPr>
          <p:cNvPr id="15" name="TextBox 14">
            <a:extLst>
              <a:ext uri="{FF2B5EF4-FFF2-40B4-BE49-F238E27FC236}">
                <a16:creationId xmlns:a16="http://schemas.microsoft.com/office/drawing/2014/main" id="{5ABBB541-740F-4FE2-AE0F-057567DB00AD}"/>
              </a:ext>
            </a:extLst>
          </p:cNvPr>
          <p:cNvSpPr txBox="1"/>
          <p:nvPr/>
        </p:nvSpPr>
        <p:spPr>
          <a:xfrm>
            <a:off x="6390264" y="3043375"/>
            <a:ext cx="780448" cy="369332"/>
          </a:xfrm>
          <a:prstGeom prst="rect">
            <a:avLst/>
          </a:prstGeom>
          <a:noFill/>
        </p:spPr>
        <p:txBody>
          <a:bodyPr wrap="square">
            <a:spAutoFit/>
          </a:bodyPr>
          <a:lstStyle/>
          <a:p>
            <a:r>
              <a:rPr lang="en-US" b="0" i="0" dirty="0">
                <a:solidFill>
                  <a:srgbClr val="282829"/>
                </a:solidFill>
                <a:effectLst/>
                <a:latin typeface="-apple-system"/>
              </a:rPr>
              <a:t>phi(</a:t>
            </a:r>
            <a:r>
              <a:rPr lang="en-US" b="0" i="0" dirty="0">
                <a:solidFill>
                  <a:srgbClr val="282829"/>
                </a:solidFill>
                <a:effectLst/>
                <a:latin typeface="Calibri" panose="020F0502020204030204" pitchFamily="34" charset="0"/>
                <a:cs typeface="Calibri" panose="020F0502020204030204" pitchFamily="34" charset="0"/>
              </a:rPr>
              <a:t>ɸ</a:t>
            </a:r>
            <a:r>
              <a:rPr lang="en-US" b="0" i="0" dirty="0">
                <a:solidFill>
                  <a:srgbClr val="282829"/>
                </a:solidFill>
                <a:effectLst/>
                <a:latin typeface="-apple-system"/>
              </a:rPr>
              <a:t>) </a:t>
            </a:r>
            <a:endParaRPr lang="en-IN" dirty="0"/>
          </a:p>
        </p:txBody>
      </p:sp>
      <p:sp>
        <p:nvSpPr>
          <p:cNvPr id="17" name="TextBox 16">
            <a:extLst>
              <a:ext uri="{FF2B5EF4-FFF2-40B4-BE49-F238E27FC236}">
                <a16:creationId xmlns:a16="http://schemas.microsoft.com/office/drawing/2014/main" id="{9604CB88-9A5E-4069-9ACB-552BA4B87F42}"/>
              </a:ext>
            </a:extLst>
          </p:cNvPr>
          <p:cNvSpPr txBox="1"/>
          <p:nvPr/>
        </p:nvSpPr>
        <p:spPr>
          <a:xfrm>
            <a:off x="1856290" y="3044541"/>
            <a:ext cx="1161448" cy="369332"/>
          </a:xfrm>
          <a:prstGeom prst="rect">
            <a:avLst/>
          </a:prstGeom>
          <a:noFill/>
        </p:spPr>
        <p:txBody>
          <a:bodyPr wrap="square">
            <a:spAutoFit/>
          </a:bodyPr>
          <a:lstStyle/>
          <a:p>
            <a:r>
              <a:rPr lang="en-US" b="0" i="0" dirty="0">
                <a:solidFill>
                  <a:srgbClr val="282829"/>
                </a:solidFill>
                <a:effectLst/>
                <a:latin typeface="-apple-system"/>
              </a:rPr>
              <a:t>Epsilon(</a:t>
            </a:r>
            <a:r>
              <a:rPr lang="az-Cyrl-AZ" sz="1800" dirty="0"/>
              <a:t>Є</a:t>
            </a:r>
            <a:r>
              <a:rPr lang="en-US" b="0" i="0" dirty="0">
                <a:solidFill>
                  <a:srgbClr val="282829"/>
                </a:solidFill>
                <a:effectLst/>
                <a:latin typeface="-apple-system"/>
              </a:rPr>
              <a:t>) </a:t>
            </a:r>
            <a:endParaRPr lang="en-IN" dirty="0"/>
          </a:p>
        </p:txBody>
      </p:sp>
    </p:spTree>
    <p:extLst>
      <p:ext uri="{BB962C8B-B14F-4D97-AF65-F5344CB8AC3E}">
        <p14:creationId xmlns:p14="http://schemas.microsoft.com/office/powerpoint/2010/main" val="248740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Operations over Language</a:t>
            </a:r>
          </a:p>
        </p:txBody>
      </p:sp>
      <p:sp>
        <p:nvSpPr>
          <p:cNvPr id="3" name="Content Placeholder 2"/>
          <p:cNvSpPr>
            <a:spLocks noGrp="1"/>
          </p:cNvSpPr>
          <p:nvPr>
            <p:ph idx="1"/>
          </p:nvPr>
        </p:nvSpPr>
        <p:spPr/>
        <p:txBody>
          <a:bodyPr/>
          <a:lstStyle/>
          <a:p>
            <a:r>
              <a:rPr lang="en-US" dirty="0"/>
              <a:t>Operations over the language are:</a:t>
            </a:r>
          </a:p>
          <a:p>
            <a:pPr marL="914400" indent="-457200">
              <a:buFont typeface="+mj-lt"/>
              <a:buAutoNum type="arabicPeriod"/>
            </a:pPr>
            <a:r>
              <a:rPr lang="en-US" dirty="0">
                <a:solidFill>
                  <a:srgbClr val="0E47A1"/>
                </a:solidFill>
              </a:rPr>
              <a:t>Concatenation</a:t>
            </a:r>
          </a:p>
          <a:p>
            <a:pPr marL="914400" indent="-457200">
              <a:buFont typeface="+mj-lt"/>
              <a:buAutoNum type="arabicPeriod"/>
            </a:pPr>
            <a:r>
              <a:rPr lang="en-US" dirty="0">
                <a:solidFill>
                  <a:srgbClr val="0E47A1"/>
                </a:solidFill>
              </a:rPr>
              <a:t> Union</a:t>
            </a:r>
          </a:p>
          <a:p>
            <a:pPr marL="914400" indent="-457200">
              <a:buFont typeface="+mj-lt"/>
              <a:buAutoNum type="arabicPeriod"/>
            </a:pPr>
            <a:r>
              <a:rPr lang="en-US" dirty="0">
                <a:solidFill>
                  <a:srgbClr val="0E47A1"/>
                </a:solidFill>
              </a:rPr>
              <a:t> * (Kleene closure)</a:t>
            </a:r>
          </a:p>
          <a:p>
            <a:pPr marL="914400" indent="-457200">
              <a:buFont typeface="+mj-lt"/>
              <a:buAutoNum type="arabicPeriod"/>
            </a:pPr>
            <a:r>
              <a:rPr lang="en-US" dirty="0">
                <a:solidFill>
                  <a:srgbClr val="0E47A1"/>
                </a:solidFill>
              </a:rPr>
              <a:t> + (Positive closure)</a:t>
            </a:r>
          </a:p>
          <a:p>
            <a:endParaRPr lang="en-US" dirty="0"/>
          </a:p>
        </p:txBody>
      </p:sp>
      <p:cxnSp>
        <p:nvCxnSpPr>
          <p:cNvPr id="4" name="Straight Connector 3"/>
          <p:cNvCxnSpPr/>
          <p:nvPr/>
        </p:nvCxnSpPr>
        <p:spPr>
          <a:xfrm rot="5400000">
            <a:off x="6117221" y="-2647104"/>
            <a:ext cx="0" cy="118872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ontent Placeholder 2"/>
              <p:cNvSpPr txBox="1">
                <a:spLocks/>
              </p:cNvSpPr>
              <p:nvPr/>
            </p:nvSpPr>
            <p:spPr>
              <a:xfrm>
                <a:off x="152400" y="3448740"/>
                <a:ext cx="11929641" cy="22808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sz="2400" dirty="0"/>
                  <a:t>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 </m:t>
                    </m:r>
                    <m:sSup>
                      <m:sSupPr>
                        <m:ctrlPr>
                          <a:rPr lang="en-US" sz="2400" i="1">
                            <a:latin typeface="Cambria Math" panose="02040503050406030204" pitchFamily="18" charset="0"/>
                            <a:ea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ea typeface="Cambria Math" panose="02040503050406030204" pitchFamily="18" charset="0"/>
                          </a:rPr>
                          <m:t>∗</m:t>
                        </m:r>
                      </m:sup>
                    </m:sSup>
                  </m:oMath>
                </a14:m>
                <a:r>
                  <a:rPr lang="en-US" sz="2400" dirty="0"/>
                  <a:t> then concatenation is defined as</a:t>
                </a:r>
              </a:p>
              <a:p>
                <a:pPr marL="457200" lvl="1"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1</m:t>
                      </m:r>
                      <m:r>
                        <a:rPr lang="en-US" sz="2400" i="1">
                          <a:latin typeface="Cambria Math" panose="02040503050406030204" pitchFamily="18" charset="0"/>
                        </a:rPr>
                        <m:t>𝐿</m:t>
                      </m:r>
                      <m:r>
                        <a:rPr lang="en-US" sz="2400" i="1" baseline="-25000">
                          <a:latin typeface="Cambria Math" panose="02040503050406030204" pitchFamily="18" charset="0"/>
                        </a:rPr>
                        <m:t>2</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𝑥𝑦</m:t>
                          </m:r>
                          <m:r>
                            <a:rPr lang="en-US" sz="2400" i="1">
                              <a:latin typeface="Cambria Math" panose="02040503050406030204" pitchFamily="18" charset="0"/>
                            </a:rPr>
                            <m:t> </m:t>
                          </m:r>
                        </m:e>
                      </m:d>
                      <m:r>
                        <a:rPr lang="en-US" sz="2400" i="1">
                          <a:latin typeface="Cambria Math" panose="02040503050406030204" pitchFamily="18" charset="0"/>
                        </a:rPr>
                        <m:t> </m:t>
                      </m:r>
                      <m:r>
                        <a:rPr lang="en-US" sz="2400" i="1">
                          <a:latin typeface="Cambria Math" panose="02040503050406030204" pitchFamily="18" charset="0"/>
                        </a:rPr>
                        <m:t>𝑥</m:t>
                      </m:r>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𝜖</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𝐿</m:t>
                      </m:r>
                      <m:r>
                        <a:rPr lang="en-US" sz="2400" i="1" baseline="-2500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𝑎𝑛𝑑</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𝑦</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𝜖</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𝐿</m:t>
                      </m:r>
                      <m:r>
                        <a:rPr lang="en-US" sz="2400" i="1" baseline="-2500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oMath>
                  </m:oMathPara>
                </a14:m>
                <a:endParaRPr lang="en-US" sz="2400" dirty="0"/>
              </a:p>
              <a:p>
                <a:pPr marL="457200" lvl="1" indent="0">
                  <a:buFont typeface="Arial" panose="020B0604020202020204" pitchFamily="34" charset="0"/>
                  <a:buNone/>
                </a:pPr>
                <a:r>
                  <a:rPr lang="en-US" sz="2400" dirty="0">
                    <a:solidFill>
                      <a:srgbClr val="0E47A1"/>
                    </a:solidFill>
                  </a:rPr>
                  <a:t>Example:</a:t>
                </a:r>
              </a:p>
              <a:p>
                <a:pPr marL="857250" lvl="2" indent="0">
                  <a:buFont typeface="Arial" pitchFamily="34" charset="0"/>
                  <a:buNone/>
                </a:pPr>
                <a14:m>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1</m:t>
                    </m:r>
                  </m:oMath>
                </a14:m>
                <a:r>
                  <a:rPr lang="en-US" sz="2400" dirty="0"/>
                  <a:t> = {hope, fear} 	and </a:t>
                </a:r>
                <a14:m>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2</m:t>
                    </m:r>
                  </m:oMath>
                </a14:m>
                <a:r>
                  <a:rPr lang="en-US" sz="2400" dirty="0"/>
                  <a:t> = {less, fully}</a:t>
                </a:r>
              </a:p>
              <a:p>
                <a:pPr marL="857250" lvl="2" indent="0">
                  <a:buFont typeface="Arial" pitchFamily="34" charset="0"/>
                  <a:buNone/>
                </a:pPr>
                <a:endParaRPr lang="en-US" dirty="0"/>
              </a:p>
              <a:p>
                <a:pPr marL="857250" lvl="2" indent="0">
                  <a:buFont typeface="Arial" pitchFamily="34" charset="0"/>
                  <a:buNone/>
                </a:pPr>
                <a:endParaRPr lang="en-US"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2400" y="3448740"/>
                <a:ext cx="11929641" cy="2280809"/>
              </a:xfrm>
              <a:prstGeom prst="rect">
                <a:avLst/>
              </a:prstGeom>
              <a:blipFill rotWithShape="0">
                <a:blip r:embed="rId2"/>
                <a:stretch>
                  <a:fillRect t="-3476"/>
                </a:stretch>
              </a:blipFill>
            </p:spPr>
            <p:txBody>
              <a:bodyPr/>
              <a:lstStyle/>
              <a:p>
                <a:r>
                  <a:rPr lang="en-US">
                    <a:noFill/>
                  </a:rPr>
                  <a:t> </a:t>
                </a:r>
              </a:p>
            </p:txBody>
          </p:sp>
        </mc:Fallback>
      </mc:AlternateContent>
      <p:sp>
        <p:nvSpPr>
          <p:cNvPr id="6" name="TextBox 5"/>
          <p:cNvSpPr txBox="1"/>
          <p:nvPr/>
        </p:nvSpPr>
        <p:spPr>
          <a:xfrm>
            <a:off x="2962639" y="5266216"/>
            <a:ext cx="1289135" cy="461665"/>
          </a:xfrm>
          <a:prstGeom prst="rect">
            <a:avLst/>
          </a:prstGeom>
          <a:noFill/>
        </p:spPr>
        <p:txBody>
          <a:bodyPr wrap="none" rtlCol="0">
            <a:spAutoFit/>
          </a:bodyPr>
          <a:lstStyle/>
          <a:p>
            <a:r>
              <a:rPr lang="en-US" sz="2400" dirty="0"/>
              <a:t>hopeless</a:t>
            </a:r>
          </a:p>
        </p:txBody>
      </p:sp>
      <p:cxnSp>
        <p:nvCxnSpPr>
          <p:cNvPr id="7" name="Straight Arrow Connector 6"/>
          <p:cNvCxnSpPr/>
          <p:nvPr/>
        </p:nvCxnSpPr>
        <p:spPr>
          <a:xfrm>
            <a:off x="2057400" y="5050497"/>
            <a:ext cx="964527" cy="453497"/>
          </a:xfrm>
          <a:prstGeom prst="straightConnector1">
            <a:avLst/>
          </a:prstGeom>
          <a:ln w="25400">
            <a:solidFill>
              <a:srgbClr val="0E47A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157796" y="5050497"/>
            <a:ext cx="999217" cy="458842"/>
          </a:xfrm>
          <a:prstGeom prst="straightConnector1">
            <a:avLst/>
          </a:prstGeom>
          <a:ln w="25400">
            <a:solidFill>
              <a:srgbClr val="0E47A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1118443" y="5943600"/>
                <a:ext cx="6601018" cy="426268"/>
              </a:xfrm>
              <a:prstGeom prst="rect">
                <a:avLst/>
              </a:prstGeom>
              <a:solidFill>
                <a:srgbClr val="0E47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400" i="1" smtClean="0">
                        <a:latin typeface="Cambria Math" panose="02040503050406030204" pitchFamily="18" charset="0"/>
                      </a:rPr>
                      <m:t>𝐿</m:t>
                    </m:r>
                    <m:r>
                      <a:rPr lang="en-US" sz="2400" i="1" baseline="-25000">
                        <a:latin typeface="Cambria Math" panose="02040503050406030204" pitchFamily="18" charset="0"/>
                      </a:rPr>
                      <m:t>1</m:t>
                    </m:r>
                    <m:r>
                      <a:rPr lang="en-US" sz="2400" i="1">
                        <a:latin typeface="Cambria Math" panose="02040503050406030204" pitchFamily="18" charset="0"/>
                      </a:rPr>
                      <m:t>𝐿</m:t>
                    </m:r>
                    <m:r>
                      <a:rPr lang="en-US" sz="2400" i="1" baseline="-25000">
                        <a:latin typeface="Cambria Math" panose="02040503050406030204" pitchFamily="18" charset="0"/>
                      </a:rPr>
                      <m:t>2</m:t>
                    </m:r>
                  </m:oMath>
                </a14:m>
                <a:r>
                  <a:rPr lang="en-US" sz="2400" dirty="0"/>
                  <a:t> = {hopeless, hopefully, fearless, fearfully}</a:t>
                </a:r>
              </a:p>
            </p:txBody>
          </p:sp>
        </mc:Choice>
        <mc:Fallback xmlns="">
          <p:sp>
            <p:nvSpPr>
              <p:cNvPr id="9" name="Rectangle 8"/>
              <p:cNvSpPr>
                <a:spLocks noRot="1" noChangeAspect="1" noMove="1" noResize="1" noEditPoints="1" noAdjustHandles="1" noChangeArrowheads="1" noChangeShapeType="1" noTextEdit="1"/>
              </p:cNvSpPr>
              <p:nvPr/>
            </p:nvSpPr>
            <p:spPr>
              <a:xfrm>
                <a:off x="1118443" y="5943600"/>
                <a:ext cx="6601018" cy="426268"/>
              </a:xfrm>
              <a:prstGeom prst="rect">
                <a:avLst/>
              </a:prstGeom>
              <a:blipFill>
                <a:blip r:embed="rId3"/>
                <a:stretch>
                  <a:fillRect t="-12500" b="-34722"/>
                </a:stretch>
              </a:blipFill>
            </p:spPr>
            <p:txBody>
              <a:bodyPr/>
              <a:lstStyle/>
              <a:p>
                <a:r>
                  <a:rPr lang="en-IN">
                    <a:noFill/>
                  </a:rPr>
                  <a:t> </a:t>
                </a:r>
              </a:p>
            </p:txBody>
          </p:sp>
        </mc:Fallback>
      </mc:AlternateContent>
    </p:spTree>
    <p:extLst>
      <p:ext uri="{BB962C8B-B14F-4D97-AF65-F5344CB8AC3E}">
        <p14:creationId xmlns:p14="http://schemas.microsoft.com/office/powerpoint/2010/main" val="153269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22" presetClass="entr" presetSubtype="1"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up)">
                                      <p:cBhvr>
                                        <p:cTn id="46" dur="500"/>
                                        <p:tgtEl>
                                          <p:spTgt spid="7"/>
                                        </p:tgtEl>
                                      </p:cBhvr>
                                    </p:animEffect>
                                  </p:childTnLst>
                                </p:cTn>
                              </p:par>
                              <p:par>
                                <p:cTn id="47" presetID="22" presetClass="entr" presetSubtype="1" fill="hold"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up)">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Operations over Language</a:t>
            </a:r>
          </a:p>
        </p:txBody>
      </p:sp>
      <p:sp>
        <p:nvSpPr>
          <p:cNvPr id="3" name="Content Placeholder 2"/>
          <p:cNvSpPr>
            <a:spLocks noGrp="1"/>
          </p:cNvSpPr>
          <p:nvPr>
            <p:ph idx="1"/>
          </p:nvPr>
        </p:nvSpPr>
        <p:spPr/>
        <p:txBody>
          <a:bodyPr/>
          <a:lstStyle/>
          <a:p>
            <a:r>
              <a:rPr lang="en-US" dirty="0"/>
              <a:t>Operations over the language are:</a:t>
            </a:r>
          </a:p>
          <a:p>
            <a:pPr marL="914400" indent="-457200">
              <a:buFont typeface="+mj-lt"/>
              <a:buAutoNum type="arabicPeriod"/>
            </a:pPr>
            <a:r>
              <a:rPr lang="en-US" dirty="0">
                <a:solidFill>
                  <a:srgbClr val="0E47A1"/>
                </a:solidFill>
              </a:rPr>
              <a:t>Concatenation</a:t>
            </a:r>
          </a:p>
          <a:p>
            <a:pPr marL="914400" indent="-457200">
              <a:buFont typeface="+mj-lt"/>
              <a:buAutoNum type="arabicPeriod"/>
            </a:pPr>
            <a:r>
              <a:rPr lang="en-US" dirty="0">
                <a:solidFill>
                  <a:srgbClr val="0E47A1"/>
                </a:solidFill>
              </a:rPr>
              <a:t> Union</a:t>
            </a:r>
          </a:p>
          <a:p>
            <a:pPr marL="914400" indent="-457200">
              <a:buFont typeface="+mj-lt"/>
              <a:buAutoNum type="arabicPeriod"/>
            </a:pPr>
            <a:r>
              <a:rPr lang="en-US" dirty="0">
                <a:solidFill>
                  <a:srgbClr val="0E47A1"/>
                </a:solidFill>
              </a:rPr>
              <a:t> * (Kleene closure)</a:t>
            </a:r>
          </a:p>
          <a:p>
            <a:pPr marL="914400" indent="-457200">
              <a:buFont typeface="+mj-lt"/>
              <a:buAutoNum type="arabicPeriod"/>
            </a:pPr>
            <a:r>
              <a:rPr lang="en-US" dirty="0">
                <a:solidFill>
                  <a:srgbClr val="0E47A1"/>
                </a:solidFill>
              </a:rPr>
              <a:t> + (Positive closure)</a:t>
            </a:r>
          </a:p>
          <a:p>
            <a:pPr marL="914400" indent="-457200">
              <a:buFont typeface="+mj-lt"/>
              <a:buAutoNum type="arabicPeriod"/>
            </a:pPr>
            <a:endParaRPr lang="en-US" dirty="0">
              <a:solidFill>
                <a:srgbClr val="0E47A1"/>
              </a:solidFill>
            </a:endParaRPr>
          </a:p>
          <a:p>
            <a:endParaRPr lang="en-US" dirty="0"/>
          </a:p>
        </p:txBody>
      </p:sp>
      <p:cxnSp>
        <p:nvCxnSpPr>
          <p:cNvPr id="4" name="Straight Connector 3"/>
          <p:cNvCxnSpPr/>
          <p:nvPr/>
        </p:nvCxnSpPr>
        <p:spPr>
          <a:xfrm rot="5400000">
            <a:off x="6117221" y="-2647104"/>
            <a:ext cx="0" cy="118872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ontent Placeholder 2"/>
              <p:cNvSpPr txBox="1">
                <a:spLocks/>
              </p:cNvSpPr>
              <p:nvPr/>
            </p:nvSpPr>
            <p:spPr>
              <a:xfrm>
                <a:off x="152400" y="3448740"/>
                <a:ext cx="11929641" cy="22808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2800" dirty="0"/>
                  <a:t>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 </m:t>
                    </m:r>
                    <m:sSup>
                      <m:sSupPr>
                        <m:ctrlPr>
                          <a:rPr lang="en-US" sz="2400" i="1">
                            <a:latin typeface="Cambria Math" panose="02040503050406030204" pitchFamily="18" charset="0"/>
                            <a:ea typeface="Cambria Math" panose="02040503050406030204" pitchFamily="18" charset="0"/>
                          </a:rPr>
                        </m:ctrlPr>
                      </m:sSupPr>
                      <m:e>
                        <m:r>
                          <m:rPr>
                            <m:sty m:val="p"/>
                          </m:rPr>
                          <a:rPr lang="el-GR" sz="2400" i="1">
                            <a:latin typeface="Cambria Math" panose="02040503050406030204" pitchFamily="18" charset="0"/>
                            <a:ea typeface="Cambria Math" panose="02040503050406030204" pitchFamily="18" charset="0"/>
                          </a:rPr>
                          <m:t>Σ</m:t>
                        </m:r>
                      </m:e>
                      <m:sup>
                        <m:r>
                          <a:rPr lang="en-US" sz="2400" i="1">
                            <a:latin typeface="Cambria Math" panose="02040503050406030204" pitchFamily="18" charset="0"/>
                            <a:ea typeface="Cambria Math" panose="02040503050406030204" pitchFamily="18" charset="0"/>
                          </a:rPr>
                          <m:t>∗</m:t>
                        </m:r>
                      </m:sup>
                    </m:sSup>
                  </m:oMath>
                </a14:m>
                <a:r>
                  <a:rPr lang="en-US" sz="2400" dirty="0"/>
                  <a:t> then union is defined as</a:t>
                </a:r>
              </a:p>
              <a:p>
                <a:pPr marL="457200" lvl="1"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1 </m:t>
                      </m:r>
                      <m:r>
                        <a:rPr lang="en-US" sz="2400" i="1">
                          <a:latin typeface="Cambria Math" panose="02040503050406030204" pitchFamily="18" charset="0"/>
                        </a:rPr>
                        <m:t>| </m:t>
                      </m:r>
                      <m:r>
                        <a:rPr lang="en-US" sz="2400" i="1">
                          <a:latin typeface="Cambria Math" panose="02040503050406030204" pitchFamily="18" charset="0"/>
                        </a:rPr>
                        <m:t>𝐿</m:t>
                      </m:r>
                      <m:r>
                        <a:rPr lang="en-US" sz="2400" i="1" baseline="-25000">
                          <a:latin typeface="Cambria Math" panose="02040503050406030204" pitchFamily="18" charset="0"/>
                        </a:rPr>
                        <m:t>2</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e>
                      </m:d>
                      <m:r>
                        <a:rPr lang="en-US" sz="2400" i="1">
                          <a:latin typeface="Cambria Math" panose="02040503050406030204" pitchFamily="18" charset="0"/>
                        </a:rPr>
                        <m:t> </m:t>
                      </m:r>
                      <m:r>
                        <a:rPr lang="en-US" sz="2400" i="1">
                          <a:latin typeface="Cambria Math" panose="02040503050406030204" pitchFamily="18" charset="0"/>
                        </a:rPr>
                        <m:t>𝑥</m:t>
                      </m:r>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𝜖</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𝐿</m:t>
                      </m:r>
                      <m:r>
                        <a:rPr lang="en-US" sz="2400" i="1" baseline="-2500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𝑜𝑟</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𝜖</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𝐿</m:t>
                      </m:r>
                      <m:r>
                        <a:rPr lang="en-US" sz="2400" i="1" baseline="-2500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oMath>
                  </m:oMathPara>
                </a14:m>
                <a:endParaRPr lang="en-US" sz="2400" dirty="0"/>
              </a:p>
              <a:p>
                <a:pPr marL="457200" lvl="1" indent="0">
                  <a:buFont typeface="Arial" panose="020B0604020202020204" pitchFamily="34" charset="0"/>
                  <a:buNone/>
                </a:pPr>
                <a:r>
                  <a:rPr lang="en-US" sz="2400" dirty="0">
                    <a:solidFill>
                      <a:srgbClr val="0E47A1"/>
                    </a:solidFill>
                  </a:rPr>
                  <a:t>Example:</a:t>
                </a:r>
              </a:p>
              <a:p>
                <a:pPr marL="857250" lvl="2" indent="0">
                  <a:buFont typeface="Arial" pitchFamily="34" charset="0"/>
                  <a:buNone/>
                </a:pPr>
                <a14:m>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1</m:t>
                    </m:r>
                  </m:oMath>
                </a14:m>
                <a:r>
                  <a:rPr lang="en-US" sz="2400" dirty="0"/>
                  <a:t> = {hope, fear} 	and </a:t>
                </a:r>
                <a14:m>
                  <m:oMath xmlns:m="http://schemas.openxmlformats.org/officeDocument/2006/math">
                    <m:r>
                      <a:rPr lang="en-US" sz="2400" i="1">
                        <a:latin typeface="Cambria Math" panose="02040503050406030204" pitchFamily="18" charset="0"/>
                      </a:rPr>
                      <m:t>𝐿</m:t>
                    </m:r>
                    <m:r>
                      <a:rPr lang="en-US" sz="2400" i="1" baseline="-25000">
                        <a:latin typeface="Cambria Math" panose="02040503050406030204" pitchFamily="18" charset="0"/>
                      </a:rPr>
                      <m:t>2</m:t>
                    </m:r>
                  </m:oMath>
                </a14:m>
                <a:r>
                  <a:rPr lang="en-US" sz="2400" dirty="0"/>
                  <a:t> = {less, fully}</a:t>
                </a:r>
              </a:p>
              <a:p>
                <a:pPr marL="857250" lvl="2" indent="0">
                  <a:buFont typeface="Arial" pitchFamily="34" charset="0"/>
                  <a:buNone/>
                </a:pPr>
                <a:endParaRPr lang="en-US"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2400" y="3448740"/>
                <a:ext cx="11929641" cy="2280809"/>
              </a:xfrm>
              <a:prstGeom prst="rect">
                <a:avLst/>
              </a:prstGeom>
              <a:blipFill rotWithShape="0">
                <a:blip r:embed="rId2"/>
                <a:stretch>
                  <a:fillRect t="-4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524000" y="5385557"/>
                <a:ext cx="4572000" cy="426720"/>
              </a:xfrm>
              <a:prstGeom prst="rect">
                <a:avLst/>
              </a:prstGeom>
              <a:solidFill>
                <a:srgbClr val="0E47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400" i="1" smtClean="0">
                        <a:latin typeface="Cambria Math" panose="02040503050406030204" pitchFamily="18" charset="0"/>
                      </a:rPr>
                      <m:t>𝐿</m:t>
                    </m:r>
                    <m:r>
                      <a:rPr lang="en-US" sz="2400" i="1" baseline="-25000">
                        <a:latin typeface="Cambria Math" panose="02040503050406030204" pitchFamily="18" charset="0"/>
                      </a:rPr>
                      <m:t>1 </m:t>
                    </m:r>
                    <m:r>
                      <a:rPr lang="en-US" sz="2400" i="1">
                        <a:latin typeface="Cambria Math" panose="02040503050406030204" pitchFamily="18" charset="0"/>
                      </a:rPr>
                      <m:t>| </m:t>
                    </m:r>
                    <m:r>
                      <a:rPr lang="en-US" sz="2400" i="1">
                        <a:latin typeface="Cambria Math" panose="02040503050406030204" pitchFamily="18" charset="0"/>
                      </a:rPr>
                      <m:t>𝐿</m:t>
                    </m:r>
                    <m:r>
                      <a:rPr lang="en-US" sz="2400" i="1" baseline="-25000">
                        <a:latin typeface="Cambria Math" panose="02040503050406030204" pitchFamily="18" charset="0"/>
                      </a:rPr>
                      <m:t>2</m:t>
                    </m:r>
                  </m:oMath>
                </a14:m>
                <a:r>
                  <a:rPr lang="en-US" sz="2400" dirty="0"/>
                  <a:t> = {hope, fear, less, fully}</a:t>
                </a:r>
              </a:p>
            </p:txBody>
          </p:sp>
        </mc:Choice>
        <mc:Fallback xmlns="">
          <p:sp>
            <p:nvSpPr>
              <p:cNvPr id="10" name="Rectangle 9"/>
              <p:cNvSpPr>
                <a:spLocks noRot="1" noChangeAspect="1" noMove="1" noResize="1" noEditPoints="1" noAdjustHandles="1" noChangeArrowheads="1" noChangeShapeType="1" noTextEdit="1"/>
              </p:cNvSpPr>
              <p:nvPr/>
            </p:nvSpPr>
            <p:spPr>
              <a:xfrm>
                <a:off x="1524000" y="5385557"/>
                <a:ext cx="4572000" cy="426720"/>
              </a:xfrm>
              <a:prstGeom prst="rect">
                <a:avLst/>
              </a:prstGeom>
              <a:blipFill rotWithShape="0">
                <a:blip r:embed="rId3"/>
                <a:stretch>
                  <a:fillRect t="-11111" b="-36111"/>
                </a:stretch>
              </a:blipFill>
            </p:spPr>
            <p:txBody>
              <a:bodyPr/>
              <a:lstStyle/>
              <a:p>
                <a:r>
                  <a:rPr lang="en-US">
                    <a:noFill/>
                  </a:rPr>
                  <a:t> </a:t>
                </a:r>
              </a:p>
            </p:txBody>
          </p:sp>
        </mc:Fallback>
      </mc:AlternateContent>
    </p:spTree>
    <p:extLst>
      <p:ext uri="{BB962C8B-B14F-4D97-AF65-F5344CB8AC3E}">
        <p14:creationId xmlns:p14="http://schemas.microsoft.com/office/powerpoint/2010/main" val="408094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Operations over Language</a:t>
            </a:r>
          </a:p>
        </p:txBody>
      </p:sp>
      <p:sp>
        <p:nvSpPr>
          <p:cNvPr id="3" name="Content Placeholder 2"/>
          <p:cNvSpPr>
            <a:spLocks noGrp="1"/>
          </p:cNvSpPr>
          <p:nvPr>
            <p:ph idx="1"/>
          </p:nvPr>
        </p:nvSpPr>
        <p:spPr/>
        <p:txBody>
          <a:bodyPr/>
          <a:lstStyle/>
          <a:p>
            <a:r>
              <a:rPr lang="en-US" dirty="0"/>
              <a:t>Operations over the language are:</a:t>
            </a:r>
          </a:p>
          <a:p>
            <a:pPr marL="914400" indent="-457200">
              <a:buFont typeface="+mj-lt"/>
              <a:buAutoNum type="arabicPeriod"/>
            </a:pPr>
            <a:r>
              <a:rPr lang="en-US" dirty="0">
                <a:solidFill>
                  <a:srgbClr val="0E47A1"/>
                </a:solidFill>
              </a:rPr>
              <a:t>Concatenation</a:t>
            </a:r>
          </a:p>
          <a:p>
            <a:pPr marL="914400" indent="-457200">
              <a:buFont typeface="+mj-lt"/>
              <a:buAutoNum type="arabicPeriod"/>
            </a:pPr>
            <a:r>
              <a:rPr lang="en-US" dirty="0">
                <a:solidFill>
                  <a:srgbClr val="0E47A1"/>
                </a:solidFill>
              </a:rPr>
              <a:t> Union</a:t>
            </a:r>
          </a:p>
          <a:p>
            <a:pPr marL="914400" indent="-457200">
              <a:buFont typeface="+mj-lt"/>
              <a:buAutoNum type="arabicPeriod"/>
            </a:pPr>
            <a:r>
              <a:rPr lang="en-US" dirty="0">
                <a:solidFill>
                  <a:srgbClr val="0E47A1"/>
                </a:solidFill>
              </a:rPr>
              <a:t> * (Kleene closure)</a:t>
            </a:r>
          </a:p>
          <a:p>
            <a:pPr marL="914400" indent="-457200">
              <a:buFont typeface="+mj-lt"/>
              <a:buAutoNum type="arabicPeriod"/>
            </a:pPr>
            <a:r>
              <a:rPr lang="en-US" dirty="0">
                <a:solidFill>
                  <a:srgbClr val="0E47A1"/>
                </a:solidFill>
              </a:rPr>
              <a:t> + (Positive closure)</a:t>
            </a:r>
          </a:p>
          <a:p>
            <a:pPr marL="914400" indent="-457200">
              <a:buFont typeface="+mj-lt"/>
              <a:buAutoNum type="arabicPeriod"/>
            </a:pPr>
            <a:endParaRPr lang="en-US" dirty="0">
              <a:solidFill>
                <a:srgbClr val="0E47A1"/>
              </a:solidFill>
            </a:endParaRPr>
          </a:p>
          <a:p>
            <a:endParaRPr lang="en-US" dirty="0"/>
          </a:p>
        </p:txBody>
      </p:sp>
      <p:cxnSp>
        <p:nvCxnSpPr>
          <p:cNvPr id="4" name="Straight Connector 3"/>
          <p:cNvCxnSpPr/>
          <p:nvPr/>
        </p:nvCxnSpPr>
        <p:spPr>
          <a:xfrm rot="5400000">
            <a:off x="6117221" y="-2647104"/>
            <a:ext cx="0" cy="118872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ontent Placeholder 2"/>
              <p:cNvSpPr txBox="1">
                <a:spLocks/>
              </p:cNvSpPr>
              <p:nvPr/>
            </p:nvSpPr>
            <p:spPr>
              <a:xfrm>
                <a:off x="152400" y="3448740"/>
                <a:ext cx="11929641" cy="22808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defTabSz="854075">
                  <a:buNone/>
                </a:pPr>
                <a:r>
                  <a:rPr lang="en-US" sz="2400" dirty="0"/>
                  <a:t>If </a:t>
                </a:r>
                <a14:m>
                  <m:oMath xmlns:m="http://schemas.openxmlformats.org/officeDocument/2006/math">
                    <m:r>
                      <a:rPr lang="en-US" sz="2400" i="1">
                        <a:latin typeface="Cambria Math" panose="02040503050406030204" pitchFamily="18" charset="0"/>
                      </a:rPr>
                      <m:t>𝐿</m:t>
                    </m:r>
                  </m:oMath>
                </a14:m>
                <a:r>
                  <a:rPr lang="en-US" sz="2400" dirty="0"/>
                  <a:t> is a set of words then by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𝐿</m:t>
                        </m:r>
                      </m:e>
                      <m:sup>
                        <m:r>
                          <a:rPr lang="en-US" sz="2400" i="1">
                            <a:latin typeface="Cambria Math" panose="02040503050406030204" pitchFamily="18" charset="0"/>
                          </a:rPr>
                          <m:t>∗</m:t>
                        </m:r>
                      </m:sup>
                    </m:sSup>
                  </m:oMath>
                </a14:m>
                <a:r>
                  <a:rPr lang="en-US" sz="2400" dirty="0"/>
                  <a:t> we mean the set of all finite strings formed by concatenating words from S, where any word may be used as often we like, and where the null string is also included.</a:t>
                </a:r>
              </a:p>
              <a:p>
                <a:pPr marL="857250" lvl="2" indent="0">
                  <a:buNone/>
                </a:pPr>
                <a14:m>
                  <m:oMathPara xmlns:m="http://schemas.openxmlformats.org/officeDocument/2006/math">
                    <m:oMathParaPr>
                      <m:jc m:val="center"/>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sup>
                      </m:sSup>
                      <m:r>
                        <a:rPr lang="en-US" i="1">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ea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𝑖</m:t>
                              </m:r>
                            </m:sup>
                          </m:sSup>
                        </m:e>
                      </m:nary>
                    </m:oMath>
                  </m:oMathPara>
                </a14:m>
                <a:endParaRPr lang="en-US" dirty="0"/>
              </a:p>
              <a:p>
                <a:pPr marL="857250" lvl="2" indent="-506413">
                  <a:buNone/>
                </a:pPr>
                <a:r>
                  <a:rPr lang="en-US" sz="2400" dirty="0">
                    <a:solidFill>
                      <a:srgbClr val="0E47A1"/>
                    </a:solidFill>
                  </a:rPr>
                  <a:t>Example:</a:t>
                </a:r>
                <a:r>
                  <a:rPr lang="en-US" sz="2400" dirty="0">
                    <a:solidFill>
                      <a:schemeClr val="accent1">
                        <a:lumMod val="75000"/>
                      </a:schemeClr>
                    </a:solidFill>
                  </a:rPr>
                  <a:t> </a:t>
                </a:r>
                <a14:m>
                  <m:oMath xmlns:m="http://schemas.openxmlformats.org/officeDocument/2006/math">
                    <m:r>
                      <a:rPr lang="en-US" sz="2400" i="1">
                        <a:latin typeface="Cambria Math" panose="02040503050406030204" pitchFamily="18" charset="0"/>
                      </a:rPr>
                      <m:t>𝐿</m:t>
                    </m:r>
                  </m:oMath>
                </a14:m>
                <a:r>
                  <a:rPr lang="en-US" sz="2400" dirty="0"/>
                  <a:t> = {ab}</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2400" y="3448740"/>
                <a:ext cx="11929641" cy="2280809"/>
              </a:xfrm>
              <a:prstGeom prst="rect">
                <a:avLst/>
              </a:prstGeom>
              <a:blipFill rotWithShape="0">
                <a:blip r:embed="rId2"/>
                <a:stretch>
                  <a:fillRect l="-766" t="-3476" r="-766" b="-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744205" y="5867401"/>
                <a:ext cx="5715000" cy="457200"/>
              </a:xfrm>
              <a:prstGeom prst="rect">
                <a:avLst/>
              </a:prstGeom>
              <a:solidFill>
                <a:srgbClr val="0E47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14:m>
                  <m:oMath xmlns:m="http://schemas.openxmlformats.org/officeDocument/2006/math">
                    <m:r>
                      <a:rPr lang="en-US" sz="2400" i="1">
                        <a:latin typeface="Cambria Math" panose="02040503050406030204" pitchFamily="18" charset="0"/>
                      </a:rPr>
                      <m:t>𝐿</m:t>
                    </m:r>
                  </m:oMath>
                </a14:m>
                <a:r>
                  <a:rPr lang="en-US" sz="2400" dirty="0"/>
                  <a:t>* = {^, ab, </a:t>
                </a:r>
                <a:r>
                  <a:rPr lang="en-US" sz="2400" dirty="0" err="1"/>
                  <a:t>abab</a:t>
                </a:r>
                <a:r>
                  <a:rPr lang="en-US" sz="2400" dirty="0"/>
                  <a:t>, </a:t>
                </a:r>
                <a:r>
                  <a:rPr lang="en-US" sz="2400" dirty="0" err="1"/>
                  <a:t>ababab</a:t>
                </a:r>
                <a:r>
                  <a:rPr lang="en-US" sz="2400" dirty="0"/>
                  <a:t>, </a:t>
                </a:r>
                <a:r>
                  <a:rPr lang="en-US" sz="2400" dirty="0" err="1"/>
                  <a:t>abababab</a:t>
                </a:r>
                <a:r>
                  <a:rPr lang="en-US" sz="2400" dirty="0"/>
                  <a:t>, ….}</a:t>
                </a:r>
              </a:p>
            </p:txBody>
          </p:sp>
        </mc:Choice>
        <mc:Fallback xmlns="">
          <p:sp>
            <p:nvSpPr>
              <p:cNvPr id="10" name="Rectangle 9"/>
              <p:cNvSpPr>
                <a:spLocks noRot="1" noChangeAspect="1" noMove="1" noResize="1" noEditPoints="1" noAdjustHandles="1" noChangeArrowheads="1" noChangeShapeType="1" noTextEdit="1"/>
              </p:cNvSpPr>
              <p:nvPr/>
            </p:nvSpPr>
            <p:spPr>
              <a:xfrm>
                <a:off x="1744205" y="5867401"/>
                <a:ext cx="5715000" cy="457200"/>
              </a:xfrm>
              <a:prstGeom prst="rect">
                <a:avLst/>
              </a:prstGeom>
              <a:blipFill rotWithShape="0">
                <a:blip r:embed="rId3"/>
                <a:stretch>
                  <a:fillRect t="-7792" b="-28571"/>
                </a:stretch>
              </a:blipFill>
            </p:spPr>
            <p:txBody>
              <a:bodyPr/>
              <a:lstStyle/>
              <a:p>
                <a:r>
                  <a:rPr lang="en-US">
                    <a:noFill/>
                  </a:rPr>
                  <a:t> </a:t>
                </a:r>
              </a:p>
            </p:txBody>
          </p:sp>
        </mc:Fallback>
      </mc:AlternateContent>
    </p:spTree>
    <p:extLst>
      <p:ext uri="{BB962C8B-B14F-4D97-AF65-F5344CB8AC3E}">
        <p14:creationId xmlns:p14="http://schemas.microsoft.com/office/powerpoint/2010/main" val="132347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Operations over Language</a:t>
            </a:r>
          </a:p>
        </p:txBody>
      </p:sp>
      <p:sp>
        <p:nvSpPr>
          <p:cNvPr id="3" name="Content Placeholder 2"/>
          <p:cNvSpPr>
            <a:spLocks noGrp="1"/>
          </p:cNvSpPr>
          <p:nvPr>
            <p:ph idx="1"/>
          </p:nvPr>
        </p:nvSpPr>
        <p:spPr/>
        <p:txBody>
          <a:bodyPr/>
          <a:lstStyle/>
          <a:p>
            <a:r>
              <a:rPr lang="en-US" dirty="0"/>
              <a:t>Operations over the language are:</a:t>
            </a:r>
          </a:p>
          <a:p>
            <a:pPr marL="914400" indent="-457200">
              <a:buFont typeface="+mj-lt"/>
              <a:buAutoNum type="arabicPeriod"/>
            </a:pPr>
            <a:r>
              <a:rPr lang="en-US" dirty="0">
                <a:solidFill>
                  <a:srgbClr val="0E47A1"/>
                </a:solidFill>
              </a:rPr>
              <a:t>Concatenation</a:t>
            </a:r>
          </a:p>
          <a:p>
            <a:pPr marL="914400" indent="-457200">
              <a:buFont typeface="+mj-lt"/>
              <a:buAutoNum type="arabicPeriod"/>
            </a:pPr>
            <a:r>
              <a:rPr lang="en-US" dirty="0">
                <a:solidFill>
                  <a:srgbClr val="0E47A1"/>
                </a:solidFill>
              </a:rPr>
              <a:t> Union</a:t>
            </a:r>
          </a:p>
          <a:p>
            <a:pPr marL="914400" indent="-457200">
              <a:buFont typeface="+mj-lt"/>
              <a:buAutoNum type="arabicPeriod"/>
            </a:pPr>
            <a:r>
              <a:rPr lang="en-US" dirty="0">
                <a:solidFill>
                  <a:srgbClr val="0E47A1"/>
                </a:solidFill>
              </a:rPr>
              <a:t> * (Kleene closure)</a:t>
            </a:r>
          </a:p>
          <a:p>
            <a:pPr marL="914400" indent="-457200">
              <a:buFont typeface="+mj-lt"/>
              <a:buAutoNum type="arabicPeriod"/>
            </a:pPr>
            <a:r>
              <a:rPr lang="en-US" dirty="0">
                <a:solidFill>
                  <a:srgbClr val="0E47A1"/>
                </a:solidFill>
              </a:rPr>
              <a:t> + (Positive closure)</a:t>
            </a:r>
          </a:p>
          <a:p>
            <a:pPr marL="914400" indent="-457200">
              <a:buFont typeface="+mj-lt"/>
              <a:buAutoNum type="arabicPeriod"/>
            </a:pPr>
            <a:endParaRPr lang="en-US" dirty="0">
              <a:solidFill>
                <a:srgbClr val="0E47A1"/>
              </a:solidFill>
            </a:endParaRPr>
          </a:p>
          <a:p>
            <a:endParaRPr lang="en-US" dirty="0"/>
          </a:p>
        </p:txBody>
      </p:sp>
      <p:cxnSp>
        <p:nvCxnSpPr>
          <p:cNvPr id="4" name="Straight Connector 3"/>
          <p:cNvCxnSpPr/>
          <p:nvPr/>
        </p:nvCxnSpPr>
        <p:spPr>
          <a:xfrm rot="5400000">
            <a:off x="6117221" y="-2647104"/>
            <a:ext cx="0" cy="1188720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ontent Placeholder 2"/>
              <p:cNvSpPr txBox="1">
                <a:spLocks/>
              </p:cNvSpPr>
              <p:nvPr/>
            </p:nvSpPr>
            <p:spPr>
              <a:xfrm>
                <a:off x="152400" y="3448740"/>
                <a:ext cx="11929641" cy="228080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sz="2400" dirty="0"/>
                  <a:t>If </a:t>
                </a:r>
                <a14:m>
                  <m:oMath xmlns:m="http://schemas.openxmlformats.org/officeDocument/2006/math">
                    <m:r>
                      <a:rPr lang="en-US" sz="2400" i="1">
                        <a:latin typeface="Cambria Math" panose="02040503050406030204" pitchFamily="18" charset="0"/>
                      </a:rPr>
                      <m:t>𝐿</m:t>
                    </m:r>
                  </m:oMath>
                </a14:m>
                <a:r>
                  <a:rPr lang="en-US" sz="2400" dirty="0"/>
                  <a:t> is a set of words then by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𝐿</m:t>
                        </m:r>
                      </m:e>
                      <m:sup>
                        <m:r>
                          <a:rPr lang="en-US" sz="2400" i="1">
                            <a:latin typeface="Cambria Math" panose="02040503050406030204" pitchFamily="18" charset="0"/>
                          </a:rPr>
                          <m:t>+</m:t>
                        </m:r>
                      </m:sup>
                    </m:sSup>
                  </m:oMath>
                </a14:m>
                <a:r>
                  <a:rPr lang="en-US" sz="2400" dirty="0"/>
                  <a:t> we mean the set of all finite strings formed by concatenating words from L, where any word may be used as often we like, and where the null string is not included.</a:t>
                </a:r>
              </a:p>
              <a:p>
                <a:pPr marL="857250" lvl="2" indent="0">
                  <a:buNone/>
                </a:pPr>
                <a14:m>
                  <m:oMathPara xmlns:m="http://schemas.openxmlformats.org/officeDocument/2006/math">
                    <m:oMathParaPr>
                      <m:jc m:val="center"/>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sup>
                      </m:sSup>
                      <m:r>
                        <a:rPr lang="en-US" i="1">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ea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𝑖</m:t>
                              </m:r>
                            </m:sup>
                          </m:sSup>
                        </m:e>
                      </m:nary>
                    </m:oMath>
                  </m:oMathPara>
                </a14:m>
                <a:endParaRPr lang="en-US" dirty="0"/>
              </a:p>
              <a:p>
                <a:pPr marL="857250" lvl="2" indent="-506413">
                  <a:buNone/>
                </a:pPr>
                <a:r>
                  <a:rPr lang="en-US" sz="2400" dirty="0">
                    <a:solidFill>
                      <a:srgbClr val="0E47A1"/>
                    </a:solidFill>
                  </a:rPr>
                  <a:t>Example:</a:t>
                </a:r>
                <a14:m>
                  <m:oMath xmlns:m="http://schemas.openxmlformats.org/officeDocument/2006/math">
                    <m:r>
                      <a:rPr lang="en-US" sz="2400" i="1">
                        <a:latin typeface="Cambria Math" panose="02040503050406030204" pitchFamily="18" charset="0"/>
                      </a:rPr>
                      <m:t>𝐿</m:t>
                    </m:r>
                  </m:oMath>
                </a14:m>
                <a:r>
                  <a:rPr lang="en-US" sz="2400" dirty="0"/>
                  <a:t> = {ab}</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52400" y="3448740"/>
                <a:ext cx="11929641" cy="2280809"/>
              </a:xfrm>
              <a:prstGeom prst="rect">
                <a:avLst/>
              </a:prstGeom>
              <a:blipFill rotWithShape="0">
                <a:blip r:embed="rId2"/>
                <a:stretch>
                  <a:fillRect l="-766" t="-3476" r="-766" b="-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048000" y="5867401"/>
                <a:ext cx="5715000" cy="457200"/>
              </a:xfrm>
              <a:prstGeom prst="rect">
                <a:avLst/>
              </a:prstGeom>
              <a:solidFill>
                <a:srgbClr val="0E47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𝐿</m:t>
                        </m:r>
                      </m:e>
                      <m:sup>
                        <m:r>
                          <a:rPr lang="en-US" sz="2400" i="1">
                            <a:latin typeface="Cambria Math" panose="02040503050406030204" pitchFamily="18" charset="0"/>
                          </a:rPr>
                          <m:t>+</m:t>
                        </m:r>
                      </m:sup>
                    </m:sSup>
                  </m:oMath>
                </a14:m>
                <a:r>
                  <a:rPr lang="en-US" sz="2400" dirty="0"/>
                  <a:t> = {ab, </a:t>
                </a:r>
                <a:r>
                  <a:rPr lang="en-US" sz="2400" dirty="0" err="1"/>
                  <a:t>abab</a:t>
                </a:r>
                <a:r>
                  <a:rPr lang="en-US" sz="2400" dirty="0"/>
                  <a:t>, </a:t>
                </a:r>
                <a:r>
                  <a:rPr lang="en-US" sz="2400" dirty="0" err="1"/>
                  <a:t>ababab</a:t>
                </a:r>
                <a:r>
                  <a:rPr lang="en-US" sz="2400" dirty="0"/>
                  <a:t>, </a:t>
                </a:r>
                <a:r>
                  <a:rPr lang="en-US" sz="2400" dirty="0" err="1"/>
                  <a:t>abababab</a:t>
                </a:r>
                <a:r>
                  <a:rPr lang="en-US" sz="2400" dirty="0"/>
                  <a:t>, ….}</a:t>
                </a:r>
              </a:p>
            </p:txBody>
          </p:sp>
        </mc:Choice>
        <mc:Fallback xmlns="">
          <p:sp>
            <p:nvSpPr>
              <p:cNvPr id="10" name="Rectangle 9"/>
              <p:cNvSpPr>
                <a:spLocks noRot="1" noChangeAspect="1" noMove="1" noResize="1" noEditPoints="1" noAdjustHandles="1" noChangeArrowheads="1" noChangeShapeType="1" noTextEdit="1"/>
              </p:cNvSpPr>
              <p:nvPr/>
            </p:nvSpPr>
            <p:spPr>
              <a:xfrm>
                <a:off x="3048000" y="5867401"/>
                <a:ext cx="5715000" cy="457200"/>
              </a:xfrm>
              <a:prstGeom prst="rect">
                <a:avLst/>
              </a:prstGeom>
              <a:blipFill rotWithShape="0">
                <a:blip r:embed="rId3"/>
                <a:stretch>
                  <a:fillRect t="-7792" b="-28571"/>
                </a:stretch>
              </a:blipFill>
            </p:spPr>
            <p:txBody>
              <a:bodyPr/>
              <a:lstStyle/>
              <a:p>
                <a:r>
                  <a:rPr lang="en-US">
                    <a:noFill/>
                  </a:rPr>
                  <a:t> </a:t>
                </a:r>
              </a:p>
            </p:txBody>
          </p:sp>
        </mc:Fallback>
      </mc:AlternateContent>
    </p:spTree>
    <p:extLst>
      <p:ext uri="{BB962C8B-B14F-4D97-AF65-F5344CB8AC3E}">
        <p14:creationId xmlns:p14="http://schemas.microsoft.com/office/powerpoint/2010/main" val="60858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A253A-BD1D-47B5-88BF-C771671D221B}"/>
              </a:ext>
            </a:extLst>
          </p:cNvPr>
          <p:cNvSpPr>
            <a:spLocks noGrp="1"/>
          </p:cNvSpPr>
          <p:nvPr>
            <p:ph type="title"/>
          </p:nvPr>
        </p:nvSpPr>
        <p:spPr/>
        <p:txBody>
          <a:bodyPr>
            <a:normAutofit fontScale="90000"/>
          </a:bodyPr>
          <a:lstStyle/>
          <a:p>
            <a:pPr algn="l"/>
            <a:r>
              <a:rPr lang="en-US" dirty="0"/>
              <a:t>Some Basic operations on string</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B8CB2F-4BE4-48EC-B618-2F7A9605F4DE}"/>
                  </a:ext>
                </a:extLst>
              </p:cNvPr>
              <p:cNvSpPr>
                <a:spLocks noGrp="1"/>
              </p:cNvSpPr>
              <p:nvPr>
                <p:ph idx="1"/>
              </p:nvPr>
            </p:nvSpPr>
            <p:spPr/>
            <p:txBody>
              <a:bodyPr/>
              <a:lstStyle/>
              <a:p>
                <a:r>
                  <a:rPr lang="en-US" b="1" dirty="0"/>
                  <a:t>Length of a string</a:t>
                </a:r>
                <a:r>
                  <a:rPr lang="en-US" dirty="0"/>
                  <a:t>:- It is defined as number symbol in the string. Denoted like |W|, </a:t>
                </a:r>
                <a:r>
                  <a:rPr lang="en-US" dirty="0" err="1"/>
                  <a:t>e.g.length</a:t>
                </a:r>
                <a:r>
                  <a:rPr lang="en-US" dirty="0"/>
                  <a:t> of string |10101| = 5</a:t>
                </a:r>
              </a:p>
              <a:p>
                <a:r>
                  <a:rPr lang="en-US" b="1" dirty="0"/>
                  <a:t>Reverse of string:- </a:t>
                </a:r>
                <a:r>
                  <a:rPr lang="en-US" dirty="0"/>
                  <a:t>W= </a:t>
                </a:r>
                <a:r>
                  <a:rPr lang="en-US" dirty="0" err="1"/>
                  <a:t>abbbb</a:t>
                </a:r>
                <a:r>
                  <a:rPr lang="en-US" dirty="0"/>
                  <a:t>, </a:t>
                </a:r>
                <a:r>
                  <a:rPr lang="en-US" dirty="0" err="1"/>
                  <a:t>W</a:t>
                </a:r>
                <a:r>
                  <a:rPr lang="en-US" baseline="30000" dirty="0" err="1"/>
                  <a:t>r</a:t>
                </a:r>
                <a:r>
                  <a:rPr lang="en-US" baseline="30000" dirty="0"/>
                  <a:t> </a:t>
                </a:r>
                <a:r>
                  <a:rPr lang="en-US" dirty="0"/>
                  <a:t>= </a:t>
                </a:r>
                <a:r>
                  <a:rPr lang="en-US"/>
                  <a:t>bbbba</a:t>
                </a:r>
                <a:r>
                  <a:rPr lang="en-US" dirty="0"/>
                  <a:t> =&gt; |W|=|</a:t>
                </a:r>
                <a:r>
                  <a:rPr lang="en-US" dirty="0" err="1"/>
                  <a:t>W</a:t>
                </a:r>
                <a:r>
                  <a:rPr lang="en-US" baseline="30000" dirty="0" err="1"/>
                  <a:t>r</a:t>
                </a:r>
                <a:r>
                  <a:rPr lang="en-US" dirty="0"/>
                  <a:t>|</a:t>
                </a:r>
              </a:p>
              <a:p>
                <a:endParaRPr lang="en-US" baseline="30000" dirty="0"/>
              </a:p>
              <a:p>
                <a:r>
                  <a:rPr lang="en-US" b="1" dirty="0"/>
                  <a:t> Empty/Null String:- </a:t>
                </a:r>
                <a:r>
                  <a:rPr lang="en-US" dirty="0"/>
                  <a:t>The string with zero occurrence of symbols. It is denoted by </a:t>
                </a:r>
                <a14:m>
                  <m:oMath xmlns:m="http://schemas.openxmlformats.org/officeDocument/2006/math">
                    <m:r>
                      <a:rPr lang="en-US" sz="2400" i="1" smtClean="0">
                        <a:latin typeface="Cambria Math" panose="02040503050406030204" pitchFamily="18" charset="0"/>
                        <a:ea typeface="Cambria Math" panose="02040503050406030204" pitchFamily="18" charset="0"/>
                      </a:rPr>
                      <m:t>𝜖</m:t>
                    </m:r>
                  </m:oMath>
                </a14:m>
                <a:r>
                  <a:rPr lang="en-IN" dirty="0"/>
                  <a:t>.  |</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𝜖</m:t>
                    </m:r>
                    <m:r>
                      <a:rPr lang="en-US" i="1">
                        <a:latin typeface="Cambria Math" panose="02040503050406030204" pitchFamily="18" charset="0"/>
                        <a:ea typeface="Cambria Math" panose="02040503050406030204" pitchFamily="18" charset="0"/>
                      </a:rPr>
                      <m:t> </m:t>
                    </m:r>
                  </m:oMath>
                </a14:m>
                <a:r>
                  <a:rPr lang="en-IN" dirty="0"/>
                  <a:t>|=0,</a:t>
                </a:r>
              </a:p>
              <a:p>
                <a:pPr marL="0" indent="0">
                  <a:buNone/>
                </a:pPr>
                <a:r>
                  <a:rPr lang="en-IN" dirty="0"/>
                  <a:t>     if there is a string w, then </a:t>
                </a:r>
                <a:r>
                  <a:rPr lang="en-IN" dirty="0" err="1"/>
                  <a:t>w</a:t>
                </a:r>
                <a:r>
                  <a:rPr lang="en-IN" baseline="30000" dirty="0" err="1"/>
                  <a:t>n</a:t>
                </a:r>
                <a:r>
                  <a:rPr lang="en-IN" baseline="30000" dirty="0"/>
                  <a:t> </a:t>
                </a:r>
                <a:r>
                  <a:rPr lang="en-IN" baseline="-25000" dirty="0"/>
                  <a:t> </a:t>
                </a:r>
                <a:r>
                  <a:rPr lang="en-IN" dirty="0"/>
                  <a:t>stands for the strings obtained by repeating w n times.</a:t>
                </a:r>
              </a:p>
              <a:p>
                <a:pPr marL="0" indent="0">
                  <a:buNone/>
                </a:pPr>
                <a:r>
                  <a:rPr lang="en-IN" dirty="0">
                    <a:latin typeface="Cambria Math" panose="02040503050406030204" pitchFamily="18" charset="0"/>
                    <a:ea typeface="Cambria Math" panose="02040503050406030204" pitchFamily="18" charset="0"/>
                  </a:rPr>
                  <a:t>            w</a:t>
                </a:r>
                <a:r>
                  <a:rPr lang="en-IN" baseline="30000" dirty="0">
                    <a:latin typeface="Cambria Math" panose="02040503050406030204" pitchFamily="18" charset="0"/>
                    <a:ea typeface="Cambria Math" panose="02040503050406030204" pitchFamily="18" charset="0"/>
                  </a:rPr>
                  <a:t>2  </a:t>
                </a:r>
                <a:r>
                  <a:rPr lang="en-IN" dirty="0">
                    <a:latin typeface="Cambria Math" panose="02040503050406030204" pitchFamily="18" charset="0"/>
                    <a:ea typeface="Cambria Math" panose="02040503050406030204" pitchFamily="18" charset="0"/>
                  </a:rPr>
                  <a:t>=</a:t>
                </a:r>
                <a:r>
                  <a:rPr lang="en-IN" dirty="0" err="1">
                    <a:latin typeface="Cambria Math" panose="02040503050406030204" pitchFamily="18" charset="0"/>
                    <a:ea typeface="Cambria Math" panose="02040503050406030204" pitchFamily="18" charset="0"/>
                  </a:rPr>
                  <a:t>ww</a:t>
                </a:r>
                <a:endParaRPr lang="en-IN" dirty="0">
                  <a:latin typeface="Cambria Math" panose="02040503050406030204" pitchFamily="18" charset="0"/>
                  <a:ea typeface="Cambria Math" panose="02040503050406030204" pitchFamily="18" charset="0"/>
                </a:endParaRPr>
              </a:p>
              <a:p>
                <a:pPr marL="0" indent="0">
                  <a:buNone/>
                </a:pPr>
                <a:r>
                  <a:rPr lang="en-IN" dirty="0">
                    <a:latin typeface="Cambria Math" panose="02040503050406030204" pitchFamily="18" charset="0"/>
                    <a:ea typeface="Cambria Math" panose="02040503050406030204" pitchFamily="18" charset="0"/>
                  </a:rPr>
                  <a:t>            w</a:t>
                </a:r>
                <a:r>
                  <a:rPr lang="en-IN" baseline="30000" dirty="0">
                    <a:latin typeface="Cambria Math" panose="02040503050406030204" pitchFamily="18" charset="0"/>
                    <a:ea typeface="Cambria Math" panose="02040503050406030204" pitchFamily="18" charset="0"/>
                  </a:rPr>
                  <a:t>1  </a:t>
                </a:r>
                <a:r>
                  <a:rPr lang="en-IN" dirty="0">
                    <a:latin typeface="Cambria Math" panose="02040503050406030204" pitchFamily="18" charset="0"/>
                    <a:ea typeface="Cambria Math" panose="02040503050406030204" pitchFamily="18" charset="0"/>
                  </a:rPr>
                  <a:t>=w</a:t>
                </a:r>
              </a:p>
              <a:p>
                <a:pPr marL="0" indent="0">
                  <a:buNone/>
                </a:pPr>
                <a:r>
                  <a:rPr lang="en-IN" sz="2000" dirty="0">
                    <a:latin typeface="Cambria Math" panose="02040503050406030204" pitchFamily="18" charset="0"/>
                    <a:ea typeface="Cambria Math" panose="02040503050406030204" pitchFamily="18" charset="0"/>
                  </a:rPr>
                  <a:t>              W</a:t>
                </a:r>
                <a:r>
                  <a:rPr lang="en-IN" sz="2000" baseline="30000" dirty="0">
                    <a:latin typeface="Cambria Math" panose="02040503050406030204" pitchFamily="18" charset="0"/>
                    <a:ea typeface="Cambria Math" panose="02040503050406030204" pitchFamily="18" charset="0"/>
                  </a:rPr>
                  <a:t>0   </a:t>
                </a:r>
                <a:r>
                  <a:rPr lang="en-IN" sz="2000" dirty="0">
                    <a:latin typeface="Cambria Math" panose="02040503050406030204" pitchFamily="18" charset="0"/>
                    <a:ea typeface="Cambria Math" panose="02040503050406030204" pitchFamily="18"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rPr>
                      <m:t>𝜖</m:t>
                    </m:r>
                  </m:oMath>
                </a14:m>
                <a:endParaRPr lang="en-IN" sz="2000"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ea typeface="Cambria Math" panose="02040503050406030204" pitchFamily="18" charset="0"/>
                        </a:rPr>
                        <m:t>            </m:t>
                      </m:r>
                      <m:r>
                        <m:rPr>
                          <m:sty m:val="p"/>
                        </m:rPr>
                        <a:rPr lang="en-US" smtClean="0">
                          <a:latin typeface="Cambria Math" panose="02040503050406030204" pitchFamily="18" charset="0"/>
                          <a:ea typeface="Cambria Math" panose="02040503050406030204" pitchFamily="18" charset="0"/>
                        </a:rPr>
                        <m:t>w</m:t>
                      </m:r>
                      <m:r>
                        <a:rPr lang="en-US" sz="2400" i="1">
                          <a:latin typeface="Cambria Math" panose="02040503050406030204" pitchFamily="18" charset="0"/>
                          <a:ea typeface="Cambria Math" panose="02040503050406030204" pitchFamily="18" charset="0"/>
                        </a:rPr>
                        <m:t>𝜖</m:t>
                      </m:r>
                      <m:r>
                        <a:rPr lang="en-US" sz="2400"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oMath>
                  </m:oMathPara>
                </a14:m>
                <a:endParaRPr lang="en-IN" baseline="30000"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AB8CB2F-4BE4-48EC-B618-2F7A9605F4DE}"/>
                  </a:ext>
                </a:extLst>
              </p:cNvPr>
              <p:cNvSpPr>
                <a:spLocks noGrp="1" noRot="1" noChangeAspect="1" noMove="1" noResize="1" noEditPoints="1" noAdjustHandles="1" noChangeArrowheads="1" noChangeShapeType="1" noTextEdit="1"/>
              </p:cNvSpPr>
              <p:nvPr>
                <p:ph idx="1"/>
              </p:nvPr>
            </p:nvSpPr>
            <p:spPr>
              <a:blipFill>
                <a:blip r:embed="rId2"/>
                <a:stretch>
                  <a:fillRect l="-716" t="-872" r="-818"/>
                </a:stretch>
              </a:blipFill>
            </p:spPr>
            <p:txBody>
              <a:bodyPr/>
              <a:lstStyle/>
              <a:p>
                <a:r>
                  <a:rPr lang="en-IN">
                    <a:noFill/>
                  </a:rPr>
                  <a:t> </a:t>
                </a:r>
              </a:p>
            </p:txBody>
          </p:sp>
        </mc:Fallback>
      </mc:AlternateContent>
    </p:spTree>
    <p:extLst>
      <p:ext uri="{BB962C8B-B14F-4D97-AF65-F5344CB8AC3E}">
        <p14:creationId xmlns:p14="http://schemas.microsoft.com/office/powerpoint/2010/main" val="406006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1BF28EE-0928-4D2C-BBFC-14F577E97A46}"/>
                  </a:ext>
                </a:extLst>
              </p:cNvPr>
              <p:cNvSpPr>
                <a:spLocks noGrp="1"/>
              </p:cNvSpPr>
              <p:nvPr>
                <p:ph type="title"/>
              </p:nvPr>
            </p:nvSpPr>
            <p:spPr/>
            <p:txBody>
              <a:bodyPr>
                <a:normAutofit fontScale="90000"/>
              </a:bodyPr>
              <a:lstStyle/>
              <a:p>
                <a:pPr algn="l"/>
                <a:r>
                  <a:rPr lang="en-US" dirty="0"/>
                  <a:t>Q. If </a:t>
                </a:r>
                <a14:m>
                  <m:oMath xmlns:m="http://schemas.openxmlformats.org/officeDocument/2006/math">
                    <m:r>
                      <m:rPr>
                        <m:sty m:val="p"/>
                      </m:rPr>
                      <a:rPr lang="el-GR" sz="3600" i="1" smtClean="0">
                        <a:latin typeface="Cambria Math" panose="02040503050406030204" pitchFamily="18" charset="0"/>
                        <a:ea typeface="Cambria Math" panose="02040503050406030204" pitchFamily="18" charset="0"/>
                      </a:rPr>
                      <m:t>Σ</m:t>
                    </m:r>
                  </m:oMath>
                </a14:m>
                <a:r>
                  <a:rPr lang="en-US" dirty="0"/>
                  <a:t>={</a:t>
                </a:r>
                <a:r>
                  <a:rPr lang="en-US" dirty="0" err="1"/>
                  <a:t>a,b</a:t>
                </a:r>
                <a:r>
                  <a:rPr lang="en-US" dirty="0"/>
                  <a:t>} then, find the following? </a:t>
                </a:r>
                <a:endParaRPr lang="en-IN" dirty="0"/>
              </a:p>
            </p:txBody>
          </p:sp>
        </mc:Choice>
        <mc:Fallback xmlns="">
          <p:sp>
            <p:nvSpPr>
              <p:cNvPr id="2" name="Title 1">
                <a:extLst>
                  <a:ext uri="{FF2B5EF4-FFF2-40B4-BE49-F238E27FC236}">
                    <a16:creationId xmlns:a16="http://schemas.microsoft.com/office/drawing/2014/main" id="{B1BF28EE-0928-4D2C-BBFC-14F577E97A46}"/>
                  </a:ext>
                </a:extLst>
              </p:cNvPr>
              <p:cNvSpPr>
                <a:spLocks noGrp="1" noRot="1" noChangeAspect="1" noMove="1" noResize="1" noEditPoints="1" noAdjustHandles="1" noChangeArrowheads="1" noChangeShapeType="1" noTextEdit="1"/>
              </p:cNvSpPr>
              <p:nvPr>
                <p:ph type="title"/>
              </p:nvPr>
            </p:nvSpPr>
            <p:spPr>
              <a:blipFill>
                <a:blip r:embed="rId2"/>
                <a:stretch>
                  <a:fillRect l="-200" b="-179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0ED6C5-A3A2-45A6-90B2-3DDC56AD49DA}"/>
                  </a:ext>
                </a:extLst>
              </p:cNvPr>
              <p:cNvSpPr>
                <a:spLocks noGrp="1"/>
              </p:cNvSpPr>
              <p:nvPr>
                <p:ph idx="1"/>
              </p:nvPr>
            </p:nvSpPr>
            <p:spPr/>
            <p:txBody>
              <a:bodyPr/>
              <a:lstStyle/>
              <a:p>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Σ</m:t>
                    </m:r>
                  </m:oMath>
                </a14:m>
                <a:r>
                  <a:rPr lang="en-IN" baseline="30000" dirty="0"/>
                  <a:t>0</a:t>
                </a:r>
                <a:r>
                  <a:rPr lang="en-IN" dirty="0"/>
                  <a:t> ={ }</a:t>
                </a:r>
                <a:endParaRPr lang="en-IN" baseline="30000" dirty="0"/>
              </a:p>
              <a:p>
                <a:endParaRPr lang="en-IN" baseline="30000" dirty="0"/>
              </a:p>
              <a:p>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Σ</m:t>
                    </m:r>
                  </m:oMath>
                </a14:m>
                <a:r>
                  <a:rPr lang="en-IN" baseline="30000" dirty="0"/>
                  <a:t>1 </a:t>
                </a:r>
                <a:r>
                  <a:rPr lang="en-IN" dirty="0"/>
                  <a:t>= { a, b}</a:t>
                </a:r>
              </a:p>
              <a:p>
                <a:pPr marL="0" indent="0">
                  <a:buNone/>
                </a:pPr>
                <a:endParaRPr lang="en-IN" baseline="30000" dirty="0"/>
              </a:p>
              <a:p>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Σ</m:t>
                    </m:r>
                  </m:oMath>
                </a14:m>
                <a:r>
                  <a:rPr lang="en-IN" baseline="30000" dirty="0"/>
                  <a:t>2 </a:t>
                </a:r>
                <a:r>
                  <a:rPr lang="en-IN" dirty="0"/>
                  <a:t>= { aa, bb, ab, </a:t>
                </a:r>
                <a:r>
                  <a:rPr lang="en-IN" dirty="0" err="1"/>
                  <a:t>ba</a:t>
                </a:r>
                <a:r>
                  <a:rPr lang="en-IN" dirty="0"/>
                  <a:t>}</a:t>
                </a:r>
                <a:endParaRPr lang="en-IN" baseline="30000" dirty="0"/>
              </a:p>
              <a:p>
                <a:endParaRPr lang="en-IN" baseline="30000" dirty="0"/>
              </a:p>
              <a:p>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Σ</m:t>
                    </m:r>
                  </m:oMath>
                </a14:m>
                <a:r>
                  <a:rPr lang="en-IN" baseline="30000" dirty="0"/>
                  <a:t>3</a:t>
                </a:r>
                <a:r>
                  <a:rPr lang="en-IN" dirty="0"/>
                  <a:t> = { all 3 length string}</a:t>
                </a:r>
              </a:p>
              <a:p>
                <a:endParaRPr lang="en-IN" baseline="30000" dirty="0"/>
              </a:p>
              <a:p>
                <a14:m>
                  <m:oMath xmlns:m="http://schemas.openxmlformats.org/officeDocument/2006/math">
                    <m:r>
                      <m:rPr>
                        <m:sty m:val="p"/>
                      </m:rPr>
                      <a:rPr lang="el-GR" sz="2400" i="1" smtClean="0">
                        <a:solidFill>
                          <a:srgbClr val="C00000"/>
                        </a:solidFill>
                        <a:latin typeface="Cambria Math" panose="02040503050406030204" pitchFamily="18" charset="0"/>
                        <a:ea typeface="Cambria Math" panose="02040503050406030204" pitchFamily="18" charset="0"/>
                      </a:rPr>
                      <m:t>Σ</m:t>
                    </m:r>
                    <m:r>
                      <m:rPr>
                        <m:sty m:val="p"/>
                      </m:rPr>
                      <a:rPr lang="en-US" sz="2400" b="0" i="0" baseline="30000" smtClean="0">
                        <a:solidFill>
                          <a:srgbClr val="C00000"/>
                        </a:solidFill>
                        <a:latin typeface="Cambria Math" panose="02040503050406030204" pitchFamily="18" charset="0"/>
                        <a:ea typeface="Cambria Math" panose="02040503050406030204" pitchFamily="18" charset="0"/>
                      </a:rPr>
                      <m:t>k</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is</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the</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set</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of</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all</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strings</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from</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the</m:t>
                    </m:r>
                    <m:r>
                      <a:rPr lang="en-US" sz="2400" b="0" i="0" smtClean="0">
                        <a:solidFill>
                          <a:srgbClr val="C00000"/>
                        </a:solidFill>
                        <a:latin typeface="Cambria Math" panose="02040503050406030204" pitchFamily="18" charset="0"/>
                        <a:ea typeface="Cambria Math" panose="02040503050406030204" pitchFamily="18" charset="0"/>
                      </a:rPr>
                      <m:t> </m:t>
                    </m:r>
                    <m:r>
                      <m:rPr>
                        <m:sty m:val="p"/>
                      </m:rPr>
                      <a:rPr lang="en-US" sz="2400" b="0" i="0" smtClean="0">
                        <a:solidFill>
                          <a:srgbClr val="C00000"/>
                        </a:solidFill>
                        <a:latin typeface="Cambria Math" panose="02040503050406030204" pitchFamily="18" charset="0"/>
                        <a:ea typeface="Cambria Math" panose="02040503050406030204" pitchFamily="18" charset="0"/>
                      </a:rPr>
                      <m:t>alphabet</m:t>
                    </m:r>
                    <m:r>
                      <a:rPr lang="en-US" sz="2400" b="0" i="1" smtClean="0">
                        <a:solidFill>
                          <a:srgbClr val="C00000"/>
                        </a:solidFill>
                        <a:latin typeface="Cambria Math" panose="02040503050406030204" pitchFamily="18" charset="0"/>
                        <a:ea typeface="Cambria Math" panose="02040503050406030204" pitchFamily="18" charset="0"/>
                      </a:rPr>
                      <m:t> </m:t>
                    </m:r>
                    <m:r>
                      <m:rPr>
                        <m:sty m:val="p"/>
                      </m:rPr>
                      <a:rPr lang="el-GR" i="1">
                        <a:solidFill>
                          <a:srgbClr val="C00000"/>
                        </a:solidFill>
                        <a:latin typeface="Cambria Math" panose="02040503050406030204" pitchFamily="18" charset="0"/>
                        <a:ea typeface="Cambria Math" panose="02040503050406030204" pitchFamily="18" charset="0"/>
                      </a:rPr>
                      <m:t>Σ</m:t>
                    </m:r>
                    <m:r>
                      <a:rPr lang="en-US" b="0" i="1" smtClean="0">
                        <a:solidFill>
                          <a:srgbClr val="C00000"/>
                        </a:solidFill>
                        <a:latin typeface="Cambria Math" panose="02040503050406030204" pitchFamily="18" charset="0"/>
                        <a:ea typeface="Cambria Math" panose="02040503050406030204" pitchFamily="18" charset="0"/>
                      </a:rPr>
                      <m:t> </m:t>
                    </m:r>
                    <m:r>
                      <m:rPr>
                        <m:sty m:val="p"/>
                      </m:rPr>
                      <a:rPr lang="en-US" b="0" i="0" smtClean="0">
                        <a:solidFill>
                          <a:srgbClr val="C00000"/>
                        </a:solidFill>
                        <a:latin typeface="Cambria Math" panose="02040503050406030204" pitchFamily="18" charset="0"/>
                        <a:ea typeface="Cambria Math" panose="02040503050406030204" pitchFamily="18" charset="0"/>
                      </a:rPr>
                      <m:t>of</m:t>
                    </m:r>
                    <m:r>
                      <a:rPr lang="en-US" b="0" i="0" smtClean="0">
                        <a:solidFill>
                          <a:srgbClr val="C00000"/>
                        </a:solidFill>
                        <a:latin typeface="Cambria Math" panose="02040503050406030204" pitchFamily="18" charset="0"/>
                        <a:ea typeface="Cambria Math" panose="02040503050406030204" pitchFamily="18" charset="0"/>
                      </a:rPr>
                      <m:t> </m:t>
                    </m:r>
                    <m:r>
                      <m:rPr>
                        <m:sty m:val="p"/>
                      </m:rPr>
                      <a:rPr lang="en-US" b="0" i="0" smtClean="0">
                        <a:solidFill>
                          <a:srgbClr val="C00000"/>
                        </a:solidFill>
                        <a:latin typeface="Cambria Math" panose="02040503050406030204" pitchFamily="18" charset="0"/>
                        <a:ea typeface="Cambria Math" panose="02040503050406030204" pitchFamily="18" charset="0"/>
                      </a:rPr>
                      <m:t>length</m:t>
                    </m:r>
                    <m:r>
                      <a:rPr lang="en-US" b="0" i="0" smtClean="0">
                        <a:solidFill>
                          <a:srgbClr val="C00000"/>
                        </a:solidFill>
                        <a:latin typeface="Cambria Math" panose="02040503050406030204" pitchFamily="18" charset="0"/>
                        <a:ea typeface="Cambria Math" panose="02040503050406030204" pitchFamily="18" charset="0"/>
                      </a:rPr>
                      <m:t> </m:t>
                    </m:r>
                    <m:r>
                      <m:rPr>
                        <m:sty m:val="p"/>
                      </m:rPr>
                      <a:rPr lang="en-US" b="0" i="0" smtClean="0">
                        <a:solidFill>
                          <a:srgbClr val="C00000"/>
                        </a:solidFill>
                        <a:latin typeface="Cambria Math" panose="02040503050406030204" pitchFamily="18" charset="0"/>
                        <a:ea typeface="Cambria Math" panose="02040503050406030204" pitchFamily="18" charset="0"/>
                      </a:rPr>
                      <m:t>exactly</m:t>
                    </m:r>
                    <m:r>
                      <a:rPr lang="en-US" b="0" i="0" smtClean="0">
                        <a:solidFill>
                          <a:srgbClr val="C00000"/>
                        </a:solidFill>
                        <a:latin typeface="Cambria Math" panose="02040503050406030204" pitchFamily="18" charset="0"/>
                        <a:ea typeface="Cambria Math" panose="02040503050406030204" pitchFamily="18" charset="0"/>
                      </a:rPr>
                      <m:t> </m:t>
                    </m:r>
                    <m:r>
                      <m:rPr>
                        <m:sty m:val="p"/>
                      </m:rPr>
                      <a:rPr lang="en-US" b="0" i="0" smtClean="0">
                        <a:solidFill>
                          <a:srgbClr val="C00000"/>
                        </a:solidFill>
                        <a:latin typeface="Cambria Math" panose="02040503050406030204" pitchFamily="18" charset="0"/>
                        <a:ea typeface="Cambria Math" panose="02040503050406030204" pitchFamily="18" charset="0"/>
                      </a:rPr>
                      <m:t>k</m:t>
                    </m:r>
                  </m:oMath>
                </a14:m>
                <a:endParaRPr lang="en-IN" baseline="30000" dirty="0">
                  <a:solidFill>
                    <a:srgbClr val="C00000"/>
                  </a:solidFill>
                </a:endParaRPr>
              </a:p>
              <a:p>
                <a:pPr marL="0" indent="0">
                  <a:buNone/>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ea typeface="Cambria Math" panose="02040503050406030204" pitchFamily="18" charset="0"/>
                        </a:rPr>
                        <m:t>    </m:t>
                      </m:r>
                      <m:r>
                        <m:rPr>
                          <m:sty m:val="p"/>
                        </m:rPr>
                        <a:rPr lang="el-GR" sz="2400" i="1" smtClean="0">
                          <a:latin typeface="Cambria Math" panose="02040503050406030204" pitchFamily="18" charset="0"/>
                          <a:ea typeface="Cambria Math" panose="02040503050406030204" pitchFamily="18" charset="0"/>
                        </a:rPr>
                        <m:t>Σ</m:t>
                      </m:r>
                      <m:r>
                        <m:rPr>
                          <m:sty m:val="p"/>
                        </m:rPr>
                        <a:rPr lang="en-US" sz="2400" b="0" i="0" baseline="30000" smtClean="0">
                          <a:latin typeface="Cambria Math" panose="02040503050406030204" pitchFamily="18" charset="0"/>
                          <a:ea typeface="Cambria Math" panose="02040503050406030204" pitchFamily="18" charset="0"/>
                        </a:rPr>
                        <m:t>k</m:t>
                      </m:r>
                      <m:r>
                        <a:rPr lang="en-US" sz="2400" b="0" i="0" smtClean="0">
                          <a:latin typeface="Cambria Math" panose="02040503050406030204" pitchFamily="18" charset="0"/>
                          <a:ea typeface="Cambria Math" panose="02040503050406030204" pitchFamily="18" charset="0"/>
                        </a:rPr>
                        <m:t>=</m:t>
                      </m:r>
                      <m:d>
                        <m:dPr>
                          <m:begChr m:val="{"/>
                          <m:endChr m:val="|"/>
                          <m:ctrlPr>
                            <a:rPr lang="en-US" sz="2400" b="0" i="1" smtClean="0">
                              <a:latin typeface="Cambria Math" panose="02040503050406030204" pitchFamily="18" charset="0"/>
                              <a:ea typeface="Cambria Math" panose="02040503050406030204" pitchFamily="18" charset="0"/>
                            </a:rPr>
                          </m:ctrlPr>
                        </m:dPr>
                        <m:e>
                          <m:r>
                            <m:rPr>
                              <m:sty m:val="p"/>
                            </m:rPr>
                            <a:rPr lang="en-US" sz="2400" b="0" i="0" smtClean="0">
                              <a:latin typeface="Cambria Math" panose="02040503050406030204" pitchFamily="18" charset="0"/>
                              <a:ea typeface="Cambria Math" panose="02040503050406030204" pitchFamily="18" charset="0"/>
                            </a:rPr>
                            <m:t>w</m:t>
                          </m:r>
                        </m:e>
                      </m:d>
                      <m:r>
                        <a:rPr lang="en-US" sz="2400" b="0" i="0" smtClean="0">
                          <a:latin typeface="Cambria Math" panose="02040503050406030204" pitchFamily="18" charset="0"/>
                          <a:ea typeface="Cambria Math" panose="02040503050406030204" pitchFamily="18" charset="0"/>
                        </a:rPr>
                        <m:t> </m:t>
                      </m:r>
                      <m:d>
                        <m:dPr>
                          <m:begChr m:val="|"/>
                          <m:endChr m:val="|"/>
                          <m:ctrlPr>
                            <a:rPr lang="en-US" sz="2400" b="0" i="1" smtClean="0">
                              <a:latin typeface="Cambria Math" panose="02040503050406030204" pitchFamily="18" charset="0"/>
                              <a:ea typeface="Cambria Math" panose="02040503050406030204" pitchFamily="18" charset="0"/>
                            </a:rPr>
                          </m:ctrlPr>
                        </m:dPr>
                        <m:e>
                          <m:r>
                            <m:rPr>
                              <m:sty m:val="p"/>
                            </m:rPr>
                            <a:rPr lang="en-US" sz="2400" b="0" i="0" smtClean="0">
                              <a:latin typeface="Cambria Math" panose="02040503050406030204" pitchFamily="18" charset="0"/>
                              <a:ea typeface="Cambria Math" panose="02040503050406030204" pitchFamily="18" charset="0"/>
                            </a:rPr>
                            <m:t>w</m:t>
                          </m:r>
                        </m:e>
                      </m:d>
                      <m:r>
                        <a:rPr lang="en-US" sz="2400" b="0" i="0" smtClean="0">
                          <a:latin typeface="Cambria Math" panose="02040503050406030204" pitchFamily="18" charset="0"/>
                          <a:ea typeface="Cambria Math" panose="02040503050406030204" pitchFamily="18" charset="0"/>
                        </a:rPr>
                        <m:t>=</m:t>
                      </m:r>
                      <m:r>
                        <m:rPr>
                          <m:sty m:val="p"/>
                        </m:rPr>
                        <a:rPr lang="en-US" sz="2400" b="0" i="0" smtClean="0">
                          <a:latin typeface="Cambria Math" panose="02040503050406030204" pitchFamily="18" charset="0"/>
                          <a:ea typeface="Cambria Math" panose="02040503050406030204" pitchFamily="18" charset="0"/>
                        </a:rPr>
                        <m:t>k</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using</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the</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symbol</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from</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the</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alphabet</m:t>
                      </m:r>
                      <m:r>
                        <a:rPr lang="en-US" sz="2400" b="0" i="1" smtClean="0">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m:t>
                      </m:r>
                    </m:oMath>
                  </m:oMathPara>
                </a14:m>
                <a:endParaRPr lang="en-IN" baseline="30000" dirty="0">
                  <a:solidFill>
                    <a:srgbClr val="C00000"/>
                  </a:solidFill>
                </a:endParaRPr>
              </a:p>
              <a:p>
                <a:pPr marL="0" indent="0">
                  <a:buNone/>
                </a:pPr>
                <a:endParaRPr lang="en-IN" baseline="30000" dirty="0">
                  <a:solidFill>
                    <a:srgbClr val="C00000"/>
                  </a:solidFill>
                </a:endParaRPr>
              </a:p>
              <a:p>
                <a:pPr marL="0" indent="0">
                  <a:buNone/>
                </a:pPr>
                <a14:m>
                  <m:oMath xmlns:m="http://schemas.openxmlformats.org/officeDocument/2006/math">
                    <m:r>
                      <a:rPr lang="en-US" sz="2400" b="0" i="1" smtClean="0">
                        <a:latin typeface="Cambria Math" panose="02040503050406030204" pitchFamily="18" charset="0"/>
                        <a:ea typeface="Cambria Math" panose="02040503050406030204" pitchFamily="18" charset="0"/>
                      </a:rPr>
                      <m:t> </m:t>
                    </m:r>
                    <m:r>
                      <m:rPr>
                        <m:sty m:val="p"/>
                      </m:rPr>
                      <a:rPr lang="el-GR" sz="2400" i="1" smtClean="0">
                        <a:latin typeface="Cambria Math" panose="02040503050406030204" pitchFamily="18" charset="0"/>
                        <a:ea typeface="Cambria Math" panose="02040503050406030204" pitchFamily="18" charset="0"/>
                      </a:rPr>
                      <m:t>Σ</m:t>
                    </m:r>
                    <m:r>
                      <a:rPr lang="en-US" sz="2400" b="0" i="0" baseline="30000" smtClean="0">
                        <a:latin typeface="Cambria Math" panose="02040503050406030204" pitchFamily="18" charset="0"/>
                        <a:ea typeface="Cambria Math" panose="02040503050406030204" pitchFamily="18" charset="0"/>
                      </a:rPr>
                      <m:t>∗</m:t>
                    </m:r>
                  </m:oMath>
                </a14:m>
                <a:r>
                  <a:rPr lang="en-IN" dirty="0">
                    <a:solidFill>
                      <a:srgbClr val="C00000"/>
                    </a:solidFill>
                  </a:rPr>
                  <a:t>= </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0</m:t>
                    </m:r>
                  </m:oMath>
                </a14:m>
                <a:r>
                  <a:rPr lang="en-IN" dirty="0">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1</m:t>
                    </m:r>
                  </m:oMath>
                </a14:m>
                <a:r>
                  <a:rPr lang="en-IN" dirty="0">
                    <a:solidFill>
                      <a:srgbClr val="C00000"/>
                    </a:solidFill>
                  </a:rPr>
                  <a:t> </a:t>
                </a:r>
                <a:r>
                  <a:rPr lang="en-IN" dirty="0" err="1">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2</m:t>
                    </m:r>
                  </m:oMath>
                </a14:m>
                <a:r>
                  <a:rPr lang="en-IN" dirty="0">
                    <a:solidFill>
                      <a:srgbClr val="C00000"/>
                    </a:solidFill>
                  </a:rPr>
                  <a:t> </a:t>
                </a:r>
                <a:r>
                  <a:rPr lang="en-IN" dirty="0" err="1">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3</m:t>
                    </m:r>
                  </m:oMath>
                </a14:m>
                <a:r>
                  <a:rPr lang="en-IN" dirty="0">
                    <a:solidFill>
                      <a:srgbClr val="C00000"/>
                    </a:solidFill>
                  </a:rPr>
                  <a:t> </a:t>
                </a:r>
                <a:r>
                  <a:rPr lang="en-IN" dirty="0" err="1">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4</m:t>
                    </m:r>
                  </m:oMath>
                </a14:m>
                <a:r>
                  <a:rPr lang="en-IN" dirty="0">
                    <a:solidFill>
                      <a:srgbClr val="C00000"/>
                    </a:solidFill>
                  </a:rPr>
                  <a:t> </a:t>
                </a:r>
                <a:r>
                  <a:rPr lang="en-IN" dirty="0" err="1">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5</m:t>
                    </m:r>
                  </m:oMath>
                </a14:m>
                <a:r>
                  <a:rPr lang="en-IN" dirty="0">
                    <a:solidFill>
                      <a:srgbClr val="C00000"/>
                    </a:solidFill>
                  </a:rPr>
                  <a:t> </a:t>
                </a:r>
                <a:r>
                  <a:rPr lang="en-IN" dirty="0" err="1">
                    <a:solidFill>
                      <a:srgbClr val="C00000"/>
                    </a:solidFill>
                  </a:rPr>
                  <a:t>U</a:t>
                </a:r>
                <a14:m>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r>
                      <a:rPr lang="en-US" b="0" i="0" baseline="30000" smtClean="0">
                        <a:latin typeface="Cambria Math" panose="02040503050406030204" pitchFamily="18" charset="0"/>
                        <a:ea typeface="Cambria Math" panose="02040503050406030204" pitchFamily="18" charset="0"/>
                      </a:rPr>
                      <m:t>6</m:t>
                    </m:r>
                  </m:oMath>
                </a14:m>
                <a:r>
                  <a:rPr lang="en-IN" dirty="0">
                    <a:solidFill>
                      <a:srgbClr val="C00000"/>
                    </a:solidFill>
                  </a:rPr>
                  <a:t>… </a:t>
                </a:r>
                <a:endParaRPr lang="en-IN" baseline="30000" dirty="0">
                  <a:solidFill>
                    <a:srgbClr val="C00000"/>
                  </a:solidFill>
                </a:endParaRPr>
              </a:p>
            </p:txBody>
          </p:sp>
        </mc:Choice>
        <mc:Fallback xmlns="">
          <p:sp>
            <p:nvSpPr>
              <p:cNvPr id="3" name="Content Placeholder 2">
                <a:extLst>
                  <a:ext uri="{FF2B5EF4-FFF2-40B4-BE49-F238E27FC236}">
                    <a16:creationId xmlns:a16="http://schemas.microsoft.com/office/drawing/2014/main" id="{4D0ED6C5-A3A2-45A6-90B2-3DDC56AD49DA}"/>
                  </a:ext>
                </a:extLst>
              </p:cNvPr>
              <p:cNvSpPr>
                <a:spLocks noGrp="1" noRot="1" noChangeAspect="1" noMove="1" noResize="1" noEditPoints="1" noAdjustHandles="1" noChangeArrowheads="1" noChangeShapeType="1" noTextEdit="1"/>
              </p:cNvSpPr>
              <p:nvPr>
                <p:ph idx="1"/>
              </p:nvPr>
            </p:nvSpPr>
            <p:spPr>
              <a:blipFill>
                <a:blip r:embed="rId3"/>
                <a:stretch>
                  <a:fillRect l="-716" t="-872"/>
                </a:stretch>
              </a:blipFill>
            </p:spPr>
            <p:txBody>
              <a:bodyPr/>
              <a:lstStyle/>
              <a:p>
                <a:r>
                  <a:rPr lang="en-IN">
                    <a:noFill/>
                  </a:rPr>
                  <a:t> </a:t>
                </a:r>
              </a:p>
            </p:txBody>
          </p:sp>
        </mc:Fallback>
      </mc:AlternateContent>
    </p:spTree>
    <p:extLst>
      <p:ext uri="{BB962C8B-B14F-4D97-AF65-F5344CB8AC3E}">
        <p14:creationId xmlns:p14="http://schemas.microsoft.com/office/powerpoint/2010/main" val="34043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Regular Expression</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8102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A regular expression is a sequence of characters that </a:t>
                </a:r>
                <a:r>
                  <a:rPr lang="en-US" dirty="0">
                    <a:solidFill>
                      <a:srgbClr val="C00000"/>
                    </a:solidFill>
                  </a:rPr>
                  <a:t>define a pattern</a:t>
                </a:r>
                <a:r>
                  <a:rPr lang="en-US" dirty="0"/>
                  <a:t>.</a:t>
                </a:r>
              </a:p>
              <a:p>
                <a:pPr algn="just">
                  <a:buClr>
                    <a:schemeClr val="tx1"/>
                  </a:buClr>
                  <a:buFont typeface="Arial" panose="020B0604020202020204" pitchFamily="34" charset="0"/>
                  <a:buChar char="•"/>
                </a:pPr>
                <a:r>
                  <a:rPr lang="en-US" dirty="0">
                    <a:solidFill>
                      <a:schemeClr val="accent1">
                        <a:lumMod val="75000"/>
                      </a:schemeClr>
                    </a:solidFill>
                  </a:rPr>
                  <a:t>Notational shorthand's</a:t>
                </a:r>
                <a:endParaRPr lang="en-US" altLang="en-US" dirty="0">
                  <a:solidFill>
                    <a:schemeClr val="accent1">
                      <a:lumMod val="75000"/>
                    </a:schemeClr>
                  </a:solidFill>
                </a:endParaRPr>
              </a:p>
              <a:p>
                <a:pPr marL="857250" lvl="1" indent="-457200">
                  <a:buFont typeface="+mj-lt"/>
                  <a:buAutoNum type="arabicPeriod"/>
                </a:pPr>
                <a:r>
                  <a:rPr lang="en-US" altLang="en-US" sz="2200" dirty="0"/>
                  <a:t>One or more occurrences:  </a:t>
                </a:r>
                <a14:m>
                  <m:oMath xmlns:m="http://schemas.openxmlformats.org/officeDocument/2006/math">
                    <m:r>
                      <a:rPr lang="en-US" altLang="en-US" sz="2200" i="1" dirty="0">
                        <a:latin typeface="Cambria Math" panose="02040503050406030204" pitchFamily="18" charset="0"/>
                      </a:rPr>
                      <m:t>+</m:t>
                    </m:r>
                  </m:oMath>
                </a14:m>
                <a:endParaRPr lang="en-US" altLang="en-US" sz="2200" dirty="0"/>
              </a:p>
              <a:p>
                <a:pPr marL="857250" lvl="1" indent="-457200">
                  <a:buFont typeface="+mj-lt"/>
                  <a:buAutoNum type="arabicPeriod"/>
                </a:pPr>
                <a:r>
                  <a:rPr lang="en-US" altLang="en-US" sz="2200" dirty="0"/>
                  <a:t>Zero or more occurrences:  </a:t>
                </a:r>
                <a14:m>
                  <m:oMath xmlns:m="http://schemas.openxmlformats.org/officeDocument/2006/math">
                    <m:r>
                      <a:rPr lang="en-US" altLang="en-US" sz="2200" i="1" dirty="0">
                        <a:latin typeface="Cambria Math" panose="02040503050406030204" pitchFamily="18" charset="0"/>
                      </a:rPr>
                      <m:t>∗</m:t>
                    </m:r>
                  </m:oMath>
                </a14:m>
                <a:endParaRPr lang="en-US" altLang="en-US" sz="2200" dirty="0"/>
              </a:p>
              <a:p>
                <a:pPr marL="857250" lvl="1" indent="-457200">
                  <a:buFont typeface="+mj-lt"/>
                  <a:buAutoNum type="arabicPeriod"/>
                </a:pPr>
                <a:r>
                  <a:rPr lang="en-US" altLang="en-US" sz="2200" dirty="0"/>
                  <a:t>Alphabets: </a:t>
                </a:r>
                <a14:m>
                  <m:oMath xmlns:m="http://schemas.openxmlformats.org/officeDocument/2006/math">
                    <m:r>
                      <m:rPr>
                        <m:sty m:val="p"/>
                      </m:rPr>
                      <a:rPr lang="el-GR" altLang="en-US" sz="2200" dirty="0">
                        <a:latin typeface="Cambria Math" panose="02040503050406030204" pitchFamily="18" charset="0"/>
                      </a:rPr>
                      <m:t>Σ</m:t>
                    </m:r>
                  </m:oMath>
                </a14:m>
                <a:endParaRPr lang="en-US" alt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r="-1043"/>
                </a:stretch>
              </a:blipFill>
            </p:spPr>
            <p:txBody>
              <a:bodyPr/>
              <a:lstStyle/>
              <a:p>
                <a:r>
                  <a:rPr lang="en-US">
                    <a:noFill/>
                  </a:rPr>
                  <a:t> </a:t>
                </a:r>
              </a:p>
            </p:txBody>
          </p:sp>
        </mc:Fallback>
      </mc:AlternateContent>
    </p:spTree>
    <p:extLst>
      <p:ext uri="{BB962C8B-B14F-4D97-AF65-F5344CB8AC3E}">
        <p14:creationId xmlns:p14="http://schemas.microsoft.com/office/powerpoint/2010/main" val="294950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a:t>
            </a:r>
          </a:p>
        </p:txBody>
      </p:sp>
      <p:sp>
        <p:nvSpPr>
          <p:cNvPr id="4" name="Rectangle 3"/>
          <p:cNvSpPr/>
          <p:nvPr/>
        </p:nvSpPr>
        <p:spPr>
          <a:xfrm>
            <a:off x="2218738" y="1556485"/>
            <a:ext cx="2971800" cy="3314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0" dirty="0">
                <a:solidFill>
                  <a:schemeClr val="accent1">
                    <a:lumMod val="75000"/>
                  </a:schemeClr>
                </a:solidFill>
              </a:rPr>
              <a:t>*</a:t>
            </a:r>
          </a:p>
        </p:txBody>
      </p:sp>
      <p:sp>
        <p:nvSpPr>
          <p:cNvPr id="8" name="Rectangle 7"/>
          <p:cNvSpPr/>
          <p:nvPr/>
        </p:nvSpPr>
        <p:spPr>
          <a:xfrm>
            <a:off x="6576107" y="881915"/>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a*</a:t>
            </a:r>
            <a:endParaRPr lang="en-US" sz="2600" b="1" baseline="30000" dirty="0">
              <a:solidFill>
                <a:schemeClr val="accent1">
                  <a:lumMod val="75000"/>
                </a:schemeClr>
              </a:solidFill>
            </a:endParaRPr>
          </a:p>
        </p:txBody>
      </p:sp>
      <p:sp>
        <p:nvSpPr>
          <p:cNvPr id="13" name="Rectangle 12"/>
          <p:cNvSpPr/>
          <p:nvPr/>
        </p:nvSpPr>
        <p:spPr>
          <a:xfrm>
            <a:off x="6380501" y="2136722"/>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a</a:t>
            </a:r>
            <a:endParaRPr lang="en-US" sz="2600" b="1" baseline="30000" dirty="0">
              <a:solidFill>
                <a:schemeClr val="accent1">
                  <a:lumMod val="75000"/>
                </a:schemeClr>
              </a:solidFill>
            </a:endParaRPr>
          </a:p>
        </p:txBody>
      </p:sp>
      <p:sp>
        <p:nvSpPr>
          <p:cNvPr id="14" name="Rectangle 13"/>
          <p:cNvSpPr/>
          <p:nvPr/>
        </p:nvSpPr>
        <p:spPr>
          <a:xfrm>
            <a:off x="6320621" y="2863121"/>
            <a:ext cx="10227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 </a:t>
            </a:r>
            <a:r>
              <a:rPr lang="en-US" sz="2600" b="1" dirty="0" err="1">
                <a:solidFill>
                  <a:schemeClr val="accent1">
                    <a:lumMod val="75000"/>
                  </a:schemeClr>
                </a:solidFill>
              </a:rPr>
              <a:t>aaa</a:t>
            </a:r>
            <a:endParaRPr lang="en-US" sz="2600" b="1" baseline="30000" dirty="0">
              <a:solidFill>
                <a:schemeClr val="accent1">
                  <a:lumMod val="75000"/>
                </a:schemeClr>
              </a:solidFill>
            </a:endParaRPr>
          </a:p>
        </p:txBody>
      </p:sp>
      <p:sp>
        <p:nvSpPr>
          <p:cNvPr id="19" name="Rectangle 18"/>
          <p:cNvSpPr/>
          <p:nvPr/>
        </p:nvSpPr>
        <p:spPr>
          <a:xfrm>
            <a:off x="6409857" y="2550207"/>
            <a:ext cx="717966"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 aa</a:t>
            </a:r>
            <a:endParaRPr lang="en-US" sz="2600" b="1" baseline="30000" dirty="0">
              <a:solidFill>
                <a:schemeClr val="accent1">
                  <a:lumMod val="75000"/>
                </a:schemeClr>
              </a:solidFill>
            </a:endParaRPr>
          </a:p>
        </p:txBody>
      </p:sp>
      <p:sp>
        <p:nvSpPr>
          <p:cNvPr id="20" name="Rectangle 19"/>
          <p:cNvSpPr/>
          <p:nvPr/>
        </p:nvSpPr>
        <p:spPr>
          <a:xfrm>
            <a:off x="6449912" y="3267862"/>
            <a:ext cx="981543"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err="1">
                <a:solidFill>
                  <a:schemeClr val="accent1">
                    <a:lumMod val="75000"/>
                  </a:schemeClr>
                </a:solidFill>
              </a:rPr>
              <a:t>aaaa</a:t>
            </a:r>
            <a:endParaRPr lang="en-US" sz="2600" b="1" baseline="30000" dirty="0">
              <a:solidFill>
                <a:schemeClr val="accent1">
                  <a:lumMod val="75000"/>
                </a:schemeClr>
              </a:solidFill>
            </a:endParaRPr>
          </a:p>
        </p:txBody>
      </p:sp>
      <p:sp>
        <p:nvSpPr>
          <p:cNvPr id="24" name="Rectangle 23"/>
          <p:cNvSpPr/>
          <p:nvPr/>
        </p:nvSpPr>
        <p:spPr>
          <a:xfrm>
            <a:off x="6449912" y="3669472"/>
            <a:ext cx="1474889"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err="1">
                <a:solidFill>
                  <a:schemeClr val="accent1">
                    <a:lumMod val="75000"/>
                  </a:schemeClr>
                </a:solidFill>
              </a:rPr>
              <a:t>aaaaa</a:t>
            </a:r>
            <a:r>
              <a:rPr lang="en-US" sz="2600" b="1" dirty="0">
                <a:solidFill>
                  <a:schemeClr val="accent1">
                    <a:lumMod val="75000"/>
                  </a:schemeClr>
                </a:solidFill>
              </a:rPr>
              <a:t>…..</a:t>
            </a:r>
            <a:endParaRPr lang="en-US" sz="2600" b="1" baseline="30000" dirty="0">
              <a:solidFill>
                <a:schemeClr val="accent1">
                  <a:lumMod val="75000"/>
                </a:schemeClr>
              </a:solidFill>
            </a:endParaRPr>
          </a:p>
        </p:txBody>
      </p:sp>
      <p:sp>
        <p:nvSpPr>
          <p:cNvPr id="3" name="Right Brace 2"/>
          <p:cNvSpPr/>
          <p:nvPr/>
        </p:nvSpPr>
        <p:spPr>
          <a:xfrm>
            <a:off x="7786908" y="2103472"/>
            <a:ext cx="762000" cy="2142350"/>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p:cNvSpPr/>
          <p:nvPr/>
        </p:nvSpPr>
        <p:spPr>
          <a:xfrm>
            <a:off x="8548908" y="2938075"/>
            <a:ext cx="1728392" cy="524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Infinite …..</a:t>
            </a:r>
          </a:p>
        </p:txBody>
      </p:sp>
      <p:cxnSp>
        <p:nvCxnSpPr>
          <p:cNvPr id="9" name="Curved Connector 8"/>
          <p:cNvCxnSpPr/>
          <p:nvPr/>
        </p:nvCxnSpPr>
        <p:spPr>
          <a:xfrm rot="10800000">
            <a:off x="6846454" y="1340687"/>
            <a:ext cx="1541726" cy="1828806"/>
          </a:xfrm>
          <a:prstGeom prst="curvedConnector2">
            <a:avLst/>
          </a:prstGeom>
          <a:ln w="254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367194" y="1795690"/>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latin typeface="Cambria Math" panose="02040503050406030204" pitchFamily="18" charset="0"/>
                <a:ea typeface="Cambria Math" panose="02040503050406030204" pitchFamily="18" charset="0"/>
              </a:rPr>
              <a:t>𝜖</a:t>
            </a:r>
            <a:endParaRPr lang="en-US" sz="2600" b="1" baseline="30000" dirty="0">
              <a:solidFill>
                <a:schemeClr val="accent1">
                  <a:lumMod val="75000"/>
                </a:schemeClr>
              </a:solidFill>
            </a:endParaRPr>
          </a:p>
        </p:txBody>
      </p:sp>
      <p:sp>
        <p:nvSpPr>
          <p:cNvPr id="16" name="Content Placeholder 2"/>
          <p:cNvSpPr>
            <a:spLocks noGrp="1"/>
          </p:cNvSpPr>
          <p:nvPr>
            <p:ph idx="1"/>
          </p:nvPr>
        </p:nvSpPr>
        <p:spPr>
          <a:xfrm>
            <a:off x="1714500" y="914400"/>
            <a:ext cx="8763000" cy="5334000"/>
          </a:xfrm>
        </p:spPr>
        <p:txBody>
          <a:bodyPr>
            <a:normAutofit/>
          </a:bodyPr>
          <a:lstStyle/>
          <a:p>
            <a:pPr marL="0" indent="0" algn="just">
              <a:buNone/>
            </a:pPr>
            <a:r>
              <a:rPr lang="en-US" sz="2600" b="1" dirty="0">
                <a:solidFill>
                  <a:srgbClr val="C00000"/>
                </a:solidFill>
              </a:rPr>
              <a:t>L</a:t>
            </a:r>
            <a:r>
              <a:rPr lang="en-US" sz="2600" b="1" baseline="-25000" dirty="0">
                <a:solidFill>
                  <a:srgbClr val="C00000"/>
                </a:solidFill>
              </a:rPr>
              <a:t> </a:t>
            </a:r>
            <a:r>
              <a:rPr lang="en-US" sz="2600" b="1" dirty="0">
                <a:solidFill>
                  <a:srgbClr val="C00000"/>
                </a:solidFill>
              </a:rPr>
              <a:t>= Zero or More Occurrences of a = </a:t>
            </a:r>
          </a:p>
          <a:p>
            <a:pPr algn="just"/>
            <a:endParaRPr lang="en-US" altLang="en-US" sz="2200" dirty="0"/>
          </a:p>
        </p:txBody>
      </p:sp>
    </p:spTree>
    <p:extLst>
      <p:ext uri="{BB962C8B-B14F-4D97-AF65-F5344CB8AC3E}">
        <p14:creationId xmlns:p14="http://schemas.microsoft.com/office/powerpoint/2010/main" val="1387332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down)">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3" grpId="0"/>
      <p:bldP spid="14" grpId="0"/>
      <p:bldP spid="19" grpId="0"/>
      <p:bldP spid="20" grpId="0"/>
      <p:bldP spid="24" grpId="0"/>
      <p:bldP spid="3" grpId="0" animBg="1"/>
      <p:bldP spid="6" grpId="0" animBg="1"/>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a:t>
            </a:r>
          </a:p>
        </p:txBody>
      </p:sp>
      <p:sp>
        <p:nvSpPr>
          <p:cNvPr id="4" name="Rectangle 3"/>
          <p:cNvSpPr/>
          <p:nvPr/>
        </p:nvSpPr>
        <p:spPr>
          <a:xfrm>
            <a:off x="2144527" y="1371599"/>
            <a:ext cx="2971800" cy="3314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0" dirty="0">
                <a:solidFill>
                  <a:schemeClr val="accent1">
                    <a:lumMod val="75000"/>
                  </a:schemeClr>
                </a:solidFill>
              </a:rPr>
              <a:t>+</a:t>
            </a:r>
          </a:p>
        </p:txBody>
      </p:sp>
      <p:sp>
        <p:nvSpPr>
          <p:cNvPr id="8" name="Rectangle 7"/>
          <p:cNvSpPr/>
          <p:nvPr/>
        </p:nvSpPr>
        <p:spPr>
          <a:xfrm>
            <a:off x="6459732" y="881915"/>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 a</a:t>
            </a:r>
            <a:r>
              <a:rPr lang="en-US" sz="2600" b="1" baseline="30000" dirty="0">
                <a:solidFill>
                  <a:schemeClr val="accent1">
                    <a:lumMod val="75000"/>
                  </a:schemeClr>
                </a:solidFill>
              </a:rPr>
              <a:t>+</a:t>
            </a:r>
          </a:p>
        </p:txBody>
      </p:sp>
      <p:sp>
        <p:nvSpPr>
          <p:cNvPr id="13" name="Rectangle 12"/>
          <p:cNvSpPr/>
          <p:nvPr/>
        </p:nvSpPr>
        <p:spPr>
          <a:xfrm>
            <a:off x="6380501" y="2136722"/>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a</a:t>
            </a:r>
            <a:endParaRPr lang="en-US" sz="2600" b="1" baseline="30000" dirty="0">
              <a:solidFill>
                <a:schemeClr val="accent1">
                  <a:lumMod val="75000"/>
                </a:schemeClr>
              </a:solidFill>
            </a:endParaRPr>
          </a:p>
        </p:txBody>
      </p:sp>
      <p:sp>
        <p:nvSpPr>
          <p:cNvPr id="14" name="Rectangle 13"/>
          <p:cNvSpPr/>
          <p:nvPr/>
        </p:nvSpPr>
        <p:spPr>
          <a:xfrm>
            <a:off x="6320621" y="2863121"/>
            <a:ext cx="10227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 </a:t>
            </a:r>
            <a:r>
              <a:rPr lang="en-US" sz="2600" b="1" dirty="0" err="1">
                <a:solidFill>
                  <a:schemeClr val="accent1">
                    <a:lumMod val="75000"/>
                  </a:schemeClr>
                </a:solidFill>
              </a:rPr>
              <a:t>aaa</a:t>
            </a:r>
            <a:endParaRPr lang="en-US" sz="2600" b="1" baseline="30000" dirty="0">
              <a:solidFill>
                <a:schemeClr val="accent1">
                  <a:lumMod val="75000"/>
                </a:schemeClr>
              </a:solidFill>
            </a:endParaRPr>
          </a:p>
        </p:txBody>
      </p:sp>
      <p:sp>
        <p:nvSpPr>
          <p:cNvPr id="19" name="Rectangle 18"/>
          <p:cNvSpPr/>
          <p:nvPr/>
        </p:nvSpPr>
        <p:spPr>
          <a:xfrm>
            <a:off x="6409857" y="2550207"/>
            <a:ext cx="717966"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accent1">
                    <a:lumMod val="75000"/>
                  </a:schemeClr>
                </a:solidFill>
              </a:rPr>
              <a:t> aa</a:t>
            </a:r>
            <a:endParaRPr lang="en-US" sz="2600" b="1" baseline="30000" dirty="0">
              <a:solidFill>
                <a:schemeClr val="accent1">
                  <a:lumMod val="75000"/>
                </a:schemeClr>
              </a:solidFill>
            </a:endParaRPr>
          </a:p>
        </p:txBody>
      </p:sp>
      <p:sp>
        <p:nvSpPr>
          <p:cNvPr id="20" name="Rectangle 19"/>
          <p:cNvSpPr/>
          <p:nvPr/>
        </p:nvSpPr>
        <p:spPr>
          <a:xfrm>
            <a:off x="6449912" y="3267862"/>
            <a:ext cx="981543"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err="1">
                <a:solidFill>
                  <a:schemeClr val="accent1">
                    <a:lumMod val="75000"/>
                  </a:schemeClr>
                </a:solidFill>
              </a:rPr>
              <a:t>aaaa</a:t>
            </a:r>
            <a:endParaRPr lang="en-US" sz="2600" b="1" baseline="30000" dirty="0">
              <a:solidFill>
                <a:schemeClr val="accent1">
                  <a:lumMod val="75000"/>
                </a:schemeClr>
              </a:solidFill>
            </a:endParaRPr>
          </a:p>
        </p:txBody>
      </p:sp>
      <p:sp>
        <p:nvSpPr>
          <p:cNvPr id="24" name="Rectangle 23"/>
          <p:cNvSpPr/>
          <p:nvPr/>
        </p:nvSpPr>
        <p:spPr>
          <a:xfrm>
            <a:off x="6449912" y="3669472"/>
            <a:ext cx="1474889"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err="1">
                <a:solidFill>
                  <a:schemeClr val="accent1">
                    <a:lumMod val="75000"/>
                  </a:schemeClr>
                </a:solidFill>
              </a:rPr>
              <a:t>aaaaa</a:t>
            </a:r>
            <a:r>
              <a:rPr lang="en-US" sz="2600" b="1" dirty="0">
                <a:solidFill>
                  <a:schemeClr val="accent1">
                    <a:lumMod val="75000"/>
                  </a:schemeClr>
                </a:solidFill>
              </a:rPr>
              <a:t>…..</a:t>
            </a:r>
            <a:endParaRPr lang="en-US" sz="2600" b="1" baseline="30000" dirty="0">
              <a:solidFill>
                <a:schemeClr val="accent1">
                  <a:lumMod val="75000"/>
                </a:schemeClr>
              </a:solidFill>
            </a:endParaRPr>
          </a:p>
        </p:txBody>
      </p:sp>
      <p:sp>
        <p:nvSpPr>
          <p:cNvPr id="3" name="Right Brace 2"/>
          <p:cNvSpPr/>
          <p:nvPr/>
        </p:nvSpPr>
        <p:spPr>
          <a:xfrm>
            <a:off x="7770283" y="2136722"/>
            <a:ext cx="762000" cy="2142350"/>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p:cNvSpPr/>
          <p:nvPr/>
        </p:nvSpPr>
        <p:spPr>
          <a:xfrm>
            <a:off x="8532283" y="2938075"/>
            <a:ext cx="1728392" cy="524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Infinite …..</a:t>
            </a:r>
          </a:p>
        </p:txBody>
      </p:sp>
      <p:cxnSp>
        <p:nvCxnSpPr>
          <p:cNvPr id="9" name="Curved Connector 8"/>
          <p:cNvCxnSpPr/>
          <p:nvPr/>
        </p:nvCxnSpPr>
        <p:spPr>
          <a:xfrm rot="10800000">
            <a:off x="6796579" y="1371600"/>
            <a:ext cx="1541726" cy="1828806"/>
          </a:xfrm>
          <a:prstGeom prst="curvedConnector2">
            <a:avLst/>
          </a:prstGeom>
          <a:ln w="254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Content Placeholder 2"/>
          <p:cNvSpPr>
            <a:spLocks noGrp="1"/>
          </p:cNvSpPr>
          <p:nvPr>
            <p:ph idx="1"/>
          </p:nvPr>
        </p:nvSpPr>
        <p:spPr>
          <a:xfrm>
            <a:off x="1714500" y="945320"/>
            <a:ext cx="8763000" cy="5334000"/>
          </a:xfrm>
        </p:spPr>
        <p:txBody>
          <a:bodyPr>
            <a:normAutofit/>
          </a:bodyPr>
          <a:lstStyle/>
          <a:p>
            <a:pPr marL="0" indent="0" algn="just">
              <a:buNone/>
            </a:pPr>
            <a:r>
              <a:rPr lang="en-US" sz="2600" b="1" dirty="0">
                <a:solidFill>
                  <a:srgbClr val="C00000"/>
                </a:solidFill>
              </a:rPr>
              <a:t>L</a:t>
            </a:r>
            <a:r>
              <a:rPr lang="en-US" sz="2600" b="1" baseline="-25000" dirty="0">
                <a:solidFill>
                  <a:srgbClr val="C00000"/>
                </a:solidFill>
              </a:rPr>
              <a:t> </a:t>
            </a:r>
            <a:r>
              <a:rPr lang="en-US" sz="2600" b="1" dirty="0">
                <a:solidFill>
                  <a:srgbClr val="C00000"/>
                </a:solidFill>
              </a:rPr>
              <a:t>= One or More Occurrences of a = </a:t>
            </a:r>
          </a:p>
          <a:p>
            <a:pPr algn="just"/>
            <a:endParaRPr lang="en-US" altLang="en-US" sz="2200" dirty="0"/>
          </a:p>
        </p:txBody>
      </p:sp>
    </p:spTree>
    <p:extLst>
      <p:ext uri="{BB962C8B-B14F-4D97-AF65-F5344CB8AC3E}">
        <p14:creationId xmlns:p14="http://schemas.microsoft.com/office/powerpoint/2010/main" val="294278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up)">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down)">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3" grpId="0"/>
      <p:bldP spid="14" grpId="0"/>
      <p:bldP spid="19" grpId="0"/>
      <p:bldP spid="20" grpId="0"/>
      <p:bldP spid="24" grpId="0"/>
      <p:bldP spid="3"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and associativity of operators</a:t>
            </a:r>
          </a:p>
        </p:txBody>
      </p:sp>
      <p:sp>
        <p:nvSpPr>
          <p:cNvPr id="3" name="Content Placeholder 2"/>
          <p:cNvSpPr>
            <a:spLocks noGrp="1"/>
          </p:cNvSpPr>
          <p:nvPr>
            <p:ph idx="1"/>
          </p:nvPr>
        </p:nvSpPr>
        <p:spPr/>
        <p:txBody>
          <a:bodyPr>
            <a:normAutofit/>
          </a:bodyPr>
          <a:lstStyle/>
          <a:p>
            <a:pPr marL="0" indent="0">
              <a:buNone/>
            </a:pPr>
            <a:endParaRPr lang="en-US" altLang="en-US" b="1" dirty="0"/>
          </a:p>
        </p:txBody>
      </p:sp>
      <p:graphicFrame>
        <p:nvGraphicFramePr>
          <p:cNvPr id="4" name="Group 38"/>
          <p:cNvGraphicFramePr>
            <a:graphicFrameLocks/>
          </p:cNvGraphicFramePr>
          <p:nvPr>
            <p:extLst>
              <p:ext uri="{D42A27DB-BD31-4B8C-83A1-F6EECF244321}">
                <p14:modId xmlns:p14="http://schemas.microsoft.com/office/powerpoint/2010/main" val="911590007"/>
              </p:ext>
            </p:extLst>
          </p:nvPr>
        </p:nvGraphicFramePr>
        <p:xfrm>
          <a:off x="1981200" y="1143001"/>
          <a:ext cx="8229600" cy="2238726"/>
        </p:xfrm>
        <a:graphic>
          <a:graphicData uri="http://schemas.openxmlformats.org/drawingml/2006/table">
            <a:tbl>
              <a:tblPr/>
              <a:tblGrid>
                <a:gridCol w="2663825">
                  <a:extLst>
                    <a:ext uri="{9D8B030D-6E8A-4147-A177-3AD203B41FA5}">
                      <a16:colId xmlns:a16="http://schemas.microsoft.com/office/drawing/2014/main" val="20000"/>
                    </a:ext>
                  </a:extLst>
                </a:gridCol>
                <a:gridCol w="2603500">
                  <a:extLst>
                    <a:ext uri="{9D8B030D-6E8A-4147-A177-3AD203B41FA5}">
                      <a16:colId xmlns:a16="http://schemas.microsoft.com/office/drawing/2014/main" val="20001"/>
                    </a:ext>
                  </a:extLst>
                </a:gridCol>
                <a:gridCol w="2962275">
                  <a:extLst>
                    <a:ext uri="{9D8B030D-6E8A-4147-A177-3AD203B41FA5}">
                      <a16:colId xmlns:a16="http://schemas.microsoft.com/office/drawing/2014/main" val="20002"/>
                    </a:ext>
                  </a:extLst>
                </a:gridCol>
              </a:tblGrid>
              <a:tr h="530131">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1" i="0" u="none" strike="noStrike" kern="900" cap="none" normalizeH="0" baseline="0" dirty="0">
                          <a:ln>
                            <a:noFill/>
                          </a:ln>
                          <a:solidFill>
                            <a:schemeClr val="tx1"/>
                          </a:solidFill>
                          <a:effectLst/>
                          <a:latin typeface="+mj-lt"/>
                          <a:ea typeface="新細明體" panose="02020500000000000000" pitchFamily="18" charset="-120"/>
                        </a:rPr>
                        <a:t>Operator</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1" i="0" u="none" strike="noStrike" kern="900" cap="none" normalizeH="0" baseline="0" dirty="0">
                          <a:ln>
                            <a:noFill/>
                          </a:ln>
                          <a:solidFill>
                            <a:schemeClr val="tx1"/>
                          </a:solidFill>
                          <a:effectLst/>
                          <a:latin typeface="+mj-lt"/>
                          <a:ea typeface="新細明體" panose="02020500000000000000" pitchFamily="18" charset="-120"/>
                        </a:rPr>
                        <a:t>Precedence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1" i="0" u="none" strike="noStrike" kern="900" cap="none" normalizeH="0" baseline="0" dirty="0">
                          <a:ln>
                            <a:noFill/>
                          </a:ln>
                          <a:solidFill>
                            <a:schemeClr val="tx1"/>
                          </a:solidFill>
                          <a:effectLst/>
                          <a:latin typeface="+mj-lt"/>
                          <a:ea typeface="新細明體" panose="02020500000000000000" pitchFamily="18" charset="-120"/>
                        </a:rPr>
                        <a:t>Associative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2610">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Kleene </a:t>
                      </a:r>
                      <a:r>
                        <a:rPr kumimoji="1" lang="en-US" altLang="zh-TW" sz="2400" b="1" i="0" u="none" strike="noStrike" kern="900" cap="none" normalizeH="0" baseline="0" dirty="0">
                          <a:ln>
                            <a:noFill/>
                          </a:ln>
                          <a:solidFill>
                            <a:schemeClr val="tx1"/>
                          </a:solidFill>
                          <a:effectLst/>
                          <a:latin typeface="+mj-lt"/>
                          <a:ea typeface="新細明體" panose="02020500000000000000" pitchFamily="18" charset="-120"/>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4705">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Concatenation</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131">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Union 	</a:t>
                      </a:r>
                      <a:r>
                        <a:rPr kumimoji="1" lang="en-US" altLang="zh-TW" sz="2400" b="1" i="0" u="none" strike="noStrike" kern="900" cap="none" normalizeH="0" baseline="0" dirty="0">
                          <a:ln>
                            <a:noFill/>
                          </a:ln>
                          <a:solidFill>
                            <a:srgbClr val="FF0000"/>
                          </a:solidFill>
                          <a:effectLst/>
                          <a:latin typeface="+mj-lt"/>
                          <a:ea typeface="新細明體" panose="02020500000000000000" pitchFamily="18" charset="-120"/>
                        </a:rPr>
                        <a:t>| or </a:t>
                      </a:r>
                      <a:r>
                        <a:rPr kumimoji="1" lang="en-US" altLang="zh-TW" sz="3200" b="1" i="0" u="none" strike="noStrike" kern="900" cap="none" normalizeH="0" baseline="0" dirty="0">
                          <a:ln>
                            <a:noFill/>
                          </a:ln>
                          <a:solidFill>
                            <a:srgbClr val="FF0000"/>
                          </a:solidFill>
                          <a:effectLst/>
                          <a:latin typeface="+mj-lt"/>
                          <a:ea typeface="新細明體" panose="02020500000000000000" pitchFamily="18" charset="-120"/>
                        </a:rPr>
                        <a:t>+</a:t>
                      </a:r>
                      <a:endParaRPr kumimoji="1" lang="en-US" altLang="zh-TW" sz="2400" b="1" i="0" u="none" strike="noStrike" kern="900" cap="none" normalizeH="0" baseline="0" dirty="0">
                        <a:ln>
                          <a:noFill/>
                        </a:ln>
                        <a:solidFill>
                          <a:srgbClr val="FF0000"/>
                        </a:solidFill>
                        <a:effectLst/>
                        <a:latin typeface="+mj-lt"/>
                        <a:ea typeface="新細明體" panose="02020500000000000000" pitchFamily="18" charset="-120"/>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5137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1735282" y="1091671"/>
                <a:ext cx="8856518" cy="5334000"/>
              </a:xfrm>
            </p:spPr>
            <p:txBody>
              <a:bodyPr>
                <a:normAutofit fontScale="92500" lnSpcReduction="10000"/>
              </a:bodyPr>
              <a:lstStyle/>
              <a:p>
                <a:pPr marL="457200" indent="-457200" defTabSz="465138">
                  <a:buFont typeface="+mj-lt"/>
                  <a:buAutoNum type="arabicPeriod"/>
                </a:pPr>
                <a:r>
                  <a:rPr lang="en-US" dirty="0"/>
                  <a:t>0 or 1</a:t>
                </a:r>
              </a:p>
              <a:p>
                <a:pPr marL="0" indent="0" defTabSz="465138">
                  <a:buNone/>
                </a:pPr>
                <a:r>
                  <a:rPr lang="en-US" dirty="0"/>
                  <a:t>	</a:t>
                </a:r>
              </a:p>
              <a:p>
                <a:pPr marL="457200" indent="-457200" defTabSz="465138">
                  <a:buFont typeface="+mj-lt"/>
                  <a:buAutoNum type="arabicPeriod" startAt="2"/>
                </a:pPr>
                <a:r>
                  <a:rPr lang="en-US" dirty="0"/>
                  <a:t>0 or 11 or 111</a:t>
                </a:r>
              </a:p>
              <a:p>
                <a:pPr marL="463550" indent="-457200" defTabSz="465138">
                  <a:buFont typeface="+mj-lt"/>
                  <a:buAutoNum type="arabicPeriod" startAt="2"/>
                </a:pPr>
                <a:endParaRPr lang="en-US" dirty="0"/>
              </a:p>
              <a:p>
                <a:pPr marL="463550" indent="-457200" defTabSz="465138">
                  <a:buFont typeface="+mj-lt"/>
                  <a:buAutoNum type="arabicPeriod" startAt="2"/>
                </a:pPr>
                <a:r>
                  <a:rPr lang="en-US" dirty="0"/>
                  <a:t>String having zero or more </a:t>
                </a:r>
                <a:r>
                  <a:rPr lang="en-US" i="1" dirty="0"/>
                  <a:t>a</a:t>
                </a:r>
                <a:r>
                  <a:rPr lang="en-US" dirty="0"/>
                  <a:t>.</a:t>
                </a:r>
              </a:p>
              <a:p>
                <a:pPr marL="457200" lvl="1" indent="0" defTabSz="465138">
                  <a:buNone/>
                </a:pPr>
                <a:endParaRPr lang="en-US" sz="2200" dirty="0"/>
              </a:p>
              <a:p>
                <a:pPr marL="463550" indent="-457200" defTabSz="465138">
                  <a:buFont typeface="+mj-lt"/>
                  <a:buAutoNum type="arabicPeriod" startAt="2"/>
                </a:pPr>
                <a:r>
                  <a:rPr lang="en-US" dirty="0"/>
                  <a:t>String having one or more </a:t>
                </a:r>
                <a:r>
                  <a:rPr lang="en-US" i="1" dirty="0"/>
                  <a:t>a</a:t>
                </a:r>
                <a:r>
                  <a:rPr lang="en-US" dirty="0"/>
                  <a:t>.</a:t>
                </a:r>
              </a:p>
              <a:p>
                <a:pPr marL="457200" lvl="1" indent="0" defTabSz="465138">
                  <a:buNone/>
                </a:pPr>
                <a:endParaRPr lang="en-US" sz="2200" dirty="0"/>
              </a:p>
              <a:p>
                <a:pPr marL="463550" indent="-457200" defTabSz="465138">
                  <a:buFont typeface="+mj-lt"/>
                  <a:buAutoNum type="arabicPeriod" startAt="2"/>
                </a:pPr>
                <a:r>
                  <a:rPr lang="en-US" dirty="0"/>
                  <a:t>Regular expression over </a:t>
                </a:r>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r>
                      <a:rPr lang="en-US" i="1">
                        <a:latin typeface="Cambria Math" panose="02040503050406030204" pitchFamily="18" charset="0"/>
                        <a:ea typeface="Cambria Math" panose="02040503050406030204" pitchFamily="18" charset="0"/>
                      </a:rPr>
                      <m:t>}</m:t>
                    </m:r>
                  </m:oMath>
                </a14:m>
                <a:r>
                  <a:rPr lang="en-US" dirty="0"/>
                  <a:t> that represent all string of length 3.</a:t>
                </a:r>
              </a:p>
              <a:p>
                <a:pPr marL="457200" lvl="1" indent="0" algn="just" defTabSz="465138">
                  <a:buNone/>
                </a:pPr>
                <a:endParaRPr lang="en-US" sz="2200" dirty="0"/>
              </a:p>
              <a:p>
                <a:pPr marL="463550" indent="-457200" defTabSz="465138">
                  <a:buFont typeface="+mj-lt"/>
                  <a:buAutoNum type="arabicPeriod" startAt="2"/>
                </a:pPr>
                <a:r>
                  <a:rPr lang="en-US" dirty="0"/>
                  <a:t>All binary string.</a:t>
                </a:r>
                <a:endParaRPr lang="en-US" sz="2200" dirty="0"/>
              </a:p>
              <a:p>
                <a:pPr marL="6350" indent="0" defTabSz="465138">
                  <a:buNone/>
                </a:pPr>
                <a:r>
                  <a:rPr lang="en-US" sz="2200" dirty="0"/>
                  <a:t> </a:t>
                </a:r>
                <a:endParaRPr lang="en-US" dirty="0"/>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1735282" y="1091671"/>
                <a:ext cx="8856518" cy="5334000"/>
              </a:xfrm>
              <a:blipFill>
                <a:blip r:embed="rId2"/>
                <a:stretch>
                  <a:fillRect l="-964" t="-9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237232" y="138913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m:t>
                      </m:r>
                    </m:oMath>
                  </m:oMathPara>
                </a14:m>
                <a:endParaRPr lang="en-US" b="1" dirty="0">
                  <a:solidFill>
                    <a:schemeClr val="accent1">
                      <a:lumMod val="75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2237232" y="1389133"/>
                <a:ext cx="3200400" cy="608533"/>
              </a:xfrm>
              <a:prstGeom prst="rect">
                <a:avLst/>
              </a:prstGeom>
              <a:blipFill>
                <a:blip r:embed="rId3"/>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237232" y="2345273"/>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𝟏𝟏𝟏</m:t>
                      </m:r>
                    </m:oMath>
                  </m:oMathPara>
                </a14:m>
                <a:endParaRPr lang="en-US" b="1" dirty="0">
                  <a:solidFill>
                    <a:schemeClr val="accent1">
                      <a:lumMod val="75000"/>
                    </a:schemeClr>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2237232" y="2345273"/>
                <a:ext cx="3200400" cy="457200"/>
              </a:xfrm>
              <a:prstGeom prst="rect">
                <a:avLst/>
              </a:prstGeom>
              <a:blipFill>
                <a:blip r:embed="rId4"/>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237232" y="3109429"/>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ea typeface="Cambria Math" panose="02040503050406030204" pitchFamily="18" charset="0"/>
                        </a:rPr>
                        <m:t>𝜖</m:t>
                      </m:r>
                      <m:r>
                        <a:rPr lang="en-US" b="1" i="1" dirty="0">
                          <a:solidFill>
                            <a:schemeClr val="accent1">
                              <a:lumMod val="75000"/>
                            </a:schemeClr>
                          </a:solidFill>
                          <a:latin typeface="Cambria Math" panose="02040503050406030204" pitchFamily="18" charset="0"/>
                          <a:ea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𝒂𝒂𝒂𝒂</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237232" y="3109429"/>
                <a:ext cx="3200400" cy="457200"/>
              </a:xfrm>
              <a:prstGeom prst="rect">
                <a:avLst/>
              </a:prstGeom>
              <a:blipFill>
                <a:blip r:embed="rId5"/>
                <a:stretch>
                  <a:fillRect l="-381" r="-4762"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237232" y="3909126"/>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𝒂𝒂𝒂𝒂</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237232" y="3909126"/>
                <a:ext cx="3200400" cy="457200"/>
              </a:xfrm>
              <a:prstGeom prst="rect">
                <a:avLst/>
              </a:prstGeom>
              <a:blipFill>
                <a:blip r:embed="rId6"/>
                <a:stretch>
                  <a:fillRect l="-381"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237232" y="5122033"/>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𝒂𝒃𝒄</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𝒃𝒄𝒂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𝒃𝒃𝒃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𝒄𝒂𝒃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𝒂𝒃𝒂</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237232" y="5122033"/>
                <a:ext cx="3200400" cy="457200"/>
              </a:xfrm>
              <a:prstGeom prst="rect">
                <a:avLst/>
              </a:prstGeom>
              <a:blipFill>
                <a:blip r:embed="rId7"/>
                <a:stretch>
                  <a:fillRect l="-381" r="-16000"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237232" y="5850770"/>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𝟏𝟏𝟏𝟏</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2237232" y="5850770"/>
                <a:ext cx="3200400" cy="457200"/>
              </a:xfrm>
              <a:prstGeom prst="rect">
                <a:avLst/>
              </a:prstGeom>
              <a:blipFill>
                <a:blip r:embed="rId8"/>
                <a:stretch>
                  <a:fillRect l="-381" r="-1581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578892" y="2269608"/>
                <a:ext cx="4022307"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m:t>
                    </m:r>
                    <m:d>
                      <m:dPr>
                        <m:begChr m:val="|"/>
                        <m:endChr m:val="|"/>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𝟏𝟏</m:t>
                        </m:r>
                        <m:r>
                          <a:rPr lang="en-US" b="1" i="1">
                            <a:solidFill>
                              <a:srgbClr val="C00000"/>
                            </a:solidFill>
                            <a:latin typeface="Cambria Math" panose="02040503050406030204" pitchFamily="18" charset="0"/>
                          </a:rPr>
                          <m:t> </m:t>
                        </m:r>
                      </m:e>
                    </m:d>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𝟏𝟏𝟏</m:t>
                    </m:r>
                  </m:oMath>
                </a14:m>
                <a:r>
                  <a:rPr lang="en-US" b="1" dirty="0">
                    <a:solidFill>
                      <a:srgbClr val="C00000"/>
                    </a:solidFill>
                  </a:rPr>
                  <a:t> </a:t>
                </a:r>
                <a:r>
                  <a:rPr lang="en-US" b="1" dirty="0">
                    <a:solidFill>
                      <a:srgbClr val="C00000"/>
                    </a:solidFill>
                    <a:latin typeface="Cambria Math" panose="02040503050406030204" pitchFamily="18" charset="0"/>
                  </a:rPr>
                  <a:t>or  ( 0 + 11 + 111 )</a:t>
                </a:r>
              </a:p>
            </p:txBody>
          </p:sp>
        </mc:Choice>
        <mc:Fallback xmlns="">
          <p:sp>
            <p:nvSpPr>
              <p:cNvPr id="10" name="Rectangle 9"/>
              <p:cNvSpPr>
                <a:spLocks noRot="1" noChangeAspect="1" noMove="1" noResize="1" noEditPoints="1" noAdjustHandles="1" noChangeArrowheads="1" noChangeShapeType="1" noTextEdit="1"/>
              </p:cNvSpPr>
              <p:nvPr/>
            </p:nvSpPr>
            <p:spPr>
              <a:xfrm>
                <a:off x="5578892" y="2269608"/>
                <a:ext cx="4022307" cy="608533"/>
              </a:xfrm>
              <a:prstGeom prst="rect">
                <a:avLst/>
              </a:prstGeom>
              <a:blipFill>
                <a:blip r:embed="rId9"/>
                <a:stretch>
                  <a:fillRect r="-75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226781" y="138913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IN" b="1" i="1" smtClean="0">
                          <a:solidFill>
                            <a:srgbClr val="C00000"/>
                          </a:solidFill>
                          <a:latin typeface="Cambria Math" panose="02040503050406030204" pitchFamily="18" charset="0"/>
                        </a:rPr>
                        <m:t> </m:t>
                      </m:r>
                      <m:r>
                        <a:rPr lang="en-IN" b="1" i="1" smtClean="0">
                          <a:solidFill>
                            <a:srgbClr val="C00000"/>
                          </a:solidFill>
                          <a:latin typeface="Cambria Math" panose="02040503050406030204" pitchFamily="18" charset="0"/>
                        </a:rPr>
                        <m:t>𝒐𝒓</m:t>
                      </m:r>
                      <m:r>
                        <a:rPr lang="en-IN" b="1" i="1" smtClean="0">
                          <a:solidFill>
                            <a:srgbClr val="C00000"/>
                          </a:solidFill>
                          <a:latin typeface="Cambria Math" panose="02040503050406030204" pitchFamily="18" charset="0"/>
                        </a:rPr>
                        <m:t> (</m:t>
                      </m:r>
                      <m:r>
                        <a:rPr lang="en-IN" b="1" i="1" smtClean="0">
                          <a:solidFill>
                            <a:srgbClr val="C00000"/>
                          </a:solidFill>
                          <a:latin typeface="Cambria Math" panose="02040503050406030204" pitchFamily="18" charset="0"/>
                        </a:rPr>
                        <m:t>𝟎</m:t>
                      </m:r>
                      <m:r>
                        <a:rPr lang="en-IN" b="1" i="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𝟏</m:t>
                      </m:r>
                      <m:r>
                        <a:rPr lang="en-IN" b="1" i="1" smtClean="0">
                          <a:solidFill>
                            <a:srgbClr val="C00000"/>
                          </a:solidFill>
                          <a:latin typeface="Cambria Math" panose="02040503050406030204" pitchFamily="18" charset="0"/>
                        </a:rPr>
                        <m:t>)</m:t>
                      </m:r>
                    </m:oMath>
                  </m:oMathPara>
                </a14:m>
                <a:endParaRPr lang="en-US" b="1" dirty="0">
                  <a:solidFill>
                    <a:srgbClr val="C0000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226781" y="1389133"/>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128950" y="3033764"/>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5128950" y="3033764"/>
                <a:ext cx="3200400" cy="608533"/>
              </a:xfrm>
              <a:prstGeom prst="rect">
                <a:avLst/>
              </a:prstGeom>
              <a:blipFill>
                <a:blip r:embed="rId11"/>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145575" y="383346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5145575" y="3833461"/>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6145875" y="5046368"/>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𝒂</m:t>
                          </m:r>
                          <m:d>
                            <m:dPr>
                              <m:begChr m:val="|"/>
                              <m:endChr m:val="|"/>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e>
                          </m:d>
                          <m:r>
                            <a:rPr lang="en-US" b="1" i="1">
                              <a:solidFill>
                                <a:srgbClr val="C00000"/>
                              </a:solidFill>
                              <a:latin typeface="Cambria Math" panose="02040503050406030204" pitchFamily="18" charset="0"/>
                            </a:rPr>
                            <m:t>𝒄</m:t>
                          </m:r>
                        </m:e>
                      </m:d>
                      <m:r>
                        <a:rPr lang="en-US" b="1" i="1">
                          <a:solidFill>
                            <a:srgbClr val="C00000"/>
                          </a:solidFill>
                          <a:latin typeface="Cambria Math" panose="02040503050406030204" pitchFamily="18" charset="0"/>
                        </a:rPr>
                        <m:t> </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𝒂</m:t>
                          </m:r>
                          <m:d>
                            <m:dPr>
                              <m:begChr m:val="|"/>
                              <m:endChr m:val="|"/>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e>
                          </m:d>
                          <m:r>
                            <a:rPr lang="en-US" b="1" i="1">
                              <a:solidFill>
                                <a:srgbClr val="C00000"/>
                              </a:solidFill>
                              <a:latin typeface="Cambria Math" panose="02040503050406030204" pitchFamily="18" charset="0"/>
                            </a:rPr>
                            <m:t>𝒄</m:t>
                          </m:r>
                        </m:e>
                      </m:d>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d>
                        <m:dPr>
                          <m:begChr m:val="|"/>
                          <m:endChr m:val="|"/>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e>
                      </m:d>
                      <m:r>
                        <a:rPr lang="en-US" b="1" i="1">
                          <a:solidFill>
                            <a:srgbClr val="C00000"/>
                          </a:solidFill>
                          <a:latin typeface="Cambria Math" panose="02040503050406030204" pitchFamily="18" charset="0"/>
                        </a:rPr>
                        <m:t>𝒄</m:t>
                      </m:r>
                      <m:r>
                        <a:rPr lang="en-US" b="1" i="1">
                          <a:solidFill>
                            <a:srgbClr val="C00000"/>
                          </a:solidFill>
                          <a:latin typeface="Cambria Math" panose="02040503050406030204" pitchFamily="18" charset="0"/>
                        </a:rPr>
                        <m:t>)</m:t>
                      </m:r>
                    </m:oMath>
                  </m:oMathPara>
                </a14:m>
                <a:endParaRPr lang="en-US" b="1" dirty="0">
                  <a:solidFill>
                    <a:srgbClr val="C0000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6145875" y="5046368"/>
                <a:ext cx="3200400" cy="608533"/>
              </a:xfrm>
              <a:prstGeom prst="rect">
                <a:avLst/>
              </a:prstGeom>
              <a:blipFill>
                <a:blip r:embed="rId13"/>
                <a:stretch>
                  <a:fillRect r="-5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5403323" y="5775105"/>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5403323" y="5775105"/>
                <a:ext cx="3200400" cy="608533"/>
              </a:xfrm>
              <a:prstGeom prst="rect">
                <a:avLst/>
              </a:prstGeom>
              <a:blipFill>
                <a:blip r:embed="rId14"/>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336810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Effect transition="in" filter="fade">
                                      <p:cBhvr>
                                        <p:cTn id="52" dur="500"/>
                                        <p:tgtEl>
                                          <p:spTgt spid="4">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8" end="8"/>
                                            </p:txEl>
                                          </p:spTgt>
                                        </p:tgtEl>
                                        <p:attrNameLst>
                                          <p:attrName>style.visibility</p:attrName>
                                        </p:attrNameLst>
                                      </p:cBhvr>
                                      <p:to>
                                        <p:strVal val="visible"/>
                                      </p:to>
                                    </p:set>
                                    <p:animEffect transition="in" filter="fade">
                                      <p:cBhvr>
                                        <p:cTn id="67" dur="500"/>
                                        <p:tgtEl>
                                          <p:spTgt spid="4">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left)">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left)">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10" end="10"/>
                                            </p:txEl>
                                          </p:spTgt>
                                        </p:tgtEl>
                                        <p:attrNameLst>
                                          <p:attrName>style.visibility</p:attrName>
                                        </p:attrNameLst>
                                      </p:cBhvr>
                                      <p:to>
                                        <p:strVal val="visible"/>
                                      </p:to>
                                    </p:set>
                                    <p:animEffect transition="in" filter="fade">
                                      <p:cBhvr>
                                        <p:cTn id="82" dur="500"/>
                                        <p:tgtEl>
                                          <p:spTgt spid="4">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left)">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wipe(left)">
                                      <p:cBhvr>
                                        <p:cTn id="9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p:bldP spid="5" grpId="0"/>
      <p:bldP spid="6" grpId="0"/>
      <p:bldP spid="7" grpId="0"/>
      <p:bldP spid="8" grpId="0"/>
      <p:bldP spid="9" grpId="0"/>
      <p:bldP spid="10" grpId="0"/>
      <p:bldP spid="11" grpId="0"/>
      <p:bldP spid="12" grpId="0"/>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p:sp>
        <p:nvSpPr>
          <p:cNvPr id="3" name="Content Placeholder 2"/>
          <p:cNvSpPr>
            <a:spLocks noGrp="1"/>
          </p:cNvSpPr>
          <p:nvPr>
            <p:ph idx="1"/>
          </p:nvPr>
        </p:nvSpPr>
        <p:spPr/>
        <p:txBody>
          <a:bodyPr>
            <a:normAutofit fontScale="92500" lnSpcReduction="10000"/>
          </a:bodyPr>
          <a:lstStyle/>
          <a:p>
            <a:pPr marL="457200" indent="-457200">
              <a:buFont typeface="+mj-lt"/>
              <a:buAutoNum type="arabicPeriod" startAt="7"/>
            </a:pPr>
            <a:r>
              <a:rPr lang="en-US" dirty="0"/>
              <a:t>0 or more occurrence of either a or b or both</a:t>
            </a:r>
          </a:p>
          <a:p>
            <a:pPr marL="0" indent="0">
              <a:buNone/>
            </a:pPr>
            <a:endParaRPr lang="en-US" dirty="0"/>
          </a:p>
          <a:p>
            <a:pPr marL="457200" indent="-457200">
              <a:buFont typeface="+mj-lt"/>
              <a:buAutoNum type="arabicPeriod" startAt="8"/>
            </a:pPr>
            <a:r>
              <a:rPr lang="en-US" dirty="0"/>
              <a:t>1 or more occurrence of either a or b or both</a:t>
            </a:r>
          </a:p>
          <a:p>
            <a:pPr marL="463550" lvl="1" indent="0">
              <a:buNone/>
            </a:pPr>
            <a:endParaRPr lang="en-US" sz="2400" dirty="0"/>
          </a:p>
          <a:p>
            <a:pPr marL="463550" indent="-457200">
              <a:buFont typeface="+mj-lt"/>
              <a:buAutoNum type="arabicPeriod" startAt="9"/>
            </a:pPr>
            <a:r>
              <a:rPr lang="en-US" dirty="0"/>
              <a:t>Binary no. ends with 0</a:t>
            </a:r>
          </a:p>
          <a:p>
            <a:pPr marL="406400" lvl="1" indent="0">
              <a:buNone/>
            </a:pPr>
            <a:endParaRPr lang="en-US" sz="2400" dirty="0"/>
          </a:p>
          <a:p>
            <a:pPr marL="463550" indent="-457200">
              <a:buFont typeface="+mj-lt"/>
              <a:buAutoNum type="arabicPeriod" startAt="10"/>
            </a:pPr>
            <a:r>
              <a:rPr lang="en-US" dirty="0"/>
              <a:t>Binary no. ends with 1</a:t>
            </a:r>
          </a:p>
          <a:p>
            <a:pPr marL="6350" indent="0">
              <a:buNone/>
            </a:pPr>
            <a:endParaRPr lang="en-US" dirty="0"/>
          </a:p>
          <a:p>
            <a:pPr marL="463550" indent="-457200">
              <a:buFont typeface="+mj-lt"/>
              <a:buAutoNum type="arabicPeriod" startAt="11"/>
            </a:pPr>
            <a:r>
              <a:rPr lang="en-US" dirty="0"/>
              <a:t>Binary no. starts and ends with 1</a:t>
            </a:r>
          </a:p>
          <a:p>
            <a:pPr marL="463550" lvl="1" indent="0">
              <a:buNone/>
            </a:pPr>
            <a:endParaRPr lang="en-US" sz="2400" dirty="0"/>
          </a:p>
          <a:p>
            <a:pPr marL="463550" indent="-457200">
              <a:buFont typeface="+mj-lt"/>
              <a:buAutoNum type="arabicPeriod" startAt="12"/>
            </a:pPr>
            <a:r>
              <a:rPr lang="en-IN" dirty="0"/>
              <a:t>String starts and ends with same character</a:t>
            </a:r>
          </a:p>
          <a:p>
            <a:pPr marL="6350" indent="0">
              <a:buNone/>
            </a:pPr>
            <a:r>
              <a:rPr lang="en-IN" dirty="0"/>
              <a:t> </a:t>
            </a:r>
          </a:p>
        </p:txBody>
      </p:sp>
      <mc:AlternateContent xmlns:mc="http://schemas.openxmlformats.org/markup-compatibility/2006" xmlns:a14="http://schemas.microsoft.com/office/drawing/2010/main">
        <mc:Choice Requires="a14">
          <p:sp>
            <p:nvSpPr>
              <p:cNvPr id="4" name="Rectangle 3"/>
              <p:cNvSpPr/>
              <p:nvPr/>
            </p:nvSpPr>
            <p:spPr>
              <a:xfrm>
                <a:off x="2237233" y="1319223"/>
                <a:ext cx="3143873"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𝜖</m:t>
                      </m:r>
                      <m:r>
                        <a:rPr lang="en-US" b="1" i="1" dirty="0">
                          <a:solidFill>
                            <a:schemeClr val="accent1">
                              <a:lumMod val="75000"/>
                            </a:schemeClr>
                          </a:solidFill>
                          <a:latin typeface="Cambria Math" panose="02040503050406030204" pitchFamily="18" charset="0"/>
                          <a:ea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𝒂𝒃𝒂𝒃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𝒃𝒂𝒃</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237233" y="1319223"/>
                <a:ext cx="3143873" cy="608533"/>
              </a:xfrm>
              <a:prstGeom prst="rect">
                <a:avLst/>
              </a:prstGeom>
              <a:blipFill>
                <a:blip r:embed="rId2"/>
                <a:stretch>
                  <a:fillRect l="-388"/>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237232" y="217247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𝒂𝒃𝒂𝒃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𝒃𝒂𝒃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𝒃𝒃𝒃𝒂𝒂𝒂</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237232" y="2172471"/>
                <a:ext cx="3200400" cy="608533"/>
              </a:xfrm>
              <a:prstGeom prst="rect">
                <a:avLst/>
              </a:prstGeom>
              <a:blipFill>
                <a:blip r:embed="rId3"/>
                <a:stretch>
                  <a:fillRect l="-381" r="-2019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237232" y="3013977"/>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𝟏𝟏𝟏𝟏𝟎</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237232" y="3013977"/>
                <a:ext cx="3200400" cy="457200"/>
              </a:xfrm>
              <a:prstGeom prst="rect">
                <a:avLst/>
              </a:prstGeom>
              <a:blipFill>
                <a:blip r:embed="rId4"/>
                <a:stretch>
                  <a:fillRect l="-381" r="-15810"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237232" y="3867587"/>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𝟏𝟎𝟏𝟎𝟏</m:t>
                      </m:r>
                      <m:r>
                        <a:rPr lang="en-US" b="1" i="1" dirty="0">
                          <a:solidFill>
                            <a:schemeClr val="accent1">
                              <a:lumMod val="75000"/>
                            </a:schemeClr>
                          </a:solidFill>
                          <a:latin typeface="Cambria Math" panose="02040503050406030204" pitchFamily="18" charset="0"/>
                        </a:rPr>
                        <m:t>, …</m:t>
                      </m:r>
                    </m:oMath>
                  </m:oMathPara>
                </a14:m>
                <a:endParaRPr lang="en-US" b="1" dirty="0">
                  <a:solidFill>
                    <a:schemeClr val="accent1">
                      <a:lumMod val="75000"/>
                    </a:schemeClr>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237232" y="3867587"/>
                <a:ext cx="3200400" cy="457200"/>
              </a:xfrm>
              <a:prstGeom prst="rect">
                <a:avLst/>
              </a:prstGeom>
              <a:blipFill>
                <a:blip r:embed="rId5"/>
                <a:stretch>
                  <a:fillRect l="-381" r="-4571"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237232" y="4729097"/>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𝟏𝟎𝟏𝟎𝟏</m:t>
                      </m:r>
                      <m:r>
                        <a:rPr lang="en-US" b="1" i="1" dirty="0">
                          <a:solidFill>
                            <a:schemeClr val="accent1">
                              <a:lumMod val="75000"/>
                            </a:schemeClr>
                          </a:solidFill>
                          <a:latin typeface="Cambria Math" panose="02040503050406030204" pitchFamily="18" charset="0"/>
                        </a:rPr>
                        <m:t>, …</m:t>
                      </m:r>
                    </m:oMath>
                  </m:oMathPara>
                </a14:m>
                <a:endParaRPr lang="en-US" b="1" dirty="0">
                  <a:solidFill>
                    <a:schemeClr val="accent1">
                      <a:lumMod val="75000"/>
                    </a:schemeClr>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2237232" y="4729097"/>
                <a:ext cx="3200400" cy="457200"/>
              </a:xfrm>
              <a:prstGeom prst="rect">
                <a:avLst/>
              </a:prstGeom>
              <a:blipFill>
                <a:blip r:embed="rId6"/>
                <a:stretch>
                  <a:fillRect l="-381" r="-1028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237232" y="5551795"/>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𝒂𝒃𝒂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𝒃𝒂𝒂𝒃</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2237232" y="5551795"/>
                <a:ext cx="3200400" cy="457200"/>
              </a:xfrm>
              <a:prstGeom prst="rect">
                <a:avLst/>
              </a:prstGeom>
              <a:blipFill>
                <a:blip r:embed="rId7"/>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6143810" y="131922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6143810" y="1319223"/>
                <a:ext cx="3200400"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6143810" y="217247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6143810" y="2172471"/>
                <a:ext cx="3200400" cy="608533"/>
              </a:xfrm>
              <a:prstGeom prst="rect">
                <a:avLst/>
              </a:prstGeom>
              <a:blipFill>
                <a:blip r:embed="rId9"/>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143810" y="3791922"/>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oMath>
                  </m:oMathPara>
                </a14:m>
                <a:endParaRPr lang="en-US" b="1" baseline="30000" dirty="0">
                  <a:solidFill>
                    <a:srgbClr val="C0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6143810" y="3791922"/>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147241" y="2938312"/>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oMath>
                </a14:m>
                <a:r>
                  <a:rPr lang="en-US" b="1" dirty="0">
                    <a:solidFill>
                      <a:srgbClr val="C00000"/>
                    </a:solidFill>
                  </a:rPr>
                  <a:t> </a:t>
                </a:r>
                <a14:m>
                  <m:oMath xmlns:m="http://schemas.openxmlformats.org/officeDocument/2006/math">
                    <m:r>
                      <a:rPr lang="en-US" b="1" i="1">
                        <a:solidFill>
                          <a:srgbClr val="C00000"/>
                        </a:solidFill>
                        <a:latin typeface="Cambria Math" panose="02040503050406030204" pitchFamily="18" charset="0"/>
                      </a:rPr>
                      <m:t>𝟎</m:t>
                    </m:r>
                  </m:oMath>
                </a14:m>
                <a:endParaRPr lang="en-US" b="1" baseline="30000" dirty="0">
                  <a:solidFill>
                    <a:srgbClr val="C0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6147241" y="2938312"/>
                <a:ext cx="3200400" cy="608533"/>
              </a:xfrm>
              <a:prstGeom prst="rect">
                <a:avLst/>
              </a:prstGeom>
              <a:blipFill>
                <a:blip r:embed="rId11"/>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147241" y="4653432"/>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oMath>
                </a14:m>
                <a:r>
                  <a:rPr lang="en-US" b="1" dirty="0">
                    <a:solidFill>
                      <a:srgbClr val="C00000"/>
                    </a:solidFill>
                  </a:rPr>
                  <a:t> </a:t>
                </a:r>
                <a14:m>
                  <m:oMath xmlns:m="http://schemas.openxmlformats.org/officeDocument/2006/math">
                    <m:r>
                      <a:rPr lang="en-US" b="1" i="1">
                        <a:solidFill>
                          <a:srgbClr val="C00000"/>
                        </a:solidFill>
                        <a:latin typeface="Cambria Math" panose="02040503050406030204" pitchFamily="18" charset="0"/>
                      </a:rPr>
                      <m:t>𝟏</m:t>
                    </m:r>
                    <m:r>
                      <a:rPr lang="en-IN" b="1" i="1" smtClean="0">
                        <a:solidFill>
                          <a:srgbClr val="C00000"/>
                        </a:solidFill>
                        <a:latin typeface="Cambria Math" panose="02040503050406030204" pitchFamily="18" charset="0"/>
                      </a:rPr>
                      <m:t>| </m:t>
                    </m:r>
                    <m:r>
                      <a:rPr lang="en-IN" b="1" i="1" smtClean="0">
                        <a:solidFill>
                          <a:srgbClr val="C00000"/>
                        </a:solidFill>
                        <a:latin typeface="Cambria Math" panose="02040503050406030204" pitchFamily="18" charset="0"/>
                      </a:rPr>
                      <m:t>𝟏</m:t>
                    </m:r>
                  </m:oMath>
                </a14:m>
                <a:r>
                  <a:rPr lang="en-US" b="1" baseline="30000" dirty="0">
                    <a:solidFill>
                      <a:srgbClr val="C00000"/>
                    </a:solidFill>
                  </a:rPr>
                  <a:t> </a:t>
                </a:r>
              </a:p>
            </p:txBody>
          </p:sp>
        </mc:Choice>
        <mc:Fallback xmlns="">
          <p:sp>
            <p:nvSpPr>
              <p:cNvPr id="17" name="Rectangle 16"/>
              <p:cNvSpPr>
                <a:spLocks noRot="1" noChangeAspect="1" noMove="1" noResize="1" noEditPoints="1" noAdjustHandles="1" noChangeArrowheads="1" noChangeShapeType="1" noTextEdit="1"/>
              </p:cNvSpPr>
              <p:nvPr/>
            </p:nvSpPr>
            <p:spPr>
              <a:xfrm>
                <a:off x="6147241" y="4653432"/>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707102" y="5871132"/>
                <a:ext cx="5318069"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𝐨𝐫</m:t>
                      </m:r>
                      <m:r>
                        <a:rPr lang="en-US" b="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m:t>
                      </m:r>
                    </m:oMath>
                  </m:oMathPara>
                </a14:m>
                <a:endParaRPr lang="en-US" b="1" i="1" dirty="0">
                  <a:solidFill>
                    <a:srgbClr val="C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𝐨𝐫</m:t>
                      </m:r>
                      <m:r>
                        <a:rPr lang="en-US" b="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oMath>
                  </m:oMathPara>
                </a14:m>
                <a:endParaRPr lang="en-US" b="1" baseline="30000" dirty="0">
                  <a:solidFill>
                    <a:srgbClr val="C00000"/>
                  </a:solidFill>
                </a:endParaRPr>
              </a:p>
              <a:p>
                <a:endParaRPr lang="en-US" b="1" baseline="30000" dirty="0">
                  <a:solidFill>
                    <a:srgbClr val="C00000"/>
                  </a:solidFill>
                </a:endParaRPr>
              </a:p>
              <a:p>
                <a:endParaRPr lang="en-US" b="1" baseline="30000" dirty="0">
                  <a:solidFill>
                    <a:srgbClr val="C0000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707102" y="5871132"/>
                <a:ext cx="5318069" cy="608533"/>
              </a:xfrm>
              <a:prstGeom prst="rect">
                <a:avLst/>
              </a:prstGeom>
              <a:blipFill>
                <a:blip r:embed="rId13"/>
                <a:stretch>
                  <a:fillRect t="-25000"/>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86867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fade">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wipe(left)">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500"/>
                                        <p:tgtEl>
                                          <p:spTgt spid="3">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wipe(left)">
                                      <p:cBhvr>
                                        <p:cTn id="87" dur="500"/>
                                        <p:tgtEl>
                                          <p:spTgt spid="1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7" grpId="0"/>
      <p:bldP spid="8" grpId="0"/>
      <p:bldP spid="9" grpId="0"/>
      <p:bldP spid="10" grpId="0"/>
      <p:bldP spid="13" grpId="0"/>
      <p:bldP spid="14" grpId="0"/>
      <p:bldP spid="15" grpId="0"/>
      <p:bldP spid="16" grpId="0"/>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463550" indent="-457200" algn="just">
                  <a:buFont typeface="+mj-lt"/>
                  <a:buAutoNum type="arabicPeriod" startAt="13"/>
                </a:pPr>
                <a:r>
                  <a:rPr lang="en-US" sz="2200" dirty="0"/>
                  <a:t>All string of a and b starting with a </a:t>
                </a:r>
              </a:p>
              <a:p>
                <a:pPr marL="406400" lvl="1" indent="0" algn="just">
                  <a:buNone/>
                </a:pPr>
                <a:endParaRPr lang="en-IN" dirty="0"/>
              </a:p>
              <a:p>
                <a:pPr marL="463550" indent="-457200" algn="just">
                  <a:buFont typeface="+mj-lt"/>
                  <a:buAutoNum type="arabicPeriod" startAt="13"/>
                </a:pPr>
                <a:r>
                  <a:rPr lang="en-IN" sz="2200" dirty="0"/>
                  <a:t>String of 0 and 1 ends with 00</a:t>
                </a:r>
                <a:r>
                  <a:rPr lang="en-IN" sz="2200" i="1" dirty="0">
                    <a:latin typeface="Cambria Math" panose="02040503050406030204" pitchFamily="18" charset="0"/>
                  </a:rPr>
                  <a:t> </a:t>
                </a:r>
              </a:p>
              <a:p>
                <a:pPr marL="406400" lvl="1" indent="0" algn="just">
                  <a:buNone/>
                </a:pPr>
                <a:endParaRPr lang="en-IN" sz="2200" i="1" dirty="0">
                  <a:latin typeface="Cambria Math" panose="02040503050406030204" pitchFamily="18" charset="0"/>
                </a:endParaRPr>
              </a:p>
              <a:p>
                <a:pPr marL="463550" indent="-457200" algn="just">
                  <a:buFont typeface="+mj-lt"/>
                  <a:buAutoNum type="arabicPeriod" startAt="13"/>
                </a:pPr>
                <a:r>
                  <a:rPr lang="en-IN" sz="2200" dirty="0"/>
                  <a:t>String ends with </a:t>
                </a:r>
                <a:r>
                  <a:rPr lang="en-IN" sz="2200" dirty="0" err="1"/>
                  <a:t>abb</a:t>
                </a:r>
                <a:r>
                  <a:rPr lang="en-IN" sz="2200" dirty="0"/>
                  <a:t>  </a:t>
                </a:r>
              </a:p>
              <a:p>
                <a:pPr marL="406400" lvl="1" indent="0" algn="just">
                  <a:buNone/>
                </a:pPr>
                <a:endParaRPr lang="en-IN" b="0" dirty="0"/>
              </a:p>
              <a:p>
                <a:pPr marL="463550" indent="-457200" algn="just">
                  <a:buFont typeface="+mj-lt"/>
                  <a:buAutoNum type="arabicPeriod" startAt="13"/>
                </a:pPr>
                <a:r>
                  <a:rPr lang="en-IN" sz="2200" dirty="0"/>
                  <a:t>String starts with 1 and ends with 0 </a:t>
                </a:r>
              </a:p>
              <a:p>
                <a:pPr marL="406400" lvl="1" indent="0" algn="just">
                  <a:buNone/>
                </a:pPr>
                <a:endParaRPr lang="en-IN" b="0" dirty="0"/>
              </a:p>
              <a:p>
                <a:pPr marL="463550" indent="-457200" algn="just">
                  <a:buFont typeface="+mj-lt"/>
                  <a:buAutoNum type="arabicPeriod" startAt="13"/>
                </a:pPr>
                <a:r>
                  <a:rPr lang="en-IN" sz="2200" dirty="0"/>
                  <a:t>All binary string with at least 3 characters and 3</a:t>
                </a:r>
                <a:r>
                  <a:rPr lang="en-IN" sz="2200" baseline="30000" dirty="0"/>
                  <a:t>rd</a:t>
                </a:r>
                <a:r>
                  <a:rPr lang="en-IN" sz="2200" dirty="0"/>
                  <a:t> character should be zero</a:t>
                </a:r>
              </a:p>
              <a:p>
                <a:pPr marL="463550" indent="-457200" algn="just">
                  <a:buFont typeface="+mj-lt"/>
                  <a:buAutoNum type="arabicPeriod" startAt="13"/>
                </a:pPr>
                <a:endParaRPr lang="en-US" sz="2200" dirty="0"/>
              </a:p>
              <a:p>
                <a:pPr marL="463550" indent="-457200" algn="just">
                  <a:buFont typeface="+mj-lt"/>
                  <a:buAutoNum type="arabicPeriod" startAt="13"/>
                </a:pPr>
                <a:r>
                  <a:rPr lang="en-IN" sz="2200" dirty="0"/>
                  <a:t>Language which consist of exactly two b’s over the set </a:t>
                </a:r>
                <a14:m>
                  <m:oMath xmlns:m="http://schemas.openxmlformats.org/officeDocument/2006/math">
                    <m:r>
                      <m:rPr>
                        <m:sty m:val="p"/>
                      </m:rPr>
                      <a:rPr lang="el-GR" sz="2200" i="1">
                        <a:latin typeface="Cambria Math" panose="02040503050406030204" pitchFamily="18" charset="0"/>
                        <a:ea typeface="Cambria Math" panose="02040503050406030204" pitchFamily="18" charset="0"/>
                      </a:rPr>
                      <m:t>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oMath>
                </a14:m>
                <a:endParaRPr lang="en-US" sz="2200" dirty="0"/>
              </a:p>
              <a:p>
                <a:pPr marL="406400" lvl="1"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78" t="-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237232" y="1322048"/>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𝒂𝒃𝒃</m:t>
                    </m:r>
                  </m:oMath>
                </a14:m>
                <a:r>
                  <a:rPr lang="en-US" b="1" dirty="0">
                    <a:solidFill>
                      <a:schemeClr val="accent1">
                        <a:lumMod val="75000"/>
                      </a:schemeClr>
                    </a:solidFill>
                  </a:rPr>
                  <a:t>…</a:t>
                </a:r>
              </a:p>
            </p:txBody>
          </p:sp>
        </mc:Choice>
        <mc:Fallback xmlns="">
          <p:sp>
            <p:nvSpPr>
              <p:cNvPr id="4" name="Rectangle 3"/>
              <p:cNvSpPr>
                <a:spLocks noRot="1" noChangeAspect="1" noMove="1" noResize="1" noEditPoints="1" noAdjustHandles="1" noChangeArrowheads="1" noChangeShapeType="1" noTextEdit="1"/>
              </p:cNvSpPr>
              <p:nvPr/>
            </p:nvSpPr>
            <p:spPr>
              <a:xfrm>
                <a:off x="2237232" y="1322048"/>
                <a:ext cx="3200400" cy="608533"/>
              </a:xfrm>
              <a:prstGeom prst="rect">
                <a:avLst/>
              </a:prstGeom>
              <a:blipFill>
                <a:blip r:embed="rId3"/>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468048" y="1322048"/>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5468048" y="1322048"/>
                <a:ext cx="3200400"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237233" y="2138290"/>
                <a:ext cx="389555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𝟏𝟏𝟎𝟎</m:t>
                    </m:r>
                  </m:oMath>
                </a14:m>
                <a:r>
                  <a:rPr lang="en-US" b="1" dirty="0">
                    <a:solidFill>
                      <a:schemeClr val="accent1">
                        <a:lumMod val="75000"/>
                      </a:schemeClr>
                    </a:solidFill>
                  </a:rPr>
                  <a:t>…</a:t>
                </a:r>
              </a:p>
            </p:txBody>
          </p:sp>
        </mc:Choice>
        <mc:Fallback xmlns="">
          <p:sp>
            <p:nvSpPr>
              <p:cNvPr id="8" name="Rectangle 7"/>
              <p:cNvSpPr>
                <a:spLocks noRot="1" noChangeAspect="1" noMove="1" noResize="1" noEditPoints="1" noAdjustHandles="1" noChangeArrowheads="1" noChangeShapeType="1" noTextEdit="1"/>
              </p:cNvSpPr>
              <p:nvPr/>
            </p:nvSpPr>
            <p:spPr>
              <a:xfrm>
                <a:off x="2237233" y="2138290"/>
                <a:ext cx="3895551" cy="608533"/>
              </a:xfrm>
              <a:prstGeom prst="rect">
                <a:avLst/>
              </a:prstGeom>
              <a:blipFill>
                <a:blip r:embed="rId5"/>
                <a:stretch>
                  <a:fillRect l="-31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562739" y="2138290"/>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𝟎𝟎</m:t>
                      </m:r>
                    </m:oMath>
                  </m:oMathPara>
                </a14:m>
                <a:endParaRPr lang="en-US" b="1" baseline="30000"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5562739" y="2138290"/>
                <a:ext cx="3200400"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237233" y="2984147"/>
                <a:ext cx="367281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𝒃𝒂𝒃𝒃</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𝒂𝒃𝒂𝒃𝒃</m:t>
                    </m:r>
                  </m:oMath>
                </a14:m>
                <a:r>
                  <a:rPr lang="en-US" b="1" dirty="0">
                    <a:solidFill>
                      <a:schemeClr val="accent1">
                        <a:lumMod val="75000"/>
                      </a:schemeClr>
                    </a:solidFill>
                  </a:rPr>
                  <a:t>…</a:t>
                </a:r>
              </a:p>
            </p:txBody>
          </p:sp>
        </mc:Choice>
        <mc:Fallback xmlns="">
          <p:sp>
            <p:nvSpPr>
              <p:cNvPr id="10" name="Rectangle 9"/>
              <p:cNvSpPr>
                <a:spLocks noRot="1" noChangeAspect="1" noMove="1" noResize="1" noEditPoints="1" noAdjustHandles="1" noChangeArrowheads="1" noChangeShapeType="1" noTextEdit="1"/>
              </p:cNvSpPr>
              <p:nvPr/>
            </p:nvSpPr>
            <p:spPr>
              <a:xfrm>
                <a:off x="2237233" y="2984147"/>
                <a:ext cx="3672811" cy="608533"/>
              </a:xfrm>
              <a:prstGeom prst="rect">
                <a:avLst/>
              </a:prstGeom>
              <a:blipFill>
                <a:blip r:embed="rId7"/>
                <a:stretch>
                  <a:fillRect l="-33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646406" y="2984147"/>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𝒂𝒃𝒃</m:t>
                      </m:r>
                    </m:oMath>
                  </m:oMathPara>
                </a14:m>
                <a:endParaRPr lang="en-US" b="1" dirty="0">
                  <a:solidFill>
                    <a:srgbClr val="C0000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646406" y="2984147"/>
                <a:ext cx="3200400"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237232" y="3823125"/>
                <a:ext cx="4122476"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𝟏𝟏𝟎𝟎</m:t>
                    </m:r>
                  </m:oMath>
                </a14:m>
                <a:r>
                  <a:rPr lang="en-US" b="1" dirty="0">
                    <a:solidFill>
                      <a:schemeClr val="accent1">
                        <a:lumMod val="75000"/>
                      </a:schemeClr>
                    </a:solidFill>
                  </a:rPr>
                  <a:t>…</a:t>
                </a:r>
              </a:p>
            </p:txBody>
          </p:sp>
        </mc:Choice>
        <mc:Fallback xmlns="">
          <p:sp>
            <p:nvSpPr>
              <p:cNvPr id="12" name="Rectangle 11"/>
              <p:cNvSpPr>
                <a:spLocks noRot="1" noChangeAspect="1" noMove="1" noResize="1" noEditPoints="1" noAdjustHandles="1" noChangeArrowheads="1" noChangeShapeType="1" noTextEdit="1"/>
              </p:cNvSpPr>
              <p:nvPr/>
            </p:nvSpPr>
            <p:spPr>
              <a:xfrm>
                <a:off x="2237232" y="3823125"/>
                <a:ext cx="4122476" cy="608533"/>
              </a:xfrm>
              <a:prstGeom prst="rect">
                <a:avLst/>
              </a:prstGeom>
              <a:blipFill>
                <a:blip r:embed="rId9"/>
                <a:stretch>
                  <a:fillRect l="-29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562739" y="3823125"/>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oMath>
                  </m:oMathPara>
                </a14:m>
                <a:endParaRPr lang="en-US" b="1" baseline="30000"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5562739" y="3823125"/>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237232" y="4821085"/>
                <a:ext cx="435861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m:t>
                    </m:r>
                  </m:oMath>
                </a14:m>
                <a:r>
                  <a:rPr lang="en-US" b="1" dirty="0">
                    <a:solidFill>
                      <a:schemeClr val="accent1">
                        <a:lumMod val="75000"/>
                      </a:schemeClr>
                    </a:solidFill>
                  </a:rPr>
                  <a:t>…</a:t>
                </a:r>
              </a:p>
            </p:txBody>
          </p:sp>
        </mc:Choice>
        <mc:Fallback xmlns="">
          <p:sp>
            <p:nvSpPr>
              <p:cNvPr id="14" name="Rectangle 13"/>
              <p:cNvSpPr>
                <a:spLocks noRot="1" noChangeAspect="1" noMove="1" noResize="1" noEditPoints="1" noAdjustHandles="1" noChangeArrowheads="1" noChangeShapeType="1" noTextEdit="1"/>
              </p:cNvSpPr>
              <p:nvPr/>
            </p:nvSpPr>
            <p:spPr>
              <a:xfrm>
                <a:off x="2237232" y="4821085"/>
                <a:ext cx="4358611" cy="608533"/>
              </a:xfrm>
              <a:prstGeom prst="rect">
                <a:avLst/>
              </a:prstGeom>
              <a:blipFill>
                <a:blip r:embed="rId11"/>
                <a:stretch>
                  <a:fillRect l="-28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049818" y="4803118"/>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𝟎</m:t>
                          </m:r>
                        </m:e>
                        <m:e>
                          <m:r>
                            <a:rPr lang="en-US" b="1" i="1">
                              <a:solidFill>
                                <a:srgbClr val="C00000"/>
                              </a:solidFill>
                              <a:latin typeface="Cambria Math" panose="02040503050406030204" pitchFamily="18" charset="0"/>
                            </a:rPr>
                            <m:t>𝟏</m:t>
                          </m:r>
                        </m:e>
                      </m:d>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𝟎</m:t>
                          </m:r>
                        </m:e>
                        <m:e>
                          <m:r>
                            <a:rPr lang="en-US" b="1" i="1">
                              <a:solidFill>
                                <a:srgbClr val="C00000"/>
                              </a:solidFill>
                              <a:latin typeface="Cambria Math" panose="02040503050406030204" pitchFamily="18" charset="0"/>
                            </a:rPr>
                            <m:t>𝟏</m:t>
                          </m:r>
                        </m:e>
                      </m:d>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6049818" y="4803118"/>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237232" y="5680133"/>
                <a:ext cx="348998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𝒃𝒃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𝒃𝒂𝒃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𝒂𝒂𝒃𝒃</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𝒂𝒃𝒃𝒂</m:t>
                    </m:r>
                  </m:oMath>
                </a14:m>
                <a:r>
                  <a:rPr lang="en-US" b="1" dirty="0">
                    <a:solidFill>
                      <a:schemeClr val="accent1">
                        <a:lumMod val="75000"/>
                      </a:schemeClr>
                    </a:solidFill>
                  </a:rPr>
                  <a:t>…</a:t>
                </a:r>
              </a:p>
            </p:txBody>
          </p:sp>
        </mc:Choice>
        <mc:Fallback xmlns="">
          <p:sp>
            <p:nvSpPr>
              <p:cNvPr id="16" name="Rectangle 15"/>
              <p:cNvSpPr>
                <a:spLocks noRot="1" noChangeAspect="1" noMove="1" noResize="1" noEditPoints="1" noAdjustHandles="1" noChangeArrowheads="1" noChangeShapeType="1" noTextEdit="1"/>
              </p:cNvSpPr>
              <p:nvPr/>
            </p:nvSpPr>
            <p:spPr>
              <a:xfrm>
                <a:off x="2237232" y="5680133"/>
                <a:ext cx="3489988" cy="608533"/>
              </a:xfrm>
              <a:prstGeom prst="rect">
                <a:avLst/>
              </a:prstGeom>
              <a:blipFill>
                <a:blip r:embed="rId13"/>
                <a:stretch>
                  <a:fillRect l="-349"/>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615030" y="564297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5615030" y="5642971"/>
                <a:ext cx="3200400" cy="608533"/>
              </a:xfrm>
              <a:prstGeom prst="rect">
                <a:avLst/>
              </a:prstGeom>
              <a:blipFill>
                <a:blip r:embed="rId14"/>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39688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fade">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ipe(left)">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500"/>
                                        <p:tgtEl>
                                          <p:spTgt spid="3">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wipe(left)">
                                      <p:cBhvr>
                                        <p:cTn id="87" dur="500"/>
                                        <p:tgtEl>
                                          <p:spTgt spid="1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wipe(left)">
                                      <p:cBhvr>
                                        <p:cTn id="9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p:bldP spid="8" grpId="0"/>
      <p:bldP spid="9" grpId="0"/>
      <p:bldP spid="10" grpId="0"/>
      <p:bldP spid="11" grpId="0"/>
      <p:bldP spid="12" grpId="0"/>
      <p:bldP spid="13" grpId="0"/>
      <p:bldP spid="14" grpId="0"/>
      <p:bldP spid="15" grpId="0"/>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457200" indent="-457200">
                  <a:lnSpc>
                    <a:spcPct val="100000"/>
                  </a:lnSpc>
                  <a:buFont typeface="+mj-lt"/>
                  <a:buAutoNum type="arabicPeriod" startAt="19"/>
                </a:pPr>
                <a:r>
                  <a:rPr lang="en-IN" sz="2200" dirty="0"/>
                  <a:t>The language with </a:t>
                </a:r>
                <a14:m>
                  <m:oMath xmlns:m="http://schemas.openxmlformats.org/officeDocument/2006/math">
                    <m:r>
                      <m:rPr>
                        <m:sty m:val="p"/>
                      </m:rPr>
                      <a:rPr lang="el-GR" sz="2200" i="1">
                        <a:latin typeface="Cambria Math" panose="02040503050406030204" pitchFamily="18" charset="0"/>
                        <a:ea typeface="Cambria Math" panose="02040503050406030204" pitchFamily="18" charset="0"/>
                      </a:rPr>
                      <m:t>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oMath>
                </a14:m>
                <a:r>
                  <a:rPr lang="en-IN" sz="2200" dirty="0"/>
                  <a:t> such that 3</a:t>
                </a:r>
                <a:r>
                  <a:rPr lang="en-IN" sz="2200" baseline="30000" dirty="0"/>
                  <a:t>rd</a:t>
                </a:r>
                <a:r>
                  <a:rPr lang="en-IN" sz="2200" dirty="0"/>
                  <a:t> character from right end of the string is always a</a:t>
                </a:r>
              </a:p>
              <a:p>
                <a:pPr marL="0" indent="0">
                  <a:lnSpc>
                    <a:spcPct val="100000"/>
                  </a:lnSpc>
                  <a:buNone/>
                </a:pPr>
                <a:endParaRPr lang="en-US" sz="2200" dirty="0"/>
              </a:p>
              <a:p>
                <a:pPr marL="457200" indent="-457200">
                  <a:lnSpc>
                    <a:spcPct val="100000"/>
                  </a:lnSpc>
                  <a:buFont typeface="+mj-lt"/>
                  <a:buAutoNum type="arabicPeriod" startAt="20"/>
                </a:pPr>
                <a:r>
                  <a:rPr lang="en-IN" sz="2200" dirty="0"/>
                  <a:t>Any no. of </a:t>
                </a:r>
                <a14:m>
                  <m:oMath xmlns:m="http://schemas.openxmlformats.org/officeDocument/2006/math">
                    <m:r>
                      <a:rPr lang="en-US" sz="2200" i="1">
                        <a:latin typeface="Cambria Math" panose="02040503050406030204" pitchFamily="18" charset="0"/>
                        <a:ea typeface="Cambria Math" panose="02040503050406030204" pitchFamily="18" charset="0"/>
                      </a:rPr>
                      <m:t>𝑎</m:t>
                    </m:r>
                  </m:oMath>
                </a14:m>
                <a:r>
                  <a:rPr lang="en-IN" sz="2200" dirty="0"/>
                  <a:t> followed by any no. of </a:t>
                </a:r>
                <a14:m>
                  <m:oMath xmlns:m="http://schemas.openxmlformats.org/officeDocument/2006/math">
                    <m:r>
                      <a:rPr lang="en-US" sz="2200" i="1">
                        <a:latin typeface="Cambria Math" panose="02040503050406030204" pitchFamily="18" charset="0"/>
                      </a:rPr>
                      <m:t>𝑏</m:t>
                    </m:r>
                  </m:oMath>
                </a14:m>
                <a:r>
                  <a:rPr lang="en-IN" sz="2200" dirty="0"/>
                  <a:t> followed by any no. of </a:t>
                </a:r>
                <a14:m>
                  <m:oMath xmlns:m="http://schemas.openxmlformats.org/officeDocument/2006/math">
                    <m:r>
                      <a:rPr lang="en-US" sz="2200" i="1">
                        <a:latin typeface="Cambria Math" panose="02040503050406030204" pitchFamily="18" charset="0"/>
                      </a:rPr>
                      <m:t>𝑐</m:t>
                    </m:r>
                  </m:oMath>
                </a14:m>
                <a:endParaRPr lang="en-US" sz="2200" dirty="0"/>
              </a:p>
              <a:p>
                <a:pPr marL="920750" lvl="1" indent="-457200">
                  <a:lnSpc>
                    <a:spcPct val="100000"/>
                  </a:lnSpc>
                  <a:buFont typeface="+mj-lt"/>
                  <a:buAutoNum type="arabicPeriod" startAt="20"/>
                </a:pPr>
                <a:endParaRPr lang="en-US" sz="2200" dirty="0"/>
              </a:p>
              <a:p>
                <a:pPr marL="463550" indent="-457200">
                  <a:lnSpc>
                    <a:spcPct val="100000"/>
                  </a:lnSpc>
                  <a:buFont typeface="+mj-lt"/>
                  <a:buAutoNum type="arabicPeriod" startAt="20"/>
                </a:pPr>
                <a:r>
                  <a:rPr lang="en-IN" sz="2200" dirty="0"/>
                  <a:t>String should contain at least three </a:t>
                </a:r>
                <a14:m>
                  <m:oMath xmlns:m="http://schemas.openxmlformats.org/officeDocument/2006/math">
                    <m:r>
                      <a:rPr lang="en-US" sz="2200">
                        <a:latin typeface="Cambria Math" panose="02040503050406030204" pitchFamily="18" charset="0"/>
                      </a:rPr>
                      <m:t>1</m:t>
                    </m:r>
                  </m:oMath>
                </a14:m>
                <a:endParaRPr lang="en-US" sz="2200" dirty="0"/>
              </a:p>
              <a:p>
                <a:pPr marL="406400" lvl="1" indent="0">
                  <a:lnSpc>
                    <a:spcPct val="100000"/>
                  </a:lnSpc>
                  <a:buNone/>
                </a:pPr>
                <a:endParaRPr lang="en-US" sz="2200" dirty="0"/>
              </a:p>
              <a:p>
                <a:pPr marL="463550" indent="-457200">
                  <a:lnSpc>
                    <a:spcPct val="100000"/>
                  </a:lnSpc>
                  <a:buFont typeface="+mj-lt"/>
                  <a:buAutoNum type="arabicPeriod" startAt="20"/>
                </a:pPr>
                <a:r>
                  <a:rPr lang="en-IN" sz="2200" dirty="0"/>
                  <a:t>String should contain exactly two </a:t>
                </a:r>
                <a14:m>
                  <m:oMath xmlns:m="http://schemas.openxmlformats.org/officeDocument/2006/math">
                    <m:r>
                      <a:rPr lang="en-US" sz="2200" i="1">
                        <a:latin typeface="Cambria Math" panose="02040503050406030204" pitchFamily="18" charset="0"/>
                      </a:rPr>
                      <m:t>1</m:t>
                    </m:r>
                  </m:oMath>
                </a14:m>
                <a:endParaRPr lang="en-US" sz="2200" dirty="0"/>
              </a:p>
              <a:p>
                <a:pPr marL="463550" lvl="1" indent="0">
                  <a:lnSpc>
                    <a:spcPct val="100000"/>
                  </a:lnSpc>
                  <a:buNone/>
                </a:pPr>
                <a:endParaRPr lang="en-US" sz="2200" dirty="0"/>
              </a:p>
              <a:p>
                <a:pPr marL="463550" indent="-457200">
                  <a:lnSpc>
                    <a:spcPct val="100000"/>
                  </a:lnSpc>
                  <a:buFont typeface="+mj-lt"/>
                  <a:buAutoNum type="arabicPeriod" startAt="20"/>
                </a:pPr>
                <a:r>
                  <a:rPr lang="en-IN" sz="2200" dirty="0"/>
                  <a:t>Length of string should be at least 1 and at most 3</a:t>
                </a:r>
              </a:p>
              <a:p>
                <a:pPr marL="463550" lvl="1" indent="0">
                  <a:lnSpc>
                    <a:spcPct val="100000"/>
                  </a:lnSpc>
                  <a:buNone/>
                </a:pPr>
                <a:endParaRPr lang="en-US" sz="2200" dirty="0"/>
              </a:p>
              <a:p>
                <a:pPr marL="520700" indent="-457200">
                  <a:lnSpc>
                    <a:spcPct val="100000"/>
                  </a:lnSpc>
                  <a:buFont typeface="+mj-lt"/>
                  <a:buAutoNum type="arabicPeriod" startAt="20"/>
                </a:pPr>
                <a:r>
                  <a:rPr lang="en-IN" sz="2200" dirty="0"/>
                  <a:t>No. of zero should be multiple of 3</a:t>
                </a:r>
                <a:endParaRPr lang="en-US" sz="2200" dirty="0"/>
              </a:p>
              <a:p>
                <a:pPr marL="463550" lvl="1" indent="0">
                  <a:lnSpc>
                    <a:spcPct val="100000"/>
                  </a:lnSpc>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9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247659" y="1259448"/>
                <a:ext cx="34290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𝒂𝒂𝒃𝒂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𝒂𝒃𝒃</m:t>
                    </m:r>
                  </m:oMath>
                </a14:m>
                <a:r>
                  <a:rPr lang="en-US" b="1" dirty="0">
                    <a:solidFill>
                      <a:schemeClr val="accent1">
                        <a:lumMod val="75000"/>
                      </a:schemeClr>
                    </a:solidFill>
                  </a:rPr>
                  <a:t>…</a:t>
                </a:r>
              </a:p>
            </p:txBody>
          </p:sp>
        </mc:Choice>
        <mc:Fallback xmlns="">
          <p:sp>
            <p:nvSpPr>
              <p:cNvPr id="8" name="Rectangle 7"/>
              <p:cNvSpPr>
                <a:spLocks noRot="1" noChangeAspect="1" noMove="1" noResize="1" noEditPoints="1" noAdjustHandles="1" noChangeArrowheads="1" noChangeShapeType="1" noTextEdit="1"/>
              </p:cNvSpPr>
              <p:nvPr/>
            </p:nvSpPr>
            <p:spPr>
              <a:xfrm>
                <a:off x="2247659" y="1259448"/>
                <a:ext cx="3429000" cy="608533"/>
              </a:xfrm>
              <a:prstGeom prst="rect">
                <a:avLst/>
              </a:prstGeom>
              <a:blipFill>
                <a:blip r:embed="rId3"/>
                <a:stretch>
                  <a:fillRect l="-534"/>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036470" y="126386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oMath>
                  </m:oMathPara>
                </a14:m>
                <a:endParaRPr lang="en-US" b="1"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6036470" y="1263869"/>
                <a:ext cx="3200400"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223596" y="2092945"/>
                <a:ext cx="402860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ea typeface="Cambria Math" panose="02040503050406030204" pitchFamily="18" charset="0"/>
                      </a:rPr>
                      <m:t>𝜖</m:t>
                    </m:r>
                    <m:r>
                      <a:rPr lang="en-US" b="1" i="1" dirty="0">
                        <a:solidFill>
                          <a:schemeClr val="accent1">
                            <a:lumMod val="75000"/>
                          </a:schemeClr>
                        </a:solidFill>
                        <a:latin typeface="Cambria Math" panose="02040503050406030204" pitchFamily="18" charset="0"/>
                        <a:ea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𝒂𝒃𝒄</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𝒂𝒂𝒃𝒃𝒄𝒄</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𝒂𝒂𝒃𝒄</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𝒂𝒃𝒃</m:t>
                    </m:r>
                  </m:oMath>
                </a14:m>
                <a:r>
                  <a:rPr lang="en-US" b="1" dirty="0">
                    <a:solidFill>
                      <a:schemeClr val="accent1">
                        <a:lumMod val="75000"/>
                      </a:schemeClr>
                    </a:solidFill>
                  </a:rPr>
                  <a:t>…</a:t>
                </a:r>
              </a:p>
            </p:txBody>
          </p:sp>
        </mc:Choice>
        <mc:Fallback xmlns="">
          <p:sp>
            <p:nvSpPr>
              <p:cNvPr id="10" name="Rectangle 9"/>
              <p:cNvSpPr>
                <a:spLocks noRot="1" noChangeAspect="1" noMove="1" noResize="1" noEditPoints="1" noAdjustHandles="1" noChangeArrowheads="1" noChangeShapeType="1" noTextEdit="1"/>
              </p:cNvSpPr>
              <p:nvPr/>
            </p:nvSpPr>
            <p:spPr>
              <a:xfrm>
                <a:off x="2223596" y="2092945"/>
                <a:ext cx="4028608" cy="608533"/>
              </a:xfrm>
              <a:prstGeom prst="rect">
                <a:avLst/>
              </a:prstGeom>
              <a:blipFill>
                <a:blip r:embed="rId5"/>
                <a:stretch>
                  <a:fillRect l="-454"/>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410200" y="2097886"/>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𝒂</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𝒄</m:t>
                      </m:r>
                      <m:r>
                        <a:rPr lang="en-US" b="1" i="1" baseline="30000">
                          <a:solidFill>
                            <a:srgbClr val="C00000"/>
                          </a:solidFill>
                          <a:latin typeface="Cambria Math" panose="02040503050406030204" pitchFamily="18" charset="0"/>
                        </a:rPr>
                        <m:t>∗</m:t>
                      </m:r>
                    </m:oMath>
                  </m:oMathPara>
                </a14:m>
                <a:endParaRPr lang="en-US" b="1" dirty="0">
                  <a:solidFill>
                    <a:srgbClr val="C0000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10200" y="2097886"/>
                <a:ext cx="3200400"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247659" y="2890751"/>
                <a:ext cx="550380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𝟎𝟏𝟎𝟏𝟏𝟏𝟎</m:t>
                    </m:r>
                  </m:oMath>
                </a14:m>
                <a:r>
                  <a:rPr lang="en-US" b="1" dirty="0">
                    <a:solidFill>
                      <a:schemeClr val="accent1">
                        <a:lumMod val="75000"/>
                      </a:schemeClr>
                    </a:solidFill>
                  </a:rPr>
                  <a:t>….</a:t>
                </a:r>
              </a:p>
            </p:txBody>
          </p:sp>
        </mc:Choice>
        <mc:Fallback xmlns="">
          <p:sp>
            <p:nvSpPr>
              <p:cNvPr id="12" name="Rectangle 11"/>
              <p:cNvSpPr>
                <a:spLocks noRot="1" noChangeAspect="1" noMove="1" noResize="1" noEditPoints="1" noAdjustHandles="1" noChangeArrowheads="1" noChangeShapeType="1" noTextEdit="1"/>
              </p:cNvSpPr>
              <p:nvPr/>
            </p:nvSpPr>
            <p:spPr>
              <a:xfrm>
                <a:off x="2247659" y="2890751"/>
                <a:ext cx="5503808" cy="608533"/>
              </a:xfrm>
              <a:prstGeom prst="rect">
                <a:avLst/>
              </a:prstGeom>
              <a:blipFill>
                <a:blip r:embed="rId7"/>
                <a:stretch>
                  <a:fillRect l="-33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933624" y="2885791"/>
                <a:ext cx="41610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5933624" y="2885791"/>
                <a:ext cx="4161064"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223596" y="3721849"/>
                <a:ext cx="550380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𝟎𝟏𝟎𝟎𝟏𝟎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𝟏𝟎𝟎𝟏𝟎𝟎</m:t>
                    </m:r>
                  </m:oMath>
                </a14:m>
                <a:r>
                  <a:rPr lang="en-US" b="1" dirty="0">
                    <a:solidFill>
                      <a:schemeClr val="accent1">
                        <a:lumMod val="75000"/>
                      </a:schemeClr>
                    </a:solidFill>
                  </a:rPr>
                  <a:t>….</a:t>
                </a:r>
              </a:p>
            </p:txBody>
          </p:sp>
        </mc:Choice>
        <mc:Fallback xmlns="">
          <p:sp>
            <p:nvSpPr>
              <p:cNvPr id="14" name="Rectangle 13"/>
              <p:cNvSpPr>
                <a:spLocks noRot="1" noChangeAspect="1" noMove="1" noResize="1" noEditPoints="1" noAdjustHandles="1" noChangeArrowheads="1" noChangeShapeType="1" noTextEdit="1"/>
              </p:cNvSpPr>
              <p:nvPr/>
            </p:nvSpPr>
            <p:spPr>
              <a:xfrm>
                <a:off x="2223596" y="3721849"/>
                <a:ext cx="5503808" cy="608533"/>
              </a:xfrm>
              <a:prstGeom prst="rect">
                <a:avLst/>
              </a:prstGeom>
              <a:blipFill>
                <a:blip r:embed="rId9"/>
                <a:stretch>
                  <a:fillRect l="-33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072739" y="3714867"/>
                <a:ext cx="41610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𝟎</m:t>
                          </m:r>
                        </m:e>
                        <m:sup>
                          <m:r>
                            <a:rPr lang="en-US" b="1" i="1">
                              <a:solidFill>
                                <a:srgbClr val="C00000"/>
                              </a:solidFill>
                              <a:latin typeface="Cambria Math" panose="02040503050406030204" pitchFamily="18" charset="0"/>
                            </a:rPr>
                            <m:t>∗</m:t>
                          </m:r>
                        </m:sup>
                      </m:sSup>
                      <m:r>
                        <a:rPr lang="en-US" b="1" i="1">
                          <a:solidFill>
                            <a:srgbClr val="C00000"/>
                          </a:solidFill>
                          <a:latin typeface="Cambria Math" panose="02040503050406030204" pitchFamily="18" charset="0"/>
                        </a:rPr>
                        <m:t>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𝟎</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𝟎</m:t>
                          </m:r>
                        </m:e>
                        <m:sup>
                          <m:r>
                            <a:rPr lang="en-US" b="1" i="1">
                              <a:solidFill>
                                <a:srgbClr val="C00000"/>
                              </a:solidFill>
                              <a:latin typeface="Cambria Math" panose="02040503050406030204" pitchFamily="18" charset="0"/>
                            </a:rPr>
                            <m:t>∗</m:t>
                          </m:r>
                        </m:sup>
                      </m:sSup>
                    </m:oMath>
                  </m:oMathPara>
                </a14:m>
                <a:endParaRPr lang="en-US" b="1" dirty="0">
                  <a:solidFill>
                    <a:srgbClr val="C0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6072739" y="3714867"/>
                <a:ext cx="4161064"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220388" y="4507713"/>
                <a:ext cx="550380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m:t>
                    </m:r>
                  </m:oMath>
                </a14:m>
                <a:r>
                  <a:rPr lang="en-US" b="1" dirty="0">
                    <a:solidFill>
                      <a:schemeClr val="accent1">
                        <a:lumMod val="75000"/>
                      </a:schemeClr>
                    </a:solidFill>
                  </a:rPr>
                  <a:t>….</a:t>
                </a:r>
              </a:p>
            </p:txBody>
          </p:sp>
        </mc:Choice>
        <mc:Fallback xmlns="">
          <p:sp>
            <p:nvSpPr>
              <p:cNvPr id="16" name="Rectangle 15"/>
              <p:cNvSpPr>
                <a:spLocks noRot="1" noChangeAspect="1" noMove="1" noResize="1" noEditPoints="1" noAdjustHandles="1" noChangeArrowheads="1" noChangeShapeType="1" noTextEdit="1"/>
              </p:cNvSpPr>
              <p:nvPr/>
            </p:nvSpPr>
            <p:spPr>
              <a:xfrm>
                <a:off x="2220388" y="4507713"/>
                <a:ext cx="5503808" cy="608533"/>
              </a:xfrm>
              <a:prstGeom prst="rect">
                <a:avLst/>
              </a:prstGeom>
              <a:blipFill>
                <a:blip r:embed="rId11"/>
                <a:stretch>
                  <a:fillRect l="-22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252204" y="4507713"/>
                <a:ext cx="4913302"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r>
                        <a:rPr lang="en-US" b="1" i="1">
                          <a:solidFill>
                            <a:srgbClr val="C00000"/>
                          </a:solidFill>
                          <a:latin typeface="Cambria Math" panose="02040503050406030204" pitchFamily="18" charset="0"/>
                        </a:rPr>
                        <m:t> </m:t>
                      </m:r>
                      <m:d>
                        <m:dPr>
                          <m:begChr m:val="|"/>
                          <m:endChr m:val="|"/>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 </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r>
                            <a:rPr lang="en-US" b="1" i="1">
                              <a:solidFill>
                                <a:srgbClr val="C00000"/>
                              </a:solidFill>
                              <a:latin typeface="Cambria Math" panose="02040503050406030204" pitchFamily="18" charset="0"/>
                            </a:rPr>
                            <m:t> </m:t>
                          </m:r>
                        </m:e>
                      </m:d>
                      <m:r>
                        <a:rPr lang="en-US" b="1" i="1">
                          <a:solidFill>
                            <a:srgbClr val="C00000"/>
                          </a:solidFill>
                          <a:latin typeface="Cambria Math" panose="02040503050406030204" pitchFamily="18" charset="0"/>
                        </a:rPr>
                        <m:t> </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oMath>
                  </m:oMathPara>
                </a14:m>
                <a:endParaRPr lang="en-US" b="1" dirty="0">
                  <a:solidFill>
                    <a:srgbClr val="C0000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6252204" y="4507713"/>
                <a:ext cx="4913302"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200335" y="5385094"/>
                <a:ext cx="59055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𝟏𝟎𝟎𝟎𝟏𝟎𝟎𝟏𝟎</m:t>
                    </m:r>
                  </m:oMath>
                </a14:m>
                <a:r>
                  <a:rPr lang="en-US" b="1" dirty="0">
                    <a:solidFill>
                      <a:schemeClr val="accent1">
                        <a:lumMod val="75000"/>
                      </a:schemeClr>
                    </a:solidFill>
                  </a:rPr>
                  <a:t>….</a:t>
                </a:r>
              </a:p>
            </p:txBody>
          </p:sp>
        </mc:Choice>
        <mc:Fallback xmlns="">
          <p:sp>
            <p:nvSpPr>
              <p:cNvPr id="18" name="Rectangle 17"/>
              <p:cNvSpPr>
                <a:spLocks noRot="1" noChangeAspect="1" noMove="1" noResize="1" noEditPoints="1" noAdjustHandles="1" noChangeArrowheads="1" noChangeShapeType="1" noTextEdit="1"/>
              </p:cNvSpPr>
              <p:nvPr/>
            </p:nvSpPr>
            <p:spPr>
              <a:xfrm>
                <a:off x="2200335" y="5385094"/>
                <a:ext cx="5905500" cy="608533"/>
              </a:xfrm>
              <a:prstGeom prst="rect">
                <a:avLst/>
              </a:prstGeom>
              <a:blipFill>
                <a:blip r:embed="rId13"/>
                <a:stretch>
                  <a:fillRect l="-31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391400" y="5351582"/>
                <a:ext cx="41610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dirty="0">
                  <a:solidFill>
                    <a:srgbClr val="C0000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7391400" y="5351582"/>
                <a:ext cx="4161064" cy="608533"/>
              </a:xfrm>
              <a:prstGeom prst="rect">
                <a:avLst/>
              </a:prstGeom>
              <a:blipFill>
                <a:blip r:embed="rId14"/>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400528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fade">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500"/>
                                        <p:tgtEl>
                                          <p:spTgt spid="3">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ipe(left)">
                                      <p:cBhvr>
                                        <p:cTn id="9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20700" indent="-457200">
                  <a:buFont typeface="+mj-lt"/>
                  <a:buAutoNum type="arabicPeriod" startAt="25"/>
                </a:pPr>
                <a:r>
                  <a:rPr lang="en-IN" sz="2200" dirty="0"/>
                  <a:t>The language with </a:t>
                </a:r>
                <a14:m>
                  <m:oMath xmlns:m="http://schemas.openxmlformats.org/officeDocument/2006/math">
                    <m:r>
                      <m:rPr>
                        <m:sty m:val="p"/>
                      </m:rPr>
                      <a:rPr lang="el-GR" sz="2200" i="1">
                        <a:latin typeface="Cambria Math" panose="02040503050406030204" pitchFamily="18" charset="0"/>
                        <a:ea typeface="Cambria Math" panose="02040503050406030204" pitchFamily="18" charset="0"/>
                      </a:rPr>
                      <m:t>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𝑐</m:t>
                    </m:r>
                    <m:r>
                      <a:rPr lang="en-US" sz="2200" i="1">
                        <a:latin typeface="Cambria Math" panose="02040503050406030204" pitchFamily="18" charset="0"/>
                        <a:ea typeface="Cambria Math" panose="02040503050406030204" pitchFamily="18" charset="0"/>
                      </a:rPr>
                      <m:t>}</m:t>
                    </m:r>
                  </m:oMath>
                </a14:m>
                <a:r>
                  <a:rPr lang="en-IN" sz="2200" dirty="0"/>
                  <a:t> where </a:t>
                </a:r>
                <a14:m>
                  <m:oMath xmlns:m="http://schemas.openxmlformats.org/officeDocument/2006/math">
                    <m:r>
                      <a:rPr lang="en-US" sz="2200" i="1">
                        <a:latin typeface="Cambria Math" panose="02040503050406030204" pitchFamily="18" charset="0"/>
                        <a:ea typeface="Cambria Math" panose="02040503050406030204" pitchFamily="18" charset="0"/>
                      </a:rPr>
                      <m:t>𝑎</m:t>
                    </m:r>
                  </m:oMath>
                </a14:m>
                <a:r>
                  <a:rPr lang="en-IN" sz="2200" dirty="0"/>
                  <a:t> should be multiple of 3</a:t>
                </a:r>
              </a:p>
              <a:p>
                <a:pPr marL="63500" indent="0">
                  <a:buNone/>
                </a:pPr>
                <a:endParaRPr lang="en-IN" sz="2200" dirty="0"/>
              </a:p>
              <a:p>
                <a:pPr marL="520700" indent="-457200">
                  <a:buFont typeface="+mj-lt"/>
                  <a:buAutoNum type="arabicPeriod" startAt="26"/>
                </a:pPr>
                <a:r>
                  <a:rPr lang="en-IN" sz="2200" dirty="0"/>
                  <a:t>Even no. of 0</a:t>
                </a:r>
              </a:p>
              <a:p>
                <a:pPr marL="920750" lvl="1" indent="-457200">
                  <a:buFont typeface="+mj-lt"/>
                  <a:buAutoNum type="arabicPeriod" startAt="26"/>
                </a:pPr>
                <a:endParaRPr lang="en-IN" sz="2200" dirty="0"/>
              </a:p>
              <a:p>
                <a:pPr marL="520700" indent="-457200">
                  <a:buFont typeface="+mj-lt"/>
                  <a:buAutoNum type="arabicPeriod" startAt="26"/>
                </a:pPr>
                <a:r>
                  <a:rPr lang="en-IN" sz="2200" dirty="0"/>
                  <a:t>String should have odd length</a:t>
                </a:r>
              </a:p>
              <a:p>
                <a:pPr marL="463550" lvl="1" indent="0">
                  <a:buNone/>
                </a:pPr>
                <a:endParaRPr lang="en-IN" sz="2200" dirty="0"/>
              </a:p>
              <a:p>
                <a:pPr marL="520700" indent="-457200">
                  <a:buFont typeface="+mj-lt"/>
                  <a:buAutoNum type="arabicPeriod" startAt="26"/>
                </a:pPr>
                <a:r>
                  <a:rPr lang="en-IN" sz="2200" dirty="0"/>
                  <a:t>String should have even length</a:t>
                </a:r>
              </a:p>
              <a:p>
                <a:pPr marL="463550" lvl="1" indent="0">
                  <a:buNone/>
                </a:pPr>
                <a:endParaRPr lang="en-IN" sz="2200" dirty="0"/>
              </a:p>
              <a:p>
                <a:pPr marL="520700" indent="-457200">
                  <a:buFont typeface="+mj-lt"/>
                  <a:buAutoNum type="arabicPeriod" startAt="26"/>
                </a:pPr>
                <a:r>
                  <a:rPr lang="en-IN" sz="2200" dirty="0"/>
                  <a:t>String start with 0 and has odd length</a:t>
                </a:r>
              </a:p>
              <a:p>
                <a:pPr marL="463550" lvl="1" indent="0">
                  <a:buNone/>
                </a:pPr>
                <a:endParaRPr lang="en-IN" sz="2200" dirty="0"/>
              </a:p>
              <a:p>
                <a:pPr marL="520700" indent="-457200">
                  <a:buFont typeface="+mj-lt"/>
                  <a:buAutoNum type="arabicPeriod" startAt="30"/>
                </a:pPr>
                <a:r>
                  <a:rPr lang="en-IN" sz="2200" dirty="0"/>
                  <a:t>String start with 1 and has even length</a:t>
                </a:r>
              </a:p>
              <a:p>
                <a:pPr marL="463550" lvl="1" indent="0">
                  <a:buNone/>
                </a:pPr>
                <a:endParaRPr lang="en-IN"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209" t="-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237232" y="1382697"/>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𝒃𝒂𝒂𝒂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𝒃𝒂𝒄𝒂𝒃𝒂</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𝒂𝒂𝒂𝒂𝒂𝒂</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237232" y="1382697"/>
                <a:ext cx="3200400" cy="608533"/>
              </a:xfrm>
              <a:prstGeom prst="rect">
                <a:avLst/>
              </a:prstGeom>
              <a:blipFill>
                <a:blip r:embed="rId3"/>
                <a:stretch>
                  <a:fillRect l="-381" r="-2781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189957" y="1382697"/>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6189957" y="1382697"/>
                <a:ext cx="4389664"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237233" y="2247380"/>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𝟏𝟎𝟎𝟏𝟎𝟎</m:t>
                    </m:r>
                  </m:oMath>
                </a14:m>
                <a:r>
                  <a:rPr lang="en-US" b="1" dirty="0">
                    <a:solidFill>
                      <a:schemeClr val="accent1">
                        <a:lumMod val="75000"/>
                      </a:schemeClr>
                    </a:solidFill>
                  </a:rPr>
                  <a:t>….</a:t>
                </a:r>
              </a:p>
            </p:txBody>
          </p:sp>
        </mc:Choice>
        <mc:Fallback xmlns="">
          <p:sp>
            <p:nvSpPr>
              <p:cNvPr id="9" name="Rectangle 8"/>
              <p:cNvSpPr>
                <a:spLocks noRot="1" noChangeAspect="1" noMove="1" noResize="1" noEditPoints="1" noAdjustHandles="1" noChangeArrowheads="1" noChangeShapeType="1" noTextEdit="1"/>
              </p:cNvSpPr>
              <p:nvPr/>
            </p:nvSpPr>
            <p:spPr>
              <a:xfrm>
                <a:off x="2237233" y="2247380"/>
                <a:ext cx="4498905" cy="608533"/>
              </a:xfrm>
              <a:prstGeom prst="rect">
                <a:avLst/>
              </a:prstGeom>
              <a:blipFill>
                <a:blip r:embed="rId5"/>
                <a:stretch>
                  <a:fillRect l="-2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268825" y="2247380"/>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268825" y="2247380"/>
                <a:ext cx="4389664"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237233" y="3164298"/>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𝟏𝟎𝟎𝟏𝟎</m:t>
                    </m:r>
                  </m:oMath>
                </a14:m>
                <a:r>
                  <a:rPr lang="en-US" b="1" dirty="0">
                    <a:solidFill>
                      <a:schemeClr val="accent1">
                        <a:lumMod val="75000"/>
                      </a:schemeClr>
                    </a:solidFill>
                  </a:rPr>
                  <a:t>….</a:t>
                </a:r>
              </a:p>
            </p:txBody>
          </p:sp>
        </mc:Choice>
        <mc:Fallback xmlns="">
          <p:sp>
            <p:nvSpPr>
              <p:cNvPr id="11" name="Rectangle 10"/>
              <p:cNvSpPr>
                <a:spLocks noRot="1" noChangeAspect="1" noMove="1" noResize="1" noEditPoints="1" noAdjustHandles="1" noChangeArrowheads="1" noChangeShapeType="1" noTextEdit="1"/>
              </p:cNvSpPr>
              <p:nvPr/>
            </p:nvSpPr>
            <p:spPr>
              <a:xfrm>
                <a:off x="2237233" y="3164298"/>
                <a:ext cx="4498905" cy="608533"/>
              </a:xfrm>
              <a:prstGeom prst="rect">
                <a:avLst/>
              </a:prstGeom>
              <a:blipFill>
                <a:blip r:embed="rId7"/>
                <a:stretch>
                  <a:fillRect l="-2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631385" y="3164298"/>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5631385" y="3164298"/>
                <a:ext cx="4389664"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237233" y="4042399"/>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𝟏𝟎𝟎𝟏𝟎𝟎</m:t>
                    </m:r>
                  </m:oMath>
                </a14:m>
                <a:r>
                  <a:rPr lang="en-US" b="1" dirty="0">
                    <a:solidFill>
                      <a:schemeClr val="accent1">
                        <a:lumMod val="75000"/>
                      </a:schemeClr>
                    </a:solidFill>
                  </a:rPr>
                  <a:t>….</a:t>
                </a:r>
              </a:p>
            </p:txBody>
          </p:sp>
        </mc:Choice>
        <mc:Fallback xmlns="">
          <p:sp>
            <p:nvSpPr>
              <p:cNvPr id="13" name="Rectangle 12"/>
              <p:cNvSpPr>
                <a:spLocks noRot="1" noChangeAspect="1" noMove="1" noResize="1" noEditPoints="1" noAdjustHandles="1" noChangeArrowheads="1" noChangeShapeType="1" noTextEdit="1"/>
              </p:cNvSpPr>
              <p:nvPr/>
            </p:nvSpPr>
            <p:spPr>
              <a:xfrm>
                <a:off x="2237233" y="4042399"/>
                <a:ext cx="4498905" cy="608533"/>
              </a:xfrm>
              <a:prstGeom prst="rect">
                <a:avLst/>
              </a:prstGeom>
              <a:blipFill>
                <a:blip r:embed="rId9"/>
                <a:stretch>
                  <a:fillRect l="-2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301184" y="4042399"/>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 (</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5301184" y="4042399"/>
                <a:ext cx="4389664"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237233" y="4976667"/>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𝟎𝟎𝟎𝟏𝟎</m:t>
                    </m:r>
                  </m:oMath>
                </a14:m>
                <a:r>
                  <a:rPr lang="en-US" b="1" dirty="0">
                    <a:solidFill>
                      <a:schemeClr val="accent1">
                        <a:lumMod val="75000"/>
                      </a:schemeClr>
                    </a:solidFill>
                  </a:rPr>
                  <a:t>….</a:t>
                </a:r>
              </a:p>
            </p:txBody>
          </p:sp>
        </mc:Choice>
        <mc:Fallback xmlns="">
          <p:sp>
            <p:nvSpPr>
              <p:cNvPr id="15" name="Rectangle 14"/>
              <p:cNvSpPr>
                <a:spLocks noRot="1" noChangeAspect="1" noMove="1" noResize="1" noEditPoints="1" noAdjustHandles="1" noChangeArrowheads="1" noChangeShapeType="1" noTextEdit="1"/>
              </p:cNvSpPr>
              <p:nvPr/>
            </p:nvSpPr>
            <p:spPr>
              <a:xfrm>
                <a:off x="2237233" y="4976667"/>
                <a:ext cx="4498905" cy="608533"/>
              </a:xfrm>
              <a:prstGeom prst="rect">
                <a:avLst/>
              </a:prstGeom>
              <a:blipFill>
                <a:blip r:embed="rId11"/>
                <a:stretch>
                  <a:fillRect l="-2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486536" y="4976667"/>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d>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5486536" y="4976667"/>
                <a:ext cx="4389664"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237233" y="5866161"/>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𝟏𝟎𝟎𝟏𝟎𝟎</m:t>
                    </m:r>
                  </m:oMath>
                </a14:m>
                <a:r>
                  <a:rPr lang="en-US" b="1" dirty="0">
                    <a:solidFill>
                      <a:schemeClr val="accent1">
                        <a:lumMod val="75000"/>
                      </a:schemeClr>
                    </a:solidFill>
                  </a:rPr>
                  <a:t>….</a:t>
                </a:r>
              </a:p>
            </p:txBody>
          </p:sp>
        </mc:Choice>
        <mc:Fallback xmlns="">
          <p:sp>
            <p:nvSpPr>
              <p:cNvPr id="17" name="Rectangle 16"/>
              <p:cNvSpPr>
                <a:spLocks noRot="1" noChangeAspect="1" noMove="1" noResize="1" noEditPoints="1" noAdjustHandles="1" noChangeArrowheads="1" noChangeShapeType="1" noTextEdit="1"/>
              </p:cNvSpPr>
              <p:nvPr/>
            </p:nvSpPr>
            <p:spPr>
              <a:xfrm>
                <a:off x="2237233" y="5866161"/>
                <a:ext cx="4498905" cy="608533"/>
              </a:xfrm>
              <a:prstGeom prst="rect">
                <a:avLst/>
              </a:prstGeom>
              <a:blipFill>
                <a:blip r:embed="rId13"/>
                <a:stretch>
                  <a:fillRect l="-2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623486" y="5866161"/>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623486" y="5866161"/>
                <a:ext cx="4389664" cy="608533"/>
              </a:xfrm>
              <a:prstGeom prst="rect">
                <a:avLst/>
              </a:prstGeom>
              <a:blipFill>
                <a:blip r:embed="rId14"/>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81550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fade">
                                      <p:cBhvr>
                                        <p:cTn id="67" dur="500"/>
                                        <p:tgtEl>
                                          <p:spTgt spid="3">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500"/>
                                        <p:tgtEl>
                                          <p:spTgt spid="3">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left)">
                                      <p:cBhvr>
                                        <p:cTn id="87" dur="500"/>
                                        <p:tgtEl>
                                          <p:spTgt spid="1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P spid="9" grpId="0"/>
      <p:bldP spid="10" grpId="0"/>
      <p:bldP spid="11" grpId="0"/>
      <p:bldP spid="12" grpId="0"/>
      <p:bldP spid="13" grpId="0"/>
      <p:bldP spid="14" grpId="0"/>
      <p:bldP spid="15" grpId="0"/>
      <p:bldP spid="16" grpId="0"/>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examples</a:t>
            </a:r>
          </a:p>
        </p:txBody>
      </p:sp>
      <p:sp>
        <p:nvSpPr>
          <p:cNvPr id="3" name="Content Placeholder 2"/>
          <p:cNvSpPr>
            <a:spLocks noGrp="1"/>
          </p:cNvSpPr>
          <p:nvPr>
            <p:ph idx="1"/>
          </p:nvPr>
        </p:nvSpPr>
        <p:spPr/>
        <p:txBody>
          <a:bodyPr>
            <a:normAutofit/>
          </a:bodyPr>
          <a:lstStyle/>
          <a:p>
            <a:pPr marL="520700" indent="-457200">
              <a:buFont typeface="+mj-lt"/>
              <a:buAutoNum type="arabicPeriod" startAt="31"/>
            </a:pPr>
            <a:r>
              <a:rPr lang="en-IN" sz="2200" dirty="0"/>
              <a:t>All string begins or ends with 00 or 11 </a:t>
            </a:r>
          </a:p>
          <a:p>
            <a:pPr marL="520700" indent="-457200">
              <a:buFont typeface="+mj-lt"/>
              <a:buAutoNum type="arabicPeriod" startAt="31"/>
            </a:pPr>
            <a:endParaRPr lang="en-US" sz="2200" dirty="0"/>
          </a:p>
          <a:p>
            <a:pPr marL="520700" indent="-457200">
              <a:buFont typeface="+mj-lt"/>
              <a:buAutoNum type="arabicPeriod" startAt="31"/>
            </a:pPr>
            <a:r>
              <a:rPr lang="en-IN" sz="2200" dirty="0"/>
              <a:t>Language of all string containing both 11 and 00 as substring </a:t>
            </a:r>
          </a:p>
          <a:p>
            <a:pPr marL="520700" indent="-457200">
              <a:buFont typeface="+mj-lt"/>
              <a:buAutoNum type="arabicPeriod" startAt="31"/>
            </a:pPr>
            <a:endParaRPr lang="en-IN" sz="2200" dirty="0"/>
          </a:p>
          <a:p>
            <a:pPr marL="520700" indent="-457200">
              <a:buFont typeface="+mj-lt"/>
              <a:buAutoNum type="arabicPeriod" startAt="31"/>
            </a:pPr>
            <a:endParaRPr lang="en-IN" sz="2200" dirty="0"/>
          </a:p>
          <a:p>
            <a:pPr marL="520700" indent="-457200">
              <a:buFont typeface="+mj-lt"/>
              <a:buAutoNum type="arabicPeriod" startAt="31"/>
            </a:pPr>
            <a:r>
              <a:rPr lang="en-IN" sz="2200" dirty="0"/>
              <a:t>String ending with 1 and not contain 00 </a:t>
            </a:r>
          </a:p>
          <a:p>
            <a:pPr marL="463550" lvl="1" indent="0">
              <a:buNone/>
            </a:pPr>
            <a:endParaRPr lang="en-US" sz="2200" dirty="0"/>
          </a:p>
          <a:p>
            <a:pPr marL="520700" indent="-457200">
              <a:buFont typeface="+mj-lt"/>
              <a:buAutoNum type="arabicPeriod" startAt="31"/>
            </a:pPr>
            <a:r>
              <a:rPr lang="en-IN" sz="2200" dirty="0"/>
              <a:t>Language of C identifier  </a:t>
            </a:r>
          </a:p>
          <a:p>
            <a:pPr marL="463550" lvl="1" indent="0">
              <a:buNone/>
            </a:pPr>
            <a:endParaRPr lang="en-US" sz="2200" dirty="0"/>
          </a:p>
          <a:p>
            <a:pPr marL="463550" lvl="1" indent="0">
              <a:buNone/>
            </a:pPr>
            <a:endParaRPr lang="en-US" sz="2200" dirty="0"/>
          </a:p>
          <a:p>
            <a:pPr marL="463550" lvl="1" indent="0">
              <a:buNone/>
            </a:pPr>
            <a:endParaRPr lang="en-US" sz="2200" dirty="0"/>
          </a:p>
          <a:p>
            <a:pPr marL="0" indent="0">
              <a:buNone/>
            </a:pPr>
            <a:endParaRPr lang="en-US" sz="2200" dirty="0"/>
          </a:p>
        </p:txBody>
      </p:sp>
      <mc:AlternateContent xmlns:mc="http://schemas.openxmlformats.org/markup-compatibility/2006" xmlns:a14="http://schemas.microsoft.com/office/drawing/2010/main">
        <mc:Choice Requires="a14">
          <p:sp>
            <p:nvSpPr>
              <p:cNvPr id="4" name="Rectangle 3"/>
              <p:cNvSpPr/>
              <p:nvPr/>
            </p:nvSpPr>
            <p:spPr>
              <a:xfrm>
                <a:off x="2237232" y="139633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𝟎𝟎𝟏𝟎𝟏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𝟏𝟎𝟏𝟎𝟎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𝟎𝟏𝟎𝟏𝟏</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237232" y="1396333"/>
                <a:ext cx="3200400" cy="608533"/>
              </a:xfrm>
              <a:prstGeom prst="rect">
                <a:avLst/>
              </a:prstGeom>
              <a:blipFill>
                <a:blip r:embed="rId2"/>
                <a:stretch>
                  <a:fillRect l="-381" r="-25905"/>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151300" y="1396333"/>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𝟏𝟏</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 </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𝟎</m:t>
                          </m:r>
                        </m:e>
                        <m:e>
                          <m:r>
                            <a:rPr lang="en-US" b="1" i="1">
                              <a:solidFill>
                                <a:srgbClr val="C00000"/>
                              </a:solidFill>
                              <a:latin typeface="Cambria Math" panose="02040503050406030204" pitchFamily="18" charset="0"/>
                            </a:rPr>
                            <m:t>𝟏</m:t>
                          </m:r>
                        </m:e>
                      </m:d>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𝟎𝟎</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𝟏𝟏</m:t>
                      </m:r>
                      <m:r>
                        <a:rPr lang="en-US" b="1" i="1">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6151300" y="1396333"/>
                <a:ext cx="4389664" cy="608533"/>
              </a:xfrm>
              <a:prstGeom prst="rect">
                <a:avLst/>
              </a:prstGeom>
              <a:blipFill>
                <a:blip r:embed="rId3"/>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237232" y="2851644"/>
                <a:ext cx="6764286"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just"/>
                <a14:m>
                  <m:oMathPara xmlns:m="http://schemas.openxmlformats.org/officeDocument/2006/math">
                    <m:oMathParaPr>
                      <m:jc m:val="left"/>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oMath>
                  </m:oMathPara>
                </a14:m>
                <a:endParaRPr lang="en-US" b="1" dirty="0">
                  <a:solidFill>
                    <a:srgbClr val="C00000"/>
                  </a:solidFill>
                </a:endParaRPr>
              </a:p>
              <a:p>
                <a:pPr algn="just"/>
                <a:endParaRPr lang="en-US" b="1" baseline="30000"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2237232" y="2851644"/>
                <a:ext cx="6764286"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237232" y="2364134"/>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𝟎𝟎𝟏𝟏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𝟏𝟏𝟎𝟎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𝟏𝟎𝟎𝟏𝟏𝟎</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𝟎𝟏𝟎𝟎𝟏𝟏</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2237232" y="2364134"/>
                <a:ext cx="3200400" cy="608533"/>
              </a:xfrm>
              <a:prstGeom prst="rect">
                <a:avLst/>
              </a:prstGeom>
              <a:blipFill>
                <a:blip r:embed="rId5"/>
                <a:stretch>
                  <a:fillRect l="-381" r="-3447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237232" y="363924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𝟎𝟏𝟏</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𝟏𝟏𝟎𝟏</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𝟏𝟎𝟏𝟏</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2237232" y="3639243"/>
                <a:ext cx="3200400"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4817973" y="3639243"/>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𝟏</m:t>
                          </m:r>
                        </m:e>
                        <m:e>
                          <m:r>
                            <a:rPr lang="en-US" b="1" i="1">
                              <a:solidFill>
                                <a:srgbClr val="C00000"/>
                              </a:solidFill>
                              <a:latin typeface="Cambria Math" panose="02040503050406030204" pitchFamily="18" charset="0"/>
                            </a:rPr>
                            <m:t>𝟎𝟏</m:t>
                          </m:r>
                        </m:e>
                      </m:d>
                      <m:r>
                        <a:rPr lang="en-US" b="1" i="1" baseline="30000">
                          <a:solidFill>
                            <a:srgbClr val="C00000"/>
                          </a:solidFill>
                          <a:latin typeface="Cambria Math" panose="02040503050406030204" pitchFamily="18" charset="0"/>
                        </a:rPr>
                        <m:t>+</m:t>
                      </m:r>
                    </m:oMath>
                  </m:oMathPara>
                </a14:m>
                <a:endParaRPr lang="en-US" b="1" baseline="30000" dirty="0">
                  <a:solidFill>
                    <a:srgbClr val="C0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4817973" y="3639243"/>
                <a:ext cx="4389664" cy="608533"/>
              </a:xfrm>
              <a:prstGeom prst="rect">
                <a:avLst/>
              </a:prstGeom>
              <a:blipFill>
                <a:blip r:embed="rId7"/>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442856" y="4623980"/>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𝑹</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𝑬</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(_+</m:t>
                          </m:r>
                          <m:r>
                            <a:rPr lang="en-IN" b="1" i="1">
                              <a:solidFill>
                                <a:srgbClr val="C00000"/>
                              </a:solidFill>
                              <a:latin typeface="Cambria Math" panose="02040503050406030204" pitchFamily="18" charset="0"/>
                            </a:rPr>
                            <m:t>𝑳</m:t>
                          </m:r>
                          <m:r>
                            <a:rPr lang="en-IN" b="1" i="1">
                              <a:solidFill>
                                <a:srgbClr val="C00000"/>
                              </a:solidFill>
                              <a:latin typeface="Cambria Math" panose="02040503050406030204" pitchFamily="18" charset="0"/>
                            </a:rPr>
                            <m:t>)(_ + </m:t>
                          </m:r>
                          <m:r>
                            <a:rPr lang="en-IN" b="1" i="1">
                              <a:solidFill>
                                <a:srgbClr val="C00000"/>
                              </a:solidFill>
                              <a:latin typeface="Cambria Math" panose="02040503050406030204" pitchFamily="18" charset="0"/>
                            </a:rPr>
                            <m:t>𝑳</m:t>
                          </m:r>
                          <m:r>
                            <a:rPr lang="en-IN"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𝑫</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5442856" y="4623980"/>
                <a:ext cx="4389664"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237232" y="4623980"/>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dirty="0">
                          <a:solidFill>
                            <a:schemeClr val="accent1">
                              <a:lumMod val="75000"/>
                            </a:schemeClr>
                          </a:solidFill>
                          <a:latin typeface="Cambria Math" panose="02040503050406030204" pitchFamily="18" charset="0"/>
                        </a:rPr>
                        <m:t>𝑺𝒕𝒓𝒊𝒏𝒈𝒔</m:t>
                      </m:r>
                      <m:r>
                        <a:rPr lang="en-US" b="1" i="1" dirty="0">
                          <a:solidFill>
                            <a:schemeClr val="accent1">
                              <a:lumMod val="75000"/>
                            </a:schemeClr>
                          </a:solidFill>
                          <a:latin typeface="Cambria Math" panose="02040503050406030204" pitchFamily="18" charset="0"/>
                        </a:rPr>
                        <m:t>:</m:t>
                      </m:r>
                      <m:r>
                        <a:rPr lang="en-US" b="1" i="1" dirty="0">
                          <a:solidFill>
                            <a:schemeClr val="accent1">
                              <a:lumMod val="75000"/>
                            </a:schemeClr>
                          </a:solidFill>
                          <a:latin typeface="Cambria Math" panose="02040503050406030204" pitchFamily="18" charset="0"/>
                        </a:rPr>
                        <m:t>𝒂𝒓𝒆𝒂</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𝒊</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𝒓𝒆𝒅𝒊𝒐𝒖𝒔</m:t>
                      </m:r>
                      <m:r>
                        <a:rPr lang="en-US" b="1" i="1" dirty="0">
                          <a:solidFill>
                            <a:schemeClr val="accent1">
                              <a:lumMod val="75000"/>
                            </a:schemeClr>
                          </a:solidFill>
                          <a:latin typeface="Cambria Math" panose="02040503050406030204" pitchFamily="18" charset="0"/>
                        </a:rPr>
                        <m:t>, </m:t>
                      </m:r>
                      <m:r>
                        <a:rPr lang="en-US" b="1" i="1" dirty="0">
                          <a:solidFill>
                            <a:schemeClr val="accent1">
                              <a:lumMod val="75000"/>
                            </a:schemeClr>
                          </a:solidFill>
                          <a:latin typeface="Cambria Math" panose="02040503050406030204" pitchFamily="18" charset="0"/>
                        </a:rPr>
                        <m:t>𝒈𝒓𝒂𝒅𝒆</m:t>
                      </m:r>
                      <m:r>
                        <a:rPr lang="en-US" b="1" i="1" dirty="0">
                          <a:solidFill>
                            <a:schemeClr val="accent1">
                              <a:lumMod val="75000"/>
                            </a:schemeClr>
                          </a:solidFill>
                          <a:latin typeface="Cambria Math" panose="02040503050406030204" pitchFamily="18" charset="0"/>
                        </a:rPr>
                        <m:t>𝟏</m:t>
                      </m:r>
                      <m:r>
                        <a:rPr lang="en-US" b="1" i="1" dirty="0">
                          <a:solidFill>
                            <a:schemeClr val="accent1">
                              <a:lumMod val="75000"/>
                            </a:schemeClr>
                          </a:solidFill>
                          <a:latin typeface="Cambria Math" panose="02040503050406030204" pitchFamily="18" charset="0"/>
                        </a:rPr>
                        <m:t>….</m:t>
                      </m:r>
                    </m:oMath>
                  </m:oMathPara>
                </a14:m>
                <a:endParaRPr lang="en-US" b="1" dirty="0">
                  <a:solidFill>
                    <a:schemeClr val="accent1">
                      <a:lumMod val="75000"/>
                    </a:schemeClr>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2237232" y="4623980"/>
                <a:ext cx="3200400" cy="608533"/>
              </a:xfrm>
              <a:prstGeom prst="rect">
                <a:avLst/>
              </a:prstGeom>
              <a:blipFill>
                <a:blip r:embed="rId9"/>
                <a:stretch>
                  <a:fillRect l="-381" r="-2247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5619375" y="5062447"/>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a:solidFill>
                            <a:srgbClr val="C00000"/>
                          </a:solidFill>
                          <a:latin typeface="Cambria Math" panose="02040503050406030204" pitchFamily="18" charset="0"/>
                        </a:rPr>
                        <m:t>𝒘𝒉𝒆𝒓𝒆</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𝑳</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𝒊𝒔</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𝑳𝒆𝒕𝒕𝒆𝒓</m:t>
                      </m:r>
                      <m:r>
                        <a:rPr lang="en-US" b="1" i="1">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&amp; </m:t>
                      </m:r>
                      <m:r>
                        <a:rPr lang="en-US" b="1">
                          <a:solidFill>
                            <a:srgbClr val="C00000"/>
                          </a:solidFill>
                          <a:latin typeface="Cambria Math" panose="02040503050406030204" pitchFamily="18" charset="0"/>
                        </a:rPr>
                        <m:t>𝐃</m:t>
                      </m:r>
                      <m:r>
                        <a:rPr lang="en-US" b="1">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𝐢𝐬</m:t>
                      </m:r>
                      <m:r>
                        <a:rPr lang="en-US" b="1">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𝐝𝐢𝐠𝐢𝐭</m:t>
                      </m:r>
                    </m:oMath>
                  </m:oMathPara>
                </a14:m>
                <a:endParaRPr lang="en-US" b="1" dirty="0">
                  <a:solidFill>
                    <a:srgbClr val="C0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5619375" y="5062447"/>
                <a:ext cx="4389664" cy="608533"/>
              </a:xfrm>
              <a:prstGeom prst="rect">
                <a:avLst/>
              </a:prstGeom>
              <a:blipFill>
                <a:blip r:embed="rId10"/>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03570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left)">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P spid="9" grpId="0"/>
      <p:bldP spid="10" grpId="0"/>
      <p:bldP spid="11" grpId="0"/>
      <p:bldP spid="12" grpId="0"/>
      <p:bldP spid="13" grpId="0"/>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Finite Automata</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9945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BA25-D0B6-425B-95BF-953813D32A77}"/>
              </a:ext>
            </a:extLst>
          </p:cNvPr>
          <p:cNvSpPr>
            <a:spLocks noGrp="1"/>
          </p:cNvSpPr>
          <p:nvPr>
            <p:ph type="title"/>
          </p:nvPr>
        </p:nvSpPr>
        <p:spPr/>
        <p:txBody>
          <a:bodyPr/>
          <a:lstStyle/>
          <a:p>
            <a:r>
              <a:rPr lang="en-IN" dirty="0"/>
              <a:t>Finite Automata</a:t>
            </a:r>
          </a:p>
        </p:txBody>
      </p:sp>
      <p:sp>
        <p:nvSpPr>
          <p:cNvPr id="3" name="Content Placeholder 2">
            <a:extLst>
              <a:ext uri="{FF2B5EF4-FFF2-40B4-BE49-F238E27FC236}">
                <a16:creationId xmlns:a16="http://schemas.microsoft.com/office/drawing/2014/main" id="{82053379-DEAC-4A72-A121-584B86C70BA8}"/>
              </a:ext>
            </a:extLst>
          </p:cNvPr>
          <p:cNvSpPr>
            <a:spLocks noGrp="1"/>
          </p:cNvSpPr>
          <p:nvPr>
            <p:ph idx="1"/>
          </p:nvPr>
        </p:nvSpPr>
        <p:spPr/>
        <p:txBody>
          <a:bodyPr>
            <a:normAutofit lnSpcReduction="10000"/>
          </a:bodyPr>
          <a:lstStyle/>
          <a:p>
            <a:r>
              <a:rPr lang="en-US" dirty="0"/>
              <a:t>Finite Automata(FA) is the simplest machine to recognize patterns. </a:t>
            </a:r>
          </a:p>
          <a:p>
            <a:r>
              <a:rPr lang="en-US" dirty="0"/>
              <a:t>The finite automata or finite state machine is an abstract machine that has five elements or tuples. </a:t>
            </a:r>
          </a:p>
          <a:p>
            <a:r>
              <a:rPr lang="en-US" dirty="0"/>
              <a:t>It has a set of states and rules for moving from one state to another but it depends upon the applied input symbol. Basically, it is an abstract model of a digital computer.</a:t>
            </a:r>
            <a:endParaRPr lang="en-IN" dirty="0"/>
          </a:p>
          <a:p>
            <a:r>
              <a:rPr lang="en-IN" dirty="0"/>
              <a:t>Types of Finite Automata:</a:t>
            </a:r>
          </a:p>
          <a:p>
            <a:pPr lvl="1"/>
            <a:r>
              <a:rPr lang="en-IN" sz="2400" dirty="0"/>
              <a:t>Language Recognizer (Compiler)</a:t>
            </a:r>
          </a:p>
          <a:p>
            <a:pPr lvl="2"/>
            <a:r>
              <a:rPr lang="en-IN" sz="2000" dirty="0"/>
              <a:t>DFA</a:t>
            </a:r>
          </a:p>
          <a:p>
            <a:pPr lvl="2"/>
            <a:r>
              <a:rPr lang="en-IN" sz="2000" dirty="0"/>
              <a:t>NFA</a:t>
            </a:r>
          </a:p>
          <a:p>
            <a:pPr lvl="1"/>
            <a:r>
              <a:rPr lang="en-IN" sz="2400" dirty="0"/>
              <a:t>Output Generator (Digital circuit)</a:t>
            </a:r>
          </a:p>
          <a:p>
            <a:pPr lvl="2"/>
            <a:r>
              <a:rPr lang="en-IN" sz="2000" dirty="0"/>
              <a:t>Mealy Machine</a:t>
            </a:r>
          </a:p>
          <a:p>
            <a:pPr lvl="2"/>
            <a:r>
              <a:rPr lang="en-IN" sz="2000" dirty="0"/>
              <a:t>Moore Machine</a:t>
            </a:r>
          </a:p>
        </p:txBody>
      </p:sp>
    </p:spTree>
    <p:extLst>
      <p:ext uri="{BB962C8B-B14F-4D97-AF65-F5344CB8AC3E}">
        <p14:creationId xmlns:p14="http://schemas.microsoft.com/office/powerpoint/2010/main" val="72350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C729D-EACB-4D27-B7F8-A9D44CFAA650}"/>
              </a:ext>
            </a:extLst>
          </p:cNvPr>
          <p:cNvSpPr>
            <a:spLocks noGrp="1"/>
          </p:cNvSpPr>
          <p:nvPr>
            <p:ph type="title"/>
          </p:nvPr>
        </p:nvSpPr>
        <p:spPr/>
        <p:txBody>
          <a:bodyPr/>
          <a:lstStyle/>
          <a:p>
            <a:r>
              <a:rPr lang="en-IN" dirty="0"/>
              <a:t>Types of Finite Automata:</a:t>
            </a:r>
          </a:p>
        </p:txBody>
      </p:sp>
      <p:sp>
        <p:nvSpPr>
          <p:cNvPr id="3" name="Content Placeholder 2">
            <a:extLst>
              <a:ext uri="{FF2B5EF4-FFF2-40B4-BE49-F238E27FC236}">
                <a16:creationId xmlns:a16="http://schemas.microsoft.com/office/drawing/2014/main" id="{DDFA0792-235A-4AC6-840D-CE3DA49F6B42}"/>
              </a:ext>
            </a:extLst>
          </p:cNvPr>
          <p:cNvSpPr>
            <a:spLocks noGrp="1"/>
          </p:cNvSpPr>
          <p:nvPr>
            <p:ph idx="1"/>
          </p:nvPr>
        </p:nvSpPr>
        <p:spPr>
          <a:xfrm>
            <a:off x="254000" y="990600"/>
            <a:ext cx="11684000" cy="5334000"/>
          </a:xfrm>
        </p:spPr>
        <p:txBody>
          <a:bodyPr>
            <a:normAutofit/>
          </a:bodyPr>
          <a:lstStyle/>
          <a:p>
            <a:r>
              <a:rPr lang="en-US" sz="2000" b="1" dirty="0">
                <a:latin typeface="Cambria Math" panose="02040503050406030204" pitchFamily="18" charset="0"/>
                <a:ea typeface="Cambria Math" panose="02040503050406030204" pitchFamily="18" charset="0"/>
              </a:rPr>
              <a:t>DFA: </a:t>
            </a:r>
            <a:r>
              <a:rPr lang="en-US" sz="2000" dirty="0">
                <a:latin typeface="Cambria Math" panose="02040503050406030204" pitchFamily="18" charset="0"/>
                <a:ea typeface="Cambria Math" panose="02040503050406030204" pitchFamily="18" charset="0"/>
              </a:rPr>
              <a:t>Deterministic refers to the uniqueness of the computation. In a DFA, for a particular input character, the machine goes to one state only. A transition function is defined on every state for every input symbol. DFA does not accept the null move.</a:t>
            </a:r>
          </a:p>
          <a:p>
            <a:endParaRPr lang="en-US" sz="2000" dirty="0">
              <a:latin typeface="Cambria Math" panose="02040503050406030204" pitchFamily="18" charset="0"/>
              <a:ea typeface="Cambria Math" panose="02040503050406030204" pitchFamily="18" charset="0"/>
            </a:endParaRPr>
          </a:p>
          <a:p>
            <a:r>
              <a:rPr lang="en-US" sz="2000" b="1" dirty="0">
                <a:latin typeface="Cambria Math" panose="02040503050406030204" pitchFamily="18" charset="0"/>
                <a:ea typeface="Cambria Math" panose="02040503050406030204" pitchFamily="18" charset="0"/>
              </a:rPr>
              <a:t>NFA: </a:t>
            </a:r>
            <a:r>
              <a:rPr lang="en-US" sz="2000" dirty="0">
                <a:latin typeface="Cambria Math" panose="02040503050406030204" pitchFamily="18" charset="0"/>
                <a:ea typeface="Cambria Math" panose="02040503050406030204" pitchFamily="18" charset="0"/>
              </a:rPr>
              <a:t>NFA stands for non-deterministic finite automata. It is used to transmit any number of states for a particular input. It can accept the null move. i.e. it can move forward without reading any input.</a:t>
            </a:r>
            <a:endParaRPr lang="en-IN" sz="2000" dirty="0">
              <a:latin typeface="Cambria Math" panose="02040503050406030204" pitchFamily="18" charset="0"/>
              <a:ea typeface="Cambria Math" panose="02040503050406030204" pitchFamily="18" charset="0"/>
            </a:endParaRPr>
          </a:p>
        </p:txBody>
      </p:sp>
      <p:pic>
        <p:nvPicPr>
          <p:cNvPr id="2050" name="Picture 2" descr="Finite Automata">
            <a:extLst>
              <a:ext uri="{FF2B5EF4-FFF2-40B4-BE49-F238E27FC236}">
                <a16:creationId xmlns:a16="http://schemas.microsoft.com/office/drawing/2014/main" id="{852A9F9C-1CAA-495E-BE08-B1D79DA0E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733800"/>
            <a:ext cx="7223889"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28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A112-CDBA-4B6E-828F-A3764E1521F1}"/>
              </a:ext>
            </a:extLst>
          </p:cNvPr>
          <p:cNvSpPr>
            <a:spLocks noGrp="1"/>
          </p:cNvSpPr>
          <p:nvPr>
            <p:ph type="title"/>
          </p:nvPr>
        </p:nvSpPr>
        <p:spPr/>
        <p:txBody>
          <a:bodyPr/>
          <a:lstStyle/>
          <a:p>
            <a:r>
              <a:rPr lang="en-IN" dirty="0"/>
              <a:t>Finite Automata Model:</a:t>
            </a:r>
          </a:p>
        </p:txBody>
      </p:sp>
      <p:sp>
        <p:nvSpPr>
          <p:cNvPr id="3" name="Content Placeholder 2">
            <a:extLst>
              <a:ext uri="{FF2B5EF4-FFF2-40B4-BE49-F238E27FC236}">
                <a16:creationId xmlns:a16="http://schemas.microsoft.com/office/drawing/2014/main" id="{5D61943B-A01C-4385-A6CE-720E62525DF2}"/>
              </a:ext>
            </a:extLst>
          </p:cNvPr>
          <p:cNvSpPr>
            <a:spLocks noGrp="1"/>
          </p:cNvSpPr>
          <p:nvPr>
            <p:ph idx="1"/>
          </p:nvPr>
        </p:nvSpPr>
        <p:spPr/>
        <p:txBody>
          <a:bodyPr/>
          <a:lstStyle/>
          <a:p>
            <a:r>
              <a:rPr lang="en-US" dirty="0">
                <a:latin typeface="Cambria Math" panose="02040503050406030204" pitchFamily="18" charset="0"/>
                <a:ea typeface="Cambria Math" panose="02040503050406030204" pitchFamily="18" charset="0"/>
              </a:rPr>
              <a:t>Finite automata can be represented by input tape and finite control.</a:t>
            </a:r>
          </a:p>
          <a:p>
            <a:r>
              <a:rPr lang="en-US" b="1" dirty="0">
                <a:latin typeface="Cambria Math" panose="02040503050406030204" pitchFamily="18" charset="0"/>
                <a:ea typeface="Cambria Math" panose="02040503050406030204" pitchFamily="18" charset="0"/>
              </a:rPr>
              <a:t>Input tape: </a:t>
            </a:r>
            <a:r>
              <a:rPr lang="en-US" dirty="0">
                <a:latin typeface="Cambria Math" panose="02040503050406030204" pitchFamily="18" charset="0"/>
                <a:ea typeface="Cambria Math" panose="02040503050406030204" pitchFamily="18" charset="0"/>
              </a:rPr>
              <a:t>It is a linear tape having some number of cells. Each input symbol is placed in each cell.</a:t>
            </a:r>
          </a:p>
          <a:p>
            <a:r>
              <a:rPr lang="en-US" b="1" dirty="0">
                <a:latin typeface="Cambria Math" panose="02040503050406030204" pitchFamily="18" charset="0"/>
                <a:ea typeface="Cambria Math" panose="02040503050406030204" pitchFamily="18" charset="0"/>
              </a:rPr>
              <a:t>Finite control: </a:t>
            </a:r>
            <a:r>
              <a:rPr lang="en-US" dirty="0">
                <a:latin typeface="Cambria Math" panose="02040503050406030204" pitchFamily="18" charset="0"/>
                <a:ea typeface="Cambria Math" panose="02040503050406030204" pitchFamily="18" charset="0"/>
              </a:rPr>
              <a:t>The finite control decides the next state on receiving particular input from input tape. The tape reader reads the cells one by one from left to right, and at a time only one input symbol is read.</a:t>
            </a:r>
            <a:endParaRPr lang="en-IN" dirty="0">
              <a:latin typeface="Cambria Math" panose="02040503050406030204" pitchFamily="18" charset="0"/>
              <a:ea typeface="Cambria Math" panose="02040503050406030204" pitchFamily="18" charset="0"/>
            </a:endParaRPr>
          </a:p>
        </p:txBody>
      </p:sp>
      <p:pic>
        <p:nvPicPr>
          <p:cNvPr id="1026" name="Picture 2" descr="Finite Automata">
            <a:extLst>
              <a:ext uri="{FF2B5EF4-FFF2-40B4-BE49-F238E27FC236}">
                <a16:creationId xmlns:a16="http://schemas.microsoft.com/office/drawing/2014/main" id="{C5EB8A3D-01C0-46AE-B1E0-E461819F06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452"/>
          <a:stretch/>
        </p:blipFill>
        <p:spPr bwMode="auto">
          <a:xfrm>
            <a:off x="3810000" y="3849332"/>
            <a:ext cx="4724400" cy="2541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27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19E17-35BE-43BC-B747-1A12288FAA3B}"/>
              </a:ext>
            </a:extLst>
          </p:cNvPr>
          <p:cNvSpPr>
            <a:spLocks noGrp="1"/>
          </p:cNvSpPr>
          <p:nvPr>
            <p:ph type="title"/>
          </p:nvPr>
        </p:nvSpPr>
        <p:spPr/>
        <p:txBody>
          <a:bodyPr/>
          <a:lstStyle/>
          <a:p>
            <a:r>
              <a:rPr lang="en-US" dirty="0"/>
              <a:t>Acceptance by DFA</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605633-B35A-444D-9C6F-B01357FF891F}"/>
                  </a:ext>
                </a:extLst>
              </p:cNvPr>
              <p:cNvSpPr>
                <a:spLocks noGrp="1"/>
              </p:cNvSpPr>
              <p:nvPr>
                <p:ph idx="1"/>
              </p:nvPr>
            </p:nvSpPr>
            <p:spPr/>
            <p:txBody>
              <a:bodyPr/>
              <a:lstStyle/>
              <a:p>
                <a:r>
                  <a:rPr lang="en-US" dirty="0">
                    <a:latin typeface="Cambria Math" panose="02040503050406030204" pitchFamily="18" charset="0"/>
                    <a:ea typeface="Cambria Math" panose="02040503050406030204" pitchFamily="18" charset="0"/>
                  </a:rPr>
                  <a:t>Let ‘w’ be any string designed from the alphabet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en-US" dirty="0">
                    <a:latin typeface="Cambria Math" panose="02040503050406030204" pitchFamily="18" charset="0"/>
                    <a:ea typeface="Cambria Math" panose="02040503050406030204" pitchFamily="18" charset="0"/>
                  </a:rPr>
                  <a:t> , corresponding to w , if there exist a transition for which it starts  at the initial states ends in any one of the final state, then string ‘w’ said to be accepted by the finite automata.</a:t>
                </a:r>
              </a:p>
              <a:p>
                <a14:m>
                  <m:oMath xmlns:m="http://schemas.openxmlformats.org/officeDocument/2006/math">
                    <m:r>
                      <a:rPr lang="en-US" i="1" smtClean="0">
                        <a:latin typeface="Cambria Math" panose="02040503050406030204" pitchFamily="18" charset="0"/>
                        <a:ea typeface="Cambria Math" panose="02040503050406030204" pitchFamily="18" charset="0"/>
                      </a:rPr>
                      <m:t>𝛿</m:t>
                    </m:r>
                  </m:oMath>
                </a14:m>
                <a:r>
                  <a:rPr lang="en-US" dirty="0">
                    <a:latin typeface="Cambria Math" panose="02040503050406030204" pitchFamily="18" charset="0"/>
                    <a:ea typeface="Cambria Math" panose="02040503050406030204" pitchFamily="18" charset="0"/>
                  </a:rPr>
                  <a:t>*(q</a:t>
                </a:r>
                <a:r>
                  <a:rPr lang="en-US" baseline="-25000" dirty="0">
                    <a:latin typeface="Cambria Math" panose="02040503050406030204" pitchFamily="18" charset="0"/>
                    <a:ea typeface="Cambria Math" panose="02040503050406030204" pitchFamily="18" charset="0"/>
                  </a:rPr>
                  <a:t>0</a:t>
                </a:r>
                <a:r>
                  <a:rPr lang="en-US" dirty="0">
                    <a:latin typeface="Cambria Math" panose="02040503050406030204" pitchFamily="18" charset="0"/>
                    <a:ea typeface="Cambria Math" panose="02040503050406030204" pitchFamily="18" charset="0"/>
                  </a:rPr>
                  <a:t>,w)=</a:t>
                </a: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f</a:t>
                </a:r>
                <a:r>
                  <a:rPr lang="en-US" dirty="0">
                    <a:latin typeface="Cambria Math" panose="02040503050406030204" pitchFamily="18" charset="0"/>
                    <a:ea typeface="Cambria Math" panose="02040503050406030204" pitchFamily="18" charset="0"/>
                  </a:rPr>
                  <a:t> for some </a:t>
                </a: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f</a:t>
                </a:r>
                <a:r>
                  <a:rPr lang="en-US" dirty="0">
                    <a:latin typeface="Cambria Math" panose="02040503050406030204" pitchFamily="18" charset="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𝜖</m:t>
                    </m:r>
                  </m:oMath>
                </a14:m>
                <a:r>
                  <a:rPr lang="en-US" dirty="0">
                    <a:latin typeface="Cambria Math" panose="02040503050406030204" pitchFamily="18" charset="0"/>
                    <a:ea typeface="Cambria Math" panose="02040503050406030204" pitchFamily="18" charset="0"/>
                  </a:rPr>
                  <a:t> F</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Mathematically it can be represented as :</a:t>
                </a:r>
              </a:p>
              <a:p>
                <a:r>
                  <a:rPr lang="en-US" dirty="0">
                    <a:latin typeface="Cambria Math" panose="02040503050406030204" pitchFamily="18" charset="0"/>
                    <a:ea typeface="Cambria Math" panose="02040503050406030204" pitchFamily="18" charset="0"/>
                  </a:rPr>
                  <a:t>L(M)= {w </a:t>
                </a:r>
                <a14:m>
                  <m:oMath xmlns:m="http://schemas.openxmlformats.org/officeDocument/2006/math">
                    <m:r>
                      <a:rPr lang="en-US" i="1">
                        <a:latin typeface="Cambria Math" panose="02040503050406030204" pitchFamily="18" charset="0"/>
                        <a:ea typeface="Cambria Math" panose="02040503050406030204" pitchFamily="18" charset="0"/>
                      </a:rPr>
                      <m:t>𝜖</m:t>
                    </m:r>
                  </m:oMath>
                </a14:m>
                <a:r>
                  <a:rPr lang="en-US" dirty="0">
                    <a:latin typeface="Cambria Math" panose="02040503050406030204" pitchFamily="18" charset="0"/>
                    <a:ea typeface="Cambria Math" panose="02040503050406030204" pitchFamily="18" charset="0"/>
                  </a:rPr>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en-US" dirty="0">
                    <a:latin typeface="Cambria Math" panose="02040503050406030204" pitchFamily="18" charset="0"/>
                    <a:ea typeface="Cambria Math" panose="02040503050406030204" pitchFamily="18" charset="0"/>
                  </a:rPr>
                  <a:t>* | </a:t>
                </a:r>
                <a14:m>
                  <m:oMath xmlns:m="http://schemas.openxmlformats.org/officeDocument/2006/math">
                    <m:r>
                      <a:rPr lang="en-US" i="1">
                        <a:latin typeface="Cambria Math" panose="02040503050406030204" pitchFamily="18" charset="0"/>
                        <a:ea typeface="Cambria Math" panose="02040503050406030204" pitchFamily="18" charset="0"/>
                      </a:rPr>
                      <m:t>𝛿</m:t>
                    </m:r>
                  </m:oMath>
                </a14:m>
                <a:r>
                  <a:rPr lang="en-US" dirty="0">
                    <a:latin typeface="Cambria Math" panose="02040503050406030204" pitchFamily="18" charset="0"/>
                    <a:ea typeface="Cambria Math" panose="02040503050406030204" pitchFamily="18" charset="0"/>
                  </a:rPr>
                  <a:t>*(</a:t>
                </a:r>
                <a:r>
                  <a:rPr lang="en-US" dirty="0" err="1">
                    <a:latin typeface="Cambria Math" panose="02040503050406030204" pitchFamily="18" charset="0"/>
                    <a:ea typeface="Cambria Math" panose="02040503050406030204" pitchFamily="18" charset="0"/>
                  </a:rPr>
                  <a:t>Q,w</a:t>
                </a:r>
                <a:r>
                  <a:rPr lang="en-US" dirty="0">
                    <a:latin typeface="Cambria Math" panose="02040503050406030204" pitchFamily="18" charset="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𝜖</m:t>
                    </m:r>
                  </m:oMath>
                </a14:m>
                <a:r>
                  <a:rPr lang="en-US" dirty="0">
                    <a:latin typeface="Cambria Math" panose="02040503050406030204" pitchFamily="18" charset="0"/>
                    <a:ea typeface="Cambria Math" panose="02040503050406030204" pitchFamily="18" charset="0"/>
                  </a:rPr>
                  <a:t> F}</a:t>
                </a:r>
                <a:endParaRPr lang="en-IN"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F605633-B35A-444D-9C6F-B01357FF891F}"/>
                  </a:ext>
                </a:extLst>
              </p:cNvPr>
              <p:cNvSpPr>
                <a:spLocks noGrp="1" noRot="1" noChangeAspect="1" noMove="1" noResize="1" noEditPoints="1" noAdjustHandles="1" noChangeArrowheads="1" noChangeShapeType="1" noTextEdit="1"/>
              </p:cNvSpPr>
              <p:nvPr>
                <p:ph idx="1"/>
              </p:nvPr>
            </p:nvSpPr>
            <p:spPr>
              <a:blipFill>
                <a:blip r:embed="rId2"/>
                <a:stretch>
                  <a:fillRect l="-731" t="-686" r="-626"/>
                </a:stretch>
              </a:blipFill>
            </p:spPr>
            <p:txBody>
              <a:bodyPr/>
              <a:lstStyle/>
              <a:p>
                <a:r>
                  <a:rPr lang="en-IN">
                    <a:noFill/>
                  </a:rPr>
                  <a:t> </a:t>
                </a:r>
              </a:p>
            </p:txBody>
          </p:sp>
        </mc:Fallback>
      </mc:AlternateContent>
    </p:spTree>
    <p:extLst>
      <p:ext uri="{BB962C8B-B14F-4D97-AF65-F5344CB8AC3E}">
        <p14:creationId xmlns:p14="http://schemas.microsoft.com/office/powerpoint/2010/main" val="23145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DFA</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Lexical analysis phase of a compiler.</a:t>
            </a:r>
          </a:p>
          <a:p>
            <a:pPr>
              <a:buFont typeface="Arial" panose="020B0604020202020204" pitchFamily="34" charset="0"/>
              <a:buChar char="•"/>
            </a:pPr>
            <a:r>
              <a:rPr lang="en-US" dirty="0"/>
              <a:t>Design of digital circuit.</a:t>
            </a:r>
          </a:p>
          <a:p>
            <a:pPr>
              <a:buFont typeface="Arial" panose="020B0604020202020204" pitchFamily="34" charset="0"/>
              <a:buChar char="•"/>
            </a:pPr>
            <a:r>
              <a:rPr lang="en-US" dirty="0"/>
              <a:t>String matching.</a:t>
            </a:r>
          </a:p>
          <a:p>
            <a:pPr>
              <a:buFont typeface="Arial" panose="020B0604020202020204" pitchFamily="34" charset="0"/>
              <a:buChar char="•"/>
            </a:pPr>
            <a:r>
              <a:rPr lang="fr-FR" dirty="0"/>
              <a:t>Communication Protocol for information exchange.</a:t>
            </a:r>
          </a:p>
        </p:txBody>
      </p:sp>
    </p:spTree>
    <p:extLst>
      <p:ext uri="{BB962C8B-B14F-4D97-AF65-F5344CB8AC3E}">
        <p14:creationId xmlns:p14="http://schemas.microsoft.com/office/powerpoint/2010/main" val="318756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Deterministic Finite Automata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A </a:t>
                </a:r>
                <a:r>
                  <a:rPr lang="en-US" dirty="0">
                    <a:solidFill>
                      <a:srgbClr val="C00000"/>
                    </a:solidFill>
                  </a:rPr>
                  <a:t>finite automaton</a:t>
                </a:r>
                <a:r>
                  <a:rPr lang="en-US" dirty="0"/>
                  <a:t>, or </a:t>
                </a:r>
                <a:r>
                  <a:rPr lang="en-US" dirty="0">
                    <a:solidFill>
                      <a:srgbClr val="C00000"/>
                    </a:solidFill>
                  </a:rPr>
                  <a:t>finite state machine </a:t>
                </a:r>
                <a:r>
                  <a:rPr lang="en-US" dirty="0"/>
                  <a:t>is a </a:t>
                </a:r>
                <a:r>
                  <a:rPr lang="en-US" b="1" dirty="0"/>
                  <a:t>5-tuple </a:t>
                </a:r>
                <a14:m>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𝑸</m:t>
                    </m:r>
                    <m:r>
                      <a:rPr lang="en-US" b="1" i="1">
                        <a:latin typeface="Cambria Math" panose="02040503050406030204" pitchFamily="18" charset="0"/>
                      </a:rPr>
                      <m:t>,</m:t>
                    </m:r>
                    <m:r>
                      <a:rPr lang="el-GR" b="1" i="1">
                        <a:latin typeface="Cambria Math" panose="02040503050406030204" pitchFamily="18" charset="0"/>
                        <a:ea typeface="Cambria Math" panose="02040503050406030204" pitchFamily="18" charset="0"/>
                      </a:rPr>
                      <m:t>𝜮</m:t>
                    </m:r>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𝒒</m:t>
                        </m:r>
                      </m:e>
                      <m:sub>
                        <m:r>
                          <a:rPr lang="en-US" b="1" i="1">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𝑭</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𝜹</m:t>
                    </m:r>
                    <m:r>
                      <a:rPr lang="en-US" b="1" i="1">
                        <a:latin typeface="Cambria Math" panose="02040503050406030204" pitchFamily="18" charset="0"/>
                        <a:ea typeface="Cambria Math" panose="02040503050406030204" pitchFamily="18" charset="0"/>
                      </a:rPr>
                      <m:t>)</m:t>
                    </m:r>
                  </m:oMath>
                </a14:m>
                <a:r>
                  <a:rPr lang="en-US" b="1" dirty="0"/>
                  <a:t> </a:t>
                </a:r>
                <a:r>
                  <a:rPr lang="en-US" dirty="0"/>
                  <a:t>where</a:t>
                </a:r>
              </a:p>
              <a:p>
                <a:pPr lvl="1" algn="just"/>
                <a14:m>
                  <m:oMath xmlns:m="http://schemas.openxmlformats.org/officeDocument/2006/math">
                    <m:r>
                      <a:rPr lang="en-US" b="1" i="1">
                        <a:latin typeface="Cambria Math" panose="02040503050406030204" pitchFamily="18" charset="0"/>
                      </a:rPr>
                      <m:t>𝑸</m:t>
                    </m:r>
                  </m:oMath>
                </a14:m>
                <a:r>
                  <a:rPr lang="en-US" dirty="0"/>
                  <a:t> is finite set of states;</a:t>
                </a:r>
              </a:p>
              <a:p>
                <a:pPr lvl="1" algn="just"/>
                <a14:m>
                  <m:oMath xmlns:m="http://schemas.openxmlformats.org/officeDocument/2006/math">
                    <m:r>
                      <a:rPr lang="el-GR" b="1" i="1">
                        <a:latin typeface="Cambria Math" panose="02040503050406030204" pitchFamily="18" charset="0"/>
                        <a:ea typeface="Cambria Math" panose="02040503050406030204" pitchFamily="18" charset="0"/>
                      </a:rPr>
                      <m:t>𝜮</m:t>
                    </m:r>
                  </m:oMath>
                </a14:m>
                <a:r>
                  <a:rPr lang="en-US" dirty="0"/>
                  <a:t> is finite set of </a:t>
                </a:r>
                <a:r>
                  <a:rPr lang="en-US" i="1" dirty="0"/>
                  <a:t>input symbols called </a:t>
                </a:r>
                <a:r>
                  <a:rPr lang="en-US" i="1" dirty="0">
                    <a:solidFill>
                      <a:srgbClr val="C00000"/>
                    </a:solidFill>
                  </a:rPr>
                  <a:t>Input Alphabets</a:t>
                </a:r>
                <a:r>
                  <a:rPr lang="en-US" dirty="0"/>
                  <a:t>;</a:t>
                </a:r>
              </a:p>
              <a:p>
                <a:pPr lvl="1" algn="just"/>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𝒒</m:t>
                        </m:r>
                      </m:e>
                      <m:sub>
                        <m:r>
                          <a:rPr lang="en-US" b="1" i="1">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𝝐</m:t>
                    </m:r>
                    <m:r>
                      <a:rPr lang="en-US" b="1"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𝑸</m:t>
                    </m:r>
                  </m:oMath>
                </a14:m>
                <a:r>
                  <a:rPr lang="en-US" b="1" dirty="0"/>
                  <a:t> </a:t>
                </a:r>
                <a:r>
                  <a:rPr lang="en-US" dirty="0"/>
                  <a:t>(</a:t>
                </a:r>
                <a:r>
                  <a:rPr lang="en-US" i="1" dirty="0">
                    <a:solidFill>
                      <a:srgbClr val="C00000"/>
                    </a:solidFill>
                  </a:rPr>
                  <a:t>initial</a:t>
                </a:r>
                <a:r>
                  <a:rPr lang="en-US" dirty="0">
                    <a:solidFill>
                      <a:srgbClr val="C00000"/>
                    </a:solidFill>
                  </a:rPr>
                  <a:t> state</a:t>
                </a:r>
                <a:r>
                  <a:rPr lang="en-US" dirty="0"/>
                  <a:t>);</a:t>
                </a:r>
              </a:p>
              <a:p>
                <a:pPr lvl="1" algn="just"/>
                <a14:m>
                  <m:oMath xmlns:m="http://schemas.openxmlformats.org/officeDocument/2006/math">
                    <m:r>
                      <a:rPr lang="en-US" b="1" i="1" smtClean="0">
                        <a:latin typeface="Cambria Math" panose="02040503050406030204" pitchFamily="18" charset="0"/>
                        <a:ea typeface="Cambria Math" panose="02040503050406030204" pitchFamily="18" charset="0"/>
                      </a:rPr>
                      <m:t>𝑭</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𝑸</m:t>
                    </m:r>
                  </m:oMath>
                </a14:m>
                <a:r>
                  <a:rPr lang="en-US" b="1" dirty="0"/>
                  <a:t> </a:t>
                </a:r>
                <a:r>
                  <a:rPr lang="en-US" dirty="0"/>
                  <a:t>(the set of </a:t>
                </a:r>
                <a:r>
                  <a:rPr lang="en-US" i="1" dirty="0"/>
                  <a:t>accepting</a:t>
                </a:r>
                <a:r>
                  <a:rPr lang="en-US" dirty="0"/>
                  <a:t> states of </a:t>
                </a:r>
                <a:r>
                  <a:rPr lang="en-US" dirty="0">
                    <a:solidFill>
                      <a:srgbClr val="C00000"/>
                    </a:solidFill>
                  </a:rPr>
                  <a:t>final states</a:t>
                </a:r>
                <a:r>
                  <a:rPr lang="en-US" dirty="0"/>
                  <a:t>);</a:t>
                </a:r>
              </a:p>
              <a:p>
                <a:pPr lvl="1" algn="just"/>
                <a14:m>
                  <m:oMath xmlns:m="http://schemas.openxmlformats.org/officeDocument/2006/math">
                    <m:r>
                      <a:rPr lang="en-US" b="1" i="1">
                        <a:latin typeface="Cambria Math" panose="02040503050406030204" pitchFamily="18" charset="0"/>
                        <a:ea typeface="Cambria Math" panose="02040503050406030204" pitchFamily="18" charset="0"/>
                      </a:rPr>
                      <m:t>𝜹</m:t>
                    </m:r>
                  </m:oMath>
                </a14:m>
                <a:r>
                  <a:rPr lang="en-US" dirty="0"/>
                  <a:t> is a function from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𝑡𝑜</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𝑄</m:t>
                    </m:r>
                  </m:oMath>
                </a14:m>
                <a:r>
                  <a:rPr lang="en-US" dirty="0"/>
                  <a:t> (the </a:t>
                </a:r>
                <a:r>
                  <a:rPr lang="en-US" i="1" dirty="0">
                    <a:solidFill>
                      <a:srgbClr val="C00000"/>
                    </a:solidFill>
                  </a:rPr>
                  <a:t>transition</a:t>
                </a:r>
                <a:r>
                  <a:rPr lang="en-US" dirty="0">
                    <a:solidFill>
                      <a:srgbClr val="C00000"/>
                    </a:solidFill>
                  </a:rPr>
                  <a:t> function</a:t>
                </a:r>
                <a:r>
                  <a:rPr lang="en-US" dirty="0"/>
                  <a:t>).</a:t>
                </a:r>
              </a:p>
              <a:p>
                <a:pPr algn="just">
                  <a:buFont typeface="Arial" panose="020B0604020202020204" pitchFamily="34" charset="0"/>
                  <a:buChar char="•"/>
                </a:pPr>
                <a:r>
                  <a:rPr lang="en-US" dirty="0">
                    <a:latin typeface="Cambria Math" panose="02040503050406030204" pitchFamily="18" charset="0"/>
                    <a:ea typeface="Cambria Math" panose="02040503050406030204" pitchFamily="18" charset="0"/>
                  </a:rPr>
                  <a:t>For any element </a:t>
                </a:r>
                <a14:m>
                  <m:oMath xmlns:m="http://schemas.openxmlformats.org/officeDocument/2006/math">
                    <m:r>
                      <a:rPr lang="en-US" i="1">
                        <a:latin typeface="Cambria Math" panose="02040503050406030204" pitchFamily="18" charset="0"/>
                        <a:ea typeface="Cambria Math" panose="02040503050406030204" pitchFamily="18" charset="0"/>
                      </a:rPr>
                      <m:t>𝑞</m:t>
                    </m:r>
                  </m:oMath>
                </a14:m>
                <a:r>
                  <a:rPr lang="en-US" dirty="0">
                    <a:latin typeface="Cambria Math" panose="02040503050406030204" pitchFamily="18" charset="0"/>
                    <a:ea typeface="Cambria Math" panose="02040503050406030204" pitchFamily="18" charset="0"/>
                  </a:rPr>
                  <a:t> of </a:t>
                </a:r>
                <a14:m>
                  <m:oMath xmlns:m="http://schemas.openxmlformats.org/officeDocument/2006/math">
                    <m:r>
                      <a:rPr lang="en-US" i="1">
                        <a:latin typeface="Cambria Math" panose="02040503050406030204" pitchFamily="18" charset="0"/>
                        <a:ea typeface="Cambria Math" panose="02040503050406030204" pitchFamily="18" charset="0"/>
                      </a:rPr>
                      <m:t>𝑄</m:t>
                    </m:r>
                  </m:oMath>
                </a14:m>
                <a:r>
                  <a:rPr lang="en-US" dirty="0">
                    <a:latin typeface="Cambria Math" panose="02040503050406030204" pitchFamily="18" charset="0"/>
                    <a:ea typeface="Cambria Math" panose="02040503050406030204" pitchFamily="18" charset="0"/>
                  </a:rPr>
                  <a:t> and any symbol </a:t>
                </a:r>
                <a14:m>
                  <m:oMath xmlns:m="http://schemas.openxmlformats.org/officeDocument/2006/math">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𝜖</m:t>
                    </m:r>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Σ</m:t>
                    </m:r>
                  </m:oMath>
                </a14:m>
                <a:r>
                  <a:rPr lang="en-US" dirty="0">
                    <a:latin typeface="Cambria Math" panose="02040503050406030204" pitchFamily="18" charset="0"/>
                    <a:ea typeface="Cambria Math" panose="02040503050406030204" pitchFamily="18" charset="0"/>
                  </a:rPr>
                  <a:t>, we interpret </a:t>
                </a:r>
                <a14:m>
                  <m:oMath xmlns:m="http://schemas.openxmlformats.org/officeDocument/2006/math">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as the state to which the FA moves, if it is in state </a:t>
                </a:r>
                <a14:m>
                  <m:oMath xmlns:m="http://schemas.openxmlformats.org/officeDocument/2006/math">
                    <m:r>
                      <a:rPr lang="en-US" i="1">
                        <a:latin typeface="Cambria Math" panose="02040503050406030204" pitchFamily="18" charset="0"/>
                        <a:ea typeface="Cambria Math" panose="02040503050406030204" pitchFamily="18" charset="0"/>
                      </a:rPr>
                      <m:t>𝑞</m:t>
                    </m:r>
                  </m:oMath>
                </a14:m>
                <a:r>
                  <a:rPr lang="en-US" dirty="0">
                    <a:latin typeface="Cambria Math" panose="02040503050406030204" pitchFamily="18" charset="0"/>
                    <a:ea typeface="Cambria Math" panose="02040503050406030204" pitchFamily="18" charset="0"/>
                  </a:rPr>
                  <a:t> and receives the input </a:t>
                </a:r>
                <a14:m>
                  <m:oMath xmlns:m="http://schemas.openxmlformats.org/officeDocument/2006/math">
                    <m:r>
                      <a:rPr lang="en-US" i="1">
                        <a:latin typeface="Cambria Math" panose="02040503050406030204" pitchFamily="18" charset="0"/>
                        <a:ea typeface="Cambria Math" panose="02040503050406030204" pitchFamily="18" charset="0"/>
                      </a:rPr>
                      <m:t>𝑎</m:t>
                    </m:r>
                  </m:oMath>
                </a14:m>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δ (q</a:t>
                </a:r>
                <a:r>
                  <a:rPr lang="en-US" baseline="-25000" dirty="0">
                    <a:latin typeface="Cambria Math" panose="02040503050406030204" pitchFamily="18" charset="0"/>
                    <a:ea typeface="Cambria Math" panose="02040503050406030204" pitchFamily="18" charset="0"/>
                  </a:rPr>
                  <a:t>0</a:t>
                </a:r>
                <a:r>
                  <a:rPr lang="en-US" dirty="0">
                    <a:latin typeface="Cambria Math" panose="02040503050406030204" pitchFamily="18" charset="0"/>
                    <a:ea typeface="Cambria Math" panose="02040503050406030204" pitchFamily="18" charset="0"/>
                  </a:rPr>
                  <a:t> , a) = q</a:t>
                </a:r>
                <a:r>
                  <a:rPr lang="en-US" baseline="-25000" dirty="0">
                    <a:latin typeface="Cambria Math" panose="02040503050406030204" pitchFamily="18" charset="0"/>
                    <a:ea typeface="Cambria Math" panose="02040503050406030204" pitchFamily="18" charset="0"/>
                  </a:rPr>
                  <a:t>1</a:t>
                </a:r>
                <a:r>
                  <a:rPr lang="en-US" dirty="0">
                    <a:latin typeface="Cambria Math" panose="02040503050406030204" pitchFamily="18" charset="0"/>
                    <a:ea typeface="Cambria Math" panose="02040503050406030204" pitchFamily="18" charset="0"/>
                  </a:rPr>
                  <a:t>, then if the </a:t>
                </a:r>
                <a:r>
                  <a:rPr lang="en-US" b="1" dirty="0" err="1">
                    <a:solidFill>
                      <a:srgbClr val="C00000"/>
                    </a:solidFill>
                    <a:latin typeface="Cambria Math" panose="02040503050406030204" pitchFamily="18" charset="0"/>
                    <a:ea typeface="Cambria Math" panose="02040503050406030204" pitchFamily="18" charset="0"/>
                  </a:rPr>
                  <a:t>dfa</a:t>
                </a:r>
                <a:r>
                  <a:rPr lang="en-US" dirty="0">
                    <a:latin typeface="Cambria Math" panose="02040503050406030204" pitchFamily="18" charset="0"/>
                    <a:ea typeface="Cambria Math" panose="02040503050406030204" pitchFamily="18" charset="0"/>
                  </a:rPr>
                  <a:t> is in state q</a:t>
                </a:r>
                <a:r>
                  <a:rPr lang="en-US" baseline="-25000" dirty="0">
                    <a:latin typeface="Cambria Math" panose="02040503050406030204" pitchFamily="18" charset="0"/>
                    <a:ea typeface="Cambria Math" panose="02040503050406030204" pitchFamily="18" charset="0"/>
                  </a:rPr>
                  <a:t>0</a:t>
                </a:r>
                <a:r>
                  <a:rPr lang="en-US" dirty="0">
                    <a:latin typeface="Cambria Math" panose="02040503050406030204" pitchFamily="18" charset="0"/>
                    <a:ea typeface="Cambria Math" panose="02040503050406030204" pitchFamily="18" charset="0"/>
                  </a:rPr>
                  <a:t> and the current input symbol is a, the </a:t>
                </a:r>
                <a:r>
                  <a:rPr lang="en-US" dirty="0" err="1">
                    <a:latin typeface="Cambria Math" panose="02040503050406030204" pitchFamily="18" charset="0"/>
                    <a:ea typeface="Cambria Math" panose="02040503050406030204" pitchFamily="18" charset="0"/>
                  </a:rPr>
                  <a:t>dfa</a:t>
                </a:r>
                <a:r>
                  <a:rPr lang="en-US" dirty="0">
                    <a:latin typeface="Cambria Math" panose="02040503050406030204" pitchFamily="18" charset="0"/>
                    <a:ea typeface="Cambria Math" panose="02040503050406030204" pitchFamily="18" charset="0"/>
                  </a:rPr>
                  <a:t> will go into state q</a:t>
                </a:r>
                <a:r>
                  <a:rPr lang="en-US" baseline="-25000" dirty="0">
                    <a:latin typeface="Cambria Math" panose="02040503050406030204" pitchFamily="18" charset="0"/>
                    <a:ea typeface="Cambria Math" panose="02040503050406030204" pitchFamily="18" charset="0"/>
                  </a:rPr>
                  <a:t>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731" t="-457" r="-783"/>
                </a:stretch>
              </a:blipFill>
            </p:spPr>
            <p:txBody>
              <a:bodyPr/>
              <a:lstStyle/>
              <a:p>
                <a:r>
                  <a:rPr lang="en-IN">
                    <a:noFill/>
                  </a:rPr>
                  <a:t> </a:t>
                </a:r>
              </a:p>
            </p:txBody>
          </p:sp>
        </mc:Fallback>
      </mc:AlternateContent>
    </p:spTree>
    <p:extLst>
      <p:ext uri="{BB962C8B-B14F-4D97-AF65-F5344CB8AC3E}">
        <p14:creationId xmlns:p14="http://schemas.microsoft.com/office/powerpoint/2010/main" val="155316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Finite Automata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i="1">
                        <a:latin typeface="Cambria Math" panose="02040503050406030204" pitchFamily="18" charset="0"/>
                      </a:rPr>
                      <m:t>𝑄</m:t>
                    </m:r>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rPr>
                      <m:t>)</m:t>
                    </m:r>
                  </m:oMath>
                </a14:m>
                <a:endParaRPr lang="en-US" dirty="0"/>
              </a:p>
              <a:p>
                <a:pPr lvl="1" algn="just"/>
                <a14:m>
                  <m:oMath xmlns:m="http://schemas.openxmlformats.org/officeDocument/2006/math">
                    <m:r>
                      <a:rPr lang="en-US" i="1">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a:p>
                <a:pPr lvl="1" algn="just"/>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={0,1}</m:t>
                    </m:r>
                  </m:oMath>
                </a14:m>
                <a:endParaRPr lang="en-US" dirty="0"/>
              </a:p>
              <a:p>
                <a:pPr lvl="1" algn="just"/>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oMath>
                </a14:m>
                <a:endParaRPr lang="en-US" dirty="0"/>
              </a:p>
              <a:p>
                <a:pPr lvl="1" algn="just"/>
                <a14:m>
                  <m:oMath xmlns:m="http://schemas.openxmlformats.org/officeDocument/2006/math">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oMath>
                </a14:m>
                <a:endParaRPr lang="en-US" dirty="0"/>
              </a:p>
              <a:p>
                <a:pPr lvl="1" algn="just"/>
                <a14:m>
                  <m:oMath xmlns:m="http://schemas.openxmlformats.org/officeDocument/2006/math">
                    <m:r>
                      <a:rPr lang="en-US" i="1">
                        <a:latin typeface="Cambria Math" panose="02040503050406030204" pitchFamily="18" charset="0"/>
                        <a:ea typeface="Cambria Math" panose="02040503050406030204" pitchFamily="18" charset="0"/>
                      </a:rPr>
                      <m:t>𝛿</m:t>
                    </m:r>
                  </m:oMath>
                </a14:m>
                <a:r>
                  <a:rPr lang="en-US" dirty="0"/>
                  <a:t> is defined as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731" t="-114"/>
                </a:stretch>
              </a:blipFill>
            </p:spPr>
            <p:txBody>
              <a:bodyPr/>
              <a:lstStyle/>
              <a:p>
                <a:r>
                  <a:rPr lang="en-IN">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4025811539"/>
              </p:ext>
            </p:extLst>
          </p:nvPr>
        </p:nvGraphicFramePr>
        <p:xfrm>
          <a:off x="4914900" y="1600200"/>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tblGrid>
              <a:tr h="370840">
                <a:tc>
                  <a:txBody>
                    <a:bodyPr/>
                    <a:lstStyle/>
                    <a:p>
                      <a:pPr algn="ctr"/>
                      <a:r>
                        <a:rPr lang="el-GR" b="1" dirty="0">
                          <a:latin typeface="Cambria Math" panose="02040503050406030204" pitchFamily="18" charset="0"/>
                          <a:ea typeface="Cambria Math" panose="02040503050406030204" pitchFamily="18" charset="0"/>
                        </a:rPr>
                        <a:t>δ</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13676450"/>
                  </p:ext>
                </p:extLst>
              </p:nvPr>
            </p:nvGraphicFramePr>
            <p:xfrm>
              <a:off x="4916489" y="1972312"/>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accent1">
                                  <a:lumMod val="75000"/>
                                </a:schemeClr>
                              </a:solidFill>
                            </a:rPr>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accent1">
                                        <a:lumMod val="75000"/>
                                      </a:schemeClr>
                                    </a:solidFill>
                                    <a:latin typeface="Cambria Math" panose="02040503050406030204" pitchFamily="18" charset="0"/>
                                  </a:rPr>
                                  <m:t>𝟎</m:t>
                                </m:r>
                              </m:oMath>
                            </m:oMathPara>
                          </a14:m>
                          <a:endParaRPr lang="en-US"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accent1">
                                        <a:lumMod val="75000"/>
                                      </a:schemeClr>
                                    </a:solidFill>
                                    <a:latin typeface="Cambria Math" panose="02040503050406030204" pitchFamily="18" charset="0"/>
                                  </a:rPr>
                                  <m:t>𝟏</m:t>
                                </m:r>
                              </m:oMath>
                            </m:oMathPara>
                          </a14:m>
                          <a:endParaRPr lang="en-US"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13676450"/>
                  </p:ext>
                </p:extLst>
              </p:nvPr>
            </p:nvGraphicFramePr>
            <p:xfrm>
              <a:off x="4916489" y="1972312"/>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accent1">
                                  <a:lumMod val="75000"/>
                                </a:schemeClr>
                              </a:solidFill>
                            </a:rPr>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58" t="-8065" r="-100987" b="-241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8065" r="-656" b="-24194"/>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4918075" y="2343785"/>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7" name="Table 6"/>
              <p:cNvGraphicFramePr>
                <a:graphicFrameLocks noGrp="1"/>
              </p:cNvGraphicFramePr>
              <p:nvPr/>
            </p:nvGraphicFramePr>
            <p:xfrm>
              <a:off x="4918075" y="2343785"/>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8" t="-1613" r="-200328" b="-48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658" t="-1613" r="-100987" b="-483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613" r="-656" b="-4839"/>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4919664" y="27178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8" name="Table 7"/>
              <p:cNvGraphicFramePr>
                <a:graphicFrameLocks noGrp="1"/>
              </p:cNvGraphicFramePr>
              <p:nvPr/>
            </p:nvGraphicFramePr>
            <p:xfrm>
              <a:off x="4919664" y="27178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658" t="-1515" r="-2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658" t="-1515" r="-1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658" t="-1515" r="-658" b="-3030"/>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921252" y="311658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nvGraphicFramePr>
            <p:xfrm>
              <a:off x="4921252" y="311658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29" t="-1515" r="-2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329" t="-1515" r="-1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00329" t="-1515" r="-658" b="-3030"/>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sp>
            <p:nvSpPr>
              <p:cNvPr id="31" name="Oval 30"/>
              <p:cNvSpPr/>
              <p:nvPr/>
            </p:nvSpPr>
            <p:spPr>
              <a:xfrm>
                <a:off x="4419600" y="4648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0</m:t>
                          </m:r>
                        </m:sub>
                      </m:sSub>
                    </m:oMath>
                  </m:oMathPara>
                </a14:m>
                <a:endParaRPr lang="en-US" dirty="0"/>
              </a:p>
            </p:txBody>
          </p:sp>
        </mc:Choice>
        <mc:Fallback xmlns="">
          <p:sp>
            <p:nvSpPr>
              <p:cNvPr id="31" name="Oval 30"/>
              <p:cNvSpPr>
                <a:spLocks noRot="1" noChangeAspect="1" noMove="1" noResize="1" noEditPoints="1" noAdjustHandles="1" noChangeArrowheads="1" noChangeShapeType="1" noTextEdit="1"/>
              </p:cNvSpPr>
              <p:nvPr/>
            </p:nvSpPr>
            <p:spPr>
              <a:xfrm>
                <a:off x="4419600" y="4648200"/>
                <a:ext cx="609600" cy="609600"/>
              </a:xfrm>
              <a:prstGeom prst="ellipse">
                <a:avLst/>
              </a:prstGeom>
              <a:blipFill>
                <a:blip r:embed="rId8"/>
                <a:stretch>
                  <a:fillRect/>
                </a:stretch>
              </a:blipFill>
            </p:spPr>
            <p:txBody>
              <a:bodyPr/>
              <a:lstStyle/>
              <a:p>
                <a:r>
                  <a:rPr lang="en-IN">
                    <a:noFill/>
                  </a:rPr>
                  <a:t> </a:t>
                </a:r>
              </a:p>
            </p:txBody>
          </p:sp>
        </mc:Fallback>
      </mc:AlternateContent>
      <p:cxnSp>
        <p:nvCxnSpPr>
          <p:cNvPr id="33" name="Straight Connector 32"/>
          <p:cNvCxnSpPr>
            <a:stCxn id="31" idx="2"/>
          </p:cNvCxnSpPr>
          <p:nvPr/>
        </p:nvCxnSpPr>
        <p:spPr>
          <a:xfrm flipH="1">
            <a:off x="3810000" y="4953000"/>
            <a:ext cx="609600" cy="0"/>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Oval 35"/>
              <p:cNvSpPr/>
              <p:nvPr/>
            </p:nvSpPr>
            <p:spPr>
              <a:xfrm>
                <a:off x="6369020" y="464185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1</m:t>
                          </m:r>
                        </m:sub>
                      </m:sSub>
                    </m:oMath>
                  </m:oMathPara>
                </a14:m>
                <a:endParaRPr lang="en-US" dirty="0"/>
              </a:p>
            </p:txBody>
          </p:sp>
        </mc:Choice>
        <mc:Fallback xmlns="">
          <p:sp>
            <p:nvSpPr>
              <p:cNvPr id="36" name="Oval 35"/>
              <p:cNvSpPr>
                <a:spLocks noRot="1" noChangeAspect="1" noMove="1" noResize="1" noEditPoints="1" noAdjustHandles="1" noChangeArrowheads="1" noChangeShapeType="1" noTextEdit="1"/>
              </p:cNvSpPr>
              <p:nvPr/>
            </p:nvSpPr>
            <p:spPr>
              <a:xfrm>
                <a:off x="6369020" y="4641850"/>
                <a:ext cx="609600" cy="609600"/>
              </a:xfrm>
              <a:prstGeom prst="ellipse">
                <a:avLst/>
              </a:prstGeom>
              <a:blipFill>
                <a:blip r:embed="rId9"/>
                <a:stretch>
                  <a:fillRect/>
                </a:stretch>
              </a:blipFill>
            </p:spPr>
            <p:txBody>
              <a:bodyPr/>
              <a:lstStyle/>
              <a:p>
                <a:r>
                  <a:rPr lang="en-IN">
                    <a:noFill/>
                  </a:rPr>
                  <a:t> </a:t>
                </a:r>
              </a:p>
            </p:txBody>
          </p:sp>
        </mc:Fallback>
      </mc:AlternateContent>
      <p:cxnSp>
        <p:nvCxnSpPr>
          <p:cNvPr id="37" name="Straight Connector 36"/>
          <p:cNvCxnSpPr>
            <a:stCxn id="36" idx="2"/>
            <a:endCxn id="31" idx="6"/>
          </p:cNvCxnSpPr>
          <p:nvPr/>
        </p:nvCxnSpPr>
        <p:spPr>
          <a:xfrm flipH="1">
            <a:off x="5029200" y="4946650"/>
            <a:ext cx="1339820" cy="6350"/>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p:cNvSpPr/>
              <p:nvPr/>
            </p:nvSpPr>
            <p:spPr>
              <a:xfrm>
                <a:off x="8166100" y="4648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2</m:t>
                          </m:r>
                        </m:sub>
                      </m:sSub>
                    </m:oMath>
                  </m:oMathPara>
                </a14:m>
                <a:endParaRPr lang="en-US" dirty="0"/>
              </a:p>
            </p:txBody>
          </p:sp>
        </mc:Choice>
        <mc:Fallback xmlns="">
          <p:sp>
            <p:nvSpPr>
              <p:cNvPr id="39" name="Oval 38"/>
              <p:cNvSpPr>
                <a:spLocks noRot="1" noChangeAspect="1" noMove="1" noResize="1" noEditPoints="1" noAdjustHandles="1" noChangeArrowheads="1" noChangeShapeType="1" noTextEdit="1"/>
              </p:cNvSpPr>
              <p:nvPr/>
            </p:nvSpPr>
            <p:spPr>
              <a:xfrm>
                <a:off x="8166100" y="4648200"/>
                <a:ext cx="609600" cy="609600"/>
              </a:xfrm>
              <a:prstGeom prst="ellipse">
                <a:avLst/>
              </a:prstGeom>
              <a:blipFill>
                <a:blip r:embed="rId10"/>
                <a:stretch>
                  <a:fillRect/>
                </a:stretch>
              </a:blipFill>
            </p:spPr>
            <p:txBody>
              <a:bodyPr/>
              <a:lstStyle/>
              <a:p>
                <a:r>
                  <a:rPr lang="en-IN">
                    <a:noFill/>
                  </a:rPr>
                  <a:t> </a:t>
                </a:r>
              </a:p>
            </p:txBody>
          </p:sp>
        </mc:Fallback>
      </mc:AlternateContent>
      <p:cxnSp>
        <p:nvCxnSpPr>
          <p:cNvPr id="40" name="Straight Connector 39"/>
          <p:cNvCxnSpPr>
            <a:stCxn id="39" idx="2"/>
            <a:endCxn id="36" idx="6"/>
          </p:cNvCxnSpPr>
          <p:nvPr/>
        </p:nvCxnSpPr>
        <p:spPr>
          <a:xfrm flipH="1" flipV="1">
            <a:off x="6978620" y="4946650"/>
            <a:ext cx="1187480" cy="6350"/>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cxnSp>
        <p:nvCxnSpPr>
          <p:cNvPr id="67" name="Curved Connector 66"/>
          <p:cNvCxnSpPr/>
          <p:nvPr/>
        </p:nvCxnSpPr>
        <p:spPr>
          <a:xfrm rot="16200000" flipH="1" flipV="1">
            <a:off x="5753085" y="4066187"/>
            <a:ext cx="6350" cy="1518368"/>
          </a:xfrm>
          <a:prstGeom prst="curvedConnector3">
            <a:avLst>
              <a:gd name="adj1" fmla="val -9805890"/>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72" name="Curved Connector 71"/>
          <p:cNvCxnSpPr>
            <a:stCxn id="39" idx="4"/>
            <a:endCxn id="31" idx="4"/>
          </p:cNvCxnSpPr>
          <p:nvPr/>
        </p:nvCxnSpPr>
        <p:spPr>
          <a:xfrm rot="5400000">
            <a:off x="6597650" y="3384550"/>
            <a:ext cx="12700" cy="3746500"/>
          </a:xfrm>
          <a:prstGeom prst="curvedConnector3">
            <a:avLst>
              <a:gd name="adj1" fmla="val 5717646"/>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75" name="Curved Connector 74"/>
          <p:cNvCxnSpPr/>
          <p:nvPr/>
        </p:nvCxnSpPr>
        <p:spPr>
          <a:xfrm rot="5400000" flipH="1" flipV="1">
            <a:off x="8459713" y="4521947"/>
            <a:ext cx="12700" cy="431052"/>
          </a:xfrm>
          <a:prstGeom prst="curvedConnector3">
            <a:avLst>
              <a:gd name="adj1" fmla="val 3602945"/>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4561592" y="3951238"/>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79" name="TextBox 78"/>
          <p:cNvSpPr txBox="1"/>
          <p:nvPr/>
        </p:nvSpPr>
        <p:spPr>
          <a:xfrm>
            <a:off x="5581620" y="4614446"/>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0</a:t>
            </a:r>
          </a:p>
        </p:txBody>
      </p:sp>
      <p:sp>
        <p:nvSpPr>
          <p:cNvPr id="80" name="TextBox 79"/>
          <p:cNvSpPr txBox="1"/>
          <p:nvPr/>
        </p:nvSpPr>
        <p:spPr>
          <a:xfrm>
            <a:off x="5581620" y="3873768"/>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81" name="TextBox 80"/>
          <p:cNvSpPr txBox="1"/>
          <p:nvPr/>
        </p:nvSpPr>
        <p:spPr>
          <a:xfrm>
            <a:off x="7381800" y="4601746"/>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0</a:t>
            </a:r>
          </a:p>
        </p:txBody>
      </p:sp>
      <p:sp>
        <p:nvSpPr>
          <p:cNvPr id="82" name="TextBox 81"/>
          <p:cNvSpPr txBox="1"/>
          <p:nvPr/>
        </p:nvSpPr>
        <p:spPr>
          <a:xfrm>
            <a:off x="8304123" y="3951238"/>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0</a:t>
            </a:r>
          </a:p>
        </p:txBody>
      </p:sp>
      <p:sp>
        <p:nvSpPr>
          <p:cNvPr id="83" name="TextBox 82"/>
          <p:cNvSpPr txBox="1"/>
          <p:nvPr/>
        </p:nvSpPr>
        <p:spPr>
          <a:xfrm>
            <a:off x="6524580" y="5674354"/>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103" name="Oval 102"/>
          <p:cNvSpPr/>
          <p:nvPr/>
        </p:nvSpPr>
        <p:spPr>
          <a:xfrm>
            <a:off x="8242300" y="4724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endParaRPr lang="en-US" dirty="0"/>
          </a:p>
        </p:txBody>
      </p:sp>
      <p:cxnSp>
        <p:nvCxnSpPr>
          <p:cNvPr id="32" name="Curved Connector 31"/>
          <p:cNvCxnSpPr/>
          <p:nvPr/>
        </p:nvCxnSpPr>
        <p:spPr>
          <a:xfrm rot="5400000" flipH="1" flipV="1">
            <a:off x="4705724" y="4522321"/>
            <a:ext cx="12700" cy="431052"/>
          </a:xfrm>
          <a:prstGeom prst="curvedConnector3">
            <a:avLst>
              <a:gd name="adj1" fmla="val 3708827"/>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CBA284E-7484-4675-8FFA-D19C50F0C5F9}"/>
              </a:ext>
            </a:extLst>
          </p:cNvPr>
          <p:cNvSpPr txBox="1"/>
          <p:nvPr/>
        </p:nvSpPr>
        <p:spPr>
          <a:xfrm>
            <a:off x="6709877" y="1208405"/>
            <a:ext cx="1756186" cy="369332"/>
          </a:xfrm>
          <a:prstGeom prst="rect">
            <a:avLst/>
          </a:prstGeom>
          <a:noFill/>
        </p:spPr>
        <p:txBody>
          <a:bodyPr wrap="none" rtlCol="0">
            <a:spAutoFit/>
          </a:bodyPr>
          <a:lstStyle/>
          <a:p>
            <a:r>
              <a:rPr lang="en-US" b="1" dirty="0">
                <a:solidFill>
                  <a:srgbClr val="C00000"/>
                </a:solidFill>
                <a:latin typeface="Cambria Math" panose="02040503050406030204" pitchFamily="18" charset="0"/>
                <a:ea typeface="Cambria Math" panose="02040503050406030204" pitchFamily="18" charset="0"/>
              </a:rPr>
              <a:t>Transition Table</a:t>
            </a:r>
            <a:endParaRPr lang="en-IN" b="1" dirty="0">
              <a:solidFill>
                <a:srgbClr val="C00000"/>
              </a:solidFill>
              <a:latin typeface="Cambria Math" panose="02040503050406030204" pitchFamily="18" charset="0"/>
              <a:ea typeface="Cambria Math" panose="02040503050406030204" pitchFamily="18" charset="0"/>
            </a:endParaRPr>
          </a:p>
        </p:txBody>
      </p:sp>
      <p:sp>
        <p:nvSpPr>
          <p:cNvPr id="27" name="TextBox 26">
            <a:extLst>
              <a:ext uri="{FF2B5EF4-FFF2-40B4-BE49-F238E27FC236}">
                <a16:creationId xmlns:a16="http://schemas.microsoft.com/office/drawing/2014/main" id="{44E700D5-E761-4F88-91C2-128BC8E8F4D9}"/>
              </a:ext>
            </a:extLst>
          </p:cNvPr>
          <p:cNvSpPr txBox="1"/>
          <p:nvPr/>
        </p:nvSpPr>
        <p:spPr>
          <a:xfrm>
            <a:off x="5307138" y="6065009"/>
            <a:ext cx="2593723" cy="369332"/>
          </a:xfrm>
          <a:prstGeom prst="rect">
            <a:avLst/>
          </a:prstGeom>
          <a:noFill/>
        </p:spPr>
        <p:txBody>
          <a:bodyPr wrap="none" rtlCol="0">
            <a:spAutoFit/>
          </a:bodyPr>
          <a:lstStyle/>
          <a:p>
            <a:r>
              <a:rPr lang="en-US" b="1" dirty="0">
                <a:solidFill>
                  <a:srgbClr val="C00000"/>
                </a:solidFill>
                <a:latin typeface="Cambria Math" panose="02040503050406030204" pitchFamily="18" charset="0"/>
                <a:ea typeface="Cambria Math" panose="02040503050406030204" pitchFamily="18" charset="0"/>
              </a:rPr>
              <a:t>Transition State Diagram</a:t>
            </a:r>
            <a:endParaRPr lang="en-IN" b="1" dirty="0">
              <a:solidFill>
                <a:srgbClr val="C00000"/>
              </a:solidFill>
              <a:latin typeface="Cambria Math" panose="02040503050406030204" pitchFamily="18" charset="0"/>
              <a:ea typeface="Cambria Math" panose="02040503050406030204" pitchFamily="18" charset="0"/>
            </a:endParaRPr>
          </a:p>
        </p:txBody>
      </p:sp>
      <p:sp>
        <p:nvSpPr>
          <p:cNvPr id="29" name="TextBox 28">
            <a:extLst>
              <a:ext uri="{FF2B5EF4-FFF2-40B4-BE49-F238E27FC236}">
                <a16:creationId xmlns:a16="http://schemas.microsoft.com/office/drawing/2014/main" id="{7628ED1B-E148-4B47-9ECC-6B4EEDB92B3A}"/>
              </a:ext>
            </a:extLst>
          </p:cNvPr>
          <p:cNvSpPr txBox="1"/>
          <p:nvPr/>
        </p:nvSpPr>
        <p:spPr>
          <a:xfrm>
            <a:off x="76200" y="5817868"/>
            <a:ext cx="5117298" cy="923330"/>
          </a:xfrm>
          <a:prstGeom prst="rect">
            <a:avLst/>
          </a:prstGeom>
          <a:noFill/>
        </p:spPr>
        <p:txBody>
          <a:bodyPr wrap="square">
            <a:spAutoFit/>
          </a:bodyPr>
          <a:lstStyle/>
          <a:p>
            <a:r>
              <a:rPr lang="en-IN" sz="1800" dirty="0">
                <a:solidFill>
                  <a:srgbClr val="C00000"/>
                </a:solidFill>
              </a:rPr>
              <a:t>Why we are changing state, because FA does not have their own memory. So to remember the input we need to change the state. </a:t>
            </a:r>
          </a:p>
        </p:txBody>
      </p:sp>
    </p:spTree>
    <p:extLst>
      <p:ext uri="{BB962C8B-B14F-4D97-AF65-F5344CB8AC3E}">
        <p14:creationId xmlns:p14="http://schemas.microsoft.com/office/powerpoint/2010/main" val="61647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left)">
                                      <p:cBhvr>
                                        <p:cTn id="48" dur="50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3"/>
                                        </p:tgtEl>
                                        <p:attrNameLst>
                                          <p:attrName>style.visibility</p:attrName>
                                        </p:attrNameLst>
                                      </p:cBhvr>
                                      <p:to>
                                        <p:strVal val="visible"/>
                                      </p:to>
                                    </p:set>
                                    <p:animEffect transition="in" filter="fade">
                                      <p:cBhvr>
                                        <p:cTn id="51" dur="500"/>
                                        <p:tgtEl>
                                          <p:spTgt spid="10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500"/>
                                        <p:tgtEl>
                                          <p:spTgt spid="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left)">
                                      <p:cBhvr>
                                        <p:cTn id="71" dur="500"/>
                                        <p:tgtEl>
                                          <p:spTgt spid="37"/>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79"/>
                                        </p:tgtEl>
                                        <p:attrNameLst>
                                          <p:attrName>style.visibility</p:attrName>
                                        </p:attrNameLst>
                                      </p:cBhvr>
                                      <p:to>
                                        <p:strVal val="visible"/>
                                      </p:to>
                                    </p:set>
                                    <p:animEffect transition="in" filter="wipe(down)">
                                      <p:cBhvr>
                                        <p:cTn id="74" dur="500"/>
                                        <p:tgtEl>
                                          <p:spTgt spid="7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wipe(down)">
                                      <p:cBhvr>
                                        <p:cTn id="82" dur="500"/>
                                        <p:tgtEl>
                                          <p:spTgt spid="7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fade">
                                      <p:cBhvr>
                                        <p:cTn id="87" dur="5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81"/>
                                        </p:tgtEl>
                                        <p:attrNameLst>
                                          <p:attrName>style.visibility</p:attrName>
                                        </p:attrNameLst>
                                      </p:cBhvr>
                                      <p:to>
                                        <p:strVal val="visible"/>
                                      </p:to>
                                    </p:set>
                                    <p:animEffect transition="in" filter="wipe(down)">
                                      <p:cBhvr>
                                        <p:cTn id="92" dur="500"/>
                                        <p:tgtEl>
                                          <p:spTgt spid="81"/>
                                        </p:tgtEl>
                                      </p:cBhvr>
                                    </p:animEffect>
                                  </p:childTnLst>
                                </p:cTn>
                              </p:par>
                              <p:par>
                                <p:cTn id="93" presetID="22" presetClass="entr" presetSubtype="8" fill="hold"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wipe(left)">
                                      <p:cBhvr>
                                        <p:cTn id="95" dur="500"/>
                                        <p:tgtEl>
                                          <p:spTgt spid="4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nodeType="clickEffect">
                                  <p:stCondLst>
                                    <p:cond delay="0"/>
                                  </p:stCondLst>
                                  <p:childTnLst>
                                    <p:set>
                                      <p:cBhvr>
                                        <p:cTn id="99" dur="1" fill="hold">
                                          <p:stCondLst>
                                            <p:cond delay="0"/>
                                          </p:stCondLst>
                                        </p:cTn>
                                        <p:tgtEl>
                                          <p:spTgt spid="67"/>
                                        </p:tgtEl>
                                        <p:attrNameLst>
                                          <p:attrName>style.visibility</p:attrName>
                                        </p:attrNameLst>
                                      </p:cBhvr>
                                      <p:to>
                                        <p:strVal val="visible"/>
                                      </p:to>
                                    </p:set>
                                    <p:animEffect transition="in" filter="wipe(right)">
                                      <p:cBhvr>
                                        <p:cTn id="100" dur="500"/>
                                        <p:tgtEl>
                                          <p:spTgt spid="67"/>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80"/>
                                        </p:tgtEl>
                                        <p:attrNameLst>
                                          <p:attrName>style.visibility</p:attrName>
                                        </p:attrNameLst>
                                      </p:cBhvr>
                                      <p:to>
                                        <p:strVal val="visible"/>
                                      </p:to>
                                    </p:set>
                                    <p:animEffect transition="in" filter="wipe(down)">
                                      <p:cBhvr>
                                        <p:cTn id="103" dur="500"/>
                                        <p:tgtEl>
                                          <p:spTgt spid="8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10"/>
                                        </p:tgtEl>
                                        <p:attrNameLst>
                                          <p:attrName>style.visibility</p:attrName>
                                        </p:attrNameLst>
                                      </p:cBhvr>
                                      <p:to>
                                        <p:strVal val="visible"/>
                                      </p:to>
                                    </p:set>
                                    <p:animEffect transition="in" filter="fade">
                                      <p:cBhvr>
                                        <p:cTn id="108" dur="500"/>
                                        <p:tgtEl>
                                          <p:spTgt spid="10"/>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75"/>
                                        </p:tgtEl>
                                        <p:attrNameLst>
                                          <p:attrName>style.visibility</p:attrName>
                                        </p:attrNameLst>
                                      </p:cBhvr>
                                      <p:to>
                                        <p:strVal val="visible"/>
                                      </p:to>
                                    </p:set>
                                    <p:animEffect transition="in" filter="wipe(left)">
                                      <p:cBhvr>
                                        <p:cTn id="113" dur="500"/>
                                        <p:tgtEl>
                                          <p:spTgt spid="75"/>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82"/>
                                        </p:tgtEl>
                                        <p:attrNameLst>
                                          <p:attrName>style.visibility</p:attrName>
                                        </p:attrNameLst>
                                      </p:cBhvr>
                                      <p:to>
                                        <p:strVal val="visible"/>
                                      </p:to>
                                    </p:set>
                                    <p:animEffect transition="in" filter="wipe(down)">
                                      <p:cBhvr>
                                        <p:cTn id="116" dur="500"/>
                                        <p:tgtEl>
                                          <p:spTgt spid="8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2" fill="hold" nodeType="clickEffect">
                                  <p:stCondLst>
                                    <p:cond delay="0"/>
                                  </p:stCondLst>
                                  <p:childTnLst>
                                    <p:set>
                                      <p:cBhvr>
                                        <p:cTn id="120" dur="1" fill="hold">
                                          <p:stCondLst>
                                            <p:cond delay="0"/>
                                          </p:stCondLst>
                                        </p:cTn>
                                        <p:tgtEl>
                                          <p:spTgt spid="72"/>
                                        </p:tgtEl>
                                        <p:attrNameLst>
                                          <p:attrName>style.visibility</p:attrName>
                                        </p:attrNameLst>
                                      </p:cBhvr>
                                      <p:to>
                                        <p:strVal val="visible"/>
                                      </p:to>
                                    </p:set>
                                    <p:animEffect transition="in" filter="wipe(right)">
                                      <p:cBhvr>
                                        <p:cTn id="121" dur="500"/>
                                        <p:tgtEl>
                                          <p:spTgt spid="72"/>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83"/>
                                        </p:tgtEl>
                                        <p:attrNameLst>
                                          <p:attrName>style.visibility</p:attrName>
                                        </p:attrNameLst>
                                      </p:cBhvr>
                                      <p:to>
                                        <p:strVal val="visible"/>
                                      </p:to>
                                    </p:set>
                                    <p:animEffect transition="in" filter="wipe(down)">
                                      <p:cBhvr>
                                        <p:cTn id="124"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6" grpId="0" animBg="1"/>
      <p:bldP spid="39" grpId="0" animBg="1"/>
      <p:bldP spid="78" grpId="0"/>
      <p:bldP spid="79" grpId="0"/>
      <p:bldP spid="80" grpId="0"/>
      <p:bldP spid="81" grpId="0"/>
      <p:bldP spid="82" grpId="0"/>
      <p:bldP spid="83" grpId="0"/>
      <p:bldP spid="10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4A1D-20A1-47AC-B6D7-D70FDD1E5277}"/>
              </a:ext>
            </a:extLst>
          </p:cNvPr>
          <p:cNvSpPr>
            <a:spLocks noGrp="1"/>
          </p:cNvSpPr>
          <p:nvPr>
            <p:ph type="title"/>
          </p:nvPr>
        </p:nvSpPr>
        <p:spPr/>
        <p:txBody>
          <a:bodyPr/>
          <a:lstStyle/>
          <a:p>
            <a:r>
              <a:rPr lang="en-IN" dirty="0"/>
              <a:t>Minimum states</a:t>
            </a:r>
          </a:p>
        </p:txBody>
      </p:sp>
      <p:sp>
        <p:nvSpPr>
          <p:cNvPr id="3" name="Content Placeholder 2">
            <a:extLst>
              <a:ext uri="{FF2B5EF4-FFF2-40B4-BE49-F238E27FC236}">
                <a16:creationId xmlns:a16="http://schemas.microsoft.com/office/drawing/2014/main" id="{01874A65-5D97-429C-8CC6-47B45ACF7CD3}"/>
              </a:ext>
            </a:extLst>
          </p:cNvPr>
          <p:cNvSpPr>
            <a:spLocks noGrp="1"/>
          </p:cNvSpPr>
          <p:nvPr>
            <p:ph idx="1"/>
          </p:nvPr>
        </p:nvSpPr>
        <p:spPr/>
        <p:txBody>
          <a:bodyPr/>
          <a:lstStyle/>
          <a:p>
            <a:r>
              <a:rPr lang="en-US" dirty="0"/>
              <a:t>Calculate the length of substring.</a:t>
            </a:r>
          </a:p>
          <a:p>
            <a:r>
              <a:rPr lang="en-US" dirty="0"/>
              <a:t>All strings </a:t>
            </a:r>
            <a:r>
              <a:rPr lang="en-US" b="1" dirty="0">
                <a:solidFill>
                  <a:srgbClr val="C00000"/>
                </a:solidFill>
              </a:rPr>
              <a:t>ending with ‘n’ length </a:t>
            </a:r>
            <a:r>
              <a:rPr lang="en-US" dirty="0"/>
              <a:t>substring will always require minimum </a:t>
            </a:r>
            <a:r>
              <a:rPr lang="en-US" b="1" dirty="0">
                <a:solidFill>
                  <a:srgbClr val="C00000"/>
                </a:solidFill>
              </a:rPr>
              <a:t>(n+1) states </a:t>
            </a:r>
            <a:r>
              <a:rPr lang="en-US" dirty="0"/>
              <a:t>in the DFA.</a:t>
            </a:r>
          </a:p>
          <a:p>
            <a:r>
              <a:rPr lang="en-US" dirty="0"/>
              <a:t>All strings </a:t>
            </a:r>
            <a:r>
              <a:rPr lang="en-US" b="1" dirty="0">
                <a:solidFill>
                  <a:srgbClr val="C00000"/>
                </a:solidFill>
              </a:rPr>
              <a:t>starting with ‘n’ length </a:t>
            </a:r>
            <a:r>
              <a:rPr lang="en-US" dirty="0"/>
              <a:t>substring will always require minimum </a:t>
            </a:r>
            <a:r>
              <a:rPr lang="en-US" b="1" dirty="0">
                <a:solidFill>
                  <a:srgbClr val="C00000"/>
                </a:solidFill>
              </a:rPr>
              <a:t>(n+2) states </a:t>
            </a:r>
            <a:r>
              <a:rPr lang="en-US" dirty="0"/>
              <a:t>in the DFA.</a:t>
            </a:r>
            <a:endParaRPr lang="en-IN" dirty="0"/>
          </a:p>
        </p:txBody>
      </p:sp>
    </p:spTree>
    <p:extLst>
      <p:ext uri="{BB962C8B-B14F-4D97-AF65-F5344CB8AC3E}">
        <p14:creationId xmlns:p14="http://schemas.microsoft.com/office/powerpoint/2010/main" val="397774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2217-C7A3-4603-A793-C1EA7FAC5AD1}"/>
              </a:ext>
            </a:extLst>
          </p:cNvPr>
          <p:cNvSpPr>
            <a:spLocks noGrp="1"/>
          </p:cNvSpPr>
          <p:nvPr>
            <p:ph type="title"/>
          </p:nvPr>
        </p:nvSpPr>
        <p:spPr/>
        <p:txBody>
          <a:bodyPr/>
          <a:lstStyle/>
          <a:p>
            <a:r>
              <a:rPr lang="en-IN" dirty="0"/>
              <a:t>Problem types</a:t>
            </a:r>
          </a:p>
        </p:txBody>
      </p:sp>
      <p:sp>
        <p:nvSpPr>
          <p:cNvPr id="3" name="Content Placeholder 2">
            <a:extLst>
              <a:ext uri="{FF2B5EF4-FFF2-40B4-BE49-F238E27FC236}">
                <a16:creationId xmlns:a16="http://schemas.microsoft.com/office/drawing/2014/main" id="{B2E79692-05C4-45F5-9D3A-DE58EDC88E73}"/>
              </a:ext>
            </a:extLst>
          </p:cNvPr>
          <p:cNvSpPr>
            <a:spLocks noGrp="1"/>
          </p:cNvSpPr>
          <p:nvPr>
            <p:ph idx="1"/>
          </p:nvPr>
        </p:nvSpPr>
        <p:spPr/>
        <p:txBody>
          <a:bodyPr/>
          <a:lstStyle/>
          <a:p>
            <a:r>
              <a:rPr lang="en-IN" dirty="0"/>
              <a:t>Staring with w</a:t>
            </a:r>
          </a:p>
          <a:p>
            <a:r>
              <a:rPr lang="en-IN" dirty="0"/>
              <a:t>Ending with w</a:t>
            </a:r>
          </a:p>
          <a:p>
            <a:r>
              <a:rPr lang="en-IN" dirty="0"/>
              <a:t>w as sub string</a:t>
            </a:r>
          </a:p>
          <a:p>
            <a:r>
              <a:rPr lang="en-IN" dirty="0"/>
              <a:t>w with |w|=2 or 3 or n</a:t>
            </a:r>
          </a:p>
        </p:txBody>
      </p:sp>
    </p:spTree>
    <p:extLst>
      <p:ext uri="{BB962C8B-B14F-4D97-AF65-F5344CB8AC3E}">
        <p14:creationId xmlns:p14="http://schemas.microsoft.com/office/powerpoint/2010/main" val="1820070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DFA Example: </a:t>
            </a:r>
            <a:r>
              <a:rPr lang="en-IN" dirty="0">
                <a:solidFill>
                  <a:srgbClr val="C00000"/>
                </a:solidFill>
              </a:rPr>
              <a:t>ending with w</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The strings ending with 10.</a:t>
            </a:r>
          </a:p>
        </p:txBody>
      </p:sp>
      <mc:AlternateContent xmlns:mc="http://schemas.openxmlformats.org/markup-compatibility/2006" xmlns:a14="http://schemas.microsoft.com/office/drawing/2010/main">
        <mc:Choice Requires="a14">
          <p:sp>
            <p:nvSpPr>
              <p:cNvPr id="23" name="Oval 22"/>
              <p:cNvSpPr/>
              <p:nvPr/>
            </p:nvSpPr>
            <p:spPr>
              <a:xfrm>
                <a:off x="42291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23" name="Oval 22"/>
              <p:cNvSpPr>
                <a:spLocks noRot="1" noChangeAspect="1" noMove="1" noResize="1" noEditPoints="1" noAdjustHandles="1" noChangeArrowheads="1" noChangeShapeType="1" noTextEdit="1"/>
              </p:cNvSpPr>
              <p:nvPr/>
            </p:nvSpPr>
            <p:spPr>
              <a:xfrm>
                <a:off x="4229100" y="3352800"/>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Oval 23"/>
              <p:cNvSpPr/>
              <p:nvPr/>
            </p:nvSpPr>
            <p:spPr>
              <a:xfrm>
                <a:off x="57912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1</m:t>
                      </m:r>
                    </m:oMath>
                  </m:oMathPara>
                </a14:m>
                <a:endParaRPr lang="en-US" baseline="-25000" dirty="0"/>
              </a:p>
            </p:txBody>
          </p:sp>
        </mc:Choice>
        <mc:Fallback xmlns="">
          <p:sp>
            <p:nvSpPr>
              <p:cNvPr id="24" name="Oval 23"/>
              <p:cNvSpPr>
                <a:spLocks noRot="1" noChangeAspect="1" noMove="1" noResize="1" noEditPoints="1" noAdjustHandles="1" noChangeArrowheads="1" noChangeShapeType="1" noTextEdit="1"/>
              </p:cNvSpPr>
              <p:nvPr/>
            </p:nvSpPr>
            <p:spPr>
              <a:xfrm>
                <a:off x="5791200" y="3352800"/>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Oval 24"/>
              <p:cNvSpPr/>
              <p:nvPr/>
            </p:nvSpPr>
            <p:spPr>
              <a:xfrm>
                <a:off x="757558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2</m:t>
                      </m:r>
                    </m:oMath>
                  </m:oMathPara>
                </a14:m>
                <a:endParaRPr lang="en-US" baseline="-25000" dirty="0"/>
              </a:p>
            </p:txBody>
          </p:sp>
        </mc:Choice>
        <mc:Fallback xmlns="">
          <p:sp>
            <p:nvSpPr>
              <p:cNvPr id="25" name="Oval 24"/>
              <p:cNvSpPr>
                <a:spLocks noRot="1" noChangeAspect="1" noMove="1" noResize="1" noEditPoints="1" noAdjustHandles="1" noChangeArrowheads="1" noChangeShapeType="1" noTextEdit="1"/>
              </p:cNvSpPr>
              <p:nvPr/>
            </p:nvSpPr>
            <p:spPr>
              <a:xfrm>
                <a:off x="7575580" y="3352800"/>
                <a:ext cx="609600" cy="609600"/>
              </a:xfrm>
              <a:prstGeom prst="ellipse">
                <a:avLst/>
              </a:prstGeom>
              <a:blipFill>
                <a:blip r:embed="rId4"/>
                <a:stretch>
                  <a:fillRect/>
                </a:stretch>
              </a:blipFill>
            </p:spPr>
            <p:txBody>
              <a:bodyPr/>
              <a:lstStyle/>
              <a:p>
                <a:r>
                  <a:rPr lang="en-IN">
                    <a:noFill/>
                  </a:rPr>
                  <a:t> </a:t>
                </a:r>
              </a:p>
            </p:txBody>
          </p:sp>
        </mc:Fallback>
      </mc:AlternateContent>
      <p:cxnSp>
        <p:nvCxnSpPr>
          <p:cNvPr id="27" name="Straight Arrow Connector 26"/>
          <p:cNvCxnSpPr>
            <a:stCxn id="23" idx="6"/>
            <a:endCxn id="24" idx="2"/>
          </p:cNvCxnSpPr>
          <p:nvPr/>
        </p:nvCxnSpPr>
        <p:spPr>
          <a:xfrm>
            <a:off x="4838700" y="3657600"/>
            <a:ext cx="9525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3" idx="2"/>
          </p:cNvCxnSpPr>
          <p:nvPr/>
        </p:nvCxnSpPr>
        <p:spPr>
          <a:xfrm>
            <a:off x="3619500" y="3657600"/>
            <a:ext cx="609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23" idx="1"/>
            <a:endCxn id="23" idx="7"/>
          </p:cNvCxnSpPr>
          <p:nvPr/>
        </p:nvCxnSpPr>
        <p:spPr>
          <a:xfrm rot="5400000" flipH="1" flipV="1">
            <a:off x="4533900" y="3226548"/>
            <a:ext cx="12700" cy="431052"/>
          </a:xfrm>
          <a:prstGeom prst="curvedConnector3">
            <a:avLst>
              <a:gd name="adj1" fmla="val 5652945"/>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4" name="Curved Connector 33"/>
          <p:cNvCxnSpPr>
            <a:stCxn id="25" idx="4"/>
            <a:endCxn id="23" idx="4"/>
          </p:cNvCxnSpPr>
          <p:nvPr/>
        </p:nvCxnSpPr>
        <p:spPr>
          <a:xfrm rot="5400000">
            <a:off x="6207140" y="2289160"/>
            <a:ext cx="12700" cy="3346480"/>
          </a:xfrm>
          <a:prstGeom prst="curvedConnector3">
            <a:avLst>
              <a:gd name="adj1" fmla="val 5823535"/>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067300" y="3335892"/>
            <a:ext cx="301686" cy="369332"/>
          </a:xfrm>
          <a:prstGeom prst="rect">
            <a:avLst/>
          </a:prstGeom>
          <a:noFill/>
        </p:spPr>
        <p:txBody>
          <a:bodyPr wrap="none" rtlCol="0">
            <a:spAutoFit/>
          </a:bodyPr>
          <a:lstStyle/>
          <a:p>
            <a:r>
              <a:rPr lang="en-US" dirty="0"/>
              <a:t>1</a:t>
            </a:r>
          </a:p>
        </p:txBody>
      </p:sp>
      <p:sp>
        <p:nvSpPr>
          <p:cNvPr id="37" name="TextBox 36"/>
          <p:cNvSpPr txBox="1"/>
          <p:nvPr/>
        </p:nvSpPr>
        <p:spPr>
          <a:xfrm>
            <a:off x="4389407" y="2362200"/>
            <a:ext cx="301686" cy="369332"/>
          </a:xfrm>
          <a:prstGeom prst="rect">
            <a:avLst/>
          </a:prstGeom>
          <a:noFill/>
        </p:spPr>
        <p:txBody>
          <a:bodyPr wrap="none" rtlCol="0">
            <a:spAutoFit/>
          </a:bodyPr>
          <a:lstStyle/>
          <a:p>
            <a:r>
              <a:rPr lang="en-US" dirty="0"/>
              <a:t>0</a:t>
            </a:r>
          </a:p>
        </p:txBody>
      </p:sp>
      <p:sp>
        <p:nvSpPr>
          <p:cNvPr id="38" name="TextBox 37"/>
          <p:cNvSpPr txBox="1"/>
          <p:nvPr/>
        </p:nvSpPr>
        <p:spPr>
          <a:xfrm>
            <a:off x="5945157" y="2280391"/>
            <a:ext cx="301686" cy="369332"/>
          </a:xfrm>
          <a:prstGeom prst="rect">
            <a:avLst/>
          </a:prstGeom>
          <a:noFill/>
        </p:spPr>
        <p:txBody>
          <a:bodyPr wrap="none" rtlCol="0">
            <a:spAutoFit/>
          </a:bodyPr>
          <a:lstStyle/>
          <a:p>
            <a:r>
              <a:rPr lang="en-US" dirty="0"/>
              <a:t>1</a:t>
            </a:r>
          </a:p>
        </p:txBody>
      </p:sp>
      <p:sp>
        <p:nvSpPr>
          <p:cNvPr id="41" name="Oval 40"/>
          <p:cNvSpPr/>
          <p:nvPr/>
        </p:nvSpPr>
        <p:spPr>
          <a:xfrm>
            <a:off x="7651780" y="34290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dirty="0"/>
          </a:p>
        </p:txBody>
      </p:sp>
      <p:sp>
        <p:nvSpPr>
          <p:cNvPr id="42" name="TextBox 41"/>
          <p:cNvSpPr txBox="1"/>
          <p:nvPr/>
        </p:nvSpPr>
        <p:spPr>
          <a:xfrm>
            <a:off x="6843697" y="2788204"/>
            <a:ext cx="301686" cy="369332"/>
          </a:xfrm>
          <a:prstGeom prst="rect">
            <a:avLst/>
          </a:prstGeom>
          <a:noFill/>
        </p:spPr>
        <p:txBody>
          <a:bodyPr wrap="none" rtlCol="0">
            <a:spAutoFit/>
          </a:bodyPr>
          <a:lstStyle/>
          <a:p>
            <a:r>
              <a:rPr lang="en-US" dirty="0"/>
              <a:t>0</a:t>
            </a:r>
          </a:p>
        </p:txBody>
      </p:sp>
      <p:sp>
        <p:nvSpPr>
          <p:cNvPr id="44" name="TextBox 43"/>
          <p:cNvSpPr txBox="1"/>
          <p:nvPr/>
        </p:nvSpPr>
        <p:spPr>
          <a:xfrm>
            <a:off x="6059457" y="4350318"/>
            <a:ext cx="301686" cy="369332"/>
          </a:xfrm>
          <a:prstGeom prst="rect">
            <a:avLst/>
          </a:prstGeom>
          <a:noFill/>
        </p:spPr>
        <p:txBody>
          <a:bodyPr wrap="none" rtlCol="0">
            <a:spAutoFit/>
          </a:bodyPr>
          <a:lstStyle/>
          <a:p>
            <a:r>
              <a:rPr lang="en-US" dirty="0"/>
              <a:t>0</a:t>
            </a:r>
          </a:p>
        </p:txBody>
      </p:sp>
      <p:sp>
        <p:nvSpPr>
          <p:cNvPr id="45" name="TextBox 44"/>
          <p:cNvSpPr txBox="1"/>
          <p:nvPr/>
        </p:nvSpPr>
        <p:spPr>
          <a:xfrm>
            <a:off x="6837347" y="3848384"/>
            <a:ext cx="301686" cy="369332"/>
          </a:xfrm>
          <a:prstGeom prst="rect">
            <a:avLst/>
          </a:prstGeom>
          <a:noFill/>
        </p:spPr>
        <p:txBody>
          <a:bodyPr wrap="none" rtlCol="0">
            <a:spAutoFit/>
          </a:bodyPr>
          <a:lstStyle/>
          <a:p>
            <a:r>
              <a:rPr lang="en-US" dirty="0"/>
              <a:t>1</a:t>
            </a:r>
          </a:p>
        </p:txBody>
      </p:sp>
      <p:cxnSp>
        <p:nvCxnSpPr>
          <p:cNvPr id="46" name="Curved Connector 45"/>
          <p:cNvCxnSpPr>
            <a:stCxn id="24" idx="1"/>
            <a:endCxn id="24" idx="7"/>
          </p:cNvCxnSpPr>
          <p:nvPr/>
        </p:nvCxnSpPr>
        <p:spPr>
          <a:xfrm rot="5400000" flipH="1" flipV="1">
            <a:off x="6096000" y="3226548"/>
            <a:ext cx="12700" cy="431052"/>
          </a:xfrm>
          <a:prstGeom prst="curvedConnector3">
            <a:avLst>
              <a:gd name="adj1" fmla="val 644044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7" name="Curved Connector 46"/>
          <p:cNvCxnSpPr>
            <a:stCxn id="24" idx="7"/>
            <a:endCxn id="25" idx="1"/>
          </p:cNvCxnSpPr>
          <p:nvPr/>
        </p:nvCxnSpPr>
        <p:spPr>
          <a:xfrm rot="5400000" flipH="1" flipV="1">
            <a:off x="6988190" y="2765410"/>
            <a:ext cx="12700" cy="1353328"/>
          </a:xfrm>
          <a:prstGeom prst="curvedConnector3">
            <a:avLst>
              <a:gd name="adj1" fmla="val 2502945"/>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8" name="Curved Connector 47"/>
          <p:cNvCxnSpPr>
            <a:stCxn id="25" idx="3"/>
            <a:endCxn id="24" idx="5"/>
          </p:cNvCxnSpPr>
          <p:nvPr/>
        </p:nvCxnSpPr>
        <p:spPr>
          <a:xfrm rot="5400000">
            <a:off x="6988190" y="3196462"/>
            <a:ext cx="12700" cy="1353328"/>
          </a:xfrm>
          <a:prstGeom prst="curvedConnector3">
            <a:avLst>
              <a:gd name="adj1" fmla="val 2502945"/>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20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down)">
                                      <p:cBhvr>
                                        <p:cTn id="25" dur="5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down)">
                                      <p:cBhvr>
                                        <p:cTn id="30" dur="500"/>
                                        <p:tgtEl>
                                          <p:spTgt spid="2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left)">
                                      <p:cBhvr>
                                        <p:cTn id="41" dur="500"/>
                                        <p:tgtEl>
                                          <p:spTgt spid="47"/>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wipe(down)">
                                      <p:cBhvr>
                                        <p:cTn id="44" dur="500"/>
                                        <p:tgtEl>
                                          <p:spTgt spid="4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ipe(left)">
                                      <p:cBhvr>
                                        <p:cTn id="52" dur="500"/>
                                        <p:tgtEl>
                                          <p:spTgt spid="4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down)">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right)">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2" fill="hold" nodeType="click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wipe(right)">
                                      <p:cBhvr>
                                        <p:cTn id="68" dur="500"/>
                                        <p:tgtEl>
                                          <p:spTgt spid="48"/>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wipe(down)">
                                      <p:cBhvr>
                                        <p:cTn id="71" dur="500"/>
                                        <p:tgtEl>
                                          <p:spTgt spid="4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wipe(down)">
                                      <p:cBhvr>
                                        <p:cTn id="7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3" grpId="0" animBg="1"/>
      <p:bldP spid="24" grpId="0" animBg="1"/>
      <p:bldP spid="25" grpId="0" animBg="1"/>
      <p:bldP spid="36" grpId="0"/>
      <p:bldP spid="37" grpId="0"/>
      <p:bldP spid="38" grpId="0"/>
      <p:bldP spid="41" grpId="0" animBg="1"/>
      <p:bldP spid="42" grpId="0"/>
      <p:bldP spid="44" grpId="0"/>
      <p:bldP spid="4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DFA Example: </a:t>
            </a:r>
            <a:r>
              <a:rPr lang="en-IN" dirty="0">
                <a:solidFill>
                  <a:srgbClr val="C00000"/>
                </a:solidFill>
              </a:rPr>
              <a:t>ending with w</a:t>
            </a:r>
            <a:endParaRPr lang="en-US" dirty="0">
              <a:latin typeface="+mj-lt"/>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IN" dirty="0"/>
              <a:t>The string ending in 10 or 11</a:t>
            </a:r>
          </a:p>
        </p:txBody>
      </p:sp>
      <p:sp>
        <p:nvSpPr>
          <p:cNvPr id="26" name="Oval 25"/>
          <p:cNvSpPr/>
          <p:nvPr/>
        </p:nvSpPr>
        <p:spPr>
          <a:xfrm>
            <a:off x="3962400" y="3124200"/>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A</a:t>
            </a:r>
          </a:p>
        </p:txBody>
      </p:sp>
      <p:sp>
        <p:nvSpPr>
          <p:cNvPr id="30" name="Oval 29"/>
          <p:cNvSpPr/>
          <p:nvPr/>
        </p:nvSpPr>
        <p:spPr>
          <a:xfrm>
            <a:off x="6019800" y="3124200"/>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B</a:t>
            </a:r>
          </a:p>
        </p:txBody>
      </p:sp>
      <p:sp>
        <p:nvSpPr>
          <p:cNvPr id="33" name="Oval 32"/>
          <p:cNvSpPr/>
          <p:nvPr/>
        </p:nvSpPr>
        <p:spPr>
          <a:xfrm>
            <a:off x="7530786" y="1686585"/>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C</a:t>
            </a:r>
          </a:p>
        </p:txBody>
      </p:sp>
      <p:sp>
        <p:nvSpPr>
          <p:cNvPr id="34" name="Oval 33"/>
          <p:cNvSpPr/>
          <p:nvPr/>
        </p:nvSpPr>
        <p:spPr>
          <a:xfrm>
            <a:off x="7620002" y="1773453"/>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35" name="Oval 34"/>
          <p:cNvSpPr/>
          <p:nvPr/>
        </p:nvSpPr>
        <p:spPr>
          <a:xfrm>
            <a:off x="7530786" y="4505985"/>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D</a:t>
            </a:r>
          </a:p>
        </p:txBody>
      </p:sp>
      <p:sp>
        <p:nvSpPr>
          <p:cNvPr id="36" name="Oval 35"/>
          <p:cNvSpPr/>
          <p:nvPr/>
        </p:nvSpPr>
        <p:spPr>
          <a:xfrm>
            <a:off x="7620002" y="4592853"/>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cxnSp>
        <p:nvCxnSpPr>
          <p:cNvPr id="37" name="Straight Arrow Connector 36"/>
          <p:cNvCxnSpPr>
            <a:endCxn id="26" idx="2"/>
          </p:cNvCxnSpPr>
          <p:nvPr/>
        </p:nvCxnSpPr>
        <p:spPr>
          <a:xfrm>
            <a:off x="3352800" y="3467100"/>
            <a:ext cx="609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6" idx="6"/>
            <a:endCxn id="30" idx="2"/>
          </p:cNvCxnSpPr>
          <p:nvPr/>
        </p:nvCxnSpPr>
        <p:spPr>
          <a:xfrm>
            <a:off x="4648200" y="3467100"/>
            <a:ext cx="1371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0" idx="7"/>
            <a:endCxn id="33" idx="3"/>
          </p:cNvCxnSpPr>
          <p:nvPr/>
        </p:nvCxnSpPr>
        <p:spPr>
          <a:xfrm flipV="1">
            <a:off x="6605167" y="2271953"/>
            <a:ext cx="1026052" cy="95268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0" idx="5"/>
            <a:endCxn id="35" idx="1"/>
          </p:cNvCxnSpPr>
          <p:nvPr/>
        </p:nvCxnSpPr>
        <p:spPr>
          <a:xfrm>
            <a:off x="6605167" y="3709568"/>
            <a:ext cx="1026052" cy="89685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3" idx="4"/>
            <a:endCxn id="35" idx="0"/>
          </p:cNvCxnSpPr>
          <p:nvPr/>
        </p:nvCxnSpPr>
        <p:spPr>
          <a:xfrm>
            <a:off x="7873686" y="2372385"/>
            <a:ext cx="0" cy="21336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3" name="Curved Connector 42"/>
          <p:cNvCxnSpPr/>
          <p:nvPr/>
        </p:nvCxnSpPr>
        <p:spPr>
          <a:xfrm rot="5400000" flipH="1">
            <a:off x="5387382" y="2833939"/>
            <a:ext cx="1381785" cy="3083452"/>
          </a:xfrm>
          <a:prstGeom prst="curvedConnector3">
            <a:avLst>
              <a:gd name="adj1" fmla="val -2381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7" name="Curved Connector 46"/>
          <p:cNvCxnSpPr>
            <a:stCxn id="35" idx="2"/>
            <a:endCxn id="30" idx="4"/>
          </p:cNvCxnSpPr>
          <p:nvPr/>
        </p:nvCxnSpPr>
        <p:spPr>
          <a:xfrm rot="10800000">
            <a:off x="6362700" y="3810002"/>
            <a:ext cx="1168086" cy="1038885"/>
          </a:xfrm>
          <a:prstGeom prst="curvedConnector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55589" y="3048000"/>
            <a:ext cx="280169" cy="369332"/>
          </a:xfrm>
          <a:prstGeom prst="rect">
            <a:avLst/>
          </a:prstGeom>
          <a:noFill/>
        </p:spPr>
        <p:txBody>
          <a:bodyPr wrap="square" rtlCol="0">
            <a:spAutoFit/>
          </a:bodyPr>
          <a:lstStyle/>
          <a:p>
            <a:r>
              <a:rPr lang="en-IN" dirty="0"/>
              <a:t>1</a:t>
            </a:r>
          </a:p>
        </p:txBody>
      </p:sp>
      <p:sp>
        <p:nvSpPr>
          <p:cNvPr id="50" name="TextBox 49"/>
          <p:cNvSpPr txBox="1"/>
          <p:nvPr/>
        </p:nvSpPr>
        <p:spPr>
          <a:xfrm>
            <a:off x="6763116" y="2491056"/>
            <a:ext cx="280169" cy="369332"/>
          </a:xfrm>
          <a:prstGeom prst="rect">
            <a:avLst/>
          </a:prstGeom>
          <a:noFill/>
        </p:spPr>
        <p:txBody>
          <a:bodyPr wrap="square" rtlCol="0">
            <a:spAutoFit/>
          </a:bodyPr>
          <a:lstStyle/>
          <a:p>
            <a:r>
              <a:rPr lang="en-IN" dirty="0"/>
              <a:t>1</a:t>
            </a:r>
          </a:p>
        </p:txBody>
      </p:sp>
      <p:sp>
        <p:nvSpPr>
          <p:cNvPr id="51" name="TextBox 50"/>
          <p:cNvSpPr txBox="1"/>
          <p:nvPr/>
        </p:nvSpPr>
        <p:spPr>
          <a:xfrm>
            <a:off x="6958832" y="3792640"/>
            <a:ext cx="280169" cy="369332"/>
          </a:xfrm>
          <a:prstGeom prst="rect">
            <a:avLst/>
          </a:prstGeom>
          <a:noFill/>
        </p:spPr>
        <p:txBody>
          <a:bodyPr wrap="square" rtlCol="0">
            <a:spAutoFit/>
          </a:bodyPr>
          <a:lstStyle/>
          <a:p>
            <a:r>
              <a:rPr lang="en-IN" dirty="0"/>
              <a:t>0</a:t>
            </a:r>
          </a:p>
        </p:txBody>
      </p:sp>
      <p:sp>
        <p:nvSpPr>
          <p:cNvPr id="52" name="TextBox 51"/>
          <p:cNvSpPr txBox="1"/>
          <p:nvPr/>
        </p:nvSpPr>
        <p:spPr>
          <a:xfrm>
            <a:off x="6654032" y="4191000"/>
            <a:ext cx="280169" cy="369332"/>
          </a:xfrm>
          <a:prstGeom prst="rect">
            <a:avLst/>
          </a:prstGeom>
          <a:noFill/>
        </p:spPr>
        <p:txBody>
          <a:bodyPr wrap="square" rtlCol="0">
            <a:spAutoFit/>
          </a:bodyPr>
          <a:lstStyle/>
          <a:p>
            <a:r>
              <a:rPr lang="en-IN" dirty="0"/>
              <a:t>1</a:t>
            </a:r>
          </a:p>
        </p:txBody>
      </p:sp>
      <p:sp>
        <p:nvSpPr>
          <p:cNvPr id="54" name="TextBox 53"/>
          <p:cNvSpPr txBox="1"/>
          <p:nvPr/>
        </p:nvSpPr>
        <p:spPr>
          <a:xfrm>
            <a:off x="5434832" y="4888468"/>
            <a:ext cx="280169" cy="369332"/>
          </a:xfrm>
          <a:prstGeom prst="rect">
            <a:avLst/>
          </a:prstGeom>
          <a:noFill/>
        </p:spPr>
        <p:txBody>
          <a:bodyPr wrap="square" rtlCol="0">
            <a:spAutoFit/>
          </a:bodyPr>
          <a:lstStyle/>
          <a:p>
            <a:r>
              <a:rPr lang="en-IN" dirty="0"/>
              <a:t>0</a:t>
            </a:r>
          </a:p>
        </p:txBody>
      </p:sp>
      <p:sp>
        <p:nvSpPr>
          <p:cNvPr id="55" name="TextBox 54"/>
          <p:cNvSpPr txBox="1"/>
          <p:nvPr/>
        </p:nvSpPr>
        <p:spPr>
          <a:xfrm>
            <a:off x="7873686" y="3218390"/>
            <a:ext cx="280169" cy="369332"/>
          </a:xfrm>
          <a:prstGeom prst="rect">
            <a:avLst/>
          </a:prstGeom>
          <a:noFill/>
        </p:spPr>
        <p:txBody>
          <a:bodyPr wrap="square" rtlCol="0">
            <a:spAutoFit/>
          </a:bodyPr>
          <a:lstStyle/>
          <a:p>
            <a:r>
              <a:rPr lang="en-IN" dirty="0"/>
              <a:t>0</a:t>
            </a:r>
          </a:p>
        </p:txBody>
      </p:sp>
      <p:cxnSp>
        <p:nvCxnSpPr>
          <p:cNvPr id="57" name="Curved Connector 56"/>
          <p:cNvCxnSpPr>
            <a:stCxn id="26" idx="1"/>
            <a:endCxn id="26" idx="7"/>
          </p:cNvCxnSpPr>
          <p:nvPr/>
        </p:nvCxnSpPr>
        <p:spPr>
          <a:xfrm rot="5400000" flipH="1" flipV="1">
            <a:off x="4305300" y="2982166"/>
            <a:ext cx="12700" cy="484934"/>
          </a:xfrm>
          <a:prstGeom prst="curvedConnector3">
            <a:avLst>
              <a:gd name="adj1" fmla="val 4966071"/>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8" name="Curved Connector 57"/>
          <p:cNvCxnSpPr>
            <a:stCxn id="33" idx="6"/>
            <a:endCxn id="33" idx="0"/>
          </p:cNvCxnSpPr>
          <p:nvPr/>
        </p:nvCxnSpPr>
        <p:spPr>
          <a:xfrm flipH="1" flipV="1">
            <a:off x="7873686" y="1686585"/>
            <a:ext cx="342900" cy="342900"/>
          </a:xfrm>
          <a:prstGeom prst="curvedConnector4">
            <a:avLst>
              <a:gd name="adj1" fmla="val -66667"/>
              <a:gd name="adj2" fmla="val 166667"/>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165216" y="2209800"/>
            <a:ext cx="280169" cy="369332"/>
          </a:xfrm>
          <a:prstGeom prst="rect">
            <a:avLst/>
          </a:prstGeom>
          <a:noFill/>
        </p:spPr>
        <p:txBody>
          <a:bodyPr wrap="square" rtlCol="0">
            <a:spAutoFit/>
          </a:bodyPr>
          <a:lstStyle/>
          <a:p>
            <a:r>
              <a:rPr lang="en-IN" dirty="0"/>
              <a:t>0</a:t>
            </a:r>
          </a:p>
        </p:txBody>
      </p:sp>
      <p:sp>
        <p:nvSpPr>
          <p:cNvPr id="68" name="TextBox 67"/>
          <p:cNvSpPr txBox="1"/>
          <p:nvPr/>
        </p:nvSpPr>
        <p:spPr>
          <a:xfrm>
            <a:off x="8534401" y="1219200"/>
            <a:ext cx="280169" cy="369332"/>
          </a:xfrm>
          <a:prstGeom prst="rect">
            <a:avLst/>
          </a:prstGeom>
          <a:noFill/>
        </p:spPr>
        <p:txBody>
          <a:bodyPr wrap="square" rtlCol="0">
            <a:spAutoFit/>
          </a:bodyPr>
          <a:lstStyle/>
          <a:p>
            <a:r>
              <a:rPr lang="en-IN" dirty="0"/>
              <a:t>1</a:t>
            </a:r>
          </a:p>
        </p:txBody>
      </p:sp>
    </p:spTree>
    <p:extLst>
      <p:ext uri="{BB962C8B-B14F-4D97-AF65-F5344CB8AC3E}">
        <p14:creationId xmlns:p14="http://schemas.microsoft.com/office/powerpoint/2010/main" val="402729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down)">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down)">
                                      <p:cBhvr>
                                        <p:cTn id="22" dur="500"/>
                                        <p:tgtEl>
                                          <p:spTgt spid="5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down)">
                                      <p:cBhvr>
                                        <p:cTn id="25" dur="500"/>
                                        <p:tgtEl>
                                          <p:spTgt spid="6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down)">
                                      <p:cBhvr>
                                        <p:cTn id="30" dur="500"/>
                                        <p:tgtEl>
                                          <p:spTgt spid="3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wipe(down)">
                                      <p:cBhvr>
                                        <p:cTn id="33" dur="500"/>
                                        <p:tgtEl>
                                          <p:spTgt spid="4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down)">
                                      <p:cBhvr>
                                        <p:cTn id="41" dur="500"/>
                                        <p:tgtEl>
                                          <p:spTgt spid="40"/>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wipe(down)">
                                      <p:cBhvr>
                                        <p:cTn id="44" dur="500"/>
                                        <p:tgtEl>
                                          <p:spTgt spid="5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wipe(down)">
                                      <p:cBhvr>
                                        <p:cTn id="52" dur="500"/>
                                        <p:tgtEl>
                                          <p:spTgt spid="50"/>
                                        </p:tgtEl>
                                      </p:cBhvr>
                                    </p:animEffect>
                                  </p:childTnLst>
                                </p:cTn>
                              </p:par>
                              <p:par>
                                <p:cTn id="53" presetID="22" presetClass="entr" presetSubtype="4"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00"/>
                                        <p:tgtEl>
                                          <p:spTgt spid="3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down)">
                                      <p:cBhvr>
                                        <p:cTn id="63" dur="500"/>
                                        <p:tgtEl>
                                          <p:spTgt spid="41"/>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wipe(down)">
                                      <p:cBhvr>
                                        <p:cTn id="66" dur="500"/>
                                        <p:tgtEl>
                                          <p:spTgt spid="5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down)">
                                      <p:cBhvr>
                                        <p:cTn id="71" dur="500"/>
                                        <p:tgtEl>
                                          <p:spTgt spid="58"/>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down)">
                                      <p:cBhvr>
                                        <p:cTn id="74" dur="500"/>
                                        <p:tgtEl>
                                          <p:spTgt spid="6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wipe(down)">
                                      <p:cBhvr>
                                        <p:cTn id="79" dur="500"/>
                                        <p:tgtEl>
                                          <p:spTgt spid="43"/>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54"/>
                                        </p:tgtEl>
                                        <p:attrNameLst>
                                          <p:attrName>style.visibility</p:attrName>
                                        </p:attrNameLst>
                                      </p:cBhvr>
                                      <p:to>
                                        <p:strVal val="visible"/>
                                      </p:to>
                                    </p:set>
                                    <p:animEffect transition="in" filter="wipe(down)">
                                      <p:cBhvr>
                                        <p:cTn id="82" dur="500"/>
                                        <p:tgtEl>
                                          <p:spTgt spid="5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wipe(down)">
                                      <p:cBhvr>
                                        <p:cTn id="87" dur="500"/>
                                        <p:tgtEl>
                                          <p:spTgt spid="47"/>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wipe(down)">
                                      <p:cBhvr>
                                        <p:cTn id="90" dur="500"/>
                                        <p:tgtEl>
                                          <p:spTgt spid="5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wipe(down)">
                                      <p:cBhvr>
                                        <p:cTn id="95" dur="500"/>
                                        <p:tgtEl>
                                          <p:spTgt spid="3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wipe(down)">
                                      <p:cBhvr>
                                        <p:cTn id="10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6" grpId="0" animBg="1"/>
      <p:bldP spid="30" grpId="0" animBg="1"/>
      <p:bldP spid="33" grpId="0" animBg="1"/>
      <p:bldP spid="34" grpId="0" animBg="1"/>
      <p:bldP spid="35" grpId="0" animBg="1"/>
      <p:bldP spid="36" grpId="0" animBg="1"/>
      <p:bldP spid="49" grpId="0"/>
      <p:bldP spid="50" grpId="0"/>
      <p:bldP spid="51" grpId="0"/>
      <p:bldP spid="52" grpId="0"/>
      <p:bldP spid="54" grpId="0"/>
      <p:bldP spid="55" grpId="0"/>
      <p:bldP spid="67" grpId="0"/>
      <p:bldP spid="6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37794-3966-409A-92FA-7C7F1D0E215C}"/>
              </a:ext>
            </a:extLst>
          </p:cNvPr>
          <p:cNvSpPr>
            <a:spLocks noGrp="1"/>
          </p:cNvSpPr>
          <p:nvPr>
            <p:ph type="title"/>
          </p:nvPr>
        </p:nvSpPr>
        <p:spPr/>
        <p:txBody>
          <a:bodyPr/>
          <a:lstStyle/>
          <a:p>
            <a:r>
              <a:rPr lang="en-IN" dirty="0"/>
              <a:t>DFA Example: </a:t>
            </a:r>
            <a:r>
              <a:rPr lang="en-IN" dirty="0">
                <a:solidFill>
                  <a:srgbClr val="C00000"/>
                </a:solidFill>
              </a:rPr>
              <a:t>ending with w</a:t>
            </a:r>
          </a:p>
        </p:txBody>
      </p:sp>
      <p:sp>
        <p:nvSpPr>
          <p:cNvPr id="3" name="Content Placeholder 2">
            <a:extLst>
              <a:ext uri="{FF2B5EF4-FFF2-40B4-BE49-F238E27FC236}">
                <a16:creationId xmlns:a16="http://schemas.microsoft.com/office/drawing/2014/main" id="{9BC1AE38-8B9B-4773-8698-6D9F50E432BE}"/>
              </a:ext>
            </a:extLst>
          </p:cNvPr>
          <p:cNvSpPr>
            <a:spLocks noGrp="1"/>
          </p:cNvSpPr>
          <p:nvPr>
            <p:ph idx="1"/>
          </p:nvPr>
        </p:nvSpPr>
        <p:spPr/>
        <p:txBody>
          <a:bodyPr/>
          <a:lstStyle/>
          <a:p>
            <a:r>
              <a:rPr lang="en-US" dirty="0"/>
              <a:t>Draw a DFA for the language accepting strings ending with ’01’ over input alphabets ∑ = {0, 1}</a:t>
            </a:r>
          </a:p>
          <a:p>
            <a:r>
              <a:rPr lang="en-US" b="0" i="0" dirty="0">
                <a:solidFill>
                  <a:srgbClr val="303030"/>
                </a:solidFill>
                <a:effectLst/>
                <a:latin typeface="Arimo"/>
              </a:rPr>
              <a:t>Regular expression for the given language = (0 + 1)*01</a:t>
            </a:r>
          </a:p>
          <a:p>
            <a:r>
              <a:rPr lang="en-US" b="1" dirty="0">
                <a:solidFill>
                  <a:srgbClr val="C00000"/>
                </a:solidFill>
                <a:latin typeface="Arimo"/>
              </a:rPr>
              <a:t>Minimum length=2</a:t>
            </a:r>
            <a:endParaRPr lang="en-US" b="1" i="0" dirty="0">
              <a:solidFill>
                <a:srgbClr val="C00000"/>
              </a:solidFill>
              <a:effectLst/>
              <a:latin typeface="Arimo"/>
            </a:endParaRPr>
          </a:p>
          <a:p>
            <a:pPr lvl="1"/>
            <a:r>
              <a:rPr lang="en-US" b="0" i="0" dirty="0">
                <a:solidFill>
                  <a:srgbClr val="303030"/>
                </a:solidFill>
                <a:effectLst/>
                <a:latin typeface="Arimo"/>
              </a:rPr>
              <a:t>Minimum number of states required in the </a:t>
            </a:r>
            <a:r>
              <a:rPr lang="en-US" b="1" i="0" dirty="0">
                <a:solidFill>
                  <a:srgbClr val="C00000"/>
                </a:solidFill>
                <a:effectLst/>
                <a:latin typeface="Arimo"/>
              </a:rPr>
              <a:t>DFA = 2 + 1 = 3.</a:t>
            </a:r>
            <a:endParaRPr lang="en-IN" b="1" dirty="0">
              <a:solidFill>
                <a:srgbClr val="C00000"/>
              </a:solidFill>
            </a:endParaRPr>
          </a:p>
          <a:p>
            <a:endParaRPr lang="en-IN" dirty="0"/>
          </a:p>
          <a:p>
            <a:endParaRPr lang="en-IN" dirty="0"/>
          </a:p>
        </p:txBody>
      </p:sp>
      <p:pic>
        <p:nvPicPr>
          <p:cNvPr id="4098" name="Picture 2">
            <a:extLst>
              <a:ext uri="{FF2B5EF4-FFF2-40B4-BE49-F238E27FC236}">
                <a16:creationId xmlns:a16="http://schemas.microsoft.com/office/drawing/2014/main" id="{9870A78C-0876-42F9-A4E4-E16BBDBC7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3380012"/>
            <a:ext cx="4191000" cy="3388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48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B35-690B-4D10-BCD1-CF9A27CC39A8}"/>
              </a:ext>
            </a:extLst>
          </p:cNvPr>
          <p:cNvSpPr>
            <a:spLocks noGrp="1"/>
          </p:cNvSpPr>
          <p:nvPr>
            <p:ph type="title"/>
          </p:nvPr>
        </p:nvSpPr>
        <p:spPr/>
        <p:txBody>
          <a:bodyPr/>
          <a:lstStyle/>
          <a:p>
            <a:r>
              <a:rPr lang="en-IN" dirty="0"/>
              <a:t>DFA Example: </a:t>
            </a:r>
            <a:r>
              <a:rPr lang="en-IN" dirty="0">
                <a:solidFill>
                  <a:srgbClr val="C00000"/>
                </a:solidFill>
              </a:rPr>
              <a:t>ending with w</a:t>
            </a:r>
            <a:endParaRPr lang="en-IN" dirty="0"/>
          </a:p>
        </p:txBody>
      </p:sp>
      <p:sp>
        <p:nvSpPr>
          <p:cNvPr id="3" name="Content Placeholder 2">
            <a:extLst>
              <a:ext uri="{FF2B5EF4-FFF2-40B4-BE49-F238E27FC236}">
                <a16:creationId xmlns:a16="http://schemas.microsoft.com/office/drawing/2014/main" id="{E9AFA675-7ED2-4D7D-A222-87C03EEBDF15}"/>
              </a:ext>
            </a:extLst>
          </p:cNvPr>
          <p:cNvSpPr>
            <a:spLocks noGrp="1"/>
          </p:cNvSpPr>
          <p:nvPr>
            <p:ph idx="1"/>
          </p:nvPr>
        </p:nvSpPr>
        <p:spPr/>
        <p:txBody>
          <a:bodyPr/>
          <a:lstStyle/>
          <a:p>
            <a:r>
              <a:rPr lang="en-US" dirty="0"/>
              <a:t>Draw a DFA for the language accepting strings ending with ‘abb’ over input alphabets ∑ = {a, b}</a:t>
            </a:r>
          </a:p>
          <a:p>
            <a:r>
              <a:rPr lang="en-US" b="0" i="0" dirty="0">
                <a:solidFill>
                  <a:srgbClr val="303030"/>
                </a:solidFill>
                <a:effectLst/>
                <a:latin typeface="Arimo"/>
              </a:rPr>
              <a:t>Regular expression for the given language = (a + b)*abb</a:t>
            </a:r>
          </a:p>
          <a:p>
            <a:r>
              <a:rPr lang="en-US" b="0" i="0" dirty="0">
                <a:solidFill>
                  <a:srgbClr val="303030"/>
                </a:solidFill>
                <a:effectLst/>
                <a:latin typeface="Arimo"/>
              </a:rPr>
              <a:t>Minimum number of states required in the DFA = 3 + 1 = 4.</a:t>
            </a:r>
            <a:endParaRPr lang="en-IN" dirty="0"/>
          </a:p>
        </p:txBody>
      </p:sp>
      <p:pic>
        <p:nvPicPr>
          <p:cNvPr id="3074" name="Picture 2">
            <a:extLst>
              <a:ext uri="{FF2B5EF4-FFF2-40B4-BE49-F238E27FC236}">
                <a16:creationId xmlns:a16="http://schemas.microsoft.com/office/drawing/2014/main" id="{3D5B6CE7-750C-4480-90A1-269A6B21B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626318"/>
            <a:ext cx="5416884" cy="3209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77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B35-690B-4D10-BCD1-CF9A27CC39A8}"/>
              </a:ext>
            </a:extLst>
          </p:cNvPr>
          <p:cNvSpPr>
            <a:spLocks noGrp="1"/>
          </p:cNvSpPr>
          <p:nvPr>
            <p:ph type="title"/>
          </p:nvPr>
        </p:nvSpPr>
        <p:spPr/>
        <p:txBody>
          <a:bodyPr/>
          <a:lstStyle/>
          <a:p>
            <a:r>
              <a:rPr lang="en-IN" dirty="0"/>
              <a:t>DFA Example: </a:t>
            </a:r>
            <a:r>
              <a:rPr lang="en-IN" dirty="0">
                <a:solidFill>
                  <a:srgbClr val="C00000"/>
                </a:solidFill>
              </a:rPr>
              <a:t>ending with w</a:t>
            </a:r>
            <a:endParaRPr lang="en-IN" dirty="0"/>
          </a:p>
        </p:txBody>
      </p:sp>
      <p:sp>
        <p:nvSpPr>
          <p:cNvPr id="3" name="Content Placeholder 2">
            <a:extLst>
              <a:ext uri="{FF2B5EF4-FFF2-40B4-BE49-F238E27FC236}">
                <a16:creationId xmlns:a16="http://schemas.microsoft.com/office/drawing/2014/main" id="{E9AFA675-7ED2-4D7D-A222-87C03EEBDF15}"/>
              </a:ext>
            </a:extLst>
          </p:cNvPr>
          <p:cNvSpPr>
            <a:spLocks noGrp="1"/>
          </p:cNvSpPr>
          <p:nvPr>
            <p:ph idx="1"/>
          </p:nvPr>
        </p:nvSpPr>
        <p:spPr/>
        <p:txBody>
          <a:bodyPr/>
          <a:lstStyle/>
          <a:p>
            <a:r>
              <a:rPr lang="en-US" dirty="0"/>
              <a:t>Draw a DFA for the language accepting strings ending with ‘abba’ over input alphabets ∑ = {a, b}</a:t>
            </a:r>
          </a:p>
          <a:p>
            <a:r>
              <a:rPr lang="en-US" b="0" i="0" dirty="0">
                <a:solidFill>
                  <a:srgbClr val="303030"/>
                </a:solidFill>
                <a:effectLst/>
                <a:latin typeface="Arimo"/>
              </a:rPr>
              <a:t>Regular expression for the given language = (a + b)*abba</a:t>
            </a:r>
          </a:p>
          <a:p>
            <a:r>
              <a:rPr lang="en-US" b="0" i="0" dirty="0">
                <a:solidFill>
                  <a:srgbClr val="303030"/>
                </a:solidFill>
                <a:effectLst/>
                <a:latin typeface="Arimo"/>
              </a:rPr>
              <a:t>Minimum number of states required in the DFA = 4 + 1 = 5.</a:t>
            </a:r>
            <a:endParaRPr lang="en-IN" dirty="0"/>
          </a:p>
        </p:txBody>
      </p:sp>
      <p:pic>
        <p:nvPicPr>
          <p:cNvPr id="5122" name="Picture 2">
            <a:extLst>
              <a:ext uri="{FF2B5EF4-FFF2-40B4-BE49-F238E27FC236}">
                <a16:creationId xmlns:a16="http://schemas.microsoft.com/office/drawing/2014/main" id="{53005D47-0CFF-4B61-869C-995D273F21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6555" y="3581400"/>
            <a:ext cx="6781445" cy="3170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92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B35-690B-4D10-BCD1-CF9A27CC39A8}"/>
              </a:ext>
            </a:extLst>
          </p:cNvPr>
          <p:cNvSpPr>
            <a:spLocks noGrp="1"/>
          </p:cNvSpPr>
          <p:nvPr>
            <p:ph type="title"/>
          </p:nvPr>
        </p:nvSpPr>
        <p:spPr/>
        <p:txBody>
          <a:bodyPr/>
          <a:lstStyle/>
          <a:p>
            <a:r>
              <a:rPr lang="en-IN" dirty="0"/>
              <a:t>DFA Example: </a:t>
            </a:r>
            <a:r>
              <a:rPr lang="en-IN" dirty="0">
                <a:solidFill>
                  <a:srgbClr val="C00000"/>
                </a:solidFill>
              </a:rPr>
              <a:t>ending with w</a:t>
            </a:r>
            <a:endParaRPr lang="en-IN" dirty="0"/>
          </a:p>
        </p:txBody>
      </p:sp>
      <p:sp>
        <p:nvSpPr>
          <p:cNvPr id="3" name="Content Placeholder 2">
            <a:extLst>
              <a:ext uri="{FF2B5EF4-FFF2-40B4-BE49-F238E27FC236}">
                <a16:creationId xmlns:a16="http://schemas.microsoft.com/office/drawing/2014/main" id="{E9AFA675-7ED2-4D7D-A222-87C03EEBDF15}"/>
              </a:ext>
            </a:extLst>
          </p:cNvPr>
          <p:cNvSpPr>
            <a:spLocks noGrp="1"/>
          </p:cNvSpPr>
          <p:nvPr>
            <p:ph idx="1"/>
          </p:nvPr>
        </p:nvSpPr>
        <p:spPr/>
        <p:txBody>
          <a:bodyPr/>
          <a:lstStyle/>
          <a:p>
            <a:r>
              <a:rPr lang="en-US" b="0" i="0" dirty="0">
                <a:solidFill>
                  <a:srgbClr val="303030"/>
                </a:solidFill>
                <a:effectLst/>
                <a:latin typeface="Arimo"/>
              </a:rPr>
              <a:t>Draw a DFA for the language accepting strings ending with ‘0011’ over input alphabets ∑ = {0, 1}</a:t>
            </a:r>
          </a:p>
          <a:p>
            <a:r>
              <a:rPr lang="en-US" b="0" i="0" dirty="0">
                <a:solidFill>
                  <a:srgbClr val="303030"/>
                </a:solidFill>
                <a:effectLst/>
                <a:latin typeface="Arimo"/>
              </a:rPr>
              <a:t>Regular expression for the given language = (0 + 1)*0011</a:t>
            </a:r>
            <a:endParaRPr lang="en-US" dirty="0">
              <a:solidFill>
                <a:srgbClr val="303030"/>
              </a:solidFill>
              <a:latin typeface="Arimo"/>
            </a:endParaRPr>
          </a:p>
          <a:p>
            <a:r>
              <a:rPr lang="en-US" b="0" i="0" dirty="0">
                <a:solidFill>
                  <a:srgbClr val="303030"/>
                </a:solidFill>
                <a:effectLst/>
                <a:latin typeface="Arimo"/>
              </a:rPr>
              <a:t>Minimum number of states required in the DFA = 4 + 1 = 5</a:t>
            </a:r>
            <a:endParaRPr lang="en-IN" dirty="0"/>
          </a:p>
        </p:txBody>
      </p:sp>
      <p:pic>
        <p:nvPicPr>
          <p:cNvPr id="6146" name="Picture 2">
            <a:extLst>
              <a:ext uri="{FF2B5EF4-FFF2-40B4-BE49-F238E27FC236}">
                <a16:creationId xmlns:a16="http://schemas.microsoft.com/office/drawing/2014/main" id="{E4A8C61B-EFB5-4F84-B8F2-BFCC0BB82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3294" y="3581400"/>
            <a:ext cx="6781445" cy="3170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97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9562-B0ED-438E-9619-1756932A16C6}"/>
              </a:ext>
            </a:extLst>
          </p:cNvPr>
          <p:cNvSpPr>
            <a:spLocks noGrp="1"/>
          </p:cNvSpPr>
          <p:nvPr>
            <p:ph type="title"/>
          </p:nvPr>
        </p:nvSpPr>
        <p:spPr/>
        <p:txBody>
          <a:bodyPr/>
          <a:lstStyle/>
          <a:p>
            <a:r>
              <a:rPr lang="en-US" dirty="0"/>
              <a:t>DFA Examples: </a:t>
            </a:r>
            <a:r>
              <a:rPr lang="en-US" dirty="0">
                <a:solidFill>
                  <a:srgbClr val="C00000"/>
                </a:solidFill>
              </a:rPr>
              <a:t>ends with w</a:t>
            </a:r>
            <a:endParaRPr lang="en-IN" dirty="0"/>
          </a:p>
        </p:txBody>
      </p:sp>
      <p:sp>
        <p:nvSpPr>
          <p:cNvPr id="3" name="Content Placeholder 2">
            <a:extLst>
              <a:ext uri="{FF2B5EF4-FFF2-40B4-BE49-F238E27FC236}">
                <a16:creationId xmlns:a16="http://schemas.microsoft.com/office/drawing/2014/main" id="{128E9E55-5F78-4FEE-AFB1-9F53B60FAE24}"/>
              </a:ext>
            </a:extLst>
          </p:cNvPr>
          <p:cNvSpPr>
            <a:spLocks noGrp="1"/>
          </p:cNvSpPr>
          <p:nvPr>
            <p:ph idx="1"/>
          </p:nvPr>
        </p:nvSpPr>
        <p:spPr/>
        <p:txBody>
          <a:bodyPr/>
          <a:lstStyle/>
          <a:p>
            <a:r>
              <a:rPr lang="en-US" dirty="0"/>
              <a:t>Draw a DFA that accepts a language L over input alphabets ∑ = {a, b} such that L is the set of all strings have last two symbols are same.</a:t>
            </a:r>
          </a:p>
          <a:p>
            <a:r>
              <a:rPr lang="en-US" dirty="0"/>
              <a:t>Regular expression for the given language = (a + b)*bb + (a + b)*aa </a:t>
            </a:r>
          </a:p>
          <a:p>
            <a:r>
              <a:rPr lang="en-US" dirty="0"/>
              <a:t>L={aa, bb, </a:t>
            </a:r>
            <a:r>
              <a:rPr lang="en-US" dirty="0" err="1"/>
              <a:t>aaa</a:t>
            </a:r>
            <a:r>
              <a:rPr lang="en-US" dirty="0"/>
              <a:t>, abb, baa, </a:t>
            </a:r>
            <a:r>
              <a:rPr lang="en-US" dirty="0" err="1"/>
              <a:t>bbb</a:t>
            </a:r>
            <a:r>
              <a:rPr lang="en-US" dirty="0"/>
              <a:t>, ….}</a:t>
            </a:r>
          </a:p>
          <a:p>
            <a:endParaRPr lang="en-IN" b="1"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D4F2E9A0-01E4-4C53-8B88-D4D431A60A74}"/>
                  </a:ext>
                </a:extLst>
              </p:cNvPr>
              <p:cNvSpPr/>
              <p:nvPr/>
            </p:nvSpPr>
            <p:spPr>
              <a:xfrm>
                <a:off x="3429000" y="4267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4" name="Oval 3">
                <a:extLst>
                  <a:ext uri="{FF2B5EF4-FFF2-40B4-BE49-F238E27FC236}">
                    <a16:creationId xmlns:a16="http://schemas.microsoft.com/office/drawing/2014/main" id="{D4F2E9A0-01E4-4C53-8B88-D4D431A60A74}"/>
                  </a:ext>
                </a:extLst>
              </p:cNvPr>
              <p:cNvSpPr>
                <a:spLocks noRot="1" noChangeAspect="1" noMove="1" noResize="1" noEditPoints="1" noAdjustHandles="1" noChangeArrowheads="1" noChangeShapeType="1" noTextEdit="1"/>
              </p:cNvSpPr>
              <p:nvPr/>
            </p:nvSpPr>
            <p:spPr>
              <a:xfrm>
                <a:off x="3429000" y="4267200"/>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ECC5855B-DA03-49F5-8897-96390C85F7D1}"/>
                  </a:ext>
                </a:extLst>
              </p:cNvPr>
              <p:cNvSpPr/>
              <p:nvPr/>
            </p:nvSpPr>
            <p:spPr>
              <a:xfrm>
                <a:off x="5105400" y="3441834"/>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1</a:t>
                </a:r>
              </a:p>
            </p:txBody>
          </p:sp>
        </mc:Choice>
        <mc:Fallback xmlns="">
          <p:sp>
            <p:nvSpPr>
              <p:cNvPr id="5" name="Oval 4">
                <a:extLst>
                  <a:ext uri="{FF2B5EF4-FFF2-40B4-BE49-F238E27FC236}">
                    <a16:creationId xmlns:a16="http://schemas.microsoft.com/office/drawing/2014/main" id="{ECC5855B-DA03-49F5-8897-96390C85F7D1}"/>
                  </a:ext>
                </a:extLst>
              </p:cNvPr>
              <p:cNvSpPr>
                <a:spLocks noRot="1" noChangeAspect="1" noMove="1" noResize="1" noEditPoints="1" noAdjustHandles="1" noChangeArrowheads="1" noChangeShapeType="1" noTextEdit="1"/>
              </p:cNvSpPr>
              <p:nvPr/>
            </p:nvSpPr>
            <p:spPr>
              <a:xfrm>
                <a:off x="5105400" y="3441834"/>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0DB2006D-82DE-4267-B20B-298619FD6923}"/>
                  </a:ext>
                </a:extLst>
              </p:cNvPr>
              <p:cNvSpPr/>
              <p:nvPr/>
            </p:nvSpPr>
            <p:spPr>
              <a:xfrm>
                <a:off x="5105400" y="490567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2</a:t>
                </a:r>
              </a:p>
            </p:txBody>
          </p:sp>
        </mc:Choice>
        <mc:Fallback xmlns="">
          <p:sp>
            <p:nvSpPr>
              <p:cNvPr id="6" name="Oval 5">
                <a:extLst>
                  <a:ext uri="{FF2B5EF4-FFF2-40B4-BE49-F238E27FC236}">
                    <a16:creationId xmlns:a16="http://schemas.microsoft.com/office/drawing/2014/main" id="{0DB2006D-82DE-4267-B20B-298619FD6923}"/>
                  </a:ext>
                </a:extLst>
              </p:cNvPr>
              <p:cNvSpPr>
                <a:spLocks noRot="1" noChangeAspect="1" noMove="1" noResize="1" noEditPoints="1" noAdjustHandles="1" noChangeArrowheads="1" noChangeShapeType="1" noTextEdit="1"/>
              </p:cNvSpPr>
              <p:nvPr/>
            </p:nvSpPr>
            <p:spPr>
              <a:xfrm>
                <a:off x="5105400" y="4905676"/>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2BAC191-332B-476F-84E0-F94E6EA720DE}"/>
                  </a:ext>
                </a:extLst>
              </p:cNvPr>
              <p:cNvSpPr/>
              <p:nvPr/>
            </p:nvSpPr>
            <p:spPr>
              <a:xfrm>
                <a:off x="7239000" y="344464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3</a:t>
                </a:r>
              </a:p>
            </p:txBody>
          </p:sp>
        </mc:Choice>
        <mc:Fallback xmlns="">
          <p:sp>
            <p:nvSpPr>
              <p:cNvPr id="7" name="Oval 6">
                <a:extLst>
                  <a:ext uri="{FF2B5EF4-FFF2-40B4-BE49-F238E27FC236}">
                    <a16:creationId xmlns:a16="http://schemas.microsoft.com/office/drawing/2014/main" id="{D2BAC191-332B-476F-84E0-F94E6EA720DE}"/>
                  </a:ext>
                </a:extLst>
              </p:cNvPr>
              <p:cNvSpPr>
                <a:spLocks noRot="1" noChangeAspect="1" noMove="1" noResize="1" noEditPoints="1" noAdjustHandles="1" noChangeArrowheads="1" noChangeShapeType="1" noTextEdit="1"/>
              </p:cNvSpPr>
              <p:nvPr/>
            </p:nvSpPr>
            <p:spPr>
              <a:xfrm>
                <a:off x="7239000" y="3444641"/>
                <a:ext cx="609600" cy="609600"/>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3484E161-FF56-43A2-8F2E-161CCF1E91BF}"/>
                  </a:ext>
                </a:extLst>
              </p:cNvPr>
              <p:cNvSpPr/>
              <p:nvPr/>
            </p:nvSpPr>
            <p:spPr>
              <a:xfrm>
                <a:off x="7213600" y="4953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4</m:t>
                      </m:r>
                    </m:oMath>
                  </m:oMathPara>
                </a14:m>
                <a:endParaRPr lang="en-US" baseline="-25000" dirty="0"/>
              </a:p>
            </p:txBody>
          </p:sp>
        </mc:Choice>
        <mc:Fallback xmlns="">
          <p:sp>
            <p:nvSpPr>
              <p:cNvPr id="8" name="Oval 7">
                <a:extLst>
                  <a:ext uri="{FF2B5EF4-FFF2-40B4-BE49-F238E27FC236}">
                    <a16:creationId xmlns:a16="http://schemas.microsoft.com/office/drawing/2014/main" id="{3484E161-FF56-43A2-8F2E-161CCF1E91BF}"/>
                  </a:ext>
                </a:extLst>
              </p:cNvPr>
              <p:cNvSpPr>
                <a:spLocks noRot="1" noChangeAspect="1" noMove="1" noResize="1" noEditPoints="1" noAdjustHandles="1" noChangeArrowheads="1" noChangeShapeType="1" noTextEdit="1"/>
              </p:cNvSpPr>
              <p:nvPr/>
            </p:nvSpPr>
            <p:spPr>
              <a:xfrm>
                <a:off x="7213600" y="4953000"/>
                <a:ext cx="609600" cy="609600"/>
              </a:xfrm>
              <a:prstGeom prst="ellipse">
                <a:avLst/>
              </a:prstGeom>
              <a:blipFill>
                <a:blip r:embed="rId6"/>
                <a:stretch>
                  <a:fillRect/>
                </a:stretch>
              </a:blipFill>
            </p:spPr>
            <p:txBody>
              <a:bodyPr/>
              <a:lstStyle/>
              <a:p>
                <a:r>
                  <a:rPr lang="en-IN">
                    <a:noFill/>
                  </a:rPr>
                  <a:t> </a:t>
                </a:r>
              </a:p>
            </p:txBody>
          </p:sp>
        </mc:Fallback>
      </mc:AlternateContent>
      <p:sp>
        <p:nvSpPr>
          <p:cNvPr id="9" name="Oval 8">
            <a:extLst>
              <a:ext uri="{FF2B5EF4-FFF2-40B4-BE49-F238E27FC236}">
                <a16:creationId xmlns:a16="http://schemas.microsoft.com/office/drawing/2014/main" id="{FE8419EE-7420-41DD-9B7B-525BC009069E}"/>
              </a:ext>
            </a:extLst>
          </p:cNvPr>
          <p:cNvSpPr/>
          <p:nvPr/>
        </p:nvSpPr>
        <p:spPr>
          <a:xfrm>
            <a:off x="7290114" y="3493409"/>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10" name="Oval 9">
            <a:extLst>
              <a:ext uri="{FF2B5EF4-FFF2-40B4-BE49-F238E27FC236}">
                <a16:creationId xmlns:a16="http://schemas.microsoft.com/office/drawing/2014/main" id="{9438B1C5-247D-48D4-8FF0-B1CB6F0AC2EB}"/>
              </a:ext>
            </a:extLst>
          </p:cNvPr>
          <p:cNvSpPr/>
          <p:nvPr/>
        </p:nvSpPr>
        <p:spPr>
          <a:xfrm>
            <a:off x="7264714" y="5001768"/>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cxnSp>
        <p:nvCxnSpPr>
          <p:cNvPr id="12" name="Straight Arrow Connector 11">
            <a:extLst>
              <a:ext uri="{FF2B5EF4-FFF2-40B4-BE49-F238E27FC236}">
                <a16:creationId xmlns:a16="http://schemas.microsoft.com/office/drawing/2014/main" id="{89F2B482-BFD7-4397-8BCA-272E06BC90B5}"/>
              </a:ext>
            </a:extLst>
          </p:cNvPr>
          <p:cNvCxnSpPr>
            <a:endCxn id="4" idx="2"/>
          </p:cNvCxnSpPr>
          <p:nvPr/>
        </p:nvCxnSpPr>
        <p:spPr>
          <a:xfrm>
            <a:off x="2743200" y="4572000"/>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282CD27-28BD-49C1-8FC5-D072AEEE576A}"/>
              </a:ext>
            </a:extLst>
          </p:cNvPr>
          <p:cNvCxnSpPr>
            <a:stCxn id="4" idx="7"/>
            <a:endCxn id="5" idx="2"/>
          </p:cNvCxnSpPr>
          <p:nvPr/>
        </p:nvCxnSpPr>
        <p:spPr>
          <a:xfrm flipV="1">
            <a:off x="3949326" y="3746634"/>
            <a:ext cx="1156074" cy="6098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1B928E6-D98C-4A87-B030-15FDE29B393B}"/>
              </a:ext>
            </a:extLst>
          </p:cNvPr>
          <p:cNvCxnSpPr>
            <a:stCxn id="5" idx="6"/>
            <a:endCxn id="9" idx="2"/>
          </p:cNvCxnSpPr>
          <p:nvPr/>
        </p:nvCxnSpPr>
        <p:spPr>
          <a:xfrm>
            <a:off x="5715000" y="3746634"/>
            <a:ext cx="1575114" cy="28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9C853C6-561A-4ED8-A9E9-960AD3574FA2}"/>
              </a:ext>
            </a:extLst>
          </p:cNvPr>
          <p:cNvCxnSpPr>
            <a:stCxn id="6" idx="6"/>
            <a:endCxn id="8" idx="2"/>
          </p:cNvCxnSpPr>
          <p:nvPr/>
        </p:nvCxnSpPr>
        <p:spPr>
          <a:xfrm>
            <a:off x="5715000" y="5210476"/>
            <a:ext cx="1498600" cy="473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7D35B8B-5CEE-4F7D-9E96-D323B9806735}"/>
              </a:ext>
            </a:extLst>
          </p:cNvPr>
          <p:cNvCxnSpPr>
            <a:stCxn id="4" idx="5"/>
            <a:endCxn id="6" idx="2"/>
          </p:cNvCxnSpPr>
          <p:nvPr/>
        </p:nvCxnSpPr>
        <p:spPr>
          <a:xfrm>
            <a:off x="3949326" y="4787526"/>
            <a:ext cx="1156074" cy="422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328AB79-51B6-440E-8F1E-5A45A0E2CEE2}"/>
              </a:ext>
            </a:extLst>
          </p:cNvPr>
          <p:cNvCxnSpPr>
            <a:stCxn id="7" idx="3"/>
            <a:endCxn id="6" idx="7"/>
          </p:cNvCxnSpPr>
          <p:nvPr/>
        </p:nvCxnSpPr>
        <p:spPr>
          <a:xfrm flipH="1">
            <a:off x="5625726" y="3964967"/>
            <a:ext cx="1702548" cy="1029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11732DC-153C-45E2-922D-BD1FF8B5CF54}"/>
              </a:ext>
            </a:extLst>
          </p:cNvPr>
          <p:cNvCxnSpPr>
            <a:stCxn id="8" idx="1"/>
            <a:endCxn id="5" idx="5"/>
          </p:cNvCxnSpPr>
          <p:nvPr/>
        </p:nvCxnSpPr>
        <p:spPr>
          <a:xfrm flipH="1" flipV="1">
            <a:off x="5625726" y="3962160"/>
            <a:ext cx="1677148" cy="1080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Curved 29">
            <a:extLst>
              <a:ext uri="{FF2B5EF4-FFF2-40B4-BE49-F238E27FC236}">
                <a16:creationId xmlns:a16="http://schemas.microsoft.com/office/drawing/2014/main" id="{44C37A98-BA43-49C7-A80D-CB233BB31559}"/>
              </a:ext>
            </a:extLst>
          </p:cNvPr>
          <p:cNvCxnSpPr>
            <a:stCxn id="5" idx="3"/>
            <a:endCxn id="6" idx="1"/>
          </p:cNvCxnSpPr>
          <p:nvPr/>
        </p:nvCxnSpPr>
        <p:spPr>
          <a:xfrm rot="5400000">
            <a:off x="4678279" y="4478555"/>
            <a:ext cx="1032790" cy="12700"/>
          </a:xfrm>
          <a:prstGeom prst="curvedConnector3">
            <a:avLst>
              <a:gd name="adj1" fmla="val 5466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onnector: Curved 37">
            <a:extLst>
              <a:ext uri="{FF2B5EF4-FFF2-40B4-BE49-F238E27FC236}">
                <a16:creationId xmlns:a16="http://schemas.microsoft.com/office/drawing/2014/main" id="{3C84BE46-212B-44D7-9C6D-83AC5FD3C6A6}"/>
              </a:ext>
            </a:extLst>
          </p:cNvPr>
          <p:cNvCxnSpPr>
            <a:stCxn id="6" idx="7"/>
            <a:endCxn id="5" idx="5"/>
          </p:cNvCxnSpPr>
          <p:nvPr/>
        </p:nvCxnSpPr>
        <p:spPr>
          <a:xfrm rot="5400000" flipH="1" flipV="1">
            <a:off x="5109331" y="4478555"/>
            <a:ext cx="1032790" cy="127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or: Curved 39">
            <a:extLst>
              <a:ext uri="{FF2B5EF4-FFF2-40B4-BE49-F238E27FC236}">
                <a16:creationId xmlns:a16="http://schemas.microsoft.com/office/drawing/2014/main" id="{DB3CAE41-6D9B-4D61-90EC-B1447D78613B}"/>
              </a:ext>
            </a:extLst>
          </p:cNvPr>
          <p:cNvCxnSpPr>
            <a:stCxn id="9" idx="1"/>
            <a:endCxn id="7" idx="7"/>
          </p:cNvCxnSpPr>
          <p:nvPr/>
        </p:nvCxnSpPr>
        <p:spPr>
          <a:xfrm rot="5400000" flipH="1" flipV="1">
            <a:off x="7544629" y="3353703"/>
            <a:ext cx="34484" cy="394909"/>
          </a:xfrm>
          <a:prstGeom prst="curvedConnector3">
            <a:avLst>
              <a:gd name="adj1" fmla="val 152422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or: Curved 42">
            <a:extLst>
              <a:ext uri="{FF2B5EF4-FFF2-40B4-BE49-F238E27FC236}">
                <a16:creationId xmlns:a16="http://schemas.microsoft.com/office/drawing/2014/main" id="{7D05E899-398D-4D9C-B588-16C86209152F}"/>
              </a:ext>
            </a:extLst>
          </p:cNvPr>
          <p:cNvCxnSpPr>
            <a:stCxn id="10" idx="3"/>
            <a:endCxn id="8" idx="5"/>
          </p:cNvCxnSpPr>
          <p:nvPr/>
        </p:nvCxnSpPr>
        <p:spPr>
          <a:xfrm rot="16200000" flipH="1">
            <a:off x="7519229" y="5258629"/>
            <a:ext cx="34484" cy="394909"/>
          </a:xfrm>
          <a:prstGeom prst="curvedConnector3">
            <a:avLst>
              <a:gd name="adj1" fmla="val 1356754"/>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C83B0F72-0DBB-4DCA-A5E0-3F6CC49C74A6}"/>
              </a:ext>
            </a:extLst>
          </p:cNvPr>
          <p:cNvSpPr txBox="1"/>
          <p:nvPr/>
        </p:nvSpPr>
        <p:spPr>
          <a:xfrm>
            <a:off x="4281076" y="3670435"/>
            <a:ext cx="303998" cy="369332"/>
          </a:xfrm>
          <a:prstGeom prst="rect">
            <a:avLst/>
          </a:prstGeom>
          <a:noFill/>
        </p:spPr>
        <p:txBody>
          <a:bodyPr wrap="square">
            <a:spAutoFit/>
          </a:bodyPr>
          <a:lstStyle/>
          <a:p>
            <a:r>
              <a:rPr lang="en-IN" dirty="0"/>
              <a:t>a</a:t>
            </a:r>
          </a:p>
        </p:txBody>
      </p:sp>
      <p:sp>
        <p:nvSpPr>
          <p:cNvPr id="48" name="TextBox 47">
            <a:extLst>
              <a:ext uri="{FF2B5EF4-FFF2-40B4-BE49-F238E27FC236}">
                <a16:creationId xmlns:a16="http://schemas.microsoft.com/office/drawing/2014/main" id="{6AEFA8B0-6FF9-4550-BDCE-8FC9D054EB26}"/>
              </a:ext>
            </a:extLst>
          </p:cNvPr>
          <p:cNvSpPr txBox="1"/>
          <p:nvPr/>
        </p:nvSpPr>
        <p:spPr>
          <a:xfrm>
            <a:off x="6283539" y="3407103"/>
            <a:ext cx="303998" cy="369332"/>
          </a:xfrm>
          <a:prstGeom prst="rect">
            <a:avLst/>
          </a:prstGeom>
          <a:noFill/>
        </p:spPr>
        <p:txBody>
          <a:bodyPr wrap="square">
            <a:spAutoFit/>
          </a:bodyPr>
          <a:lstStyle/>
          <a:p>
            <a:r>
              <a:rPr lang="en-IN" dirty="0"/>
              <a:t>a</a:t>
            </a:r>
          </a:p>
        </p:txBody>
      </p:sp>
      <p:sp>
        <p:nvSpPr>
          <p:cNvPr id="49" name="TextBox 48">
            <a:extLst>
              <a:ext uri="{FF2B5EF4-FFF2-40B4-BE49-F238E27FC236}">
                <a16:creationId xmlns:a16="http://schemas.microsoft.com/office/drawing/2014/main" id="{3FE25228-8DE4-422A-A926-728B6982D364}"/>
              </a:ext>
            </a:extLst>
          </p:cNvPr>
          <p:cNvSpPr txBox="1"/>
          <p:nvPr/>
        </p:nvSpPr>
        <p:spPr>
          <a:xfrm>
            <a:off x="4223365" y="4950594"/>
            <a:ext cx="303998" cy="369332"/>
          </a:xfrm>
          <a:prstGeom prst="rect">
            <a:avLst/>
          </a:prstGeom>
          <a:noFill/>
        </p:spPr>
        <p:txBody>
          <a:bodyPr wrap="square">
            <a:spAutoFit/>
          </a:bodyPr>
          <a:lstStyle/>
          <a:p>
            <a:r>
              <a:rPr lang="en-IN" dirty="0"/>
              <a:t>b</a:t>
            </a:r>
          </a:p>
        </p:txBody>
      </p:sp>
      <p:sp>
        <p:nvSpPr>
          <p:cNvPr id="50" name="TextBox 49">
            <a:extLst>
              <a:ext uri="{FF2B5EF4-FFF2-40B4-BE49-F238E27FC236}">
                <a16:creationId xmlns:a16="http://schemas.microsoft.com/office/drawing/2014/main" id="{146DD103-814F-4944-A4CA-8E26CB38091E}"/>
              </a:ext>
            </a:extLst>
          </p:cNvPr>
          <p:cNvSpPr txBox="1"/>
          <p:nvPr/>
        </p:nvSpPr>
        <p:spPr>
          <a:xfrm>
            <a:off x="6204939" y="5204621"/>
            <a:ext cx="303998" cy="369332"/>
          </a:xfrm>
          <a:prstGeom prst="rect">
            <a:avLst/>
          </a:prstGeom>
          <a:noFill/>
        </p:spPr>
        <p:txBody>
          <a:bodyPr wrap="square">
            <a:spAutoFit/>
          </a:bodyPr>
          <a:lstStyle/>
          <a:p>
            <a:r>
              <a:rPr lang="en-IN" dirty="0"/>
              <a:t>b</a:t>
            </a:r>
          </a:p>
        </p:txBody>
      </p:sp>
      <p:sp>
        <p:nvSpPr>
          <p:cNvPr id="51" name="TextBox 50">
            <a:extLst>
              <a:ext uri="{FF2B5EF4-FFF2-40B4-BE49-F238E27FC236}">
                <a16:creationId xmlns:a16="http://schemas.microsoft.com/office/drawing/2014/main" id="{BCCEBFF0-9BA2-4C0C-A71E-56DB30F39277}"/>
              </a:ext>
            </a:extLst>
          </p:cNvPr>
          <p:cNvSpPr txBox="1"/>
          <p:nvPr/>
        </p:nvSpPr>
        <p:spPr>
          <a:xfrm>
            <a:off x="5589384" y="4313579"/>
            <a:ext cx="303998" cy="369332"/>
          </a:xfrm>
          <a:prstGeom prst="rect">
            <a:avLst/>
          </a:prstGeom>
          <a:noFill/>
        </p:spPr>
        <p:txBody>
          <a:bodyPr wrap="square">
            <a:spAutoFit/>
          </a:bodyPr>
          <a:lstStyle/>
          <a:p>
            <a:r>
              <a:rPr lang="en-IN" dirty="0"/>
              <a:t>a</a:t>
            </a:r>
          </a:p>
        </p:txBody>
      </p:sp>
      <p:sp>
        <p:nvSpPr>
          <p:cNvPr id="52" name="TextBox 51">
            <a:extLst>
              <a:ext uri="{FF2B5EF4-FFF2-40B4-BE49-F238E27FC236}">
                <a16:creationId xmlns:a16="http://schemas.microsoft.com/office/drawing/2014/main" id="{258EAF79-4A73-4874-B823-87FCA6136ED9}"/>
              </a:ext>
            </a:extLst>
          </p:cNvPr>
          <p:cNvSpPr txBox="1"/>
          <p:nvPr/>
        </p:nvSpPr>
        <p:spPr>
          <a:xfrm>
            <a:off x="4926016" y="4324026"/>
            <a:ext cx="303998" cy="369332"/>
          </a:xfrm>
          <a:prstGeom prst="rect">
            <a:avLst/>
          </a:prstGeom>
          <a:noFill/>
        </p:spPr>
        <p:txBody>
          <a:bodyPr wrap="square">
            <a:spAutoFit/>
          </a:bodyPr>
          <a:lstStyle/>
          <a:p>
            <a:r>
              <a:rPr lang="en-IN" dirty="0"/>
              <a:t>b</a:t>
            </a:r>
          </a:p>
        </p:txBody>
      </p:sp>
      <p:sp>
        <p:nvSpPr>
          <p:cNvPr id="53" name="TextBox 52">
            <a:extLst>
              <a:ext uri="{FF2B5EF4-FFF2-40B4-BE49-F238E27FC236}">
                <a16:creationId xmlns:a16="http://schemas.microsoft.com/office/drawing/2014/main" id="{E4550A12-8454-416B-A9CB-54370C2C3369}"/>
              </a:ext>
            </a:extLst>
          </p:cNvPr>
          <p:cNvSpPr txBox="1"/>
          <p:nvPr/>
        </p:nvSpPr>
        <p:spPr>
          <a:xfrm>
            <a:off x="7409872" y="2691073"/>
            <a:ext cx="303998" cy="369332"/>
          </a:xfrm>
          <a:prstGeom prst="rect">
            <a:avLst/>
          </a:prstGeom>
          <a:noFill/>
        </p:spPr>
        <p:txBody>
          <a:bodyPr wrap="square">
            <a:spAutoFit/>
          </a:bodyPr>
          <a:lstStyle/>
          <a:p>
            <a:r>
              <a:rPr lang="en-IN" dirty="0"/>
              <a:t>a</a:t>
            </a:r>
          </a:p>
        </p:txBody>
      </p:sp>
      <p:sp>
        <p:nvSpPr>
          <p:cNvPr id="54" name="TextBox 53">
            <a:extLst>
              <a:ext uri="{FF2B5EF4-FFF2-40B4-BE49-F238E27FC236}">
                <a16:creationId xmlns:a16="http://schemas.microsoft.com/office/drawing/2014/main" id="{BC7D078D-4CA5-41C9-ABE4-C922EEAC94C4}"/>
              </a:ext>
            </a:extLst>
          </p:cNvPr>
          <p:cNvSpPr txBox="1"/>
          <p:nvPr/>
        </p:nvSpPr>
        <p:spPr>
          <a:xfrm>
            <a:off x="7353888" y="5910399"/>
            <a:ext cx="303998" cy="369332"/>
          </a:xfrm>
          <a:prstGeom prst="rect">
            <a:avLst/>
          </a:prstGeom>
          <a:noFill/>
        </p:spPr>
        <p:txBody>
          <a:bodyPr wrap="square">
            <a:spAutoFit/>
          </a:bodyPr>
          <a:lstStyle/>
          <a:p>
            <a:r>
              <a:rPr lang="en-IN" dirty="0"/>
              <a:t>b</a:t>
            </a:r>
          </a:p>
        </p:txBody>
      </p:sp>
      <p:sp>
        <p:nvSpPr>
          <p:cNvPr id="55" name="TextBox 54">
            <a:extLst>
              <a:ext uri="{FF2B5EF4-FFF2-40B4-BE49-F238E27FC236}">
                <a16:creationId xmlns:a16="http://schemas.microsoft.com/office/drawing/2014/main" id="{4387A48C-6826-4615-8AFA-E59953496FB2}"/>
              </a:ext>
            </a:extLst>
          </p:cNvPr>
          <p:cNvSpPr txBox="1"/>
          <p:nvPr/>
        </p:nvSpPr>
        <p:spPr>
          <a:xfrm>
            <a:off x="6734175" y="3926565"/>
            <a:ext cx="303998" cy="369332"/>
          </a:xfrm>
          <a:prstGeom prst="rect">
            <a:avLst/>
          </a:prstGeom>
          <a:noFill/>
        </p:spPr>
        <p:txBody>
          <a:bodyPr wrap="square">
            <a:spAutoFit/>
          </a:bodyPr>
          <a:lstStyle/>
          <a:p>
            <a:r>
              <a:rPr lang="en-IN" dirty="0"/>
              <a:t>b</a:t>
            </a:r>
          </a:p>
        </p:txBody>
      </p:sp>
      <p:sp>
        <p:nvSpPr>
          <p:cNvPr id="57" name="TextBox 56">
            <a:extLst>
              <a:ext uri="{FF2B5EF4-FFF2-40B4-BE49-F238E27FC236}">
                <a16:creationId xmlns:a16="http://schemas.microsoft.com/office/drawing/2014/main" id="{84AC9166-EA84-4BAA-83FF-0EFB37151F13}"/>
              </a:ext>
            </a:extLst>
          </p:cNvPr>
          <p:cNvSpPr txBox="1"/>
          <p:nvPr/>
        </p:nvSpPr>
        <p:spPr>
          <a:xfrm>
            <a:off x="6744822" y="4439744"/>
            <a:ext cx="303998" cy="369332"/>
          </a:xfrm>
          <a:prstGeom prst="rect">
            <a:avLst/>
          </a:prstGeom>
          <a:noFill/>
        </p:spPr>
        <p:txBody>
          <a:bodyPr wrap="square">
            <a:spAutoFit/>
          </a:bodyPr>
          <a:lstStyle/>
          <a:p>
            <a:r>
              <a:rPr lang="en-IN" dirty="0"/>
              <a:t>a</a:t>
            </a:r>
          </a:p>
        </p:txBody>
      </p:sp>
      <p:sp>
        <p:nvSpPr>
          <p:cNvPr id="59" name="TextBox 58">
            <a:extLst>
              <a:ext uri="{FF2B5EF4-FFF2-40B4-BE49-F238E27FC236}">
                <a16:creationId xmlns:a16="http://schemas.microsoft.com/office/drawing/2014/main" id="{7D46B098-ECCE-45FB-BBED-446B8FC60B71}"/>
              </a:ext>
            </a:extLst>
          </p:cNvPr>
          <p:cNvSpPr txBox="1"/>
          <p:nvPr/>
        </p:nvSpPr>
        <p:spPr>
          <a:xfrm>
            <a:off x="401745" y="6227669"/>
            <a:ext cx="11536255" cy="646331"/>
          </a:xfrm>
          <a:prstGeom prst="rect">
            <a:avLst/>
          </a:prstGeom>
          <a:noFill/>
        </p:spPr>
        <p:txBody>
          <a:bodyPr wrap="square">
            <a:spAutoFit/>
          </a:bodyPr>
          <a:lstStyle/>
          <a:p>
            <a:r>
              <a:rPr lang="en-US" b="1" dirty="0">
                <a:solidFill>
                  <a:srgbClr val="C00000"/>
                </a:solidFill>
              </a:rPr>
              <a:t>Draw a DFA that accepts a language L over input alphabets ∑ = {a, b} such that L is the set of all strings have last two symbols are different?.</a:t>
            </a:r>
          </a:p>
        </p:txBody>
      </p:sp>
    </p:spTree>
    <p:extLst>
      <p:ext uri="{BB962C8B-B14F-4D97-AF65-F5344CB8AC3E}">
        <p14:creationId xmlns:p14="http://schemas.microsoft.com/office/powerpoint/2010/main" val="315372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47" grpId="0"/>
      <p:bldP spid="48" grpId="0"/>
      <p:bldP spid="49" grpId="0"/>
      <p:bldP spid="50" grpId="0"/>
      <p:bldP spid="51" grpId="0"/>
      <p:bldP spid="52" grpId="0"/>
      <p:bldP spid="53" grpId="0"/>
      <p:bldP spid="54" grpId="0"/>
      <p:bldP spid="55" grpId="0"/>
      <p:bldP spid="5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9562-B0ED-438E-9619-1756932A16C6}"/>
              </a:ext>
            </a:extLst>
          </p:cNvPr>
          <p:cNvSpPr>
            <a:spLocks noGrp="1"/>
          </p:cNvSpPr>
          <p:nvPr>
            <p:ph type="title"/>
          </p:nvPr>
        </p:nvSpPr>
        <p:spPr/>
        <p:txBody>
          <a:bodyPr/>
          <a:lstStyle/>
          <a:p>
            <a:r>
              <a:rPr lang="en-US" dirty="0"/>
              <a:t>DFA Examples: </a:t>
            </a:r>
            <a:r>
              <a:rPr lang="en-US" dirty="0">
                <a:solidFill>
                  <a:srgbClr val="C00000"/>
                </a:solidFill>
              </a:rPr>
              <a:t>ends with w</a:t>
            </a:r>
            <a:endParaRPr lang="en-IN" dirty="0">
              <a:solidFill>
                <a:srgbClr val="C00000"/>
              </a:solidFill>
            </a:endParaRPr>
          </a:p>
        </p:txBody>
      </p:sp>
      <p:sp>
        <p:nvSpPr>
          <p:cNvPr id="3" name="Content Placeholder 2">
            <a:extLst>
              <a:ext uri="{FF2B5EF4-FFF2-40B4-BE49-F238E27FC236}">
                <a16:creationId xmlns:a16="http://schemas.microsoft.com/office/drawing/2014/main" id="{128E9E55-5F78-4FEE-AFB1-9F53B60FAE24}"/>
              </a:ext>
            </a:extLst>
          </p:cNvPr>
          <p:cNvSpPr>
            <a:spLocks noGrp="1"/>
          </p:cNvSpPr>
          <p:nvPr>
            <p:ph idx="1"/>
          </p:nvPr>
        </p:nvSpPr>
        <p:spPr/>
        <p:txBody>
          <a:bodyPr/>
          <a:lstStyle/>
          <a:p>
            <a:r>
              <a:rPr lang="en-US" b="0" i="0" dirty="0">
                <a:solidFill>
                  <a:srgbClr val="303030"/>
                </a:solidFill>
                <a:effectLst/>
                <a:latin typeface="Arimo"/>
              </a:rPr>
              <a:t>Draw a DFA that accepts a language L over input alphabets ∑ = {a, </a:t>
            </a:r>
            <a:r>
              <a:rPr lang="en-US" dirty="0">
                <a:solidFill>
                  <a:srgbClr val="303030"/>
                </a:solidFill>
                <a:latin typeface="Arimo"/>
              </a:rPr>
              <a:t>b</a:t>
            </a:r>
            <a:r>
              <a:rPr lang="en-US" b="0" i="0" dirty="0">
                <a:solidFill>
                  <a:srgbClr val="303030"/>
                </a:solidFill>
                <a:effectLst/>
                <a:latin typeface="Arimo"/>
              </a:rPr>
              <a:t>} such that L is the set of all strings that </a:t>
            </a:r>
          </a:p>
          <a:p>
            <a:pPr lvl="1"/>
            <a:r>
              <a:rPr lang="en-US" b="0" i="0" dirty="0">
                <a:solidFill>
                  <a:srgbClr val="303030"/>
                </a:solidFill>
                <a:effectLst/>
                <a:latin typeface="Arimo"/>
              </a:rPr>
              <a:t>Starts and ends with same symbol.</a:t>
            </a:r>
          </a:p>
          <a:p>
            <a:pPr lvl="2"/>
            <a:r>
              <a:rPr lang="en-IN" b="0" i="0" dirty="0">
                <a:solidFill>
                  <a:srgbClr val="303030"/>
                </a:solidFill>
                <a:effectLst/>
                <a:latin typeface="Arimo"/>
              </a:rPr>
              <a:t>L=</a:t>
            </a:r>
            <a:r>
              <a:rPr lang="el-GR" b="0" i="0" dirty="0">
                <a:solidFill>
                  <a:srgbClr val="303030"/>
                </a:solidFill>
                <a:effectLst/>
                <a:latin typeface="Arimo"/>
              </a:rPr>
              <a:t>{ε, </a:t>
            </a:r>
            <a:r>
              <a:rPr lang="en-US" b="0" i="0" dirty="0">
                <a:solidFill>
                  <a:srgbClr val="303030"/>
                </a:solidFill>
                <a:effectLst/>
                <a:latin typeface="Arimo"/>
              </a:rPr>
              <a:t>a, b, aa, bb, aba, </a:t>
            </a:r>
            <a:r>
              <a:rPr lang="en-US" b="0" i="0" dirty="0" err="1">
                <a:solidFill>
                  <a:srgbClr val="303030"/>
                </a:solidFill>
                <a:effectLst/>
                <a:latin typeface="Arimo"/>
              </a:rPr>
              <a:t>bab</a:t>
            </a:r>
            <a:r>
              <a:rPr lang="en-US" b="0" i="0" dirty="0">
                <a:solidFill>
                  <a:srgbClr val="303030"/>
                </a:solidFill>
                <a:effectLst/>
                <a:latin typeface="Arimo"/>
              </a:rPr>
              <a:t>, </a:t>
            </a:r>
            <a:r>
              <a:rPr lang="en-US" b="0" i="0" dirty="0" err="1">
                <a:solidFill>
                  <a:srgbClr val="303030"/>
                </a:solidFill>
                <a:effectLst/>
                <a:latin typeface="Arimo"/>
              </a:rPr>
              <a:t>ababa</a:t>
            </a:r>
            <a:r>
              <a:rPr lang="en-US" b="0" i="0" dirty="0">
                <a:solidFill>
                  <a:srgbClr val="303030"/>
                </a:solidFill>
                <a:effectLst/>
                <a:latin typeface="Arimo"/>
              </a:rPr>
              <a:t>, </a:t>
            </a:r>
            <a:r>
              <a:rPr lang="en-US" b="0" i="0" dirty="0" err="1">
                <a:solidFill>
                  <a:srgbClr val="303030"/>
                </a:solidFill>
                <a:effectLst/>
                <a:latin typeface="Arimo"/>
              </a:rPr>
              <a:t>aabba</a:t>
            </a:r>
            <a:r>
              <a:rPr lang="en-US" b="0" i="0" dirty="0">
                <a:solidFill>
                  <a:srgbClr val="303030"/>
                </a:solidFill>
                <a:effectLst/>
                <a:latin typeface="Arimo"/>
              </a:rPr>
              <a:t>, </a:t>
            </a:r>
            <a:r>
              <a:rPr lang="en-US" b="0" i="0" dirty="0" err="1">
                <a:solidFill>
                  <a:srgbClr val="303030"/>
                </a:solidFill>
                <a:effectLst/>
                <a:latin typeface="Arimo"/>
              </a:rPr>
              <a:t>aaabbba</a:t>
            </a:r>
            <a:r>
              <a:rPr lang="en-US" b="0" i="0" dirty="0">
                <a:solidFill>
                  <a:srgbClr val="303030"/>
                </a:solidFill>
                <a:effectLst/>
                <a:latin typeface="Arimo"/>
              </a:rPr>
              <a:t>,...}</a:t>
            </a:r>
          </a:p>
          <a:p>
            <a:pPr lvl="1"/>
            <a:r>
              <a:rPr lang="en-US" b="0" i="0" dirty="0">
                <a:solidFill>
                  <a:srgbClr val="303030"/>
                </a:solidFill>
                <a:effectLst/>
                <a:latin typeface="Arimo"/>
              </a:rPr>
              <a:t>Starts and ends with different symbol.</a:t>
            </a:r>
          </a:p>
          <a:p>
            <a:pPr lvl="2"/>
            <a:r>
              <a:rPr lang="en-IN" i="0" dirty="0">
                <a:solidFill>
                  <a:srgbClr val="333333"/>
                </a:solidFill>
                <a:effectLst/>
                <a:latin typeface="Segoe UI" panose="020B0502040204020203" pitchFamily="34" charset="0"/>
              </a:rPr>
              <a:t>L = {ab, ab, </a:t>
            </a:r>
            <a:r>
              <a:rPr lang="en-IN" i="0" dirty="0" err="1">
                <a:solidFill>
                  <a:srgbClr val="333333"/>
                </a:solidFill>
                <a:effectLst/>
                <a:latin typeface="Segoe UI" panose="020B0502040204020203" pitchFamily="34" charset="0"/>
              </a:rPr>
              <a:t>abab</a:t>
            </a:r>
            <a:r>
              <a:rPr lang="en-IN" i="0" dirty="0">
                <a:solidFill>
                  <a:srgbClr val="333333"/>
                </a:solidFill>
                <a:effectLst/>
                <a:latin typeface="Segoe UI" panose="020B0502040204020203" pitchFamily="34" charset="0"/>
              </a:rPr>
              <a:t>, </a:t>
            </a:r>
            <a:r>
              <a:rPr lang="en-IN" i="0" dirty="0" err="1">
                <a:solidFill>
                  <a:srgbClr val="333333"/>
                </a:solidFill>
                <a:effectLst/>
                <a:latin typeface="Segoe UI" panose="020B0502040204020203" pitchFamily="34" charset="0"/>
              </a:rPr>
              <a:t>aabb</a:t>
            </a:r>
            <a:r>
              <a:rPr lang="en-IN" i="0" dirty="0">
                <a:solidFill>
                  <a:srgbClr val="333333"/>
                </a:solidFill>
                <a:effectLst/>
                <a:latin typeface="Segoe UI" panose="020B0502040204020203" pitchFamily="34" charset="0"/>
              </a:rPr>
              <a:t>, </a:t>
            </a:r>
            <a:r>
              <a:rPr lang="en-IN" i="0" dirty="0" err="1">
                <a:solidFill>
                  <a:srgbClr val="333333"/>
                </a:solidFill>
                <a:effectLst/>
                <a:latin typeface="Segoe UI" panose="020B0502040204020203" pitchFamily="34" charset="0"/>
              </a:rPr>
              <a:t>aaabbb</a:t>
            </a:r>
            <a:r>
              <a:rPr lang="en-IN" i="0" dirty="0">
                <a:solidFill>
                  <a:srgbClr val="333333"/>
                </a:solidFill>
                <a:effectLst/>
                <a:latin typeface="Segoe UI" panose="020B0502040204020203" pitchFamily="34" charset="0"/>
              </a:rPr>
              <a:t>,...}</a:t>
            </a:r>
            <a:endParaRPr lang="en-US" i="0" dirty="0">
              <a:solidFill>
                <a:srgbClr val="303030"/>
              </a:solidFill>
              <a:effectLst/>
              <a:latin typeface="Arimo"/>
            </a:endParaRPr>
          </a:p>
          <a:p>
            <a:pPr lvl="1"/>
            <a:endParaRPr lang="en-US" b="0" i="0" dirty="0">
              <a:solidFill>
                <a:srgbClr val="303030"/>
              </a:solidFill>
              <a:effectLst/>
              <a:latin typeface="Arimo"/>
            </a:endParaRPr>
          </a:p>
          <a:p>
            <a:pPr lvl="1"/>
            <a:endParaRPr lang="en-US" b="0" i="0" dirty="0">
              <a:solidFill>
                <a:srgbClr val="303030"/>
              </a:solidFill>
              <a:effectLst/>
              <a:latin typeface="Arimo"/>
            </a:endParaRPr>
          </a:p>
          <a:p>
            <a:endParaRPr lang="en-IN" dirty="0"/>
          </a:p>
        </p:txBody>
      </p:sp>
      <p:pic>
        <p:nvPicPr>
          <p:cNvPr id="5" name="Picture 4">
            <a:extLst>
              <a:ext uri="{FF2B5EF4-FFF2-40B4-BE49-F238E27FC236}">
                <a16:creationId xmlns:a16="http://schemas.microsoft.com/office/drawing/2014/main" id="{4AB0D3A4-F4D5-4FFB-A4EE-D09B720E1B5E}"/>
              </a:ext>
            </a:extLst>
          </p:cNvPr>
          <p:cNvPicPr>
            <a:picLocks noChangeAspect="1"/>
          </p:cNvPicPr>
          <p:nvPr/>
        </p:nvPicPr>
        <p:blipFill>
          <a:blip r:embed="rId2"/>
          <a:stretch>
            <a:fillRect/>
          </a:stretch>
        </p:blipFill>
        <p:spPr>
          <a:xfrm>
            <a:off x="425381" y="3657599"/>
            <a:ext cx="3474719" cy="2743200"/>
          </a:xfrm>
          <a:prstGeom prst="rect">
            <a:avLst/>
          </a:prstGeom>
        </p:spPr>
      </p:pic>
      <p:pic>
        <p:nvPicPr>
          <p:cNvPr id="7" name="Picture 6">
            <a:extLst>
              <a:ext uri="{FF2B5EF4-FFF2-40B4-BE49-F238E27FC236}">
                <a16:creationId xmlns:a16="http://schemas.microsoft.com/office/drawing/2014/main" id="{96F5A631-BFAD-4A47-B976-9E4D237AB03E}"/>
              </a:ext>
            </a:extLst>
          </p:cNvPr>
          <p:cNvPicPr>
            <a:picLocks noChangeAspect="1"/>
          </p:cNvPicPr>
          <p:nvPr/>
        </p:nvPicPr>
        <p:blipFill>
          <a:blip r:embed="rId3"/>
          <a:stretch>
            <a:fillRect/>
          </a:stretch>
        </p:blipFill>
        <p:spPr>
          <a:xfrm>
            <a:off x="6964681" y="3737322"/>
            <a:ext cx="3505200" cy="2822923"/>
          </a:xfrm>
          <a:prstGeom prst="rect">
            <a:avLst/>
          </a:prstGeom>
        </p:spPr>
      </p:pic>
    </p:spTree>
    <p:extLst>
      <p:ext uri="{BB962C8B-B14F-4D97-AF65-F5344CB8AC3E}">
        <p14:creationId xmlns:p14="http://schemas.microsoft.com/office/powerpoint/2010/main" val="2206472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B35-690B-4D10-BCD1-CF9A27CC39A8}"/>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E9AFA675-7ED2-4D7D-A222-87C03EEBDF15}"/>
              </a:ext>
            </a:extLst>
          </p:cNvPr>
          <p:cNvSpPr>
            <a:spLocks noGrp="1"/>
          </p:cNvSpPr>
          <p:nvPr>
            <p:ph idx="1"/>
          </p:nvPr>
        </p:nvSpPr>
        <p:spPr/>
        <p:txBody>
          <a:bodyPr/>
          <a:lstStyle/>
          <a:p>
            <a:r>
              <a:rPr lang="en-US" b="0" i="0" dirty="0">
                <a:solidFill>
                  <a:srgbClr val="303030"/>
                </a:solidFill>
                <a:effectLst/>
                <a:latin typeface="Arimo"/>
              </a:rPr>
              <a:t>Draw a DFA for the language accepting strings starting with ‘ab’ over input alphabets ∑ = {a, b}</a:t>
            </a:r>
          </a:p>
          <a:p>
            <a:r>
              <a:rPr lang="en-US" b="0" i="0" dirty="0">
                <a:solidFill>
                  <a:srgbClr val="303030"/>
                </a:solidFill>
                <a:effectLst/>
                <a:latin typeface="Arimo"/>
              </a:rPr>
              <a:t>Regular expression for the given language = ab(a + b)*</a:t>
            </a:r>
            <a:endParaRPr lang="en-US" dirty="0">
              <a:solidFill>
                <a:srgbClr val="303030"/>
              </a:solidFill>
              <a:latin typeface="Arimo"/>
            </a:endParaRPr>
          </a:p>
          <a:p>
            <a:r>
              <a:rPr lang="en-US" b="0" i="0" dirty="0">
                <a:solidFill>
                  <a:srgbClr val="303030"/>
                </a:solidFill>
                <a:effectLst/>
                <a:latin typeface="Arimo"/>
              </a:rPr>
              <a:t>Minimum number of states required in the DFA = 2 + 2 = 4.</a:t>
            </a:r>
          </a:p>
          <a:p>
            <a:endParaRPr lang="en-IN" dirty="0"/>
          </a:p>
        </p:txBody>
      </p:sp>
      <p:pic>
        <p:nvPicPr>
          <p:cNvPr id="7170" name="Picture 2">
            <a:extLst>
              <a:ext uri="{FF2B5EF4-FFF2-40B4-BE49-F238E27FC236}">
                <a16:creationId xmlns:a16="http://schemas.microsoft.com/office/drawing/2014/main" id="{9EAE49FC-86DD-4F10-9D3E-29E721770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2745748"/>
            <a:ext cx="4076700" cy="4112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74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61B3-F888-442A-B446-2CE71FB708F5}"/>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18271781-7A36-4B02-B420-AD7823BA08A1}"/>
              </a:ext>
            </a:extLst>
          </p:cNvPr>
          <p:cNvSpPr>
            <a:spLocks noGrp="1"/>
          </p:cNvSpPr>
          <p:nvPr>
            <p:ph idx="1"/>
          </p:nvPr>
        </p:nvSpPr>
        <p:spPr/>
        <p:txBody>
          <a:bodyPr/>
          <a:lstStyle/>
          <a:p>
            <a:r>
              <a:rPr lang="en-US" b="0" i="0" dirty="0">
                <a:solidFill>
                  <a:srgbClr val="303030"/>
                </a:solidFill>
                <a:effectLst/>
                <a:latin typeface="Arimo"/>
              </a:rPr>
              <a:t>Draw a DFA for the language accepting strings starting with ‘a’ over input alphabets ∑ = {a, b}</a:t>
            </a:r>
          </a:p>
          <a:p>
            <a:r>
              <a:rPr lang="en-US" b="0" i="0" dirty="0">
                <a:solidFill>
                  <a:srgbClr val="303030"/>
                </a:solidFill>
                <a:effectLst/>
                <a:latin typeface="Arimo"/>
              </a:rPr>
              <a:t>Regular expression for the given language = a(a + b)*</a:t>
            </a:r>
            <a:endParaRPr lang="en-US" dirty="0">
              <a:solidFill>
                <a:srgbClr val="303030"/>
              </a:solidFill>
              <a:latin typeface="Arimo"/>
            </a:endParaRPr>
          </a:p>
          <a:p>
            <a:r>
              <a:rPr lang="en-US" b="0" i="0" dirty="0">
                <a:solidFill>
                  <a:srgbClr val="303030"/>
                </a:solidFill>
                <a:effectLst/>
                <a:latin typeface="Arimo"/>
              </a:rPr>
              <a:t>Minimum number of states required in the DFA = 1 + 2 = 3.</a:t>
            </a:r>
          </a:p>
          <a:p>
            <a:pPr lvl="1" fontAlgn="base"/>
            <a:r>
              <a:rPr lang="en-US" b="0" i="0" dirty="0">
                <a:solidFill>
                  <a:srgbClr val="303030"/>
                </a:solidFill>
                <a:effectLst/>
                <a:latin typeface="Arimo"/>
              </a:rPr>
              <a:t>We will construct DFA for the following strings-</a:t>
            </a:r>
          </a:p>
          <a:p>
            <a:pPr lvl="1" fontAlgn="base"/>
            <a:r>
              <a:rPr lang="en-US" b="0" i="0" dirty="0">
                <a:solidFill>
                  <a:srgbClr val="303030"/>
                </a:solidFill>
                <a:effectLst/>
                <a:latin typeface="Arimo"/>
              </a:rPr>
              <a:t>a</a:t>
            </a:r>
          </a:p>
          <a:p>
            <a:pPr lvl="1" fontAlgn="base"/>
            <a:r>
              <a:rPr lang="en-US" b="0" i="0" dirty="0">
                <a:solidFill>
                  <a:srgbClr val="303030"/>
                </a:solidFill>
                <a:effectLst/>
                <a:latin typeface="Arimo"/>
              </a:rPr>
              <a:t>aa</a:t>
            </a:r>
          </a:p>
          <a:p>
            <a:endParaRPr lang="en-US" b="0" i="0" dirty="0">
              <a:solidFill>
                <a:srgbClr val="303030"/>
              </a:solidFill>
              <a:effectLst/>
              <a:latin typeface="Arimo"/>
            </a:endParaRPr>
          </a:p>
          <a:p>
            <a:endParaRPr lang="en-IN" dirty="0"/>
          </a:p>
        </p:txBody>
      </p:sp>
      <p:pic>
        <p:nvPicPr>
          <p:cNvPr id="8194" name="Picture 2">
            <a:extLst>
              <a:ext uri="{FF2B5EF4-FFF2-40B4-BE49-F238E27FC236}">
                <a16:creationId xmlns:a16="http://schemas.microsoft.com/office/drawing/2014/main" id="{DCE6D7BB-9DCF-403A-8C86-E828FE118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3048000"/>
            <a:ext cx="3967628" cy="3581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06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61B3-F888-442A-B446-2CE71FB708F5}"/>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18271781-7A36-4B02-B420-AD7823BA08A1}"/>
              </a:ext>
            </a:extLst>
          </p:cNvPr>
          <p:cNvSpPr>
            <a:spLocks noGrp="1"/>
          </p:cNvSpPr>
          <p:nvPr>
            <p:ph idx="1"/>
          </p:nvPr>
        </p:nvSpPr>
        <p:spPr/>
        <p:txBody>
          <a:bodyPr/>
          <a:lstStyle/>
          <a:p>
            <a:pPr algn="l" fontAlgn="base"/>
            <a:r>
              <a:rPr lang="en-US" b="0" i="0" dirty="0">
                <a:solidFill>
                  <a:srgbClr val="303030"/>
                </a:solidFill>
                <a:effectLst/>
                <a:latin typeface="Arimo"/>
              </a:rPr>
              <a:t>Draw a DFA for the language accepting strings starting with ‘101’ over input alphabets ∑ = {0, 1}</a:t>
            </a:r>
          </a:p>
          <a:p>
            <a:pPr algn="l" fontAlgn="base"/>
            <a:r>
              <a:rPr lang="en-US" b="0" i="0" dirty="0">
                <a:solidFill>
                  <a:srgbClr val="303030"/>
                </a:solidFill>
                <a:effectLst/>
                <a:latin typeface="Arimo"/>
              </a:rPr>
              <a:t> Regular expression for the given language = 101(0 + 1)*</a:t>
            </a:r>
          </a:p>
          <a:p>
            <a:pPr algn="l" fontAlgn="base"/>
            <a:r>
              <a:rPr lang="en-US" b="0" i="0" dirty="0">
                <a:solidFill>
                  <a:srgbClr val="303030"/>
                </a:solidFill>
                <a:effectLst/>
                <a:latin typeface="Arimo"/>
              </a:rPr>
              <a:t>Minimum number of states required in the DFA = 3 + 2 = 5</a:t>
            </a:r>
          </a:p>
          <a:p>
            <a:pPr lvl="1" fontAlgn="base"/>
            <a:r>
              <a:rPr lang="en-US" b="0" i="0" dirty="0">
                <a:solidFill>
                  <a:srgbClr val="303030"/>
                </a:solidFill>
                <a:effectLst/>
                <a:latin typeface="Arimo"/>
              </a:rPr>
              <a:t>We will construct DFA for the following strings-</a:t>
            </a:r>
          </a:p>
          <a:p>
            <a:pPr lvl="1" fontAlgn="base"/>
            <a:r>
              <a:rPr lang="en-US" b="0" i="0" dirty="0">
                <a:solidFill>
                  <a:srgbClr val="303030"/>
                </a:solidFill>
                <a:effectLst/>
                <a:latin typeface="Arimo"/>
              </a:rPr>
              <a:t>101</a:t>
            </a:r>
          </a:p>
          <a:p>
            <a:pPr lvl="1" fontAlgn="base"/>
            <a:r>
              <a:rPr lang="en-US" b="0" i="0" dirty="0">
                <a:solidFill>
                  <a:srgbClr val="303030"/>
                </a:solidFill>
                <a:effectLst/>
                <a:latin typeface="Arimo"/>
              </a:rPr>
              <a:t>1011</a:t>
            </a:r>
          </a:p>
          <a:p>
            <a:pPr lvl="1" fontAlgn="base"/>
            <a:r>
              <a:rPr lang="en-US" b="0" i="0" dirty="0">
                <a:solidFill>
                  <a:srgbClr val="303030"/>
                </a:solidFill>
                <a:effectLst/>
                <a:latin typeface="Arimo"/>
              </a:rPr>
              <a:t>10110</a:t>
            </a:r>
          </a:p>
          <a:p>
            <a:pPr lvl="1" fontAlgn="base"/>
            <a:r>
              <a:rPr lang="en-US" b="0" i="0" dirty="0">
                <a:solidFill>
                  <a:srgbClr val="303030"/>
                </a:solidFill>
                <a:effectLst/>
                <a:latin typeface="Arimo"/>
              </a:rPr>
              <a:t>101101</a:t>
            </a:r>
          </a:p>
          <a:p>
            <a:pPr algn="l" fontAlgn="base"/>
            <a:endParaRPr lang="en-US" b="0" i="0" dirty="0">
              <a:solidFill>
                <a:srgbClr val="303030"/>
              </a:solidFill>
              <a:effectLst/>
              <a:latin typeface="Arimo"/>
            </a:endParaRPr>
          </a:p>
          <a:p>
            <a:endParaRPr lang="en-IN" dirty="0"/>
          </a:p>
        </p:txBody>
      </p:sp>
      <p:pic>
        <p:nvPicPr>
          <p:cNvPr id="9218" name="Picture 2">
            <a:extLst>
              <a:ext uri="{FF2B5EF4-FFF2-40B4-BE49-F238E27FC236}">
                <a16:creationId xmlns:a16="http://schemas.microsoft.com/office/drawing/2014/main" id="{8894E38D-15CA-4627-81B1-6A87E5A80E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973605"/>
            <a:ext cx="4957301" cy="3778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74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61B3-F888-442A-B446-2CE71FB708F5}"/>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18271781-7A36-4B02-B420-AD7823BA08A1}"/>
              </a:ext>
            </a:extLst>
          </p:cNvPr>
          <p:cNvSpPr>
            <a:spLocks noGrp="1"/>
          </p:cNvSpPr>
          <p:nvPr>
            <p:ph idx="1"/>
          </p:nvPr>
        </p:nvSpPr>
        <p:spPr/>
        <p:txBody>
          <a:bodyPr/>
          <a:lstStyle/>
          <a:p>
            <a:r>
              <a:rPr lang="en-US" b="0" i="0" dirty="0">
                <a:solidFill>
                  <a:srgbClr val="303030"/>
                </a:solidFill>
                <a:effectLst/>
                <a:latin typeface="Arimo"/>
              </a:rPr>
              <a:t>Draw a DFA that accepts a language L over input alphabets ∑ = {0, 1} such that L is the set of all strings starting with ’00’.</a:t>
            </a:r>
          </a:p>
          <a:p>
            <a:r>
              <a:rPr lang="en-US" b="0" i="0" dirty="0">
                <a:solidFill>
                  <a:srgbClr val="303030"/>
                </a:solidFill>
                <a:effectLst/>
                <a:latin typeface="Arimo"/>
              </a:rPr>
              <a:t>Regular expression for the given language = 00(0 + 1)*</a:t>
            </a:r>
            <a:endParaRPr lang="en-US" dirty="0">
              <a:solidFill>
                <a:srgbClr val="303030"/>
              </a:solidFill>
              <a:latin typeface="Arimo"/>
            </a:endParaRPr>
          </a:p>
          <a:p>
            <a:r>
              <a:rPr lang="en-US" b="0" i="0" dirty="0">
                <a:solidFill>
                  <a:srgbClr val="303030"/>
                </a:solidFill>
                <a:effectLst/>
                <a:latin typeface="Arimo"/>
              </a:rPr>
              <a:t>Minimum number of states required in the DFA = 2 + 2 = 4</a:t>
            </a:r>
          </a:p>
          <a:p>
            <a:pPr lvl="1" fontAlgn="base"/>
            <a:r>
              <a:rPr lang="en-US" b="0" i="0" dirty="0">
                <a:solidFill>
                  <a:srgbClr val="303030"/>
                </a:solidFill>
                <a:effectLst/>
                <a:latin typeface="Arimo"/>
              </a:rPr>
              <a:t>We will construct DFA for the following strings-</a:t>
            </a:r>
          </a:p>
          <a:p>
            <a:pPr lvl="1" fontAlgn="base"/>
            <a:r>
              <a:rPr lang="en-US" b="0" i="0" dirty="0">
                <a:solidFill>
                  <a:srgbClr val="303030"/>
                </a:solidFill>
                <a:effectLst/>
                <a:latin typeface="Arimo"/>
              </a:rPr>
              <a:t>00</a:t>
            </a:r>
          </a:p>
          <a:p>
            <a:pPr lvl="1" fontAlgn="base"/>
            <a:r>
              <a:rPr lang="en-US" b="0" i="0" dirty="0">
                <a:solidFill>
                  <a:srgbClr val="303030"/>
                </a:solidFill>
                <a:effectLst/>
                <a:latin typeface="Arimo"/>
              </a:rPr>
              <a:t>000</a:t>
            </a:r>
          </a:p>
          <a:p>
            <a:pPr lvl="1" fontAlgn="base"/>
            <a:r>
              <a:rPr lang="en-US" b="0" i="0" dirty="0">
                <a:solidFill>
                  <a:srgbClr val="303030"/>
                </a:solidFill>
                <a:effectLst/>
                <a:latin typeface="Arimo"/>
              </a:rPr>
              <a:t>00000</a:t>
            </a:r>
          </a:p>
          <a:p>
            <a:pPr marL="0" indent="0" algn="l" fontAlgn="base">
              <a:buNone/>
            </a:pPr>
            <a:endParaRPr lang="en-US" b="0" i="0" dirty="0">
              <a:solidFill>
                <a:srgbClr val="303030"/>
              </a:solidFill>
              <a:effectLst/>
              <a:latin typeface="Arimo"/>
            </a:endParaRPr>
          </a:p>
          <a:p>
            <a:endParaRPr lang="en-IN" dirty="0"/>
          </a:p>
        </p:txBody>
      </p:sp>
      <p:pic>
        <p:nvPicPr>
          <p:cNvPr id="10242" name="Picture 2">
            <a:extLst>
              <a:ext uri="{FF2B5EF4-FFF2-40B4-BE49-F238E27FC236}">
                <a16:creationId xmlns:a16="http://schemas.microsoft.com/office/drawing/2014/main" id="{CED045FB-3DF7-40BC-991D-776F820432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2815354"/>
            <a:ext cx="3886200" cy="3966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60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61B3-F888-442A-B446-2CE71FB708F5}"/>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18271781-7A36-4B02-B420-AD7823BA08A1}"/>
              </a:ext>
            </a:extLst>
          </p:cNvPr>
          <p:cNvSpPr>
            <a:spLocks noGrp="1"/>
          </p:cNvSpPr>
          <p:nvPr>
            <p:ph idx="1"/>
          </p:nvPr>
        </p:nvSpPr>
        <p:spPr/>
        <p:txBody>
          <a:bodyPr>
            <a:normAutofit/>
          </a:bodyPr>
          <a:lstStyle/>
          <a:p>
            <a:r>
              <a:rPr lang="en-US" b="0" i="0" dirty="0">
                <a:solidFill>
                  <a:srgbClr val="303030"/>
                </a:solidFill>
                <a:effectLst/>
                <a:latin typeface="Arimo"/>
              </a:rPr>
              <a:t>Construct a DFA that accepts a language L over input alphabets ∑ = {a, b} such that L is the set of all strings starting with ‘aa’ or ‘bb’.{initial two letter are same}</a:t>
            </a:r>
          </a:p>
          <a:p>
            <a:r>
              <a:rPr lang="en-US" b="0" i="0" dirty="0">
                <a:solidFill>
                  <a:srgbClr val="303030"/>
                </a:solidFill>
                <a:effectLst/>
                <a:latin typeface="Arimo"/>
              </a:rPr>
              <a:t>Regular expression for the given language = (aa + bb)(a + b)*</a:t>
            </a:r>
            <a:endParaRPr lang="en-US" dirty="0">
              <a:solidFill>
                <a:srgbClr val="303030"/>
              </a:solidFill>
              <a:latin typeface="Arimo"/>
            </a:endParaRPr>
          </a:p>
          <a:p>
            <a:r>
              <a:rPr lang="en-US" b="0" i="0" dirty="0">
                <a:solidFill>
                  <a:srgbClr val="303030"/>
                </a:solidFill>
                <a:effectLst/>
                <a:latin typeface="Arimo"/>
              </a:rPr>
              <a:t>Minimum number of states required in the DFA = 5.</a:t>
            </a:r>
          </a:p>
          <a:p>
            <a:pPr lvl="1" fontAlgn="base"/>
            <a:r>
              <a:rPr lang="en-US" b="0" i="0" dirty="0">
                <a:solidFill>
                  <a:srgbClr val="303030"/>
                </a:solidFill>
                <a:effectLst/>
                <a:latin typeface="Arimo"/>
              </a:rPr>
              <a:t>We will construct DFA for the following strings-</a:t>
            </a:r>
          </a:p>
          <a:p>
            <a:pPr lvl="1" fontAlgn="base"/>
            <a:r>
              <a:rPr lang="en-US" b="0" i="0" dirty="0">
                <a:solidFill>
                  <a:srgbClr val="303030"/>
                </a:solidFill>
                <a:effectLst/>
                <a:latin typeface="Arimo"/>
              </a:rPr>
              <a:t>aa</a:t>
            </a:r>
          </a:p>
          <a:p>
            <a:pPr lvl="1" fontAlgn="base"/>
            <a:r>
              <a:rPr lang="en-US" b="0" i="0" dirty="0" err="1">
                <a:solidFill>
                  <a:srgbClr val="303030"/>
                </a:solidFill>
                <a:effectLst/>
                <a:latin typeface="Arimo"/>
              </a:rPr>
              <a:t>aaa</a:t>
            </a:r>
            <a:endParaRPr lang="en-US" b="0" i="0" dirty="0">
              <a:solidFill>
                <a:srgbClr val="303030"/>
              </a:solidFill>
              <a:effectLst/>
              <a:latin typeface="Arimo"/>
            </a:endParaRPr>
          </a:p>
          <a:p>
            <a:pPr lvl="1" fontAlgn="base"/>
            <a:r>
              <a:rPr lang="en-US" b="0" i="0" dirty="0" err="1">
                <a:solidFill>
                  <a:srgbClr val="303030"/>
                </a:solidFill>
                <a:effectLst/>
                <a:latin typeface="Arimo"/>
              </a:rPr>
              <a:t>aaaa</a:t>
            </a:r>
            <a:endParaRPr lang="en-US" b="0" i="0" dirty="0">
              <a:solidFill>
                <a:srgbClr val="303030"/>
              </a:solidFill>
              <a:effectLst/>
              <a:latin typeface="Arimo"/>
            </a:endParaRPr>
          </a:p>
          <a:p>
            <a:pPr lvl="1" fontAlgn="base"/>
            <a:r>
              <a:rPr lang="en-US" b="0" i="0" dirty="0">
                <a:solidFill>
                  <a:srgbClr val="303030"/>
                </a:solidFill>
                <a:effectLst/>
                <a:latin typeface="Arimo"/>
              </a:rPr>
              <a:t>bb</a:t>
            </a:r>
          </a:p>
          <a:p>
            <a:pPr lvl="1" fontAlgn="base"/>
            <a:r>
              <a:rPr lang="en-US" b="0" i="0" dirty="0" err="1">
                <a:solidFill>
                  <a:srgbClr val="303030"/>
                </a:solidFill>
                <a:effectLst/>
                <a:latin typeface="Arimo"/>
              </a:rPr>
              <a:t>bbb</a:t>
            </a:r>
            <a:endParaRPr lang="en-US" b="0" i="0" dirty="0">
              <a:solidFill>
                <a:srgbClr val="303030"/>
              </a:solidFill>
              <a:effectLst/>
              <a:latin typeface="Arimo"/>
            </a:endParaRPr>
          </a:p>
          <a:p>
            <a:pPr lvl="1" fontAlgn="base"/>
            <a:r>
              <a:rPr lang="en-US" b="0" i="0" dirty="0" err="1">
                <a:solidFill>
                  <a:srgbClr val="303030"/>
                </a:solidFill>
                <a:effectLst/>
                <a:latin typeface="Arimo"/>
              </a:rPr>
              <a:t>bbbb</a:t>
            </a:r>
            <a:endParaRPr lang="en-US" b="0" i="0" dirty="0">
              <a:solidFill>
                <a:srgbClr val="303030"/>
              </a:solidFill>
              <a:effectLst/>
              <a:latin typeface="Arimo"/>
            </a:endParaRPr>
          </a:p>
          <a:p>
            <a:pPr lvl="1"/>
            <a:endParaRPr lang="en-IN" dirty="0"/>
          </a:p>
        </p:txBody>
      </p:sp>
      <p:pic>
        <p:nvPicPr>
          <p:cNvPr id="11266" name="Picture 2">
            <a:extLst>
              <a:ext uri="{FF2B5EF4-FFF2-40B4-BE49-F238E27FC236}">
                <a16:creationId xmlns:a16="http://schemas.microsoft.com/office/drawing/2014/main" id="{B11917F5-B321-4AF2-BEB2-9113C1EB8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5961" y="3048000"/>
            <a:ext cx="4755039" cy="369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3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61B3-F888-442A-B446-2CE71FB708F5}"/>
              </a:ext>
            </a:extLst>
          </p:cNvPr>
          <p:cNvSpPr>
            <a:spLocks noGrp="1"/>
          </p:cNvSpPr>
          <p:nvPr>
            <p:ph type="title"/>
          </p:nvPr>
        </p:nvSpPr>
        <p:spPr/>
        <p:txBody>
          <a:bodyPr/>
          <a:lstStyle/>
          <a:p>
            <a:r>
              <a:rPr lang="en-IN" dirty="0"/>
              <a:t>DFA Examples: </a:t>
            </a:r>
            <a:r>
              <a:rPr lang="en-IN" dirty="0">
                <a:solidFill>
                  <a:srgbClr val="C00000"/>
                </a:solidFill>
              </a:rPr>
              <a:t>starting with w</a:t>
            </a:r>
            <a:endParaRPr lang="en-IN" dirty="0"/>
          </a:p>
        </p:txBody>
      </p:sp>
      <p:sp>
        <p:nvSpPr>
          <p:cNvPr id="3" name="Content Placeholder 2">
            <a:extLst>
              <a:ext uri="{FF2B5EF4-FFF2-40B4-BE49-F238E27FC236}">
                <a16:creationId xmlns:a16="http://schemas.microsoft.com/office/drawing/2014/main" id="{18271781-7A36-4B02-B420-AD7823BA08A1}"/>
              </a:ext>
            </a:extLst>
          </p:cNvPr>
          <p:cNvSpPr>
            <a:spLocks noGrp="1"/>
          </p:cNvSpPr>
          <p:nvPr>
            <p:ph idx="1"/>
          </p:nvPr>
        </p:nvSpPr>
        <p:spPr/>
        <p:txBody>
          <a:bodyPr/>
          <a:lstStyle/>
          <a:p>
            <a:r>
              <a:rPr lang="en-US" b="0" i="0" dirty="0">
                <a:solidFill>
                  <a:srgbClr val="303030"/>
                </a:solidFill>
                <a:effectLst/>
                <a:latin typeface="Arimo"/>
              </a:rPr>
              <a:t>Construct a DFA that accepts a language L over input alphabets ∑ = {a, b} such that L is the set of all strings starting with ‘aba’.</a:t>
            </a:r>
          </a:p>
          <a:p>
            <a:r>
              <a:rPr lang="en-US" b="0" i="0" dirty="0">
                <a:solidFill>
                  <a:srgbClr val="303030"/>
                </a:solidFill>
                <a:effectLst/>
                <a:latin typeface="Arimo"/>
              </a:rPr>
              <a:t>Regular expression for the given language = aba(a + b)*</a:t>
            </a:r>
            <a:endParaRPr lang="en-US" dirty="0">
              <a:solidFill>
                <a:srgbClr val="303030"/>
              </a:solidFill>
              <a:latin typeface="Arimo"/>
            </a:endParaRPr>
          </a:p>
          <a:p>
            <a:r>
              <a:rPr lang="en-US" b="0" i="0" dirty="0">
                <a:solidFill>
                  <a:srgbClr val="303030"/>
                </a:solidFill>
                <a:effectLst/>
                <a:latin typeface="Arimo"/>
              </a:rPr>
              <a:t>Minimum number of states required in the DFA = 3 + 2 = 5.</a:t>
            </a:r>
          </a:p>
          <a:p>
            <a:pPr lvl="1" fontAlgn="base"/>
            <a:r>
              <a:rPr lang="en-US" b="0" i="0" dirty="0">
                <a:solidFill>
                  <a:srgbClr val="303030"/>
                </a:solidFill>
                <a:effectLst/>
                <a:latin typeface="Arimo"/>
              </a:rPr>
              <a:t>We will construct DFA for the following strings-</a:t>
            </a:r>
          </a:p>
          <a:p>
            <a:pPr lvl="1" fontAlgn="base"/>
            <a:r>
              <a:rPr lang="en-US" b="0" i="0" dirty="0">
                <a:solidFill>
                  <a:srgbClr val="303030"/>
                </a:solidFill>
                <a:effectLst/>
                <a:latin typeface="Arimo"/>
              </a:rPr>
              <a:t>aba</a:t>
            </a:r>
          </a:p>
          <a:p>
            <a:pPr lvl="1" fontAlgn="base"/>
            <a:r>
              <a:rPr lang="en-US" b="0" i="0" dirty="0" err="1">
                <a:solidFill>
                  <a:srgbClr val="303030"/>
                </a:solidFill>
                <a:effectLst/>
                <a:latin typeface="Arimo"/>
              </a:rPr>
              <a:t>abaa</a:t>
            </a:r>
            <a:endParaRPr lang="en-US" b="0" i="0" dirty="0">
              <a:solidFill>
                <a:srgbClr val="303030"/>
              </a:solidFill>
              <a:effectLst/>
              <a:latin typeface="Arimo"/>
            </a:endParaRPr>
          </a:p>
          <a:p>
            <a:pPr lvl="1" fontAlgn="base"/>
            <a:r>
              <a:rPr lang="en-US" b="0" i="0" dirty="0" err="1">
                <a:solidFill>
                  <a:srgbClr val="303030"/>
                </a:solidFill>
                <a:effectLst/>
                <a:latin typeface="Arimo"/>
              </a:rPr>
              <a:t>abaab</a:t>
            </a:r>
            <a:endParaRPr lang="en-US" b="0" i="0" dirty="0">
              <a:solidFill>
                <a:srgbClr val="303030"/>
              </a:solidFill>
              <a:effectLst/>
              <a:latin typeface="Arimo"/>
            </a:endParaRPr>
          </a:p>
          <a:p>
            <a:pPr lvl="1" fontAlgn="base"/>
            <a:r>
              <a:rPr lang="en-US" b="0" i="0" dirty="0" err="1">
                <a:solidFill>
                  <a:srgbClr val="303030"/>
                </a:solidFill>
                <a:effectLst/>
                <a:latin typeface="Arimo"/>
              </a:rPr>
              <a:t>abaaba</a:t>
            </a:r>
            <a:endParaRPr lang="en-US" b="0" i="0" dirty="0">
              <a:solidFill>
                <a:srgbClr val="303030"/>
              </a:solidFill>
              <a:effectLst/>
              <a:latin typeface="Arimo"/>
            </a:endParaRPr>
          </a:p>
          <a:p>
            <a:endParaRPr lang="en-IN" dirty="0"/>
          </a:p>
        </p:txBody>
      </p:sp>
      <p:pic>
        <p:nvPicPr>
          <p:cNvPr id="12290" name="Picture 2">
            <a:extLst>
              <a:ext uri="{FF2B5EF4-FFF2-40B4-BE49-F238E27FC236}">
                <a16:creationId xmlns:a16="http://schemas.microsoft.com/office/drawing/2014/main" id="{3AF5BCF5-4834-4B8F-B255-A5172EA25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903" y="3048000"/>
            <a:ext cx="4828647"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87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DFA Examples: </a:t>
            </a:r>
            <a:r>
              <a:rPr lang="en-US" dirty="0">
                <a:solidFill>
                  <a:srgbClr val="C00000"/>
                </a:solidFill>
              </a:rPr>
              <a:t>in between</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The string with next to last symbol as 0.</a:t>
            </a:r>
          </a:p>
        </p:txBody>
      </p:sp>
      <mc:AlternateContent xmlns:mc="http://schemas.openxmlformats.org/markup-compatibility/2006" xmlns:a14="http://schemas.microsoft.com/office/drawing/2010/main">
        <mc:Choice Requires="a14">
          <p:sp>
            <p:nvSpPr>
              <p:cNvPr id="23" name="Oval 22"/>
              <p:cNvSpPr/>
              <p:nvPr/>
            </p:nvSpPr>
            <p:spPr>
              <a:xfrm>
                <a:off x="42291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23" name="Oval 22"/>
              <p:cNvSpPr>
                <a:spLocks noRot="1" noChangeAspect="1" noMove="1" noResize="1" noEditPoints="1" noAdjustHandles="1" noChangeArrowheads="1" noChangeShapeType="1" noTextEdit="1"/>
              </p:cNvSpPr>
              <p:nvPr/>
            </p:nvSpPr>
            <p:spPr>
              <a:xfrm>
                <a:off x="4229100" y="3352800"/>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Oval 23"/>
              <p:cNvSpPr/>
              <p:nvPr/>
            </p:nvSpPr>
            <p:spPr>
              <a:xfrm>
                <a:off x="5791200" y="3352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1</m:t>
                      </m:r>
                    </m:oMath>
                  </m:oMathPara>
                </a14:m>
                <a:endParaRPr lang="en-US" baseline="-25000" dirty="0"/>
              </a:p>
            </p:txBody>
          </p:sp>
        </mc:Choice>
        <mc:Fallback xmlns="">
          <p:sp>
            <p:nvSpPr>
              <p:cNvPr id="24" name="Oval 23"/>
              <p:cNvSpPr>
                <a:spLocks noRot="1" noChangeAspect="1" noMove="1" noResize="1" noEditPoints="1" noAdjustHandles="1" noChangeArrowheads="1" noChangeShapeType="1" noTextEdit="1"/>
              </p:cNvSpPr>
              <p:nvPr/>
            </p:nvSpPr>
            <p:spPr>
              <a:xfrm>
                <a:off x="5791200" y="3352800"/>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Oval 24"/>
              <p:cNvSpPr/>
              <p:nvPr/>
            </p:nvSpPr>
            <p:spPr>
              <a:xfrm>
                <a:off x="7277100" y="2514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2</m:t>
                      </m:r>
                    </m:oMath>
                  </m:oMathPara>
                </a14:m>
                <a:endParaRPr lang="en-US" baseline="-25000" dirty="0"/>
              </a:p>
            </p:txBody>
          </p:sp>
        </mc:Choice>
        <mc:Fallback xmlns="">
          <p:sp>
            <p:nvSpPr>
              <p:cNvPr id="25" name="Oval 24"/>
              <p:cNvSpPr>
                <a:spLocks noRot="1" noChangeAspect="1" noMove="1" noResize="1" noEditPoints="1" noAdjustHandles="1" noChangeArrowheads="1" noChangeShapeType="1" noTextEdit="1"/>
              </p:cNvSpPr>
              <p:nvPr/>
            </p:nvSpPr>
            <p:spPr>
              <a:xfrm>
                <a:off x="7277100" y="2514600"/>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7277100" y="409276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3</m:t>
                      </m:r>
                    </m:oMath>
                  </m:oMathPara>
                </a14:m>
                <a:endParaRPr lang="en-US" baseline="-25000" dirty="0"/>
              </a:p>
            </p:txBody>
          </p:sp>
        </mc:Choice>
        <mc:Fallback xmlns="">
          <p:sp>
            <p:nvSpPr>
              <p:cNvPr id="26" name="Oval 25"/>
              <p:cNvSpPr>
                <a:spLocks noRot="1" noChangeAspect="1" noMove="1" noResize="1" noEditPoints="1" noAdjustHandles="1" noChangeArrowheads="1" noChangeShapeType="1" noTextEdit="1"/>
              </p:cNvSpPr>
              <p:nvPr/>
            </p:nvSpPr>
            <p:spPr>
              <a:xfrm>
                <a:off x="7277100" y="4092762"/>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27" name="Straight Arrow Connector 26"/>
          <p:cNvCxnSpPr>
            <a:stCxn id="23" idx="6"/>
            <a:endCxn id="24" idx="2"/>
          </p:cNvCxnSpPr>
          <p:nvPr/>
        </p:nvCxnSpPr>
        <p:spPr>
          <a:xfrm>
            <a:off x="4838700" y="3657600"/>
            <a:ext cx="9525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3" idx="2"/>
          </p:cNvCxnSpPr>
          <p:nvPr/>
        </p:nvCxnSpPr>
        <p:spPr>
          <a:xfrm>
            <a:off x="3619500" y="3657600"/>
            <a:ext cx="6096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4" idx="7"/>
            <a:endCxn id="25" idx="2"/>
          </p:cNvCxnSpPr>
          <p:nvPr/>
        </p:nvCxnSpPr>
        <p:spPr>
          <a:xfrm flipV="1">
            <a:off x="6311526" y="2819400"/>
            <a:ext cx="965574" cy="622674"/>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4" idx="5"/>
            <a:endCxn id="26" idx="2"/>
          </p:cNvCxnSpPr>
          <p:nvPr/>
        </p:nvCxnSpPr>
        <p:spPr>
          <a:xfrm>
            <a:off x="6311526" y="3873126"/>
            <a:ext cx="965574" cy="524436"/>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23" idx="1"/>
            <a:endCxn id="23" idx="7"/>
          </p:cNvCxnSpPr>
          <p:nvPr/>
        </p:nvCxnSpPr>
        <p:spPr>
          <a:xfrm rot="5400000" flipH="1" flipV="1">
            <a:off x="4533900" y="3226548"/>
            <a:ext cx="12700" cy="431052"/>
          </a:xfrm>
          <a:prstGeom prst="curvedConnector3">
            <a:avLst>
              <a:gd name="adj1" fmla="val 5652945"/>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2" name="Curved Connector 31"/>
          <p:cNvCxnSpPr>
            <a:stCxn id="25" idx="1"/>
            <a:endCxn id="25" idx="7"/>
          </p:cNvCxnSpPr>
          <p:nvPr/>
        </p:nvCxnSpPr>
        <p:spPr>
          <a:xfrm rot="5400000" flipH="1" flipV="1">
            <a:off x="7581900" y="2388348"/>
            <a:ext cx="12700" cy="431052"/>
          </a:xfrm>
          <a:prstGeom prst="curvedConnector3">
            <a:avLst>
              <a:gd name="adj1" fmla="val 4832354"/>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p:nvCxnSpPr>
        <p:spPr>
          <a:xfrm rot="5400000" flipH="1">
            <a:off x="6380256" y="3623467"/>
            <a:ext cx="650688" cy="1270374"/>
          </a:xfrm>
          <a:prstGeom prst="curvedConnector3">
            <a:avLst>
              <a:gd name="adj1" fmla="val -28118"/>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4" name="Curved Connector 33"/>
          <p:cNvCxnSpPr>
            <a:stCxn id="26" idx="4"/>
            <a:endCxn id="23" idx="4"/>
          </p:cNvCxnSpPr>
          <p:nvPr/>
        </p:nvCxnSpPr>
        <p:spPr>
          <a:xfrm rot="5400000" flipH="1">
            <a:off x="5687919" y="2808381"/>
            <a:ext cx="739962" cy="3048000"/>
          </a:xfrm>
          <a:prstGeom prst="curvedConnector3">
            <a:avLst>
              <a:gd name="adj1" fmla="val -69056"/>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5" idx="4"/>
            <a:endCxn id="26" idx="0"/>
          </p:cNvCxnSpPr>
          <p:nvPr/>
        </p:nvCxnSpPr>
        <p:spPr>
          <a:xfrm>
            <a:off x="7581900" y="3124200"/>
            <a:ext cx="0" cy="968562"/>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067300" y="3335892"/>
            <a:ext cx="301686" cy="369332"/>
          </a:xfrm>
          <a:prstGeom prst="rect">
            <a:avLst/>
          </a:prstGeom>
          <a:noFill/>
        </p:spPr>
        <p:txBody>
          <a:bodyPr wrap="none" rtlCol="0">
            <a:spAutoFit/>
          </a:bodyPr>
          <a:lstStyle/>
          <a:p>
            <a:r>
              <a:rPr lang="en-US" dirty="0"/>
              <a:t>0</a:t>
            </a:r>
          </a:p>
        </p:txBody>
      </p:sp>
      <p:sp>
        <p:nvSpPr>
          <p:cNvPr id="37" name="TextBox 36"/>
          <p:cNvSpPr txBox="1"/>
          <p:nvPr/>
        </p:nvSpPr>
        <p:spPr>
          <a:xfrm>
            <a:off x="4389407" y="2362200"/>
            <a:ext cx="301686" cy="369332"/>
          </a:xfrm>
          <a:prstGeom prst="rect">
            <a:avLst/>
          </a:prstGeom>
          <a:noFill/>
        </p:spPr>
        <p:txBody>
          <a:bodyPr wrap="none" rtlCol="0">
            <a:spAutoFit/>
          </a:bodyPr>
          <a:lstStyle/>
          <a:p>
            <a:r>
              <a:rPr lang="en-US" dirty="0"/>
              <a:t>1</a:t>
            </a:r>
          </a:p>
        </p:txBody>
      </p:sp>
      <p:sp>
        <p:nvSpPr>
          <p:cNvPr id="38" name="TextBox 37"/>
          <p:cNvSpPr txBox="1"/>
          <p:nvPr/>
        </p:nvSpPr>
        <p:spPr>
          <a:xfrm>
            <a:off x="6594414" y="2771776"/>
            <a:ext cx="301686" cy="369332"/>
          </a:xfrm>
          <a:prstGeom prst="rect">
            <a:avLst/>
          </a:prstGeom>
          <a:noFill/>
        </p:spPr>
        <p:txBody>
          <a:bodyPr wrap="none" rtlCol="0">
            <a:spAutoFit/>
          </a:bodyPr>
          <a:lstStyle/>
          <a:p>
            <a:r>
              <a:rPr lang="en-US" dirty="0"/>
              <a:t>0</a:t>
            </a:r>
          </a:p>
        </p:txBody>
      </p:sp>
      <p:sp>
        <p:nvSpPr>
          <p:cNvPr id="39" name="TextBox 38"/>
          <p:cNvSpPr txBox="1"/>
          <p:nvPr/>
        </p:nvSpPr>
        <p:spPr>
          <a:xfrm>
            <a:off x="6619440" y="3762884"/>
            <a:ext cx="301686" cy="369332"/>
          </a:xfrm>
          <a:prstGeom prst="rect">
            <a:avLst/>
          </a:prstGeom>
          <a:noFill/>
        </p:spPr>
        <p:txBody>
          <a:bodyPr wrap="none" rtlCol="0">
            <a:spAutoFit/>
          </a:bodyPr>
          <a:lstStyle/>
          <a:p>
            <a:r>
              <a:rPr lang="en-US" dirty="0"/>
              <a:t>1</a:t>
            </a:r>
          </a:p>
        </p:txBody>
      </p:sp>
      <p:sp>
        <p:nvSpPr>
          <p:cNvPr id="40" name="Oval 39"/>
          <p:cNvSpPr/>
          <p:nvPr/>
        </p:nvSpPr>
        <p:spPr>
          <a:xfrm>
            <a:off x="7353300" y="416896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dirty="0"/>
          </a:p>
        </p:txBody>
      </p:sp>
      <p:sp>
        <p:nvSpPr>
          <p:cNvPr id="41" name="Oval 40"/>
          <p:cNvSpPr/>
          <p:nvPr/>
        </p:nvSpPr>
        <p:spPr>
          <a:xfrm>
            <a:off x="7353300" y="25908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dirty="0"/>
          </a:p>
        </p:txBody>
      </p:sp>
      <p:sp>
        <p:nvSpPr>
          <p:cNvPr id="42" name="TextBox 41"/>
          <p:cNvSpPr txBox="1"/>
          <p:nvPr/>
        </p:nvSpPr>
        <p:spPr>
          <a:xfrm>
            <a:off x="7437407" y="1622463"/>
            <a:ext cx="301686" cy="369332"/>
          </a:xfrm>
          <a:prstGeom prst="rect">
            <a:avLst/>
          </a:prstGeom>
          <a:noFill/>
        </p:spPr>
        <p:txBody>
          <a:bodyPr wrap="none" rtlCol="0">
            <a:spAutoFit/>
          </a:bodyPr>
          <a:lstStyle/>
          <a:p>
            <a:r>
              <a:rPr lang="en-US" dirty="0"/>
              <a:t>0</a:t>
            </a:r>
          </a:p>
        </p:txBody>
      </p:sp>
      <p:sp>
        <p:nvSpPr>
          <p:cNvPr id="43" name="TextBox 42"/>
          <p:cNvSpPr txBox="1"/>
          <p:nvPr/>
        </p:nvSpPr>
        <p:spPr>
          <a:xfrm>
            <a:off x="7588250" y="3364468"/>
            <a:ext cx="301686" cy="369332"/>
          </a:xfrm>
          <a:prstGeom prst="rect">
            <a:avLst/>
          </a:prstGeom>
          <a:noFill/>
        </p:spPr>
        <p:txBody>
          <a:bodyPr wrap="none" rtlCol="0">
            <a:spAutoFit/>
          </a:bodyPr>
          <a:lstStyle/>
          <a:p>
            <a:r>
              <a:rPr lang="en-US" dirty="0"/>
              <a:t>1</a:t>
            </a:r>
          </a:p>
        </p:txBody>
      </p:sp>
      <p:sp>
        <p:nvSpPr>
          <p:cNvPr id="44" name="TextBox 43"/>
          <p:cNvSpPr txBox="1"/>
          <p:nvPr/>
        </p:nvSpPr>
        <p:spPr>
          <a:xfrm>
            <a:off x="6356290" y="4340780"/>
            <a:ext cx="301686" cy="369332"/>
          </a:xfrm>
          <a:prstGeom prst="rect">
            <a:avLst/>
          </a:prstGeom>
          <a:noFill/>
        </p:spPr>
        <p:txBody>
          <a:bodyPr wrap="none" rtlCol="0">
            <a:spAutoFit/>
          </a:bodyPr>
          <a:lstStyle/>
          <a:p>
            <a:r>
              <a:rPr lang="en-US" dirty="0"/>
              <a:t>0</a:t>
            </a:r>
          </a:p>
        </p:txBody>
      </p:sp>
      <p:sp>
        <p:nvSpPr>
          <p:cNvPr id="45" name="TextBox 44"/>
          <p:cNvSpPr txBox="1"/>
          <p:nvPr/>
        </p:nvSpPr>
        <p:spPr>
          <a:xfrm>
            <a:off x="5747470" y="4866297"/>
            <a:ext cx="301686" cy="369332"/>
          </a:xfrm>
          <a:prstGeom prst="rect">
            <a:avLst/>
          </a:prstGeom>
          <a:noFill/>
        </p:spPr>
        <p:txBody>
          <a:bodyPr wrap="none" rtlCol="0">
            <a:spAutoFit/>
          </a:bodyPr>
          <a:lstStyle/>
          <a:p>
            <a:r>
              <a:rPr lang="en-US" dirty="0"/>
              <a:t>1</a:t>
            </a:r>
          </a:p>
        </p:txBody>
      </p:sp>
    </p:spTree>
    <p:extLst>
      <p:ext uri="{BB962C8B-B14F-4D97-AF65-F5344CB8AC3E}">
        <p14:creationId xmlns:p14="http://schemas.microsoft.com/office/powerpoint/2010/main" val="423359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down)">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00"/>
                                        <p:tgtEl>
                                          <p:spTgt spid="31"/>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down)">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par>
                                <p:cTn id="42" presetID="22" presetClass="entr" presetSubtype="4"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down)">
                                      <p:cBhvr>
                                        <p:cTn id="44" dur="500"/>
                                        <p:tgtEl>
                                          <p:spTgt spid="29"/>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down)">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00"/>
                                        <p:tgtEl>
                                          <p:spTgt spid="3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down)">
                                      <p:cBhvr>
                                        <p:cTn id="66" dur="500"/>
                                        <p:tgtEl>
                                          <p:spTgt spid="4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wipe(up)">
                                      <p:cBhvr>
                                        <p:cTn id="71" dur="500"/>
                                        <p:tgtEl>
                                          <p:spTgt spid="35"/>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wipe(down)">
                                      <p:cBhvr>
                                        <p:cTn id="74" dur="5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wipe(down)">
                                      <p:cBhvr>
                                        <p:cTn id="79" dur="500"/>
                                        <p:tgtEl>
                                          <p:spTgt spid="44"/>
                                        </p:tgtEl>
                                      </p:cBhvr>
                                    </p:animEffect>
                                  </p:childTnLst>
                                </p:cTn>
                              </p:par>
                              <p:par>
                                <p:cTn id="80" presetID="22" presetClass="entr" presetSubtype="2"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wipe(right)">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wipe(right)">
                                      <p:cBhvr>
                                        <p:cTn id="87" dur="500"/>
                                        <p:tgtEl>
                                          <p:spTgt spid="34"/>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wipe(down)">
                                      <p:cBhvr>
                                        <p:cTn id="90" dur="500"/>
                                        <p:tgtEl>
                                          <p:spTgt spid="45"/>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1000"/>
                                        <p:tgtEl>
                                          <p:spTgt spid="41"/>
                                        </p:tgtEl>
                                      </p:cBhvr>
                                    </p:animEffect>
                                    <p:anim calcmode="lin" valueType="num">
                                      <p:cBhvr>
                                        <p:cTn id="96" dur="1000" fill="hold"/>
                                        <p:tgtEl>
                                          <p:spTgt spid="41"/>
                                        </p:tgtEl>
                                        <p:attrNameLst>
                                          <p:attrName>ppt_x</p:attrName>
                                        </p:attrNameLst>
                                      </p:cBhvr>
                                      <p:tavLst>
                                        <p:tav tm="0">
                                          <p:val>
                                            <p:strVal val="#ppt_x"/>
                                          </p:val>
                                        </p:tav>
                                        <p:tav tm="100000">
                                          <p:val>
                                            <p:strVal val="#ppt_x"/>
                                          </p:val>
                                        </p:tav>
                                      </p:tavLst>
                                    </p:anim>
                                    <p:anim calcmode="lin" valueType="num">
                                      <p:cBhvr>
                                        <p:cTn id="97" dur="1000" fill="hold"/>
                                        <p:tgtEl>
                                          <p:spTgt spid="4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1000"/>
                                        <p:tgtEl>
                                          <p:spTgt spid="40"/>
                                        </p:tgtEl>
                                      </p:cBhvr>
                                    </p:animEffect>
                                    <p:anim calcmode="lin" valueType="num">
                                      <p:cBhvr>
                                        <p:cTn id="101" dur="1000" fill="hold"/>
                                        <p:tgtEl>
                                          <p:spTgt spid="40"/>
                                        </p:tgtEl>
                                        <p:attrNameLst>
                                          <p:attrName>ppt_x</p:attrName>
                                        </p:attrNameLst>
                                      </p:cBhvr>
                                      <p:tavLst>
                                        <p:tav tm="0">
                                          <p:val>
                                            <p:strVal val="#ppt_x"/>
                                          </p:val>
                                        </p:tav>
                                        <p:tav tm="100000">
                                          <p:val>
                                            <p:strVal val="#ppt_x"/>
                                          </p:val>
                                        </p:tav>
                                      </p:tavLst>
                                    </p:anim>
                                    <p:anim calcmode="lin" valueType="num">
                                      <p:cBhvr>
                                        <p:cTn id="10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36" grpId="0"/>
      <p:bldP spid="37" grpId="0"/>
      <p:bldP spid="38" grpId="0"/>
      <p:bldP spid="39" grpId="0"/>
      <p:bldP spid="40" grpId="0" animBg="1"/>
      <p:bldP spid="41" grpId="0" animBg="1"/>
      <p:bldP spid="42" grpId="0"/>
      <p:bldP spid="43" grpId="0"/>
      <p:bldP spid="44" grpId="0"/>
      <p:bldP spid="4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DFA Examples: </a:t>
            </a:r>
            <a:r>
              <a:rPr lang="en-US" dirty="0">
                <a:solidFill>
                  <a:srgbClr val="C00000"/>
                </a:solidFill>
              </a:rPr>
              <a:t>starts and ends with</a:t>
            </a:r>
            <a:endParaRPr lang="en-US" dirty="0">
              <a:solidFill>
                <a:srgbClr val="C00000"/>
              </a:solidFill>
              <a:latin typeface="+mj-lt"/>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IN" dirty="0"/>
              <a:t>The string corresponding to Regular expression {00}*{11}*</a:t>
            </a:r>
          </a:p>
        </p:txBody>
      </p:sp>
      <p:sp>
        <p:nvSpPr>
          <p:cNvPr id="26" name="Oval 25"/>
          <p:cNvSpPr/>
          <p:nvPr/>
        </p:nvSpPr>
        <p:spPr>
          <a:xfrm>
            <a:off x="4479835" y="232993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B</a:t>
            </a:r>
          </a:p>
        </p:txBody>
      </p:sp>
      <p:sp>
        <p:nvSpPr>
          <p:cNvPr id="30" name="Oval 29"/>
          <p:cNvSpPr/>
          <p:nvPr/>
        </p:nvSpPr>
        <p:spPr>
          <a:xfrm>
            <a:off x="5867400" y="404836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C</a:t>
            </a:r>
          </a:p>
        </p:txBody>
      </p:sp>
      <p:sp>
        <p:nvSpPr>
          <p:cNvPr id="33" name="Oval 32"/>
          <p:cNvSpPr/>
          <p:nvPr/>
        </p:nvSpPr>
        <p:spPr>
          <a:xfrm>
            <a:off x="3339331" y="404836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A</a:t>
            </a:r>
          </a:p>
        </p:txBody>
      </p:sp>
      <p:sp>
        <p:nvSpPr>
          <p:cNvPr id="34" name="Oval 33"/>
          <p:cNvSpPr/>
          <p:nvPr/>
        </p:nvSpPr>
        <p:spPr>
          <a:xfrm>
            <a:off x="3428547" y="4135232"/>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35" name="Oval 34"/>
          <p:cNvSpPr/>
          <p:nvPr/>
        </p:nvSpPr>
        <p:spPr>
          <a:xfrm>
            <a:off x="8216586" y="404836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E</a:t>
            </a:r>
          </a:p>
        </p:txBody>
      </p:sp>
      <p:sp>
        <p:nvSpPr>
          <p:cNvPr id="36" name="Oval 35"/>
          <p:cNvSpPr/>
          <p:nvPr/>
        </p:nvSpPr>
        <p:spPr>
          <a:xfrm>
            <a:off x="8305802" y="4135232"/>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50" name="TextBox 49"/>
          <p:cNvSpPr txBox="1"/>
          <p:nvPr/>
        </p:nvSpPr>
        <p:spPr>
          <a:xfrm>
            <a:off x="4851688" y="4019292"/>
            <a:ext cx="280169" cy="369332"/>
          </a:xfrm>
          <a:prstGeom prst="rect">
            <a:avLst/>
          </a:prstGeom>
          <a:noFill/>
        </p:spPr>
        <p:txBody>
          <a:bodyPr wrap="square" rtlCol="0">
            <a:spAutoFit/>
          </a:bodyPr>
          <a:lstStyle/>
          <a:p>
            <a:r>
              <a:rPr lang="en-IN" dirty="0"/>
              <a:t>1</a:t>
            </a:r>
          </a:p>
        </p:txBody>
      </p:sp>
      <p:sp>
        <p:nvSpPr>
          <p:cNvPr id="51" name="TextBox 50"/>
          <p:cNvSpPr txBox="1"/>
          <p:nvPr/>
        </p:nvSpPr>
        <p:spPr>
          <a:xfrm>
            <a:off x="8305801" y="3112501"/>
            <a:ext cx="280169" cy="369332"/>
          </a:xfrm>
          <a:prstGeom prst="rect">
            <a:avLst/>
          </a:prstGeom>
          <a:noFill/>
        </p:spPr>
        <p:txBody>
          <a:bodyPr wrap="square" rtlCol="0">
            <a:spAutoFit/>
          </a:bodyPr>
          <a:lstStyle/>
          <a:p>
            <a:r>
              <a:rPr lang="en-IN" dirty="0"/>
              <a:t>0</a:t>
            </a:r>
          </a:p>
        </p:txBody>
      </p:sp>
      <p:sp>
        <p:nvSpPr>
          <p:cNvPr id="28" name="Oval 27"/>
          <p:cNvSpPr/>
          <p:nvPr/>
        </p:nvSpPr>
        <p:spPr>
          <a:xfrm>
            <a:off x="7391400" y="232993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D</a:t>
            </a:r>
          </a:p>
        </p:txBody>
      </p:sp>
      <p:cxnSp>
        <p:nvCxnSpPr>
          <p:cNvPr id="42" name="Straight Arrow Connector 41"/>
          <p:cNvCxnSpPr>
            <a:endCxn id="33" idx="2"/>
          </p:cNvCxnSpPr>
          <p:nvPr/>
        </p:nvCxnSpPr>
        <p:spPr>
          <a:xfrm>
            <a:off x="2774793" y="4391264"/>
            <a:ext cx="564538"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3" idx="6"/>
            <a:endCxn id="30" idx="2"/>
          </p:cNvCxnSpPr>
          <p:nvPr/>
        </p:nvCxnSpPr>
        <p:spPr>
          <a:xfrm>
            <a:off x="4025132" y="4391264"/>
            <a:ext cx="1842269"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6" idx="6"/>
            <a:endCxn id="28" idx="2"/>
          </p:cNvCxnSpPr>
          <p:nvPr/>
        </p:nvCxnSpPr>
        <p:spPr>
          <a:xfrm>
            <a:off x="5165636" y="2672834"/>
            <a:ext cx="222576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0" idx="0"/>
            <a:endCxn id="28" idx="3"/>
          </p:cNvCxnSpPr>
          <p:nvPr/>
        </p:nvCxnSpPr>
        <p:spPr>
          <a:xfrm flipV="1">
            <a:off x="6210301" y="2915302"/>
            <a:ext cx="1281533" cy="1133063"/>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5" idx="0"/>
            <a:endCxn id="28" idx="5"/>
          </p:cNvCxnSpPr>
          <p:nvPr/>
        </p:nvCxnSpPr>
        <p:spPr>
          <a:xfrm flipH="1" flipV="1">
            <a:off x="7976768" y="2915302"/>
            <a:ext cx="582719" cy="1133063"/>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9" name="Curved Connector 58"/>
          <p:cNvCxnSpPr>
            <a:stCxn id="33" idx="0"/>
            <a:endCxn id="26" idx="2"/>
          </p:cNvCxnSpPr>
          <p:nvPr/>
        </p:nvCxnSpPr>
        <p:spPr>
          <a:xfrm rot="5400000" flipH="1" flipV="1">
            <a:off x="3393268" y="2961797"/>
            <a:ext cx="1375530" cy="797604"/>
          </a:xfrm>
          <a:prstGeom prst="curvedConnector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5" name="Curved Connector 64"/>
          <p:cNvCxnSpPr>
            <a:stCxn id="26" idx="4"/>
            <a:endCxn id="33" idx="6"/>
          </p:cNvCxnSpPr>
          <p:nvPr/>
        </p:nvCxnSpPr>
        <p:spPr>
          <a:xfrm rot="5400000">
            <a:off x="3736168" y="3304697"/>
            <a:ext cx="1375530" cy="797604"/>
          </a:xfrm>
          <a:prstGeom prst="curvedConnector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9" name="Curved Connector 68"/>
          <p:cNvCxnSpPr>
            <a:stCxn id="28" idx="0"/>
            <a:endCxn id="28" idx="6"/>
          </p:cNvCxnSpPr>
          <p:nvPr/>
        </p:nvCxnSpPr>
        <p:spPr>
          <a:xfrm rot="16200000" flipH="1">
            <a:off x="7734300" y="2329934"/>
            <a:ext cx="342900" cy="342900"/>
          </a:xfrm>
          <a:prstGeom prst="curvedConnector4">
            <a:avLst>
              <a:gd name="adj1" fmla="val -66667"/>
              <a:gd name="adj2" fmla="val 260138"/>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2" name="Curved Connector 71"/>
          <p:cNvCxnSpPr>
            <a:stCxn id="30" idx="7"/>
            <a:endCxn id="35" idx="1"/>
          </p:cNvCxnSpPr>
          <p:nvPr/>
        </p:nvCxnSpPr>
        <p:spPr>
          <a:xfrm rot="5400000" flipH="1" flipV="1">
            <a:off x="7384893" y="3216671"/>
            <a:ext cx="12700" cy="1864252"/>
          </a:xfrm>
          <a:prstGeom prst="curvedConnector3">
            <a:avLst>
              <a:gd name="adj1" fmla="val 2590811"/>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5" name="Curved Connector 74"/>
          <p:cNvCxnSpPr>
            <a:stCxn id="35" idx="3"/>
            <a:endCxn id="30" idx="5"/>
          </p:cNvCxnSpPr>
          <p:nvPr/>
        </p:nvCxnSpPr>
        <p:spPr>
          <a:xfrm rot="5400000">
            <a:off x="7384893" y="3701605"/>
            <a:ext cx="12700" cy="1864252"/>
          </a:xfrm>
          <a:prstGeom prst="curvedConnector3">
            <a:avLst>
              <a:gd name="adj1" fmla="val 2590811"/>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5963240" y="2316717"/>
            <a:ext cx="280169" cy="369332"/>
          </a:xfrm>
          <a:prstGeom prst="rect">
            <a:avLst/>
          </a:prstGeom>
          <a:noFill/>
        </p:spPr>
        <p:txBody>
          <a:bodyPr wrap="square" rtlCol="0">
            <a:spAutoFit/>
          </a:bodyPr>
          <a:lstStyle/>
          <a:p>
            <a:r>
              <a:rPr lang="en-IN" dirty="0"/>
              <a:t>1</a:t>
            </a:r>
          </a:p>
        </p:txBody>
      </p:sp>
      <p:sp>
        <p:nvSpPr>
          <p:cNvPr id="79" name="TextBox 78"/>
          <p:cNvSpPr txBox="1"/>
          <p:nvPr/>
        </p:nvSpPr>
        <p:spPr>
          <a:xfrm>
            <a:off x="7328187" y="3467216"/>
            <a:ext cx="280169" cy="369332"/>
          </a:xfrm>
          <a:prstGeom prst="rect">
            <a:avLst/>
          </a:prstGeom>
          <a:noFill/>
        </p:spPr>
        <p:txBody>
          <a:bodyPr wrap="square" rtlCol="0">
            <a:spAutoFit/>
          </a:bodyPr>
          <a:lstStyle/>
          <a:p>
            <a:r>
              <a:rPr lang="en-IN" dirty="0"/>
              <a:t>1</a:t>
            </a:r>
          </a:p>
        </p:txBody>
      </p:sp>
      <p:sp>
        <p:nvSpPr>
          <p:cNvPr id="80" name="TextBox 79"/>
          <p:cNvSpPr txBox="1"/>
          <p:nvPr/>
        </p:nvSpPr>
        <p:spPr>
          <a:xfrm>
            <a:off x="7328187" y="4616493"/>
            <a:ext cx="280169" cy="369332"/>
          </a:xfrm>
          <a:prstGeom prst="rect">
            <a:avLst/>
          </a:prstGeom>
          <a:noFill/>
        </p:spPr>
        <p:txBody>
          <a:bodyPr wrap="square" rtlCol="0">
            <a:spAutoFit/>
          </a:bodyPr>
          <a:lstStyle/>
          <a:p>
            <a:r>
              <a:rPr lang="en-IN" dirty="0"/>
              <a:t>1</a:t>
            </a:r>
          </a:p>
        </p:txBody>
      </p:sp>
      <p:sp>
        <p:nvSpPr>
          <p:cNvPr id="81" name="TextBox 80"/>
          <p:cNvSpPr txBox="1"/>
          <p:nvPr/>
        </p:nvSpPr>
        <p:spPr>
          <a:xfrm>
            <a:off x="6553201" y="3212068"/>
            <a:ext cx="280169" cy="369332"/>
          </a:xfrm>
          <a:prstGeom prst="rect">
            <a:avLst/>
          </a:prstGeom>
          <a:noFill/>
        </p:spPr>
        <p:txBody>
          <a:bodyPr wrap="square" rtlCol="0">
            <a:spAutoFit/>
          </a:bodyPr>
          <a:lstStyle/>
          <a:p>
            <a:r>
              <a:rPr lang="en-IN" dirty="0"/>
              <a:t>0</a:t>
            </a:r>
          </a:p>
        </p:txBody>
      </p:sp>
      <p:sp>
        <p:nvSpPr>
          <p:cNvPr id="82" name="TextBox 81"/>
          <p:cNvSpPr txBox="1"/>
          <p:nvPr/>
        </p:nvSpPr>
        <p:spPr>
          <a:xfrm>
            <a:off x="4742838" y="3440668"/>
            <a:ext cx="280169" cy="369332"/>
          </a:xfrm>
          <a:prstGeom prst="rect">
            <a:avLst/>
          </a:prstGeom>
          <a:noFill/>
        </p:spPr>
        <p:txBody>
          <a:bodyPr wrap="square" rtlCol="0">
            <a:spAutoFit/>
          </a:bodyPr>
          <a:lstStyle/>
          <a:p>
            <a:r>
              <a:rPr lang="en-IN" dirty="0"/>
              <a:t>0</a:t>
            </a:r>
          </a:p>
        </p:txBody>
      </p:sp>
      <p:sp>
        <p:nvSpPr>
          <p:cNvPr id="83" name="TextBox 82"/>
          <p:cNvSpPr txBox="1"/>
          <p:nvPr/>
        </p:nvSpPr>
        <p:spPr>
          <a:xfrm>
            <a:off x="3453632" y="3110671"/>
            <a:ext cx="280169" cy="369332"/>
          </a:xfrm>
          <a:prstGeom prst="rect">
            <a:avLst/>
          </a:prstGeom>
          <a:noFill/>
        </p:spPr>
        <p:txBody>
          <a:bodyPr wrap="square" rtlCol="0">
            <a:spAutoFit/>
          </a:bodyPr>
          <a:lstStyle/>
          <a:p>
            <a:r>
              <a:rPr lang="en-IN" dirty="0"/>
              <a:t>0</a:t>
            </a:r>
          </a:p>
        </p:txBody>
      </p:sp>
      <p:sp>
        <p:nvSpPr>
          <p:cNvPr id="84" name="TextBox 83"/>
          <p:cNvSpPr txBox="1"/>
          <p:nvPr/>
        </p:nvSpPr>
        <p:spPr>
          <a:xfrm>
            <a:off x="8419401" y="1862797"/>
            <a:ext cx="596433" cy="369332"/>
          </a:xfrm>
          <a:prstGeom prst="rect">
            <a:avLst/>
          </a:prstGeom>
          <a:noFill/>
        </p:spPr>
        <p:txBody>
          <a:bodyPr wrap="square" rtlCol="0">
            <a:spAutoFit/>
          </a:bodyPr>
          <a:lstStyle/>
          <a:p>
            <a:r>
              <a:rPr lang="en-IN" dirty="0"/>
              <a:t>0,1</a:t>
            </a:r>
          </a:p>
        </p:txBody>
      </p:sp>
    </p:spTree>
    <p:extLst>
      <p:ext uri="{BB962C8B-B14F-4D97-AF65-F5344CB8AC3E}">
        <p14:creationId xmlns:p14="http://schemas.microsoft.com/office/powerpoint/2010/main" val="1418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down)">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down)">
                                      <p:cBhvr>
                                        <p:cTn id="22" dur="500"/>
                                        <p:tgtEl>
                                          <p:spTgt spid="59"/>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3"/>
                                        </p:tgtEl>
                                        <p:attrNameLst>
                                          <p:attrName>style.visibility</p:attrName>
                                        </p:attrNameLst>
                                      </p:cBhvr>
                                      <p:to>
                                        <p:strVal val="visible"/>
                                      </p:to>
                                    </p:set>
                                    <p:animEffect transition="in" filter="wipe(down)">
                                      <p:cBhvr>
                                        <p:cTn id="25" dur="500"/>
                                        <p:tgtEl>
                                          <p:spTgt spid="8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wipe(down)">
                                      <p:cBhvr>
                                        <p:cTn id="33" dur="500"/>
                                        <p:tgtEl>
                                          <p:spTgt spid="50"/>
                                        </p:tgtEl>
                                      </p:cBhvr>
                                    </p:animEffect>
                                  </p:childTnLst>
                                </p:cTn>
                              </p:par>
                              <p:par>
                                <p:cTn id="34" presetID="22" presetClass="entr" presetSubtype="4" fill="hold"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wipe(down)">
                                      <p:cBhvr>
                                        <p:cTn id="44" dur="500"/>
                                        <p:tgtEl>
                                          <p:spTgt spid="82"/>
                                        </p:tgtEl>
                                      </p:cBhvr>
                                    </p:animEffect>
                                  </p:childTnLst>
                                </p:cTn>
                              </p:par>
                              <p:par>
                                <p:cTn id="45" presetID="22" presetClass="entr" presetSubtype="4"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wipe(down)">
                                      <p:cBhvr>
                                        <p:cTn id="47" dur="500"/>
                                        <p:tgtEl>
                                          <p:spTgt spid="6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78"/>
                                        </p:tgtEl>
                                        <p:attrNameLst>
                                          <p:attrName>style.visibility</p:attrName>
                                        </p:attrNameLst>
                                      </p:cBhvr>
                                      <p:to>
                                        <p:strVal val="visible"/>
                                      </p:to>
                                    </p:set>
                                    <p:animEffect transition="in" filter="wipe(down)">
                                      <p:cBhvr>
                                        <p:cTn id="55" dur="500"/>
                                        <p:tgtEl>
                                          <p:spTgt spid="7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down)">
                                      <p:cBhvr>
                                        <p:cTn id="63" dur="500"/>
                                        <p:tgtEl>
                                          <p:spTgt spid="5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wipe(down)">
                                      <p:cBhvr>
                                        <p:cTn id="66" dur="500"/>
                                        <p:tgtEl>
                                          <p:spTgt spid="8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72"/>
                                        </p:tgtEl>
                                        <p:attrNameLst>
                                          <p:attrName>style.visibility</p:attrName>
                                        </p:attrNameLst>
                                      </p:cBhvr>
                                      <p:to>
                                        <p:strVal val="visible"/>
                                      </p:to>
                                    </p:set>
                                    <p:animEffect transition="in" filter="wipe(down)">
                                      <p:cBhvr>
                                        <p:cTn id="71" dur="500"/>
                                        <p:tgtEl>
                                          <p:spTgt spid="72"/>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79"/>
                                        </p:tgtEl>
                                        <p:attrNameLst>
                                          <p:attrName>style.visibility</p:attrName>
                                        </p:attrNameLst>
                                      </p:cBhvr>
                                      <p:to>
                                        <p:strVal val="visible"/>
                                      </p:to>
                                    </p:set>
                                    <p:animEffect transition="in" filter="wipe(down)">
                                      <p:cBhvr>
                                        <p:cTn id="74" dur="500"/>
                                        <p:tgtEl>
                                          <p:spTgt spid="7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00"/>
                                        <p:tgtEl>
                                          <p:spTgt spid="3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wipe(down)">
                                      <p:cBhvr>
                                        <p:cTn id="82" dur="500"/>
                                        <p:tgtEl>
                                          <p:spTgt spid="69"/>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wipe(down)">
                                      <p:cBhvr>
                                        <p:cTn id="85" dur="500"/>
                                        <p:tgtEl>
                                          <p:spTgt spid="8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wipe(down)">
                                      <p:cBhvr>
                                        <p:cTn id="90" dur="500"/>
                                        <p:tgtEl>
                                          <p:spTgt spid="56"/>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down)">
                                      <p:cBhvr>
                                        <p:cTn id="93" dur="500"/>
                                        <p:tgtEl>
                                          <p:spTgt spid="5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75"/>
                                        </p:tgtEl>
                                        <p:attrNameLst>
                                          <p:attrName>style.visibility</p:attrName>
                                        </p:attrNameLst>
                                      </p:cBhvr>
                                      <p:to>
                                        <p:strVal val="visible"/>
                                      </p:to>
                                    </p:set>
                                    <p:animEffect transition="in" filter="wipe(down)">
                                      <p:cBhvr>
                                        <p:cTn id="98" dur="500"/>
                                        <p:tgtEl>
                                          <p:spTgt spid="75"/>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80"/>
                                        </p:tgtEl>
                                        <p:attrNameLst>
                                          <p:attrName>style.visibility</p:attrName>
                                        </p:attrNameLst>
                                      </p:cBhvr>
                                      <p:to>
                                        <p:strVal val="visible"/>
                                      </p:to>
                                    </p:set>
                                    <p:animEffect transition="in" filter="wipe(down)">
                                      <p:cBhvr>
                                        <p:cTn id="101" dur="500"/>
                                        <p:tgtEl>
                                          <p:spTgt spid="80"/>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wipe(down)">
                                      <p:cBhvr>
                                        <p:cTn id="106" dur="500"/>
                                        <p:tgtEl>
                                          <p:spTgt spid="34"/>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ipe(down)">
                                      <p:cBhvr>
                                        <p:cTn id="10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6" grpId="0" animBg="1"/>
      <p:bldP spid="30" grpId="0" animBg="1"/>
      <p:bldP spid="33" grpId="0" animBg="1"/>
      <p:bldP spid="34" grpId="0" animBg="1"/>
      <p:bldP spid="35" grpId="0" animBg="1"/>
      <p:bldP spid="36" grpId="0" animBg="1"/>
      <p:bldP spid="50" grpId="0"/>
      <p:bldP spid="51" grpId="0"/>
      <p:bldP spid="28" grpId="0" animBg="1"/>
      <p:bldP spid="78" grpId="0"/>
      <p:bldP spid="79" grpId="0"/>
      <p:bldP spid="80" grpId="0"/>
      <p:bldP spid="81" grpId="0"/>
      <p:bldP spid="82" grpId="0"/>
      <p:bldP spid="83" grpId="0"/>
      <p:bldP spid="8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DFA Examples: </a:t>
            </a:r>
            <a:r>
              <a:rPr lang="en-US" dirty="0">
                <a:solidFill>
                  <a:srgbClr val="C00000"/>
                </a:solidFill>
              </a:rPr>
              <a:t>starts and ends with</a:t>
            </a:r>
            <a:endParaRPr lang="en-US" dirty="0">
              <a:latin typeface="+mj-lt"/>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IN" dirty="0"/>
              <a:t>(</a:t>
            </a:r>
            <a:r>
              <a:rPr lang="en-IN" dirty="0" err="1"/>
              <a:t>a+b</a:t>
            </a:r>
            <a:r>
              <a:rPr lang="en-IN" dirty="0"/>
              <a:t>)*</a:t>
            </a:r>
            <a:r>
              <a:rPr lang="en-IN" dirty="0" err="1"/>
              <a:t>baaa</a:t>
            </a:r>
            <a:endParaRPr lang="en-IN" dirty="0"/>
          </a:p>
        </p:txBody>
      </p:sp>
      <p:sp>
        <p:nvSpPr>
          <p:cNvPr id="26" name="Oval 25"/>
          <p:cNvSpPr/>
          <p:nvPr/>
        </p:nvSpPr>
        <p:spPr>
          <a:xfrm>
            <a:off x="4038600" y="3009507"/>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A</a:t>
            </a:r>
          </a:p>
        </p:txBody>
      </p:sp>
      <p:sp>
        <p:nvSpPr>
          <p:cNvPr id="30" name="Oval 29"/>
          <p:cNvSpPr/>
          <p:nvPr/>
        </p:nvSpPr>
        <p:spPr>
          <a:xfrm>
            <a:off x="7338791" y="3013772"/>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C</a:t>
            </a:r>
          </a:p>
        </p:txBody>
      </p:sp>
      <p:sp>
        <p:nvSpPr>
          <p:cNvPr id="35" name="Oval 34"/>
          <p:cNvSpPr/>
          <p:nvPr/>
        </p:nvSpPr>
        <p:spPr>
          <a:xfrm>
            <a:off x="4863786" y="4810785"/>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E</a:t>
            </a:r>
          </a:p>
        </p:txBody>
      </p:sp>
      <p:sp>
        <p:nvSpPr>
          <p:cNvPr id="36" name="Oval 35"/>
          <p:cNvSpPr/>
          <p:nvPr/>
        </p:nvSpPr>
        <p:spPr>
          <a:xfrm>
            <a:off x="4953002" y="4897653"/>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28" name="Oval 27"/>
          <p:cNvSpPr/>
          <p:nvPr/>
        </p:nvSpPr>
        <p:spPr>
          <a:xfrm>
            <a:off x="5753100" y="2057400"/>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B</a:t>
            </a:r>
          </a:p>
        </p:txBody>
      </p:sp>
      <p:cxnSp>
        <p:nvCxnSpPr>
          <p:cNvPr id="42" name="Straight Arrow Connector 41"/>
          <p:cNvCxnSpPr>
            <a:endCxn id="26" idx="2"/>
          </p:cNvCxnSpPr>
          <p:nvPr/>
        </p:nvCxnSpPr>
        <p:spPr>
          <a:xfrm>
            <a:off x="3276600" y="3352407"/>
            <a:ext cx="7620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4357214" y="4065702"/>
            <a:ext cx="280169" cy="369332"/>
          </a:xfrm>
          <a:prstGeom prst="rect">
            <a:avLst/>
          </a:prstGeom>
          <a:noFill/>
        </p:spPr>
        <p:txBody>
          <a:bodyPr wrap="square" rtlCol="0">
            <a:spAutoFit/>
          </a:bodyPr>
          <a:lstStyle/>
          <a:p>
            <a:r>
              <a:rPr lang="en-IN" dirty="0"/>
              <a:t>a</a:t>
            </a:r>
          </a:p>
        </p:txBody>
      </p:sp>
      <p:sp>
        <p:nvSpPr>
          <p:cNvPr id="31" name="Oval 30"/>
          <p:cNvSpPr/>
          <p:nvPr/>
        </p:nvSpPr>
        <p:spPr>
          <a:xfrm>
            <a:off x="6795825" y="4810785"/>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D</a:t>
            </a:r>
          </a:p>
        </p:txBody>
      </p:sp>
      <p:cxnSp>
        <p:nvCxnSpPr>
          <p:cNvPr id="37" name="Curved Connector 36"/>
          <p:cNvCxnSpPr>
            <a:cxnSpLocks/>
            <a:stCxn id="26" idx="1"/>
            <a:endCxn id="26" idx="7"/>
          </p:cNvCxnSpPr>
          <p:nvPr/>
        </p:nvCxnSpPr>
        <p:spPr>
          <a:xfrm rot="5400000" flipH="1" flipV="1">
            <a:off x="4381500" y="2867473"/>
            <a:ext cx="12700" cy="484934"/>
          </a:xfrm>
          <a:prstGeom prst="curvedConnector3">
            <a:avLst>
              <a:gd name="adj1" fmla="val 2590811"/>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38" name="Curved Connector 37"/>
          <p:cNvCxnSpPr>
            <a:stCxn id="30" idx="2"/>
            <a:endCxn id="28" idx="5"/>
          </p:cNvCxnSpPr>
          <p:nvPr/>
        </p:nvCxnSpPr>
        <p:spPr>
          <a:xfrm rot="10800000">
            <a:off x="6338467" y="2642769"/>
            <a:ext cx="1000324" cy="713905"/>
          </a:xfrm>
          <a:prstGeom prst="curvedConnector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1" name="Curved Connector 40"/>
          <p:cNvCxnSpPr>
            <a:stCxn id="28" idx="6"/>
            <a:endCxn id="30" idx="1"/>
          </p:cNvCxnSpPr>
          <p:nvPr/>
        </p:nvCxnSpPr>
        <p:spPr>
          <a:xfrm>
            <a:off x="6438900" y="2400301"/>
            <a:ext cx="1000324" cy="713905"/>
          </a:xfrm>
          <a:prstGeom prst="curvedConnector2">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6" idx="6"/>
            <a:endCxn id="28" idx="2"/>
          </p:cNvCxnSpPr>
          <p:nvPr/>
        </p:nvCxnSpPr>
        <p:spPr>
          <a:xfrm flipV="1">
            <a:off x="4724400" y="2400301"/>
            <a:ext cx="1028700" cy="952107"/>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5" idx="0"/>
            <a:endCxn id="28" idx="3"/>
          </p:cNvCxnSpPr>
          <p:nvPr/>
        </p:nvCxnSpPr>
        <p:spPr>
          <a:xfrm flipV="1">
            <a:off x="5206687" y="2642767"/>
            <a:ext cx="646847" cy="216801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1" idx="0"/>
            <a:endCxn id="28" idx="4"/>
          </p:cNvCxnSpPr>
          <p:nvPr/>
        </p:nvCxnSpPr>
        <p:spPr>
          <a:xfrm flipH="1" flipV="1">
            <a:off x="6096001" y="2743201"/>
            <a:ext cx="1042725" cy="2067585"/>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5" idx="1"/>
            <a:endCxn id="26" idx="4"/>
          </p:cNvCxnSpPr>
          <p:nvPr/>
        </p:nvCxnSpPr>
        <p:spPr>
          <a:xfrm flipH="1" flipV="1">
            <a:off x="4381501" y="3695308"/>
            <a:ext cx="582719" cy="121591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1" idx="2"/>
            <a:endCxn id="35" idx="6"/>
          </p:cNvCxnSpPr>
          <p:nvPr/>
        </p:nvCxnSpPr>
        <p:spPr>
          <a:xfrm flipH="1">
            <a:off x="5549587" y="5153685"/>
            <a:ext cx="1246239"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30" idx="4"/>
            <a:endCxn id="31" idx="7"/>
          </p:cNvCxnSpPr>
          <p:nvPr/>
        </p:nvCxnSpPr>
        <p:spPr>
          <a:xfrm flipH="1">
            <a:off x="7381193" y="3699572"/>
            <a:ext cx="300499" cy="1211646"/>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215632" y="2133600"/>
            <a:ext cx="280169" cy="369332"/>
          </a:xfrm>
          <a:prstGeom prst="rect">
            <a:avLst/>
          </a:prstGeom>
          <a:noFill/>
        </p:spPr>
        <p:txBody>
          <a:bodyPr wrap="square" rtlCol="0">
            <a:spAutoFit/>
          </a:bodyPr>
          <a:lstStyle/>
          <a:p>
            <a:r>
              <a:rPr lang="en-IN" dirty="0"/>
              <a:t>a</a:t>
            </a:r>
          </a:p>
        </p:txBody>
      </p:sp>
      <p:sp>
        <p:nvSpPr>
          <p:cNvPr id="63" name="TextBox 62"/>
          <p:cNvSpPr txBox="1"/>
          <p:nvPr/>
        </p:nvSpPr>
        <p:spPr>
          <a:xfrm>
            <a:off x="5957459" y="4771138"/>
            <a:ext cx="280169" cy="369332"/>
          </a:xfrm>
          <a:prstGeom prst="rect">
            <a:avLst/>
          </a:prstGeom>
          <a:noFill/>
        </p:spPr>
        <p:txBody>
          <a:bodyPr wrap="square" rtlCol="0">
            <a:spAutoFit/>
          </a:bodyPr>
          <a:lstStyle/>
          <a:p>
            <a:r>
              <a:rPr lang="en-IN" dirty="0"/>
              <a:t>a</a:t>
            </a:r>
          </a:p>
        </p:txBody>
      </p:sp>
      <p:sp>
        <p:nvSpPr>
          <p:cNvPr id="64" name="TextBox 63"/>
          <p:cNvSpPr txBox="1"/>
          <p:nvPr/>
        </p:nvSpPr>
        <p:spPr>
          <a:xfrm>
            <a:off x="7517762" y="4065702"/>
            <a:ext cx="280169" cy="369332"/>
          </a:xfrm>
          <a:prstGeom prst="rect">
            <a:avLst/>
          </a:prstGeom>
          <a:noFill/>
        </p:spPr>
        <p:txBody>
          <a:bodyPr wrap="square" rtlCol="0">
            <a:spAutoFit/>
          </a:bodyPr>
          <a:lstStyle/>
          <a:p>
            <a:r>
              <a:rPr lang="en-IN" dirty="0"/>
              <a:t>a</a:t>
            </a:r>
          </a:p>
        </p:txBody>
      </p:sp>
      <p:sp>
        <p:nvSpPr>
          <p:cNvPr id="66" name="TextBox 65"/>
          <p:cNvSpPr txBox="1"/>
          <p:nvPr/>
        </p:nvSpPr>
        <p:spPr>
          <a:xfrm>
            <a:off x="6913941" y="2205006"/>
            <a:ext cx="280169" cy="369332"/>
          </a:xfrm>
          <a:prstGeom prst="rect">
            <a:avLst/>
          </a:prstGeom>
          <a:noFill/>
        </p:spPr>
        <p:txBody>
          <a:bodyPr wrap="square" rtlCol="0">
            <a:spAutoFit/>
          </a:bodyPr>
          <a:lstStyle/>
          <a:p>
            <a:r>
              <a:rPr lang="en-IN" dirty="0"/>
              <a:t>a</a:t>
            </a:r>
          </a:p>
        </p:txBody>
      </p:sp>
      <p:sp>
        <p:nvSpPr>
          <p:cNvPr id="67" name="TextBox 66"/>
          <p:cNvSpPr txBox="1"/>
          <p:nvPr/>
        </p:nvSpPr>
        <p:spPr>
          <a:xfrm>
            <a:off x="4972078" y="2615971"/>
            <a:ext cx="280169" cy="369332"/>
          </a:xfrm>
          <a:prstGeom prst="rect">
            <a:avLst/>
          </a:prstGeom>
          <a:noFill/>
        </p:spPr>
        <p:txBody>
          <a:bodyPr wrap="square" rtlCol="0">
            <a:spAutoFit/>
          </a:bodyPr>
          <a:lstStyle/>
          <a:p>
            <a:r>
              <a:rPr lang="en-IN" dirty="0"/>
              <a:t>b</a:t>
            </a:r>
          </a:p>
        </p:txBody>
      </p:sp>
      <p:sp>
        <p:nvSpPr>
          <p:cNvPr id="68" name="TextBox 67"/>
          <p:cNvSpPr txBox="1"/>
          <p:nvPr/>
        </p:nvSpPr>
        <p:spPr>
          <a:xfrm>
            <a:off x="5930103" y="1168626"/>
            <a:ext cx="280169" cy="369332"/>
          </a:xfrm>
          <a:prstGeom prst="rect">
            <a:avLst/>
          </a:prstGeom>
          <a:noFill/>
        </p:spPr>
        <p:txBody>
          <a:bodyPr wrap="square" rtlCol="0">
            <a:spAutoFit/>
          </a:bodyPr>
          <a:lstStyle/>
          <a:p>
            <a:r>
              <a:rPr lang="en-IN" dirty="0"/>
              <a:t>b</a:t>
            </a:r>
          </a:p>
        </p:txBody>
      </p:sp>
      <p:sp>
        <p:nvSpPr>
          <p:cNvPr id="70" name="TextBox 69"/>
          <p:cNvSpPr txBox="1"/>
          <p:nvPr/>
        </p:nvSpPr>
        <p:spPr>
          <a:xfrm>
            <a:off x="6652992" y="2903107"/>
            <a:ext cx="280169" cy="369332"/>
          </a:xfrm>
          <a:prstGeom prst="rect">
            <a:avLst/>
          </a:prstGeom>
          <a:noFill/>
        </p:spPr>
        <p:txBody>
          <a:bodyPr wrap="square" rtlCol="0">
            <a:spAutoFit/>
          </a:bodyPr>
          <a:lstStyle/>
          <a:p>
            <a:r>
              <a:rPr lang="en-IN" dirty="0"/>
              <a:t>b</a:t>
            </a:r>
          </a:p>
        </p:txBody>
      </p:sp>
      <p:sp>
        <p:nvSpPr>
          <p:cNvPr id="71" name="TextBox 70"/>
          <p:cNvSpPr txBox="1"/>
          <p:nvPr/>
        </p:nvSpPr>
        <p:spPr>
          <a:xfrm>
            <a:off x="6303911" y="3637696"/>
            <a:ext cx="280169" cy="369332"/>
          </a:xfrm>
          <a:prstGeom prst="rect">
            <a:avLst/>
          </a:prstGeom>
          <a:noFill/>
        </p:spPr>
        <p:txBody>
          <a:bodyPr wrap="square" rtlCol="0">
            <a:spAutoFit/>
          </a:bodyPr>
          <a:lstStyle/>
          <a:p>
            <a:r>
              <a:rPr lang="en-IN" dirty="0"/>
              <a:t>b</a:t>
            </a:r>
          </a:p>
        </p:txBody>
      </p:sp>
      <p:sp>
        <p:nvSpPr>
          <p:cNvPr id="73" name="TextBox 72"/>
          <p:cNvSpPr txBox="1"/>
          <p:nvPr/>
        </p:nvSpPr>
        <p:spPr>
          <a:xfrm>
            <a:off x="5217541" y="3656594"/>
            <a:ext cx="280169" cy="369332"/>
          </a:xfrm>
          <a:prstGeom prst="rect">
            <a:avLst/>
          </a:prstGeom>
          <a:noFill/>
        </p:spPr>
        <p:txBody>
          <a:bodyPr wrap="square" rtlCol="0">
            <a:spAutoFit/>
          </a:bodyPr>
          <a:lstStyle/>
          <a:p>
            <a:r>
              <a:rPr lang="en-IN" dirty="0"/>
              <a:t>b</a:t>
            </a:r>
          </a:p>
        </p:txBody>
      </p:sp>
      <p:cxnSp>
        <p:nvCxnSpPr>
          <p:cNvPr id="32" name="Curved Connector 31"/>
          <p:cNvCxnSpPr/>
          <p:nvPr/>
        </p:nvCxnSpPr>
        <p:spPr>
          <a:xfrm rot="5400000" flipH="1" flipV="1">
            <a:off x="6089650" y="1928263"/>
            <a:ext cx="12700" cy="484934"/>
          </a:xfrm>
          <a:prstGeom prst="curvedConnector3">
            <a:avLst>
              <a:gd name="adj1" fmla="val 5188748"/>
            </a:avLst>
          </a:prstGeom>
          <a:ln w="25400">
            <a:headEnd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88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500"/>
                                        <p:tgtEl>
                                          <p:spTgt spid="4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
                                        <p:tgtEl>
                                          <p:spTgt spid="37"/>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left)">
                                      <p:cBhvr>
                                        <p:cTn id="23" dur="500"/>
                                        <p:tgtEl>
                                          <p:spTgt spid="6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down)">
                                      <p:cBhvr>
                                        <p:cTn id="28" dur="500"/>
                                        <p:tgtEl>
                                          <p:spTgt spid="4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ipe(down)">
                                      <p:cBhvr>
                                        <p:cTn id="31" dur="500"/>
                                        <p:tgtEl>
                                          <p:spTgt spid="6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wipe(left)">
                                      <p:cBhvr>
                                        <p:cTn id="39" dur="500"/>
                                        <p:tgtEl>
                                          <p:spTgt spid="66"/>
                                        </p:tgtEl>
                                      </p:cBhvr>
                                    </p:animEffect>
                                  </p:childTnLst>
                                </p:cTn>
                              </p:par>
                              <p:par>
                                <p:cTn id="40" presetID="22" presetClass="entr" presetSubtype="8" fill="hold"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left)">
                                      <p:cBhvr>
                                        <p:cTn id="42" dur="500"/>
                                        <p:tgtEl>
                                          <p:spTgt spid="4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wipe(left)">
                                      <p:cBhvr>
                                        <p:cTn id="53" dur="500"/>
                                        <p:tgtEl>
                                          <p:spTgt spid="6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wipe(up)">
                                      <p:cBhvr>
                                        <p:cTn id="58" dur="500"/>
                                        <p:tgtEl>
                                          <p:spTgt spid="60"/>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wipe(up)">
                                      <p:cBhvr>
                                        <p:cTn id="61" dur="500"/>
                                        <p:tgtEl>
                                          <p:spTgt spid="64"/>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up)">
                                      <p:cBhvr>
                                        <p:cTn id="64" dur="500"/>
                                        <p:tgtEl>
                                          <p:spTgt spid="3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wipe(down)">
                                      <p:cBhvr>
                                        <p:cTn id="69" dur="500"/>
                                        <p:tgtEl>
                                          <p:spTgt spid="38"/>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70"/>
                                        </p:tgtEl>
                                        <p:attrNameLst>
                                          <p:attrName>style.visibility</p:attrName>
                                        </p:attrNameLst>
                                      </p:cBhvr>
                                      <p:to>
                                        <p:strVal val="visible"/>
                                      </p:to>
                                    </p:set>
                                    <p:animEffect transition="in" filter="wipe(down)">
                                      <p:cBhvr>
                                        <p:cTn id="72" dur="500"/>
                                        <p:tgtEl>
                                          <p:spTgt spid="7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wipe(right)">
                                      <p:cBhvr>
                                        <p:cTn id="77" dur="500"/>
                                        <p:tgtEl>
                                          <p:spTgt spid="57"/>
                                        </p:tgtEl>
                                      </p:cBhvr>
                                    </p:animEffect>
                                  </p:childTnLst>
                                </p:cTn>
                              </p:par>
                              <p:par>
                                <p:cTn id="78" presetID="22" presetClass="entr" presetSubtype="2" fill="hold" grpId="0" nodeType="with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right)">
                                      <p:cBhvr>
                                        <p:cTn id="80" dur="500"/>
                                        <p:tgtEl>
                                          <p:spTgt spid="63"/>
                                        </p:tgtEl>
                                      </p:cBhvr>
                                    </p:animEffect>
                                  </p:childTnLst>
                                </p:cTn>
                              </p:par>
                              <p:par>
                                <p:cTn id="81" presetID="22" presetClass="entr" presetSubtype="2"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wipe(right)">
                                      <p:cBhvr>
                                        <p:cTn id="83" dur="500"/>
                                        <p:tgtEl>
                                          <p:spTgt spid="36"/>
                                        </p:tgtEl>
                                      </p:cBhvr>
                                    </p:animEffect>
                                  </p:childTnLst>
                                </p:cTn>
                              </p:par>
                              <p:par>
                                <p:cTn id="84" presetID="22" presetClass="entr" presetSubtype="2"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right)">
                                      <p:cBhvr>
                                        <p:cTn id="86" dur="500"/>
                                        <p:tgtEl>
                                          <p:spTgt spid="3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wipe(down)">
                                      <p:cBhvr>
                                        <p:cTn id="91" dur="500"/>
                                        <p:tgtEl>
                                          <p:spTgt spid="52"/>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71"/>
                                        </p:tgtEl>
                                        <p:attrNameLst>
                                          <p:attrName>style.visibility</p:attrName>
                                        </p:attrNameLst>
                                      </p:cBhvr>
                                      <p:to>
                                        <p:strVal val="visible"/>
                                      </p:to>
                                    </p:set>
                                    <p:animEffect transition="in" filter="wipe(down)">
                                      <p:cBhvr>
                                        <p:cTn id="94" dur="500"/>
                                        <p:tgtEl>
                                          <p:spTgt spid="7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wipe(down)">
                                      <p:cBhvr>
                                        <p:cTn id="99" dur="500"/>
                                        <p:tgtEl>
                                          <p:spTgt spid="54"/>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80"/>
                                        </p:tgtEl>
                                        <p:attrNameLst>
                                          <p:attrName>style.visibility</p:attrName>
                                        </p:attrNameLst>
                                      </p:cBhvr>
                                      <p:to>
                                        <p:strVal val="visible"/>
                                      </p:to>
                                    </p:set>
                                    <p:animEffect transition="in" filter="wipe(down)">
                                      <p:cBhvr>
                                        <p:cTn id="102" dur="500"/>
                                        <p:tgtEl>
                                          <p:spTgt spid="8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wipe(down)">
                                      <p:cBhvr>
                                        <p:cTn id="107" dur="500"/>
                                        <p:tgtEl>
                                          <p:spTgt spid="47"/>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73"/>
                                        </p:tgtEl>
                                        <p:attrNameLst>
                                          <p:attrName>style.visibility</p:attrName>
                                        </p:attrNameLst>
                                      </p:cBhvr>
                                      <p:to>
                                        <p:strVal val="visible"/>
                                      </p:to>
                                    </p:set>
                                    <p:animEffect transition="in" filter="wipe(down)">
                                      <p:cBhvr>
                                        <p:cTn id="11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6" grpId="0" animBg="1"/>
      <p:bldP spid="30" grpId="0" animBg="1"/>
      <p:bldP spid="35" grpId="0" animBg="1"/>
      <p:bldP spid="36" grpId="0" animBg="1"/>
      <p:bldP spid="28" grpId="0" animBg="1"/>
      <p:bldP spid="80" grpId="0"/>
      <p:bldP spid="31" grpId="0" animBg="1"/>
      <p:bldP spid="62" grpId="0"/>
      <p:bldP spid="63" grpId="0"/>
      <p:bldP spid="64" grpId="0"/>
      <p:bldP spid="66" grpId="0"/>
      <p:bldP spid="67" grpId="0"/>
      <p:bldP spid="68" grpId="0"/>
      <p:bldP spid="70" grpId="0"/>
      <p:bldP spid="71" grpId="0"/>
      <p:bldP spid="7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9562-B0ED-438E-9619-1756932A16C6}"/>
              </a:ext>
            </a:extLst>
          </p:cNvPr>
          <p:cNvSpPr>
            <a:spLocks noGrp="1"/>
          </p:cNvSpPr>
          <p:nvPr>
            <p:ph type="title"/>
          </p:nvPr>
        </p:nvSpPr>
        <p:spPr/>
        <p:txBody>
          <a:bodyPr/>
          <a:lstStyle/>
          <a:p>
            <a:r>
              <a:rPr lang="en-US" dirty="0"/>
              <a:t>DFA Examples: </a:t>
            </a:r>
            <a:r>
              <a:rPr lang="en-US" dirty="0">
                <a:solidFill>
                  <a:srgbClr val="C00000"/>
                </a:solidFill>
              </a:rPr>
              <a:t>starts and ends with</a:t>
            </a:r>
            <a:endParaRPr lang="en-IN" dirty="0"/>
          </a:p>
        </p:txBody>
      </p:sp>
      <p:sp>
        <p:nvSpPr>
          <p:cNvPr id="3" name="Content Placeholder 2">
            <a:extLst>
              <a:ext uri="{FF2B5EF4-FFF2-40B4-BE49-F238E27FC236}">
                <a16:creationId xmlns:a16="http://schemas.microsoft.com/office/drawing/2014/main" id="{128E9E55-5F78-4FEE-AFB1-9F53B60FAE24}"/>
              </a:ext>
            </a:extLst>
          </p:cNvPr>
          <p:cNvSpPr>
            <a:spLocks noGrp="1"/>
          </p:cNvSpPr>
          <p:nvPr>
            <p:ph idx="1"/>
          </p:nvPr>
        </p:nvSpPr>
        <p:spPr/>
        <p:txBody>
          <a:bodyPr/>
          <a:lstStyle/>
          <a:p>
            <a:r>
              <a:rPr lang="en-US" b="0" i="0" dirty="0">
                <a:solidFill>
                  <a:srgbClr val="303030"/>
                </a:solidFill>
                <a:effectLst/>
                <a:latin typeface="Arimo"/>
              </a:rPr>
              <a:t>Draw a DFA that accepts a language L over input alphabets ∑ = {a, </a:t>
            </a:r>
            <a:r>
              <a:rPr lang="en-US" dirty="0">
                <a:solidFill>
                  <a:srgbClr val="303030"/>
                </a:solidFill>
                <a:latin typeface="Arimo"/>
              </a:rPr>
              <a:t>b</a:t>
            </a:r>
            <a:r>
              <a:rPr lang="en-US" b="0" i="0" dirty="0">
                <a:solidFill>
                  <a:srgbClr val="303030"/>
                </a:solidFill>
                <a:effectLst/>
                <a:latin typeface="Arimo"/>
              </a:rPr>
              <a:t>} such that L is the set of all strings that starts with a and ends with b.</a:t>
            </a:r>
          </a:p>
          <a:p>
            <a:r>
              <a:rPr lang="en-US" b="0" i="0" dirty="0">
                <a:solidFill>
                  <a:srgbClr val="303030"/>
                </a:solidFill>
                <a:effectLst/>
                <a:latin typeface="Arimo"/>
              </a:rPr>
              <a:t>Regular expression for the given language = a(a + b)*b</a:t>
            </a:r>
          </a:p>
          <a:p>
            <a:r>
              <a:rPr lang="en-US" dirty="0">
                <a:solidFill>
                  <a:srgbClr val="303030"/>
                </a:solidFill>
                <a:latin typeface="Arimo"/>
              </a:rPr>
              <a:t>L={ab, </a:t>
            </a:r>
            <a:r>
              <a:rPr lang="en-US" dirty="0" err="1">
                <a:solidFill>
                  <a:srgbClr val="303030"/>
                </a:solidFill>
                <a:latin typeface="Arimo"/>
              </a:rPr>
              <a:t>aab</a:t>
            </a:r>
            <a:r>
              <a:rPr lang="en-US" dirty="0">
                <a:solidFill>
                  <a:srgbClr val="303030"/>
                </a:solidFill>
                <a:latin typeface="Arimo"/>
              </a:rPr>
              <a:t>, abb, </a:t>
            </a:r>
            <a:r>
              <a:rPr lang="en-US" dirty="0" err="1">
                <a:solidFill>
                  <a:srgbClr val="303030"/>
                </a:solidFill>
                <a:latin typeface="Arimo"/>
              </a:rPr>
              <a:t>aabb</a:t>
            </a:r>
            <a:r>
              <a:rPr lang="en-US" dirty="0">
                <a:solidFill>
                  <a:srgbClr val="303030"/>
                </a:solidFill>
                <a:latin typeface="Arimo"/>
              </a:rPr>
              <a:t>, </a:t>
            </a:r>
            <a:r>
              <a:rPr lang="en-US" dirty="0" err="1">
                <a:solidFill>
                  <a:srgbClr val="303030"/>
                </a:solidFill>
                <a:latin typeface="Arimo"/>
              </a:rPr>
              <a:t>abab</a:t>
            </a:r>
            <a:r>
              <a:rPr lang="en-US" dirty="0">
                <a:solidFill>
                  <a:srgbClr val="303030"/>
                </a:solidFill>
                <a:latin typeface="Arimo"/>
              </a:rPr>
              <a:t>, ….}</a:t>
            </a:r>
          </a:p>
          <a:p>
            <a:pPr marL="0" indent="0">
              <a:buNone/>
            </a:pPr>
            <a:endParaRPr lang="en-IN"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A30E71A5-42FC-4400-BE41-1797DE32D008}"/>
                  </a:ext>
                </a:extLst>
              </p:cNvPr>
              <p:cNvSpPr/>
              <p:nvPr/>
            </p:nvSpPr>
            <p:spPr>
              <a:xfrm>
                <a:off x="4114800" y="3657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4" name="Oval 3">
                <a:extLst>
                  <a:ext uri="{FF2B5EF4-FFF2-40B4-BE49-F238E27FC236}">
                    <a16:creationId xmlns:a16="http://schemas.microsoft.com/office/drawing/2014/main" id="{A30E71A5-42FC-4400-BE41-1797DE32D008}"/>
                  </a:ext>
                </a:extLst>
              </p:cNvPr>
              <p:cNvSpPr>
                <a:spLocks noRot="1" noChangeAspect="1" noMove="1" noResize="1" noEditPoints="1" noAdjustHandles="1" noChangeArrowheads="1" noChangeShapeType="1" noTextEdit="1"/>
              </p:cNvSpPr>
              <p:nvPr/>
            </p:nvSpPr>
            <p:spPr>
              <a:xfrm>
                <a:off x="4114800" y="3657600"/>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635C6E6F-BAE6-4778-A1BC-EBC5AC8ADDBB}"/>
                  </a:ext>
                </a:extLst>
              </p:cNvPr>
              <p:cNvSpPr/>
              <p:nvPr/>
            </p:nvSpPr>
            <p:spPr>
              <a:xfrm>
                <a:off x="5943600" y="3657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1</a:t>
                </a:r>
              </a:p>
            </p:txBody>
          </p:sp>
        </mc:Choice>
        <mc:Fallback xmlns="">
          <p:sp>
            <p:nvSpPr>
              <p:cNvPr id="5" name="Oval 4">
                <a:extLst>
                  <a:ext uri="{FF2B5EF4-FFF2-40B4-BE49-F238E27FC236}">
                    <a16:creationId xmlns:a16="http://schemas.microsoft.com/office/drawing/2014/main" id="{635C6E6F-BAE6-4778-A1BC-EBC5AC8ADDBB}"/>
                  </a:ext>
                </a:extLst>
              </p:cNvPr>
              <p:cNvSpPr>
                <a:spLocks noRot="1" noChangeAspect="1" noMove="1" noResize="1" noEditPoints="1" noAdjustHandles="1" noChangeArrowheads="1" noChangeShapeType="1" noTextEdit="1"/>
              </p:cNvSpPr>
              <p:nvPr/>
            </p:nvSpPr>
            <p:spPr>
              <a:xfrm>
                <a:off x="5943600" y="3657600"/>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4176700-1782-4B5B-8AEE-79CDAE0FA1D8}"/>
                  </a:ext>
                </a:extLst>
              </p:cNvPr>
              <p:cNvSpPr/>
              <p:nvPr/>
            </p:nvSpPr>
            <p:spPr>
              <a:xfrm>
                <a:off x="7765181" y="36736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2</a:t>
                </a:r>
              </a:p>
            </p:txBody>
          </p:sp>
        </mc:Choice>
        <mc:Fallback xmlns="">
          <p:sp>
            <p:nvSpPr>
              <p:cNvPr id="6" name="Oval 5">
                <a:extLst>
                  <a:ext uri="{FF2B5EF4-FFF2-40B4-BE49-F238E27FC236}">
                    <a16:creationId xmlns:a16="http://schemas.microsoft.com/office/drawing/2014/main" id="{B4176700-1782-4B5B-8AEE-79CDAE0FA1D8}"/>
                  </a:ext>
                </a:extLst>
              </p:cNvPr>
              <p:cNvSpPr>
                <a:spLocks noRot="1" noChangeAspect="1" noMove="1" noResize="1" noEditPoints="1" noAdjustHandles="1" noChangeArrowheads="1" noChangeShapeType="1" noTextEdit="1"/>
              </p:cNvSpPr>
              <p:nvPr/>
            </p:nvSpPr>
            <p:spPr>
              <a:xfrm>
                <a:off x="7765181" y="3673642"/>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30209EF2-1674-4ADB-857B-EBCA2FF6CA71}"/>
                  </a:ext>
                </a:extLst>
              </p:cNvPr>
              <p:cNvSpPr/>
              <p:nvPr/>
            </p:nvSpPr>
            <p:spPr>
              <a:xfrm>
                <a:off x="4114800" y="526100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US" b="0" i="1" smtClean="0">
                        <a:latin typeface="Cambria Math" panose="02040503050406030204" pitchFamily="18" charset="0"/>
                      </a:rPr>
                      <m:t>𝑞</m:t>
                    </m:r>
                  </m:oMath>
                </a14:m>
                <a:r>
                  <a:rPr lang="en-US" baseline="-25000" dirty="0"/>
                  <a:t>3</a:t>
                </a:r>
              </a:p>
            </p:txBody>
          </p:sp>
        </mc:Choice>
        <mc:Fallback xmlns="">
          <p:sp>
            <p:nvSpPr>
              <p:cNvPr id="7" name="Oval 6">
                <a:extLst>
                  <a:ext uri="{FF2B5EF4-FFF2-40B4-BE49-F238E27FC236}">
                    <a16:creationId xmlns:a16="http://schemas.microsoft.com/office/drawing/2014/main" id="{30209EF2-1674-4ADB-857B-EBCA2FF6CA71}"/>
                  </a:ext>
                </a:extLst>
              </p:cNvPr>
              <p:cNvSpPr>
                <a:spLocks noRot="1" noChangeAspect="1" noMove="1" noResize="1" noEditPoints="1" noAdjustHandles="1" noChangeArrowheads="1" noChangeShapeType="1" noTextEdit="1"/>
              </p:cNvSpPr>
              <p:nvPr/>
            </p:nvSpPr>
            <p:spPr>
              <a:xfrm>
                <a:off x="4114800" y="5261008"/>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14" name="Straight Arrow Connector 13">
            <a:extLst>
              <a:ext uri="{FF2B5EF4-FFF2-40B4-BE49-F238E27FC236}">
                <a16:creationId xmlns:a16="http://schemas.microsoft.com/office/drawing/2014/main" id="{9721D9B8-D918-41C1-9048-8FE687593B7B}"/>
              </a:ext>
            </a:extLst>
          </p:cNvPr>
          <p:cNvCxnSpPr>
            <a:stCxn id="4" idx="6"/>
            <a:endCxn id="5" idx="2"/>
          </p:cNvCxnSpPr>
          <p:nvPr/>
        </p:nvCxnSpPr>
        <p:spPr>
          <a:xfrm>
            <a:off x="4724400" y="3962400"/>
            <a:ext cx="1219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40E2A63-6CC0-4C0A-A92A-247E3A29F2CF}"/>
              </a:ext>
            </a:extLst>
          </p:cNvPr>
          <p:cNvCxnSpPr>
            <a:stCxn id="5" idx="6"/>
            <a:endCxn id="6" idx="2"/>
          </p:cNvCxnSpPr>
          <p:nvPr/>
        </p:nvCxnSpPr>
        <p:spPr>
          <a:xfrm>
            <a:off x="6553200" y="3962400"/>
            <a:ext cx="1211981" cy="160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4678B23-4E63-4A0C-AD11-20FDE61477C2}"/>
              </a:ext>
            </a:extLst>
          </p:cNvPr>
          <p:cNvCxnSpPr>
            <a:stCxn id="4" idx="4"/>
            <a:endCxn id="7" idx="0"/>
          </p:cNvCxnSpPr>
          <p:nvPr/>
        </p:nvCxnSpPr>
        <p:spPr>
          <a:xfrm>
            <a:off x="4419600" y="4267200"/>
            <a:ext cx="0" cy="993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35FA9E1-A9C9-4FD0-BF9E-FD2561186078}"/>
              </a:ext>
            </a:extLst>
          </p:cNvPr>
          <p:cNvSpPr txBox="1"/>
          <p:nvPr/>
        </p:nvSpPr>
        <p:spPr>
          <a:xfrm>
            <a:off x="5101790" y="3564814"/>
            <a:ext cx="228600" cy="369332"/>
          </a:xfrm>
          <a:prstGeom prst="rect">
            <a:avLst/>
          </a:prstGeom>
          <a:noFill/>
        </p:spPr>
        <p:txBody>
          <a:bodyPr wrap="square">
            <a:spAutoFit/>
          </a:bodyPr>
          <a:lstStyle/>
          <a:p>
            <a:r>
              <a:rPr lang="en-IN" dirty="0"/>
              <a:t>a</a:t>
            </a:r>
          </a:p>
        </p:txBody>
      </p:sp>
      <p:sp>
        <p:nvSpPr>
          <p:cNvPr id="23" name="TextBox 22">
            <a:extLst>
              <a:ext uri="{FF2B5EF4-FFF2-40B4-BE49-F238E27FC236}">
                <a16:creationId xmlns:a16="http://schemas.microsoft.com/office/drawing/2014/main" id="{69E7C732-F742-46A1-A5D6-846EF9BDE349}"/>
              </a:ext>
            </a:extLst>
          </p:cNvPr>
          <p:cNvSpPr txBox="1"/>
          <p:nvPr/>
        </p:nvSpPr>
        <p:spPr>
          <a:xfrm>
            <a:off x="7044890" y="3593068"/>
            <a:ext cx="228600" cy="369332"/>
          </a:xfrm>
          <a:prstGeom prst="rect">
            <a:avLst/>
          </a:prstGeom>
          <a:noFill/>
        </p:spPr>
        <p:txBody>
          <a:bodyPr wrap="square">
            <a:spAutoFit/>
          </a:bodyPr>
          <a:lstStyle/>
          <a:p>
            <a:r>
              <a:rPr lang="en-IN" dirty="0"/>
              <a:t>b</a:t>
            </a:r>
          </a:p>
        </p:txBody>
      </p:sp>
      <p:sp>
        <p:nvSpPr>
          <p:cNvPr id="24" name="TextBox 23">
            <a:extLst>
              <a:ext uri="{FF2B5EF4-FFF2-40B4-BE49-F238E27FC236}">
                <a16:creationId xmlns:a16="http://schemas.microsoft.com/office/drawing/2014/main" id="{256938B6-D9A1-4778-AEC2-5554D0784185}"/>
              </a:ext>
            </a:extLst>
          </p:cNvPr>
          <p:cNvSpPr txBox="1"/>
          <p:nvPr/>
        </p:nvSpPr>
        <p:spPr>
          <a:xfrm>
            <a:off x="4152900" y="4569011"/>
            <a:ext cx="228600" cy="369332"/>
          </a:xfrm>
          <a:prstGeom prst="rect">
            <a:avLst/>
          </a:prstGeom>
          <a:noFill/>
        </p:spPr>
        <p:txBody>
          <a:bodyPr wrap="square">
            <a:spAutoFit/>
          </a:bodyPr>
          <a:lstStyle/>
          <a:p>
            <a:r>
              <a:rPr lang="en-IN" dirty="0"/>
              <a:t>b</a:t>
            </a:r>
          </a:p>
        </p:txBody>
      </p:sp>
      <p:cxnSp>
        <p:nvCxnSpPr>
          <p:cNvPr id="28" name="Connector: Curved 27">
            <a:extLst>
              <a:ext uri="{FF2B5EF4-FFF2-40B4-BE49-F238E27FC236}">
                <a16:creationId xmlns:a16="http://schemas.microsoft.com/office/drawing/2014/main" id="{E713B4D1-7BE0-4D70-B883-744A226E0DF7}"/>
              </a:ext>
            </a:extLst>
          </p:cNvPr>
          <p:cNvCxnSpPr>
            <a:stCxn id="5" idx="1"/>
            <a:endCxn id="5" idx="7"/>
          </p:cNvCxnSpPr>
          <p:nvPr/>
        </p:nvCxnSpPr>
        <p:spPr>
          <a:xfrm rot="5400000" flipH="1" flipV="1">
            <a:off x="6248400" y="3531348"/>
            <a:ext cx="12700" cy="431052"/>
          </a:xfrm>
          <a:prstGeom prst="curvedConnector3">
            <a:avLst>
              <a:gd name="adj1" fmla="val 5003992"/>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E1D0BA72-85DE-4A3B-865A-01ED66E569FB}"/>
              </a:ext>
            </a:extLst>
          </p:cNvPr>
          <p:cNvSpPr txBox="1"/>
          <p:nvPr/>
        </p:nvSpPr>
        <p:spPr>
          <a:xfrm>
            <a:off x="6096000" y="2754239"/>
            <a:ext cx="228600" cy="369332"/>
          </a:xfrm>
          <a:prstGeom prst="rect">
            <a:avLst/>
          </a:prstGeom>
          <a:noFill/>
        </p:spPr>
        <p:txBody>
          <a:bodyPr wrap="square">
            <a:spAutoFit/>
          </a:bodyPr>
          <a:lstStyle/>
          <a:p>
            <a:r>
              <a:rPr lang="en-IN" dirty="0"/>
              <a:t>a</a:t>
            </a:r>
          </a:p>
        </p:txBody>
      </p:sp>
      <p:sp>
        <p:nvSpPr>
          <p:cNvPr id="32" name="Oval 31">
            <a:extLst>
              <a:ext uri="{FF2B5EF4-FFF2-40B4-BE49-F238E27FC236}">
                <a16:creationId xmlns:a16="http://schemas.microsoft.com/office/drawing/2014/main" id="{950F29DB-772E-4065-A393-17C4565215D2}"/>
              </a:ext>
            </a:extLst>
          </p:cNvPr>
          <p:cNvSpPr/>
          <p:nvPr/>
        </p:nvSpPr>
        <p:spPr>
          <a:xfrm>
            <a:off x="7816295" y="3731634"/>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cxnSp>
        <p:nvCxnSpPr>
          <p:cNvPr id="40" name="Connector: Curved 39">
            <a:extLst>
              <a:ext uri="{FF2B5EF4-FFF2-40B4-BE49-F238E27FC236}">
                <a16:creationId xmlns:a16="http://schemas.microsoft.com/office/drawing/2014/main" id="{3A726154-A32E-4F23-A040-31D939087964}"/>
              </a:ext>
            </a:extLst>
          </p:cNvPr>
          <p:cNvCxnSpPr>
            <a:stCxn id="7" idx="7"/>
            <a:endCxn id="7" idx="5"/>
          </p:cNvCxnSpPr>
          <p:nvPr/>
        </p:nvCxnSpPr>
        <p:spPr>
          <a:xfrm rot="16200000" flipH="1">
            <a:off x="4419600" y="5565808"/>
            <a:ext cx="431052" cy="12700"/>
          </a:xfrm>
          <a:prstGeom prst="curvedConnector5">
            <a:avLst>
              <a:gd name="adj1" fmla="val -53033"/>
              <a:gd name="adj2" fmla="val 5897055"/>
              <a:gd name="adj3" fmla="val 153033"/>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B8EF3B22-C2C0-4009-8FCA-62F1245AA3BC}"/>
              </a:ext>
            </a:extLst>
          </p:cNvPr>
          <p:cNvSpPr txBox="1"/>
          <p:nvPr/>
        </p:nvSpPr>
        <p:spPr>
          <a:xfrm>
            <a:off x="5410200" y="5356631"/>
            <a:ext cx="533400" cy="369332"/>
          </a:xfrm>
          <a:prstGeom prst="rect">
            <a:avLst/>
          </a:prstGeom>
          <a:noFill/>
        </p:spPr>
        <p:txBody>
          <a:bodyPr wrap="square">
            <a:spAutoFit/>
          </a:bodyPr>
          <a:lstStyle/>
          <a:p>
            <a:r>
              <a:rPr lang="en-IN" dirty="0"/>
              <a:t>a, b</a:t>
            </a:r>
          </a:p>
        </p:txBody>
      </p:sp>
      <p:cxnSp>
        <p:nvCxnSpPr>
          <p:cNvPr id="43" name="Connector: Curved 42">
            <a:extLst>
              <a:ext uri="{FF2B5EF4-FFF2-40B4-BE49-F238E27FC236}">
                <a16:creationId xmlns:a16="http://schemas.microsoft.com/office/drawing/2014/main" id="{FFBB96C7-7977-4EA3-A953-5FA775C10387}"/>
              </a:ext>
            </a:extLst>
          </p:cNvPr>
          <p:cNvCxnSpPr>
            <a:stCxn id="6" idx="3"/>
            <a:endCxn id="5" idx="5"/>
          </p:cNvCxnSpPr>
          <p:nvPr/>
        </p:nvCxnSpPr>
        <p:spPr>
          <a:xfrm rot="5400000" flipH="1">
            <a:off x="7151170" y="3490683"/>
            <a:ext cx="16042" cy="1390529"/>
          </a:xfrm>
          <a:prstGeom prst="curvedConnector3">
            <a:avLst>
              <a:gd name="adj1" fmla="val -198151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Curved 44">
            <a:extLst>
              <a:ext uri="{FF2B5EF4-FFF2-40B4-BE49-F238E27FC236}">
                <a16:creationId xmlns:a16="http://schemas.microsoft.com/office/drawing/2014/main" id="{7396EF30-4E86-47D3-8BFE-61E9B3646623}"/>
              </a:ext>
            </a:extLst>
          </p:cNvPr>
          <p:cNvCxnSpPr>
            <a:stCxn id="6" idx="1"/>
            <a:endCxn id="32" idx="7"/>
          </p:cNvCxnSpPr>
          <p:nvPr/>
        </p:nvCxnSpPr>
        <p:spPr>
          <a:xfrm rot="16200000" flipH="1">
            <a:off x="8030055" y="3587316"/>
            <a:ext cx="43708" cy="394908"/>
          </a:xfrm>
          <a:prstGeom prst="curvedConnector3">
            <a:avLst>
              <a:gd name="adj1" fmla="val -1321854"/>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08F84B64-D40D-47EB-A959-2E2B749F65F6}"/>
              </a:ext>
            </a:extLst>
          </p:cNvPr>
          <p:cNvSpPr txBox="1"/>
          <p:nvPr/>
        </p:nvSpPr>
        <p:spPr>
          <a:xfrm>
            <a:off x="7937609" y="2754239"/>
            <a:ext cx="228600" cy="369332"/>
          </a:xfrm>
          <a:prstGeom prst="rect">
            <a:avLst/>
          </a:prstGeom>
          <a:noFill/>
        </p:spPr>
        <p:txBody>
          <a:bodyPr wrap="square">
            <a:spAutoFit/>
          </a:bodyPr>
          <a:lstStyle/>
          <a:p>
            <a:r>
              <a:rPr lang="en-IN" dirty="0"/>
              <a:t>b</a:t>
            </a:r>
          </a:p>
        </p:txBody>
      </p:sp>
      <p:sp>
        <p:nvSpPr>
          <p:cNvPr id="48" name="TextBox 47">
            <a:extLst>
              <a:ext uri="{FF2B5EF4-FFF2-40B4-BE49-F238E27FC236}">
                <a16:creationId xmlns:a16="http://schemas.microsoft.com/office/drawing/2014/main" id="{2DB6E022-E623-4078-A22A-34BACDA0B371}"/>
              </a:ext>
            </a:extLst>
          </p:cNvPr>
          <p:cNvSpPr txBox="1"/>
          <p:nvPr/>
        </p:nvSpPr>
        <p:spPr>
          <a:xfrm>
            <a:off x="7044669" y="4163108"/>
            <a:ext cx="228600" cy="369332"/>
          </a:xfrm>
          <a:prstGeom prst="rect">
            <a:avLst/>
          </a:prstGeom>
          <a:noFill/>
        </p:spPr>
        <p:txBody>
          <a:bodyPr wrap="square">
            <a:spAutoFit/>
          </a:bodyPr>
          <a:lstStyle/>
          <a:p>
            <a:r>
              <a:rPr lang="en-IN" dirty="0"/>
              <a:t>a</a:t>
            </a:r>
          </a:p>
        </p:txBody>
      </p:sp>
      <p:cxnSp>
        <p:nvCxnSpPr>
          <p:cNvPr id="50" name="Straight Arrow Connector 49">
            <a:extLst>
              <a:ext uri="{FF2B5EF4-FFF2-40B4-BE49-F238E27FC236}">
                <a16:creationId xmlns:a16="http://schemas.microsoft.com/office/drawing/2014/main" id="{EAD402AB-3499-47AF-831C-07432F344999}"/>
              </a:ext>
            </a:extLst>
          </p:cNvPr>
          <p:cNvCxnSpPr>
            <a:endCxn id="4" idx="2"/>
          </p:cNvCxnSpPr>
          <p:nvPr/>
        </p:nvCxnSpPr>
        <p:spPr>
          <a:xfrm>
            <a:off x="3581400" y="3962400"/>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6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22" grpId="0"/>
      <p:bldP spid="23" grpId="0"/>
      <p:bldP spid="24" grpId="0"/>
      <p:bldP spid="30" grpId="0"/>
      <p:bldP spid="32" grpId="0" animBg="1"/>
      <p:bldP spid="41" grpId="0"/>
      <p:bldP spid="47" grpId="0"/>
      <p:bldP spid="4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41FD-FD30-4FF3-8427-0634A6AEB08C}"/>
              </a:ext>
            </a:extLst>
          </p:cNvPr>
          <p:cNvSpPr>
            <a:spLocks noGrp="1"/>
          </p:cNvSpPr>
          <p:nvPr>
            <p:ph type="title"/>
          </p:nvPr>
        </p:nvSpPr>
        <p:spPr/>
        <p:txBody>
          <a:bodyPr/>
          <a:lstStyle/>
          <a:p>
            <a:r>
              <a:rPr lang="en-US" dirty="0"/>
              <a:t>DFA Examples: </a:t>
            </a:r>
            <a:r>
              <a:rPr lang="en-US" dirty="0">
                <a:solidFill>
                  <a:srgbClr val="C00000"/>
                </a:solidFill>
              </a:rPr>
              <a:t>starts and ends with</a:t>
            </a:r>
            <a:endParaRPr lang="en-IN" dirty="0"/>
          </a:p>
        </p:txBody>
      </p:sp>
      <p:sp>
        <p:nvSpPr>
          <p:cNvPr id="3" name="Content Placeholder 2">
            <a:extLst>
              <a:ext uri="{FF2B5EF4-FFF2-40B4-BE49-F238E27FC236}">
                <a16:creationId xmlns:a16="http://schemas.microsoft.com/office/drawing/2014/main" id="{2A62E958-D07C-4BFE-BF47-43ABEBD7BD2B}"/>
              </a:ext>
            </a:extLst>
          </p:cNvPr>
          <p:cNvSpPr>
            <a:spLocks noGrp="1"/>
          </p:cNvSpPr>
          <p:nvPr>
            <p:ph idx="1"/>
          </p:nvPr>
        </p:nvSpPr>
        <p:spPr/>
        <p:txBody>
          <a:bodyPr/>
          <a:lstStyle/>
          <a:p>
            <a:r>
              <a:rPr lang="en-US" dirty="0"/>
              <a:t>All strings over {0, 1} that begin or end with 111 </a:t>
            </a:r>
          </a:p>
          <a:p>
            <a:r>
              <a:rPr lang="en-US" dirty="0"/>
              <a:t>All strings over {0, 1} that begin and end with 111</a:t>
            </a:r>
            <a:endParaRPr lang="en-IN" dirty="0"/>
          </a:p>
        </p:txBody>
      </p:sp>
      <p:pic>
        <p:nvPicPr>
          <p:cNvPr id="5" name="Picture 4">
            <a:extLst>
              <a:ext uri="{FF2B5EF4-FFF2-40B4-BE49-F238E27FC236}">
                <a16:creationId xmlns:a16="http://schemas.microsoft.com/office/drawing/2014/main" id="{CD84DE4C-A9A6-4AAA-A9E0-D8DF7EA1D7F7}"/>
              </a:ext>
            </a:extLst>
          </p:cNvPr>
          <p:cNvPicPr>
            <a:picLocks noChangeAspect="1"/>
          </p:cNvPicPr>
          <p:nvPr/>
        </p:nvPicPr>
        <p:blipFill>
          <a:blip r:embed="rId2"/>
          <a:stretch>
            <a:fillRect/>
          </a:stretch>
        </p:blipFill>
        <p:spPr>
          <a:xfrm>
            <a:off x="7239000" y="1747531"/>
            <a:ext cx="4169211" cy="4577069"/>
          </a:xfrm>
          <a:prstGeom prst="rect">
            <a:avLst/>
          </a:prstGeom>
        </p:spPr>
      </p:pic>
      <p:pic>
        <p:nvPicPr>
          <p:cNvPr id="7" name="Picture 6">
            <a:extLst>
              <a:ext uri="{FF2B5EF4-FFF2-40B4-BE49-F238E27FC236}">
                <a16:creationId xmlns:a16="http://schemas.microsoft.com/office/drawing/2014/main" id="{6B64F3A1-943B-4CEE-9F61-E5DED6AAAEF7}"/>
              </a:ext>
            </a:extLst>
          </p:cNvPr>
          <p:cNvPicPr>
            <a:picLocks noChangeAspect="1"/>
          </p:cNvPicPr>
          <p:nvPr/>
        </p:nvPicPr>
        <p:blipFill>
          <a:blip r:embed="rId3"/>
          <a:stretch>
            <a:fillRect/>
          </a:stretch>
        </p:blipFill>
        <p:spPr>
          <a:xfrm>
            <a:off x="685800" y="2577841"/>
            <a:ext cx="4902452" cy="3740342"/>
          </a:xfrm>
          <a:prstGeom prst="rect">
            <a:avLst/>
          </a:prstGeom>
        </p:spPr>
      </p:pic>
    </p:spTree>
    <p:extLst>
      <p:ext uri="{BB962C8B-B14F-4D97-AF65-F5344CB8AC3E}">
        <p14:creationId xmlns:p14="http://schemas.microsoft.com/office/powerpoint/2010/main" val="21766395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0D9E-FECA-43A0-828B-3DE314F986FD}"/>
              </a:ext>
            </a:extLst>
          </p:cNvPr>
          <p:cNvSpPr>
            <a:spLocks noGrp="1"/>
          </p:cNvSpPr>
          <p:nvPr>
            <p:ph type="title"/>
          </p:nvPr>
        </p:nvSpPr>
        <p:spPr/>
        <p:txBody>
          <a:bodyPr/>
          <a:lstStyle/>
          <a:p>
            <a:r>
              <a:rPr lang="en-US" dirty="0"/>
              <a:t>DFA Examples: </a:t>
            </a:r>
            <a:r>
              <a:rPr lang="en-US" dirty="0">
                <a:solidFill>
                  <a:srgbClr val="C00000"/>
                </a:solidFill>
              </a:rPr>
              <a:t>of length w</a:t>
            </a:r>
            <a:endParaRPr lang="en-IN" dirty="0"/>
          </a:p>
        </p:txBody>
      </p:sp>
      <p:sp>
        <p:nvSpPr>
          <p:cNvPr id="3" name="Content Placeholder 2">
            <a:extLst>
              <a:ext uri="{FF2B5EF4-FFF2-40B4-BE49-F238E27FC236}">
                <a16:creationId xmlns:a16="http://schemas.microsoft.com/office/drawing/2014/main" id="{217DF4F4-724B-48DE-B29B-3C08C654B2C2}"/>
              </a:ext>
            </a:extLst>
          </p:cNvPr>
          <p:cNvSpPr>
            <a:spLocks noGrp="1"/>
          </p:cNvSpPr>
          <p:nvPr>
            <p:ph idx="1"/>
          </p:nvPr>
        </p:nvSpPr>
        <p:spPr/>
        <p:txBody>
          <a:bodyPr/>
          <a:lstStyle/>
          <a:p>
            <a:r>
              <a:rPr lang="en-US" b="0" i="0" dirty="0">
                <a:solidFill>
                  <a:srgbClr val="444444"/>
                </a:solidFill>
                <a:effectLst/>
                <a:latin typeface="Segoe UI" panose="020B0502040204020203" pitchFamily="34" charset="0"/>
              </a:rPr>
              <a:t>Construct a DFA which accepts set of all strings over Σ={</a:t>
            </a:r>
            <a:r>
              <a:rPr lang="en-US" b="0" i="0" dirty="0" err="1">
                <a:solidFill>
                  <a:srgbClr val="444444"/>
                </a:solidFill>
                <a:effectLst/>
                <a:latin typeface="Segoe UI" panose="020B0502040204020203" pitchFamily="34" charset="0"/>
              </a:rPr>
              <a:t>a,b</a:t>
            </a:r>
            <a:r>
              <a:rPr lang="en-US" b="0" i="0" dirty="0">
                <a:solidFill>
                  <a:srgbClr val="444444"/>
                </a:solidFill>
                <a:effectLst/>
                <a:latin typeface="Segoe UI" panose="020B0502040204020203" pitchFamily="34" charset="0"/>
              </a:rPr>
              <a:t>} of length 2 , L = {aa, ab, </a:t>
            </a:r>
            <a:r>
              <a:rPr lang="en-US" b="0" i="0" dirty="0" err="1">
                <a:solidFill>
                  <a:srgbClr val="444444"/>
                </a:solidFill>
                <a:effectLst/>
                <a:latin typeface="Segoe UI" panose="020B0502040204020203" pitchFamily="34" charset="0"/>
              </a:rPr>
              <a:t>ba</a:t>
            </a:r>
            <a:r>
              <a:rPr lang="en-US" b="0" i="0" dirty="0">
                <a:solidFill>
                  <a:srgbClr val="444444"/>
                </a:solidFill>
                <a:effectLst/>
                <a:latin typeface="Segoe UI" panose="020B0502040204020203" pitchFamily="34" charset="0"/>
              </a:rPr>
              <a:t>, bb}</a:t>
            </a:r>
          </a:p>
          <a:p>
            <a:r>
              <a:rPr lang="en-US" b="0" i="0" dirty="0">
                <a:solidFill>
                  <a:srgbClr val="444444"/>
                </a:solidFill>
                <a:effectLst/>
                <a:latin typeface="Segoe UI" panose="020B0502040204020203" pitchFamily="34" charset="0"/>
              </a:rPr>
              <a:t> Construct a DFA which accepts set of all strings over Σ={</a:t>
            </a:r>
            <a:r>
              <a:rPr lang="en-US" b="0" i="0" dirty="0" err="1">
                <a:solidFill>
                  <a:srgbClr val="444444"/>
                </a:solidFill>
                <a:effectLst/>
                <a:latin typeface="Segoe UI" panose="020B0502040204020203" pitchFamily="34" charset="0"/>
              </a:rPr>
              <a:t>a,b</a:t>
            </a:r>
            <a:r>
              <a:rPr lang="en-US" b="0" i="0" dirty="0">
                <a:solidFill>
                  <a:srgbClr val="444444"/>
                </a:solidFill>
                <a:effectLst/>
                <a:latin typeface="Segoe UI" panose="020B0502040204020203" pitchFamily="34" charset="0"/>
              </a:rPr>
              <a:t>} of length ≥2</a:t>
            </a:r>
            <a:endParaRPr lang="en-US" dirty="0">
              <a:solidFill>
                <a:srgbClr val="444444"/>
              </a:solidFill>
              <a:latin typeface="Segoe UI" panose="020B0502040204020203" pitchFamily="34" charset="0"/>
            </a:endParaRPr>
          </a:p>
          <a:p>
            <a:r>
              <a:rPr lang="en-US" b="0" i="0" dirty="0">
                <a:solidFill>
                  <a:srgbClr val="444444"/>
                </a:solidFill>
                <a:effectLst/>
                <a:latin typeface="Segoe UI" panose="020B0502040204020203" pitchFamily="34" charset="0"/>
              </a:rPr>
              <a:t>Construct a DFA which accepts set of all strings over Σ={</a:t>
            </a:r>
            <a:r>
              <a:rPr lang="en-US" b="0" i="0" dirty="0" err="1">
                <a:solidFill>
                  <a:srgbClr val="444444"/>
                </a:solidFill>
                <a:effectLst/>
                <a:latin typeface="Segoe UI" panose="020B0502040204020203" pitchFamily="34" charset="0"/>
              </a:rPr>
              <a:t>a,b</a:t>
            </a:r>
            <a:r>
              <a:rPr lang="en-US" b="0" i="0" dirty="0">
                <a:solidFill>
                  <a:srgbClr val="444444"/>
                </a:solidFill>
                <a:effectLst/>
                <a:latin typeface="Segoe UI" panose="020B0502040204020203" pitchFamily="34" charset="0"/>
              </a:rPr>
              <a:t>} of length ≤2</a:t>
            </a:r>
            <a:endParaRPr lang="en-IN" dirty="0"/>
          </a:p>
        </p:txBody>
      </p:sp>
      <p:pic>
        <p:nvPicPr>
          <p:cNvPr id="5" name="Picture 4">
            <a:extLst>
              <a:ext uri="{FF2B5EF4-FFF2-40B4-BE49-F238E27FC236}">
                <a16:creationId xmlns:a16="http://schemas.microsoft.com/office/drawing/2014/main" id="{E2234637-18CD-4646-A671-CAD9748072E1}"/>
              </a:ext>
            </a:extLst>
          </p:cNvPr>
          <p:cNvPicPr>
            <a:picLocks noChangeAspect="1"/>
          </p:cNvPicPr>
          <p:nvPr/>
        </p:nvPicPr>
        <p:blipFill>
          <a:blip r:embed="rId2"/>
          <a:stretch>
            <a:fillRect/>
          </a:stretch>
        </p:blipFill>
        <p:spPr>
          <a:xfrm>
            <a:off x="8458200" y="4726184"/>
            <a:ext cx="3181514" cy="1701887"/>
          </a:xfrm>
          <a:prstGeom prst="rect">
            <a:avLst/>
          </a:prstGeom>
        </p:spPr>
      </p:pic>
      <p:pic>
        <p:nvPicPr>
          <p:cNvPr id="7" name="Picture 6">
            <a:extLst>
              <a:ext uri="{FF2B5EF4-FFF2-40B4-BE49-F238E27FC236}">
                <a16:creationId xmlns:a16="http://schemas.microsoft.com/office/drawing/2014/main" id="{DEEB1C10-2DA4-4FEB-A3A2-5FA8FB2FA6E1}"/>
              </a:ext>
            </a:extLst>
          </p:cNvPr>
          <p:cNvPicPr>
            <a:picLocks noChangeAspect="1"/>
          </p:cNvPicPr>
          <p:nvPr/>
        </p:nvPicPr>
        <p:blipFill>
          <a:blip r:embed="rId3"/>
          <a:stretch>
            <a:fillRect/>
          </a:stretch>
        </p:blipFill>
        <p:spPr>
          <a:xfrm>
            <a:off x="4343400" y="4870399"/>
            <a:ext cx="3086259" cy="997001"/>
          </a:xfrm>
          <a:prstGeom prst="rect">
            <a:avLst/>
          </a:prstGeom>
        </p:spPr>
      </p:pic>
      <p:pic>
        <p:nvPicPr>
          <p:cNvPr id="9" name="Picture 8">
            <a:extLst>
              <a:ext uri="{FF2B5EF4-FFF2-40B4-BE49-F238E27FC236}">
                <a16:creationId xmlns:a16="http://schemas.microsoft.com/office/drawing/2014/main" id="{8D6A32CF-7F25-43DC-B20D-54F8529667BC}"/>
              </a:ext>
            </a:extLst>
          </p:cNvPr>
          <p:cNvPicPr>
            <a:picLocks noChangeAspect="1"/>
          </p:cNvPicPr>
          <p:nvPr/>
        </p:nvPicPr>
        <p:blipFill>
          <a:blip r:embed="rId4"/>
          <a:stretch>
            <a:fillRect/>
          </a:stretch>
        </p:blipFill>
        <p:spPr>
          <a:xfrm>
            <a:off x="381000" y="4655398"/>
            <a:ext cx="3149762" cy="1720938"/>
          </a:xfrm>
          <a:prstGeom prst="rect">
            <a:avLst/>
          </a:prstGeom>
        </p:spPr>
      </p:pic>
    </p:spTree>
    <p:extLst>
      <p:ext uri="{BB962C8B-B14F-4D97-AF65-F5344CB8AC3E}">
        <p14:creationId xmlns:p14="http://schemas.microsoft.com/office/powerpoint/2010/main" val="339641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4D74-40FA-4776-857A-6B3471E36052}"/>
              </a:ext>
            </a:extLst>
          </p:cNvPr>
          <p:cNvSpPr>
            <a:spLocks noGrp="1"/>
          </p:cNvSpPr>
          <p:nvPr>
            <p:ph type="title"/>
          </p:nvPr>
        </p:nvSpPr>
        <p:spPr/>
        <p:txBody>
          <a:bodyPr/>
          <a:lstStyle/>
          <a:p>
            <a:r>
              <a:rPr lang="en-US" dirty="0"/>
              <a:t>DFA Examples: </a:t>
            </a:r>
            <a:r>
              <a:rPr lang="en-US" dirty="0">
                <a:solidFill>
                  <a:srgbClr val="C00000"/>
                </a:solidFill>
              </a:rPr>
              <a:t>of length w</a:t>
            </a:r>
            <a:endParaRPr lang="en-IN" dirty="0"/>
          </a:p>
        </p:txBody>
      </p:sp>
      <p:sp>
        <p:nvSpPr>
          <p:cNvPr id="3" name="Content Placeholder 2">
            <a:extLst>
              <a:ext uri="{FF2B5EF4-FFF2-40B4-BE49-F238E27FC236}">
                <a16:creationId xmlns:a16="http://schemas.microsoft.com/office/drawing/2014/main" id="{9A0E873B-595F-4C8E-A2F5-8E0A33E0FD43}"/>
              </a:ext>
            </a:extLst>
          </p:cNvPr>
          <p:cNvSpPr>
            <a:spLocks noGrp="1"/>
          </p:cNvSpPr>
          <p:nvPr>
            <p:ph idx="1"/>
          </p:nvPr>
        </p:nvSpPr>
        <p:spPr/>
        <p:txBody>
          <a:bodyPr/>
          <a:lstStyle/>
          <a:p>
            <a:r>
              <a:rPr lang="en-US" dirty="0">
                <a:solidFill>
                  <a:srgbClr val="444444"/>
                </a:solidFill>
                <a:latin typeface="Segoe UI" panose="020B0502040204020203" pitchFamily="34" charset="0"/>
              </a:rPr>
              <a:t>Construct a DFA which accepts set of all strings over Σ={a, b} such that every string accepts must |w|=2 mod 3.</a:t>
            </a:r>
          </a:p>
          <a:p>
            <a:endParaRPr lang="en-US" dirty="0">
              <a:solidFill>
                <a:srgbClr val="444444"/>
              </a:solidFill>
              <a:latin typeface="Segoe UI" panose="020B0502040204020203" pitchFamily="34" charset="0"/>
            </a:endParaRPr>
          </a:p>
          <a:p>
            <a:endParaRPr lang="en-US" dirty="0">
              <a:solidFill>
                <a:srgbClr val="444444"/>
              </a:solidFill>
              <a:latin typeface="Segoe UI" panose="020B0502040204020203" pitchFamily="34" charset="0"/>
            </a:endParaRPr>
          </a:p>
          <a:p>
            <a:endParaRPr lang="en-US" dirty="0">
              <a:solidFill>
                <a:srgbClr val="444444"/>
              </a:solidFill>
              <a:latin typeface="Segoe UI" panose="020B0502040204020203" pitchFamily="34" charset="0"/>
            </a:endParaRPr>
          </a:p>
          <a:p>
            <a:endParaRPr lang="en-US" dirty="0">
              <a:solidFill>
                <a:srgbClr val="444444"/>
              </a:solidFill>
              <a:latin typeface="Segoe UI" panose="020B0502040204020203" pitchFamily="34" charset="0"/>
            </a:endParaRPr>
          </a:p>
          <a:p>
            <a:endParaRPr lang="en-US" dirty="0">
              <a:solidFill>
                <a:srgbClr val="444444"/>
              </a:solidFill>
              <a:latin typeface="Segoe UI" panose="020B0502040204020203" pitchFamily="34" charset="0"/>
            </a:endParaRPr>
          </a:p>
          <a:p>
            <a:endParaRPr lang="en-US" dirty="0">
              <a:solidFill>
                <a:srgbClr val="444444"/>
              </a:solidFill>
              <a:latin typeface="Segoe UI" panose="020B0502040204020203" pitchFamily="34" charset="0"/>
            </a:endParaRPr>
          </a:p>
          <a:p>
            <a:r>
              <a:rPr lang="en-US" dirty="0">
                <a:solidFill>
                  <a:srgbClr val="444444"/>
                </a:solidFill>
                <a:latin typeface="Segoe UI" panose="020B0502040204020203" pitchFamily="34" charset="0"/>
              </a:rPr>
              <a:t>|w|=3 mod 4..?</a:t>
            </a:r>
          </a:p>
          <a:p>
            <a:pPr marL="0" indent="0">
              <a:buNone/>
            </a:pPr>
            <a:r>
              <a:rPr lang="en-US" dirty="0">
                <a:solidFill>
                  <a:srgbClr val="444444"/>
                </a:solidFill>
                <a:latin typeface="Segoe UI" panose="020B0502040204020203" pitchFamily="34" charset="0"/>
              </a:rPr>
              <a:t> </a:t>
            </a:r>
            <a:endParaRPr lang="en-IN" dirty="0"/>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55CC940-9EDB-4FDA-A6C1-4A7FE01598CE}"/>
                  </a:ext>
                </a:extLst>
              </p:cNvPr>
              <p:cNvSpPr/>
              <p:nvPr/>
            </p:nvSpPr>
            <p:spPr>
              <a:xfrm>
                <a:off x="1143000" y="2667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6" name="Oval 5">
                <a:extLst>
                  <a:ext uri="{FF2B5EF4-FFF2-40B4-BE49-F238E27FC236}">
                    <a16:creationId xmlns:a16="http://schemas.microsoft.com/office/drawing/2014/main" id="{655CC940-9EDB-4FDA-A6C1-4A7FE01598CE}"/>
                  </a:ext>
                </a:extLst>
              </p:cNvPr>
              <p:cNvSpPr>
                <a:spLocks noRot="1" noChangeAspect="1" noMove="1" noResize="1" noEditPoints="1" noAdjustHandles="1" noChangeArrowheads="1" noChangeShapeType="1" noTextEdit="1"/>
              </p:cNvSpPr>
              <p:nvPr/>
            </p:nvSpPr>
            <p:spPr>
              <a:xfrm>
                <a:off x="1143000" y="2667000"/>
                <a:ext cx="609600" cy="609600"/>
              </a:xfrm>
              <a:prstGeom prst="ellipse">
                <a:avLst/>
              </a:prstGeom>
              <a:blipFill>
                <a:blip r:embed="rId2"/>
                <a:stretch>
                  <a:fillRect/>
                </a:stretch>
              </a:blipFill>
            </p:spPr>
            <p:txBody>
              <a:bodyPr/>
              <a:lstStyle/>
              <a:p>
                <a:r>
                  <a:rPr lang="en-IN">
                    <a:noFill/>
                  </a:rPr>
                  <a:t> </a:t>
                </a:r>
              </a:p>
            </p:txBody>
          </p:sp>
        </mc:Fallback>
      </mc:AlternateContent>
      <p:cxnSp>
        <p:nvCxnSpPr>
          <p:cNvPr id="7" name="Straight Arrow Connector 6">
            <a:extLst>
              <a:ext uri="{FF2B5EF4-FFF2-40B4-BE49-F238E27FC236}">
                <a16:creationId xmlns:a16="http://schemas.microsoft.com/office/drawing/2014/main" id="{D9412AD5-B890-4C4B-857C-762ED0D24EF4}"/>
              </a:ext>
            </a:extLst>
          </p:cNvPr>
          <p:cNvCxnSpPr>
            <a:endCxn id="6" idx="2"/>
          </p:cNvCxnSpPr>
          <p:nvPr/>
        </p:nvCxnSpPr>
        <p:spPr>
          <a:xfrm>
            <a:off x="609600" y="2971800"/>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D5A017EC-64DF-4828-90DB-577232FB8631}"/>
                  </a:ext>
                </a:extLst>
              </p:cNvPr>
              <p:cNvSpPr/>
              <p:nvPr/>
            </p:nvSpPr>
            <p:spPr>
              <a:xfrm>
                <a:off x="3352800" y="2667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1</m:t>
                      </m:r>
                    </m:oMath>
                  </m:oMathPara>
                </a14:m>
                <a:endParaRPr lang="en-US" baseline="-25000" dirty="0"/>
              </a:p>
            </p:txBody>
          </p:sp>
        </mc:Choice>
        <mc:Fallback xmlns="">
          <p:sp>
            <p:nvSpPr>
              <p:cNvPr id="8" name="Oval 7">
                <a:extLst>
                  <a:ext uri="{FF2B5EF4-FFF2-40B4-BE49-F238E27FC236}">
                    <a16:creationId xmlns:a16="http://schemas.microsoft.com/office/drawing/2014/main" id="{D5A017EC-64DF-4828-90DB-577232FB8631}"/>
                  </a:ext>
                </a:extLst>
              </p:cNvPr>
              <p:cNvSpPr>
                <a:spLocks noRot="1" noChangeAspect="1" noMove="1" noResize="1" noEditPoints="1" noAdjustHandles="1" noChangeArrowheads="1" noChangeShapeType="1" noTextEdit="1"/>
              </p:cNvSpPr>
              <p:nvPr/>
            </p:nvSpPr>
            <p:spPr>
              <a:xfrm>
                <a:off x="3352800" y="2667000"/>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20D0FBEA-5901-4B99-AC89-2589279FCDC9}"/>
                  </a:ext>
                </a:extLst>
              </p:cNvPr>
              <p:cNvSpPr/>
              <p:nvPr/>
            </p:nvSpPr>
            <p:spPr>
              <a:xfrm>
                <a:off x="2209800" y="3886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2</m:t>
                      </m:r>
                    </m:oMath>
                  </m:oMathPara>
                </a14:m>
                <a:endParaRPr lang="en-US" baseline="-25000" dirty="0"/>
              </a:p>
            </p:txBody>
          </p:sp>
        </mc:Choice>
        <mc:Fallback xmlns="">
          <p:sp>
            <p:nvSpPr>
              <p:cNvPr id="9" name="Oval 8">
                <a:extLst>
                  <a:ext uri="{FF2B5EF4-FFF2-40B4-BE49-F238E27FC236}">
                    <a16:creationId xmlns:a16="http://schemas.microsoft.com/office/drawing/2014/main" id="{20D0FBEA-5901-4B99-AC89-2589279FCDC9}"/>
                  </a:ext>
                </a:extLst>
              </p:cNvPr>
              <p:cNvSpPr>
                <a:spLocks noRot="1" noChangeAspect="1" noMove="1" noResize="1" noEditPoints="1" noAdjustHandles="1" noChangeArrowheads="1" noChangeShapeType="1" noTextEdit="1"/>
              </p:cNvSpPr>
              <p:nvPr/>
            </p:nvSpPr>
            <p:spPr>
              <a:xfrm>
                <a:off x="2209800" y="3886200"/>
                <a:ext cx="609600" cy="609600"/>
              </a:xfrm>
              <a:prstGeom prst="ellipse">
                <a:avLst/>
              </a:prstGeom>
              <a:blipFill>
                <a:blip r:embed="rId4"/>
                <a:stretch>
                  <a:fillRect/>
                </a:stretch>
              </a:blipFill>
            </p:spPr>
            <p:txBody>
              <a:bodyPr/>
              <a:lstStyle/>
              <a:p>
                <a:r>
                  <a:rPr lang="en-IN">
                    <a:noFill/>
                  </a:rPr>
                  <a:t> </a:t>
                </a:r>
              </a:p>
            </p:txBody>
          </p:sp>
        </mc:Fallback>
      </mc:AlternateContent>
      <p:cxnSp>
        <p:nvCxnSpPr>
          <p:cNvPr id="11" name="Connector: Curved 10">
            <a:extLst>
              <a:ext uri="{FF2B5EF4-FFF2-40B4-BE49-F238E27FC236}">
                <a16:creationId xmlns:a16="http://schemas.microsoft.com/office/drawing/2014/main" id="{F65969BE-1032-4A30-9BB2-D3A24535B2BE}"/>
              </a:ext>
            </a:extLst>
          </p:cNvPr>
          <p:cNvCxnSpPr>
            <a:stCxn id="6" idx="6"/>
            <a:endCxn id="8" idx="2"/>
          </p:cNvCxnSpPr>
          <p:nvPr/>
        </p:nvCxnSpPr>
        <p:spPr>
          <a:xfrm>
            <a:off x="1752600" y="2971800"/>
            <a:ext cx="1600200" cy="127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FF0B0FE-AF6D-4B37-8910-0A5426B46E77}"/>
              </a:ext>
            </a:extLst>
          </p:cNvPr>
          <p:cNvCxnSpPr>
            <a:stCxn id="8" idx="3"/>
            <a:endCxn id="9" idx="7"/>
          </p:cNvCxnSpPr>
          <p:nvPr/>
        </p:nvCxnSpPr>
        <p:spPr>
          <a:xfrm flipH="1">
            <a:off x="2730126" y="3187326"/>
            <a:ext cx="7119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1346F03-25AD-467E-9C80-43AA1798F2CC}"/>
              </a:ext>
            </a:extLst>
          </p:cNvPr>
          <p:cNvCxnSpPr>
            <a:stCxn id="9" idx="1"/>
            <a:endCxn id="6" idx="5"/>
          </p:cNvCxnSpPr>
          <p:nvPr/>
        </p:nvCxnSpPr>
        <p:spPr>
          <a:xfrm flipH="1" flipV="1">
            <a:off x="1663326" y="3187326"/>
            <a:ext cx="6357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0D113EF-8B09-4D21-8509-EC2E3EFDCA32}"/>
              </a:ext>
            </a:extLst>
          </p:cNvPr>
          <p:cNvSpPr txBox="1"/>
          <p:nvPr/>
        </p:nvSpPr>
        <p:spPr>
          <a:xfrm>
            <a:off x="2188383" y="2615168"/>
            <a:ext cx="527709" cy="369332"/>
          </a:xfrm>
          <a:prstGeom prst="rect">
            <a:avLst/>
          </a:prstGeom>
          <a:noFill/>
        </p:spPr>
        <p:txBody>
          <a:bodyPr wrap="none" rtlCol="0">
            <a:spAutoFit/>
          </a:bodyPr>
          <a:lstStyle/>
          <a:p>
            <a:r>
              <a:rPr lang="en-IN" dirty="0"/>
              <a:t>a, b</a:t>
            </a:r>
          </a:p>
        </p:txBody>
      </p:sp>
      <p:sp>
        <p:nvSpPr>
          <p:cNvPr id="21" name="TextBox 20">
            <a:extLst>
              <a:ext uri="{FF2B5EF4-FFF2-40B4-BE49-F238E27FC236}">
                <a16:creationId xmlns:a16="http://schemas.microsoft.com/office/drawing/2014/main" id="{8740BD37-9359-4952-B2E6-F9BFA6183371}"/>
              </a:ext>
            </a:extLst>
          </p:cNvPr>
          <p:cNvSpPr txBox="1"/>
          <p:nvPr/>
        </p:nvSpPr>
        <p:spPr>
          <a:xfrm>
            <a:off x="3086100" y="3396734"/>
            <a:ext cx="711948" cy="369332"/>
          </a:xfrm>
          <a:prstGeom prst="rect">
            <a:avLst/>
          </a:prstGeom>
          <a:noFill/>
        </p:spPr>
        <p:txBody>
          <a:bodyPr wrap="square">
            <a:spAutoFit/>
          </a:bodyPr>
          <a:lstStyle/>
          <a:p>
            <a:r>
              <a:rPr lang="en-IN" dirty="0"/>
              <a:t>a, b</a:t>
            </a:r>
          </a:p>
        </p:txBody>
      </p:sp>
      <p:sp>
        <p:nvSpPr>
          <p:cNvPr id="23" name="TextBox 22">
            <a:extLst>
              <a:ext uri="{FF2B5EF4-FFF2-40B4-BE49-F238E27FC236}">
                <a16:creationId xmlns:a16="http://schemas.microsoft.com/office/drawing/2014/main" id="{B6B6FD11-46C7-4CEC-AD57-246F8615A62C}"/>
              </a:ext>
            </a:extLst>
          </p:cNvPr>
          <p:cNvSpPr txBox="1"/>
          <p:nvPr/>
        </p:nvSpPr>
        <p:spPr>
          <a:xfrm>
            <a:off x="1524000" y="3461961"/>
            <a:ext cx="609600" cy="369332"/>
          </a:xfrm>
          <a:prstGeom prst="rect">
            <a:avLst/>
          </a:prstGeom>
          <a:noFill/>
        </p:spPr>
        <p:txBody>
          <a:bodyPr wrap="square">
            <a:spAutoFit/>
          </a:bodyPr>
          <a:lstStyle/>
          <a:p>
            <a:r>
              <a:rPr lang="en-IN" dirty="0"/>
              <a:t>a, b</a:t>
            </a:r>
          </a:p>
        </p:txBody>
      </p:sp>
      <p:sp>
        <p:nvSpPr>
          <p:cNvPr id="24" name="Oval 23">
            <a:extLst>
              <a:ext uri="{FF2B5EF4-FFF2-40B4-BE49-F238E27FC236}">
                <a16:creationId xmlns:a16="http://schemas.microsoft.com/office/drawing/2014/main" id="{3FABCAA3-3DDA-4F32-BB2B-7C0D3853342B}"/>
              </a:ext>
            </a:extLst>
          </p:cNvPr>
          <p:cNvSpPr/>
          <p:nvPr/>
        </p:nvSpPr>
        <p:spPr>
          <a:xfrm>
            <a:off x="2260914" y="3934968"/>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26" name="TextBox 25">
            <a:extLst>
              <a:ext uri="{FF2B5EF4-FFF2-40B4-BE49-F238E27FC236}">
                <a16:creationId xmlns:a16="http://schemas.microsoft.com/office/drawing/2014/main" id="{B58B0EF6-1605-4CE4-B9E2-C4AA5215FC1D}"/>
              </a:ext>
            </a:extLst>
          </p:cNvPr>
          <p:cNvSpPr txBox="1"/>
          <p:nvPr/>
        </p:nvSpPr>
        <p:spPr>
          <a:xfrm>
            <a:off x="6781800" y="2057400"/>
            <a:ext cx="5156200" cy="369332"/>
          </a:xfrm>
          <a:prstGeom prst="rect">
            <a:avLst/>
          </a:prstGeom>
          <a:noFill/>
        </p:spPr>
        <p:txBody>
          <a:bodyPr wrap="square">
            <a:spAutoFit/>
          </a:bodyPr>
          <a:lstStyle/>
          <a:p>
            <a:r>
              <a:rPr lang="en-US" b="1" dirty="0">
                <a:solidFill>
                  <a:srgbClr val="C00000"/>
                </a:solidFill>
                <a:latin typeface="Segoe UI" panose="020B0502040204020203" pitchFamily="34" charset="0"/>
              </a:rPr>
              <a:t>|</a:t>
            </a:r>
            <a:r>
              <a:rPr lang="en-US" b="1" dirty="0" err="1">
                <a:solidFill>
                  <a:srgbClr val="C00000"/>
                </a:solidFill>
                <a:latin typeface="Segoe UI" panose="020B0502040204020203" pitchFamily="34" charset="0"/>
              </a:rPr>
              <a:t>w|</a:t>
            </a:r>
            <a:r>
              <a:rPr lang="en-US" b="1" baseline="-25000" dirty="0" err="1">
                <a:solidFill>
                  <a:srgbClr val="C00000"/>
                </a:solidFill>
                <a:latin typeface="Segoe UI" panose="020B0502040204020203" pitchFamily="34" charset="0"/>
              </a:rPr>
              <a:t>b</a:t>
            </a:r>
            <a:r>
              <a:rPr lang="en-US" b="1" dirty="0">
                <a:solidFill>
                  <a:srgbClr val="C00000"/>
                </a:solidFill>
                <a:latin typeface="Segoe UI" panose="020B0502040204020203" pitchFamily="34" charset="0"/>
              </a:rPr>
              <a:t>=2 mod 3 </a:t>
            </a:r>
            <a:r>
              <a:rPr lang="en-US" sz="1200" b="1" dirty="0">
                <a:solidFill>
                  <a:srgbClr val="C00000"/>
                </a:solidFill>
                <a:latin typeface="Segoe UI" panose="020B0502040204020203" pitchFamily="34" charset="0"/>
              </a:rPr>
              <a:t>(number of b should give 2 as remainder by 3)</a:t>
            </a:r>
            <a:endParaRPr lang="en-US" b="1" dirty="0">
              <a:solidFill>
                <a:srgbClr val="C00000"/>
              </a:solidFill>
              <a:latin typeface="Segoe UI" panose="020B0502040204020203" pitchFamily="34" charset="0"/>
            </a:endParaRPr>
          </a:p>
        </p:txBody>
      </p:sp>
      <p:sp>
        <p:nvSpPr>
          <p:cNvPr id="28" name="TextBox 27">
            <a:extLst>
              <a:ext uri="{FF2B5EF4-FFF2-40B4-BE49-F238E27FC236}">
                <a16:creationId xmlns:a16="http://schemas.microsoft.com/office/drawing/2014/main" id="{B3152EFE-0041-460E-B0E1-91EA0B370835}"/>
              </a:ext>
            </a:extLst>
          </p:cNvPr>
          <p:cNvSpPr txBox="1"/>
          <p:nvPr/>
        </p:nvSpPr>
        <p:spPr>
          <a:xfrm>
            <a:off x="1601002" y="2192964"/>
            <a:ext cx="1751798" cy="369332"/>
          </a:xfrm>
          <a:prstGeom prst="rect">
            <a:avLst/>
          </a:prstGeom>
          <a:noFill/>
        </p:spPr>
        <p:txBody>
          <a:bodyPr wrap="square">
            <a:spAutoFit/>
          </a:bodyPr>
          <a:lstStyle/>
          <a:p>
            <a:r>
              <a:rPr lang="en-US" dirty="0">
                <a:solidFill>
                  <a:srgbClr val="444444"/>
                </a:solidFill>
                <a:latin typeface="Segoe UI" panose="020B0502040204020203" pitchFamily="34" charset="0"/>
              </a:rPr>
              <a:t>|w|=2 mod 3</a:t>
            </a:r>
          </a:p>
        </p:txBody>
      </p:sp>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0298FBD0-F98C-4A3B-B1B2-EC76FBA10524}"/>
                  </a:ext>
                </a:extLst>
              </p:cNvPr>
              <p:cNvSpPr/>
              <p:nvPr/>
            </p:nvSpPr>
            <p:spPr>
              <a:xfrm>
                <a:off x="7772400" y="256643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29" name="Oval 28">
                <a:extLst>
                  <a:ext uri="{FF2B5EF4-FFF2-40B4-BE49-F238E27FC236}">
                    <a16:creationId xmlns:a16="http://schemas.microsoft.com/office/drawing/2014/main" id="{0298FBD0-F98C-4A3B-B1B2-EC76FBA10524}"/>
                  </a:ext>
                </a:extLst>
              </p:cNvPr>
              <p:cNvSpPr>
                <a:spLocks noRot="1" noChangeAspect="1" noMove="1" noResize="1" noEditPoints="1" noAdjustHandles="1" noChangeArrowheads="1" noChangeShapeType="1" noTextEdit="1"/>
              </p:cNvSpPr>
              <p:nvPr/>
            </p:nvSpPr>
            <p:spPr>
              <a:xfrm>
                <a:off x="7772400" y="2566432"/>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30" name="Straight Arrow Connector 29">
            <a:extLst>
              <a:ext uri="{FF2B5EF4-FFF2-40B4-BE49-F238E27FC236}">
                <a16:creationId xmlns:a16="http://schemas.microsoft.com/office/drawing/2014/main" id="{EB5045CC-E37C-402A-A3E1-1FB5D3612627}"/>
              </a:ext>
            </a:extLst>
          </p:cNvPr>
          <p:cNvCxnSpPr>
            <a:endCxn id="29" idx="2"/>
          </p:cNvCxnSpPr>
          <p:nvPr/>
        </p:nvCxnSpPr>
        <p:spPr>
          <a:xfrm>
            <a:off x="7239000" y="2871232"/>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Oval 30">
                <a:extLst>
                  <a:ext uri="{FF2B5EF4-FFF2-40B4-BE49-F238E27FC236}">
                    <a16:creationId xmlns:a16="http://schemas.microsoft.com/office/drawing/2014/main" id="{5C6DD534-8678-4099-980A-5A114FBD768C}"/>
                  </a:ext>
                </a:extLst>
              </p:cNvPr>
              <p:cNvSpPr/>
              <p:nvPr/>
            </p:nvSpPr>
            <p:spPr>
              <a:xfrm>
                <a:off x="9982200" y="256643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1</m:t>
                      </m:r>
                    </m:oMath>
                  </m:oMathPara>
                </a14:m>
                <a:endParaRPr lang="en-US" baseline="-25000" dirty="0"/>
              </a:p>
            </p:txBody>
          </p:sp>
        </mc:Choice>
        <mc:Fallback xmlns="">
          <p:sp>
            <p:nvSpPr>
              <p:cNvPr id="31" name="Oval 30">
                <a:extLst>
                  <a:ext uri="{FF2B5EF4-FFF2-40B4-BE49-F238E27FC236}">
                    <a16:creationId xmlns:a16="http://schemas.microsoft.com/office/drawing/2014/main" id="{5C6DD534-8678-4099-980A-5A114FBD768C}"/>
                  </a:ext>
                </a:extLst>
              </p:cNvPr>
              <p:cNvSpPr>
                <a:spLocks noRot="1" noChangeAspect="1" noMove="1" noResize="1" noEditPoints="1" noAdjustHandles="1" noChangeArrowheads="1" noChangeShapeType="1" noTextEdit="1"/>
              </p:cNvSpPr>
              <p:nvPr/>
            </p:nvSpPr>
            <p:spPr>
              <a:xfrm>
                <a:off x="9982200" y="2566432"/>
                <a:ext cx="609600" cy="609600"/>
              </a:xfrm>
              <a:prstGeom prst="ellipse">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Oval 31">
                <a:extLst>
                  <a:ext uri="{FF2B5EF4-FFF2-40B4-BE49-F238E27FC236}">
                    <a16:creationId xmlns:a16="http://schemas.microsoft.com/office/drawing/2014/main" id="{8116E2E9-1621-4306-933A-B5001BF48E84}"/>
                  </a:ext>
                </a:extLst>
              </p:cNvPr>
              <p:cNvSpPr/>
              <p:nvPr/>
            </p:nvSpPr>
            <p:spPr>
              <a:xfrm>
                <a:off x="8839200" y="378563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2</m:t>
                      </m:r>
                    </m:oMath>
                  </m:oMathPara>
                </a14:m>
                <a:endParaRPr lang="en-US" baseline="-25000" dirty="0"/>
              </a:p>
            </p:txBody>
          </p:sp>
        </mc:Choice>
        <mc:Fallback xmlns="">
          <p:sp>
            <p:nvSpPr>
              <p:cNvPr id="32" name="Oval 31">
                <a:extLst>
                  <a:ext uri="{FF2B5EF4-FFF2-40B4-BE49-F238E27FC236}">
                    <a16:creationId xmlns:a16="http://schemas.microsoft.com/office/drawing/2014/main" id="{8116E2E9-1621-4306-933A-B5001BF48E84}"/>
                  </a:ext>
                </a:extLst>
              </p:cNvPr>
              <p:cNvSpPr>
                <a:spLocks noRot="1" noChangeAspect="1" noMove="1" noResize="1" noEditPoints="1" noAdjustHandles="1" noChangeArrowheads="1" noChangeShapeType="1" noTextEdit="1"/>
              </p:cNvSpPr>
              <p:nvPr/>
            </p:nvSpPr>
            <p:spPr>
              <a:xfrm>
                <a:off x="8839200" y="3785632"/>
                <a:ext cx="609600" cy="609600"/>
              </a:xfrm>
              <a:prstGeom prst="ellipse">
                <a:avLst/>
              </a:prstGeom>
              <a:blipFill>
                <a:blip r:embed="rId7"/>
                <a:stretch>
                  <a:fillRect/>
                </a:stretch>
              </a:blipFill>
            </p:spPr>
            <p:txBody>
              <a:bodyPr/>
              <a:lstStyle/>
              <a:p>
                <a:r>
                  <a:rPr lang="en-IN">
                    <a:noFill/>
                  </a:rPr>
                  <a:t> </a:t>
                </a:r>
              </a:p>
            </p:txBody>
          </p:sp>
        </mc:Fallback>
      </mc:AlternateContent>
      <p:cxnSp>
        <p:nvCxnSpPr>
          <p:cNvPr id="33" name="Connector: Curved 32">
            <a:extLst>
              <a:ext uri="{FF2B5EF4-FFF2-40B4-BE49-F238E27FC236}">
                <a16:creationId xmlns:a16="http://schemas.microsoft.com/office/drawing/2014/main" id="{18ABB4BB-C990-4B4E-8D00-209AA8974F96}"/>
              </a:ext>
            </a:extLst>
          </p:cNvPr>
          <p:cNvCxnSpPr>
            <a:stCxn id="29" idx="6"/>
            <a:endCxn id="31" idx="2"/>
          </p:cNvCxnSpPr>
          <p:nvPr/>
        </p:nvCxnSpPr>
        <p:spPr>
          <a:xfrm>
            <a:off x="8382000" y="2871232"/>
            <a:ext cx="1600200" cy="127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488AF2C-DFCC-496D-A496-211EE53E8338}"/>
              </a:ext>
            </a:extLst>
          </p:cNvPr>
          <p:cNvCxnSpPr>
            <a:stCxn id="31" idx="3"/>
            <a:endCxn id="32" idx="7"/>
          </p:cNvCxnSpPr>
          <p:nvPr/>
        </p:nvCxnSpPr>
        <p:spPr>
          <a:xfrm flipH="1">
            <a:off x="9359526" y="3086758"/>
            <a:ext cx="7119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BEE41203-1697-4AA9-8968-39F8E4F1EBDA}"/>
              </a:ext>
            </a:extLst>
          </p:cNvPr>
          <p:cNvSpPr txBox="1"/>
          <p:nvPr/>
        </p:nvSpPr>
        <p:spPr>
          <a:xfrm>
            <a:off x="8817783" y="2514600"/>
            <a:ext cx="306494" cy="369332"/>
          </a:xfrm>
          <a:prstGeom prst="rect">
            <a:avLst/>
          </a:prstGeom>
          <a:noFill/>
        </p:spPr>
        <p:txBody>
          <a:bodyPr wrap="none" rtlCol="0">
            <a:spAutoFit/>
          </a:bodyPr>
          <a:lstStyle/>
          <a:p>
            <a:r>
              <a:rPr lang="en-IN" dirty="0"/>
              <a:t>b</a:t>
            </a:r>
          </a:p>
        </p:txBody>
      </p:sp>
      <p:sp>
        <p:nvSpPr>
          <p:cNvPr id="36" name="TextBox 35">
            <a:extLst>
              <a:ext uri="{FF2B5EF4-FFF2-40B4-BE49-F238E27FC236}">
                <a16:creationId xmlns:a16="http://schemas.microsoft.com/office/drawing/2014/main" id="{64FAC711-5519-4E16-9DCD-9E0E177D55A9}"/>
              </a:ext>
            </a:extLst>
          </p:cNvPr>
          <p:cNvSpPr txBox="1"/>
          <p:nvPr/>
        </p:nvSpPr>
        <p:spPr>
          <a:xfrm>
            <a:off x="9715500" y="3296166"/>
            <a:ext cx="711948" cy="369332"/>
          </a:xfrm>
          <a:prstGeom prst="rect">
            <a:avLst/>
          </a:prstGeom>
          <a:noFill/>
        </p:spPr>
        <p:txBody>
          <a:bodyPr wrap="square">
            <a:spAutoFit/>
          </a:bodyPr>
          <a:lstStyle/>
          <a:p>
            <a:r>
              <a:rPr lang="en-IN" dirty="0"/>
              <a:t> b</a:t>
            </a:r>
          </a:p>
        </p:txBody>
      </p:sp>
      <p:sp>
        <p:nvSpPr>
          <p:cNvPr id="37" name="TextBox 36">
            <a:extLst>
              <a:ext uri="{FF2B5EF4-FFF2-40B4-BE49-F238E27FC236}">
                <a16:creationId xmlns:a16="http://schemas.microsoft.com/office/drawing/2014/main" id="{1C2DE588-3F79-48C6-AA01-77746CCFE806}"/>
              </a:ext>
            </a:extLst>
          </p:cNvPr>
          <p:cNvSpPr txBox="1"/>
          <p:nvPr/>
        </p:nvSpPr>
        <p:spPr>
          <a:xfrm>
            <a:off x="8153400" y="3361393"/>
            <a:ext cx="609600" cy="369332"/>
          </a:xfrm>
          <a:prstGeom prst="rect">
            <a:avLst/>
          </a:prstGeom>
          <a:noFill/>
        </p:spPr>
        <p:txBody>
          <a:bodyPr wrap="square">
            <a:spAutoFit/>
          </a:bodyPr>
          <a:lstStyle/>
          <a:p>
            <a:r>
              <a:rPr lang="en-IN" dirty="0"/>
              <a:t>b</a:t>
            </a:r>
          </a:p>
        </p:txBody>
      </p:sp>
      <p:sp>
        <p:nvSpPr>
          <p:cNvPr id="38" name="Oval 37">
            <a:extLst>
              <a:ext uri="{FF2B5EF4-FFF2-40B4-BE49-F238E27FC236}">
                <a16:creationId xmlns:a16="http://schemas.microsoft.com/office/drawing/2014/main" id="{9F7A1B7F-6CF3-4C64-99BD-19C5B82E6017}"/>
              </a:ext>
            </a:extLst>
          </p:cNvPr>
          <p:cNvSpPr/>
          <p:nvPr/>
        </p:nvSpPr>
        <p:spPr>
          <a:xfrm>
            <a:off x="8890314" y="3834400"/>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cxnSp>
        <p:nvCxnSpPr>
          <p:cNvPr id="39" name="Straight Arrow Connector 38">
            <a:extLst>
              <a:ext uri="{FF2B5EF4-FFF2-40B4-BE49-F238E27FC236}">
                <a16:creationId xmlns:a16="http://schemas.microsoft.com/office/drawing/2014/main" id="{57791B40-48C9-4BBA-93F3-AEFED6C73C1A}"/>
              </a:ext>
            </a:extLst>
          </p:cNvPr>
          <p:cNvCxnSpPr/>
          <p:nvPr/>
        </p:nvCxnSpPr>
        <p:spPr>
          <a:xfrm flipH="1" flipV="1">
            <a:off x="8305239" y="3072368"/>
            <a:ext cx="6357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Curved 40">
            <a:extLst>
              <a:ext uri="{FF2B5EF4-FFF2-40B4-BE49-F238E27FC236}">
                <a16:creationId xmlns:a16="http://schemas.microsoft.com/office/drawing/2014/main" id="{D84D9ED4-6B69-45FF-8EFE-7AF58369591B}"/>
              </a:ext>
            </a:extLst>
          </p:cNvPr>
          <p:cNvCxnSpPr>
            <a:stCxn id="29" idx="1"/>
            <a:endCxn id="29" idx="7"/>
          </p:cNvCxnSpPr>
          <p:nvPr/>
        </p:nvCxnSpPr>
        <p:spPr>
          <a:xfrm rot="5400000" flipH="1" flipV="1">
            <a:off x="8077200" y="2440180"/>
            <a:ext cx="12700" cy="431052"/>
          </a:xfrm>
          <a:prstGeom prst="curvedConnector3">
            <a:avLst>
              <a:gd name="adj1" fmla="val 25029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or: Curved 42">
            <a:extLst>
              <a:ext uri="{FF2B5EF4-FFF2-40B4-BE49-F238E27FC236}">
                <a16:creationId xmlns:a16="http://schemas.microsoft.com/office/drawing/2014/main" id="{34E52521-8351-45CE-8837-076195A2CA2D}"/>
              </a:ext>
            </a:extLst>
          </p:cNvPr>
          <p:cNvCxnSpPr>
            <a:stCxn id="31" idx="1"/>
            <a:endCxn id="31" idx="7"/>
          </p:cNvCxnSpPr>
          <p:nvPr/>
        </p:nvCxnSpPr>
        <p:spPr>
          <a:xfrm rot="5400000" flipH="1" flipV="1">
            <a:off x="10287000" y="2440180"/>
            <a:ext cx="12700" cy="431052"/>
          </a:xfrm>
          <a:prstGeom prst="curvedConnector3">
            <a:avLst>
              <a:gd name="adj1" fmla="val 25029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Curved 44">
            <a:extLst>
              <a:ext uri="{FF2B5EF4-FFF2-40B4-BE49-F238E27FC236}">
                <a16:creationId xmlns:a16="http://schemas.microsoft.com/office/drawing/2014/main" id="{5F7F0028-F785-4EC1-8B5F-DCC49FB72738}"/>
              </a:ext>
            </a:extLst>
          </p:cNvPr>
          <p:cNvCxnSpPr>
            <a:stCxn id="32" idx="3"/>
            <a:endCxn id="32" idx="5"/>
          </p:cNvCxnSpPr>
          <p:nvPr/>
        </p:nvCxnSpPr>
        <p:spPr>
          <a:xfrm rot="16200000" flipH="1">
            <a:off x="9144000" y="4090432"/>
            <a:ext cx="12700" cy="431052"/>
          </a:xfrm>
          <a:prstGeom prst="curvedConnector3">
            <a:avLst>
              <a:gd name="adj1" fmla="val 2502945"/>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94C59BFC-6F36-4A25-B4E4-0B4052A37E86}"/>
              </a:ext>
            </a:extLst>
          </p:cNvPr>
          <p:cNvSpPr txBox="1"/>
          <p:nvPr/>
        </p:nvSpPr>
        <p:spPr>
          <a:xfrm>
            <a:off x="7624763" y="2325446"/>
            <a:ext cx="295274" cy="369332"/>
          </a:xfrm>
          <a:prstGeom prst="rect">
            <a:avLst/>
          </a:prstGeom>
          <a:noFill/>
        </p:spPr>
        <p:txBody>
          <a:bodyPr wrap="none" rtlCol="0">
            <a:spAutoFit/>
          </a:bodyPr>
          <a:lstStyle/>
          <a:p>
            <a:r>
              <a:rPr lang="en-IN" dirty="0"/>
              <a:t>a</a:t>
            </a:r>
          </a:p>
        </p:txBody>
      </p:sp>
      <p:sp>
        <p:nvSpPr>
          <p:cNvPr id="47" name="TextBox 46">
            <a:extLst>
              <a:ext uri="{FF2B5EF4-FFF2-40B4-BE49-F238E27FC236}">
                <a16:creationId xmlns:a16="http://schemas.microsoft.com/office/drawing/2014/main" id="{662A07BB-2F5E-42FA-85A8-9012FD70CAAD}"/>
              </a:ext>
            </a:extLst>
          </p:cNvPr>
          <p:cNvSpPr txBox="1"/>
          <p:nvPr/>
        </p:nvSpPr>
        <p:spPr>
          <a:xfrm>
            <a:off x="10443361" y="2261632"/>
            <a:ext cx="295274" cy="369332"/>
          </a:xfrm>
          <a:prstGeom prst="rect">
            <a:avLst/>
          </a:prstGeom>
          <a:noFill/>
        </p:spPr>
        <p:txBody>
          <a:bodyPr wrap="none" rtlCol="0">
            <a:spAutoFit/>
          </a:bodyPr>
          <a:lstStyle/>
          <a:p>
            <a:r>
              <a:rPr lang="en-IN" dirty="0"/>
              <a:t>a</a:t>
            </a:r>
          </a:p>
        </p:txBody>
      </p:sp>
      <p:sp>
        <p:nvSpPr>
          <p:cNvPr id="48" name="TextBox 47">
            <a:extLst>
              <a:ext uri="{FF2B5EF4-FFF2-40B4-BE49-F238E27FC236}">
                <a16:creationId xmlns:a16="http://schemas.microsoft.com/office/drawing/2014/main" id="{2D572EC1-E174-4B7F-8E13-924E977EBA0B}"/>
              </a:ext>
            </a:extLst>
          </p:cNvPr>
          <p:cNvSpPr txBox="1"/>
          <p:nvPr/>
        </p:nvSpPr>
        <p:spPr>
          <a:xfrm>
            <a:off x="9397685" y="3978682"/>
            <a:ext cx="295274" cy="369332"/>
          </a:xfrm>
          <a:prstGeom prst="rect">
            <a:avLst/>
          </a:prstGeom>
          <a:noFill/>
        </p:spPr>
        <p:txBody>
          <a:bodyPr wrap="none" rtlCol="0">
            <a:spAutoFit/>
          </a:bodyPr>
          <a:lstStyle/>
          <a:p>
            <a:r>
              <a:rPr lang="en-IN" dirty="0"/>
              <a:t>a</a:t>
            </a:r>
          </a:p>
        </p:txBody>
      </p:sp>
    </p:spTree>
    <p:extLst>
      <p:ext uri="{BB962C8B-B14F-4D97-AF65-F5344CB8AC3E}">
        <p14:creationId xmlns:p14="http://schemas.microsoft.com/office/powerpoint/2010/main" val="110525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24" grpId="0" animBg="1"/>
      <p:bldP spid="29" grpId="0" animBg="1"/>
      <p:bldP spid="31" grpId="0" animBg="1"/>
      <p:bldP spid="32" grpId="0" animBg="1"/>
      <p:bldP spid="3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8158-75CA-48B0-A870-FD9227275E0B}"/>
              </a:ext>
            </a:extLst>
          </p:cNvPr>
          <p:cNvSpPr>
            <a:spLocks noGrp="1"/>
          </p:cNvSpPr>
          <p:nvPr>
            <p:ph type="title"/>
          </p:nvPr>
        </p:nvSpPr>
        <p:spPr/>
        <p:txBody>
          <a:bodyPr/>
          <a:lstStyle/>
          <a:p>
            <a:r>
              <a:rPr lang="en-US" dirty="0"/>
              <a:t>DFA Examples: </a:t>
            </a:r>
            <a:r>
              <a:rPr lang="en-US" dirty="0">
                <a:solidFill>
                  <a:srgbClr val="C00000"/>
                </a:solidFill>
              </a:rPr>
              <a:t>of length w</a:t>
            </a:r>
            <a:endParaRPr lang="en-IN" dirty="0"/>
          </a:p>
        </p:txBody>
      </p:sp>
      <p:sp>
        <p:nvSpPr>
          <p:cNvPr id="3" name="Content Placeholder 2">
            <a:extLst>
              <a:ext uri="{FF2B5EF4-FFF2-40B4-BE49-F238E27FC236}">
                <a16:creationId xmlns:a16="http://schemas.microsoft.com/office/drawing/2014/main" id="{D54894ED-B542-4604-9A9D-4A3CB6FDAAEC}"/>
              </a:ext>
            </a:extLst>
          </p:cNvPr>
          <p:cNvSpPr>
            <a:spLocks noGrp="1"/>
          </p:cNvSpPr>
          <p:nvPr>
            <p:ph idx="1"/>
          </p:nvPr>
        </p:nvSpPr>
        <p:spPr/>
        <p:txBody>
          <a:bodyPr/>
          <a:lstStyle/>
          <a:p>
            <a:r>
              <a:rPr lang="en-US" dirty="0">
                <a:solidFill>
                  <a:srgbClr val="444444"/>
                </a:solidFill>
                <a:latin typeface="Segoe UI" panose="020B0502040204020203" pitchFamily="34" charset="0"/>
              </a:rPr>
              <a:t>Construct a DFA which accepts set of all strings over Σ={a, b} such that every string starting with ab  and must |w|=2 mod 3.(merge two DFA)</a:t>
            </a:r>
          </a:p>
          <a:p>
            <a:endParaRPr lang="en-US" dirty="0">
              <a:solidFill>
                <a:srgbClr val="444444"/>
              </a:solidFill>
              <a:latin typeface="Segoe UI" panose="020B0502040204020203" pitchFamily="34" charset="0"/>
            </a:endParaRPr>
          </a:p>
          <a:p>
            <a:endParaRPr lang="en-IN" dirty="0"/>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C088316-64CA-4C80-9432-A02809251179}"/>
                  </a:ext>
                </a:extLst>
              </p:cNvPr>
              <p:cNvSpPr/>
              <p:nvPr/>
            </p:nvSpPr>
            <p:spPr>
              <a:xfrm>
                <a:off x="1143000" y="4572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US" b="0" i="1" baseline="-25000" smtClean="0">
                          <a:latin typeface="Cambria Math" panose="02040503050406030204" pitchFamily="18" charset="0"/>
                        </a:rPr>
                        <m:t>0</m:t>
                      </m:r>
                    </m:oMath>
                  </m:oMathPara>
                </a14:m>
                <a:endParaRPr lang="en-US" baseline="-25000" dirty="0"/>
              </a:p>
            </p:txBody>
          </p:sp>
        </mc:Choice>
        <mc:Fallback xmlns="">
          <p:sp>
            <p:nvSpPr>
              <p:cNvPr id="4" name="Oval 3">
                <a:extLst>
                  <a:ext uri="{FF2B5EF4-FFF2-40B4-BE49-F238E27FC236}">
                    <a16:creationId xmlns:a16="http://schemas.microsoft.com/office/drawing/2014/main" id="{2C088316-64CA-4C80-9432-A02809251179}"/>
                  </a:ext>
                </a:extLst>
              </p:cNvPr>
              <p:cNvSpPr>
                <a:spLocks noRot="1" noChangeAspect="1" noMove="1" noResize="1" noEditPoints="1" noAdjustHandles="1" noChangeArrowheads="1" noChangeShapeType="1" noTextEdit="1"/>
              </p:cNvSpPr>
              <p:nvPr/>
            </p:nvSpPr>
            <p:spPr>
              <a:xfrm>
                <a:off x="1143000" y="4572000"/>
                <a:ext cx="609600" cy="609600"/>
              </a:xfrm>
              <a:prstGeom prst="ellipse">
                <a:avLst/>
              </a:prstGeom>
              <a:blipFill>
                <a:blip r:embed="rId2"/>
                <a:stretch>
                  <a:fillRect/>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7B7FAD93-98CB-4F09-8650-317CDB5CB004}"/>
              </a:ext>
            </a:extLst>
          </p:cNvPr>
          <p:cNvCxnSpPr>
            <a:endCxn id="4" idx="2"/>
          </p:cNvCxnSpPr>
          <p:nvPr/>
        </p:nvCxnSpPr>
        <p:spPr>
          <a:xfrm>
            <a:off x="609600" y="4876800"/>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70E7906-F9BD-4A63-8CFB-E86409C4F17B}"/>
                  </a:ext>
                </a:extLst>
              </p:cNvPr>
              <p:cNvSpPr/>
              <p:nvPr/>
            </p:nvSpPr>
            <p:spPr>
              <a:xfrm>
                <a:off x="3352800" y="4572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1</m:t>
                      </m:r>
                    </m:oMath>
                  </m:oMathPara>
                </a14:m>
                <a:endParaRPr lang="en-US" baseline="-25000" dirty="0"/>
              </a:p>
            </p:txBody>
          </p:sp>
        </mc:Choice>
        <mc:Fallback xmlns="">
          <p:sp>
            <p:nvSpPr>
              <p:cNvPr id="6" name="Oval 5">
                <a:extLst>
                  <a:ext uri="{FF2B5EF4-FFF2-40B4-BE49-F238E27FC236}">
                    <a16:creationId xmlns:a16="http://schemas.microsoft.com/office/drawing/2014/main" id="{670E7906-F9BD-4A63-8CFB-E86409C4F17B}"/>
                  </a:ext>
                </a:extLst>
              </p:cNvPr>
              <p:cNvSpPr>
                <a:spLocks noRot="1" noChangeAspect="1" noMove="1" noResize="1" noEditPoints="1" noAdjustHandles="1" noChangeArrowheads="1" noChangeShapeType="1" noTextEdit="1"/>
              </p:cNvSpPr>
              <p:nvPr/>
            </p:nvSpPr>
            <p:spPr>
              <a:xfrm>
                <a:off x="3352800" y="4572000"/>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C0D44D61-7A4D-4548-9A54-FF00192CD6A5}"/>
                  </a:ext>
                </a:extLst>
              </p:cNvPr>
              <p:cNvSpPr/>
              <p:nvPr/>
            </p:nvSpPr>
            <p:spPr>
              <a:xfrm>
                <a:off x="2209800" y="5791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2</m:t>
                      </m:r>
                    </m:oMath>
                  </m:oMathPara>
                </a14:m>
                <a:endParaRPr lang="en-US" baseline="-25000" dirty="0"/>
              </a:p>
            </p:txBody>
          </p:sp>
        </mc:Choice>
        <mc:Fallback xmlns="">
          <p:sp>
            <p:nvSpPr>
              <p:cNvPr id="7" name="Oval 6">
                <a:extLst>
                  <a:ext uri="{FF2B5EF4-FFF2-40B4-BE49-F238E27FC236}">
                    <a16:creationId xmlns:a16="http://schemas.microsoft.com/office/drawing/2014/main" id="{C0D44D61-7A4D-4548-9A54-FF00192CD6A5}"/>
                  </a:ext>
                </a:extLst>
              </p:cNvPr>
              <p:cNvSpPr>
                <a:spLocks noRot="1" noChangeAspect="1" noMove="1" noResize="1" noEditPoints="1" noAdjustHandles="1" noChangeArrowheads="1" noChangeShapeType="1" noTextEdit="1"/>
              </p:cNvSpPr>
              <p:nvPr/>
            </p:nvSpPr>
            <p:spPr>
              <a:xfrm>
                <a:off x="2209800" y="5791200"/>
                <a:ext cx="609600" cy="609600"/>
              </a:xfrm>
              <a:prstGeom prst="ellipse">
                <a:avLst/>
              </a:prstGeom>
              <a:blipFill>
                <a:blip r:embed="rId4"/>
                <a:stretch>
                  <a:fillRect/>
                </a:stretch>
              </a:blipFill>
            </p:spPr>
            <p:txBody>
              <a:bodyPr/>
              <a:lstStyle/>
              <a:p>
                <a:r>
                  <a:rPr lang="en-IN">
                    <a:noFill/>
                  </a:rPr>
                  <a:t> </a:t>
                </a:r>
              </a:p>
            </p:txBody>
          </p:sp>
        </mc:Fallback>
      </mc:AlternateContent>
      <p:cxnSp>
        <p:nvCxnSpPr>
          <p:cNvPr id="8" name="Connector: Curved 7">
            <a:extLst>
              <a:ext uri="{FF2B5EF4-FFF2-40B4-BE49-F238E27FC236}">
                <a16:creationId xmlns:a16="http://schemas.microsoft.com/office/drawing/2014/main" id="{EABD1AF5-7A67-485B-A494-75775C7E4D49}"/>
              </a:ext>
            </a:extLst>
          </p:cNvPr>
          <p:cNvCxnSpPr>
            <a:stCxn id="4" idx="6"/>
            <a:endCxn id="6" idx="2"/>
          </p:cNvCxnSpPr>
          <p:nvPr/>
        </p:nvCxnSpPr>
        <p:spPr>
          <a:xfrm>
            <a:off x="1752600" y="4876800"/>
            <a:ext cx="1600200" cy="127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5254976-3CB5-44E0-A2DB-5EDD9D262EF9}"/>
              </a:ext>
            </a:extLst>
          </p:cNvPr>
          <p:cNvCxnSpPr>
            <a:stCxn id="6" idx="3"/>
            <a:endCxn id="7" idx="7"/>
          </p:cNvCxnSpPr>
          <p:nvPr/>
        </p:nvCxnSpPr>
        <p:spPr>
          <a:xfrm flipH="1">
            <a:off x="2730126" y="5092326"/>
            <a:ext cx="7119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1B62B1D-86B1-45EF-A0BE-1C5B79C784FB}"/>
              </a:ext>
            </a:extLst>
          </p:cNvPr>
          <p:cNvCxnSpPr>
            <a:stCxn id="7" idx="1"/>
            <a:endCxn id="4" idx="5"/>
          </p:cNvCxnSpPr>
          <p:nvPr/>
        </p:nvCxnSpPr>
        <p:spPr>
          <a:xfrm flipH="1" flipV="1">
            <a:off x="1663326" y="5092326"/>
            <a:ext cx="635748" cy="788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8DC929A-93BF-4D37-9E08-7F0E2C5424A9}"/>
              </a:ext>
            </a:extLst>
          </p:cNvPr>
          <p:cNvSpPr txBox="1"/>
          <p:nvPr/>
        </p:nvSpPr>
        <p:spPr>
          <a:xfrm>
            <a:off x="2188383" y="4520168"/>
            <a:ext cx="306494" cy="369332"/>
          </a:xfrm>
          <a:prstGeom prst="rect">
            <a:avLst/>
          </a:prstGeom>
          <a:noFill/>
        </p:spPr>
        <p:txBody>
          <a:bodyPr wrap="none" rtlCol="0">
            <a:spAutoFit/>
          </a:bodyPr>
          <a:lstStyle/>
          <a:p>
            <a:r>
              <a:rPr lang="en-IN" dirty="0"/>
              <a:t>a</a:t>
            </a:r>
          </a:p>
        </p:txBody>
      </p:sp>
      <p:sp>
        <p:nvSpPr>
          <p:cNvPr id="12" name="TextBox 11">
            <a:extLst>
              <a:ext uri="{FF2B5EF4-FFF2-40B4-BE49-F238E27FC236}">
                <a16:creationId xmlns:a16="http://schemas.microsoft.com/office/drawing/2014/main" id="{B866E211-6DE9-4EE2-B07E-F24BEB1A974D}"/>
              </a:ext>
            </a:extLst>
          </p:cNvPr>
          <p:cNvSpPr txBox="1"/>
          <p:nvPr/>
        </p:nvSpPr>
        <p:spPr>
          <a:xfrm>
            <a:off x="3086100" y="5301734"/>
            <a:ext cx="711948" cy="369332"/>
          </a:xfrm>
          <a:prstGeom prst="rect">
            <a:avLst/>
          </a:prstGeom>
          <a:noFill/>
        </p:spPr>
        <p:txBody>
          <a:bodyPr wrap="square">
            <a:spAutoFit/>
          </a:bodyPr>
          <a:lstStyle/>
          <a:p>
            <a:r>
              <a:rPr lang="en-IN" dirty="0"/>
              <a:t>a</a:t>
            </a:r>
          </a:p>
        </p:txBody>
      </p:sp>
      <p:sp>
        <p:nvSpPr>
          <p:cNvPr id="13" name="TextBox 12">
            <a:extLst>
              <a:ext uri="{FF2B5EF4-FFF2-40B4-BE49-F238E27FC236}">
                <a16:creationId xmlns:a16="http://schemas.microsoft.com/office/drawing/2014/main" id="{202898BC-8E84-447E-93C3-C97DBC623696}"/>
              </a:ext>
            </a:extLst>
          </p:cNvPr>
          <p:cNvSpPr txBox="1"/>
          <p:nvPr/>
        </p:nvSpPr>
        <p:spPr>
          <a:xfrm>
            <a:off x="1524000" y="5366961"/>
            <a:ext cx="609600" cy="369332"/>
          </a:xfrm>
          <a:prstGeom prst="rect">
            <a:avLst/>
          </a:prstGeom>
          <a:noFill/>
        </p:spPr>
        <p:txBody>
          <a:bodyPr wrap="square">
            <a:spAutoFit/>
          </a:bodyPr>
          <a:lstStyle/>
          <a:p>
            <a:r>
              <a:rPr lang="en-IN" dirty="0"/>
              <a:t>a</a:t>
            </a:r>
          </a:p>
        </p:txBody>
      </p: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53C07582-B541-411D-89DE-8430EA7B67BF}"/>
                  </a:ext>
                </a:extLst>
              </p:cNvPr>
              <p:cNvSpPr/>
              <p:nvPr/>
            </p:nvSpPr>
            <p:spPr>
              <a:xfrm>
                <a:off x="5029200" y="4572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3</m:t>
                      </m:r>
                    </m:oMath>
                  </m:oMathPara>
                </a14:m>
                <a:endParaRPr lang="en-US" baseline="-25000" dirty="0"/>
              </a:p>
            </p:txBody>
          </p:sp>
        </mc:Choice>
        <mc:Fallback xmlns="">
          <p:sp>
            <p:nvSpPr>
              <p:cNvPr id="15" name="Oval 14">
                <a:extLst>
                  <a:ext uri="{FF2B5EF4-FFF2-40B4-BE49-F238E27FC236}">
                    <a16:creationId xmlns:a16="http://schemas.microsoft.com/office/drawing/2014/main" id="{53C07582-B541-411D-89DE-8430EA7B67BF}"/>
                  </a:ext>
                </a:extLst>
              </p:cNvPr>
              <p:cNvSpPr>
                <a:spLocks noRot="1" noChangeAspect="1" noMove="1" noResize="1" noEditPoints="1" noAdjustHandles="1" noChangeArrowheads="1" noChangeShapeType="1" noTextEdit="1"/>
              </p:cNvSpPr>
              <p:nvPr/>
            </p:nvSpPr>
            <p:spPr>
              <a:xfrm>
                <a:off x="5029200" y="4572000"/>
                <a:ext cx="609600" cy="609600"/>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783B8BE9-DA49-4C16-9ADD-F838993B342A}"/>
                  </a:ext>
                </a:extLst>
              </p:cNvPr>
              <p:cNvSpPr/>
              <p:nvPr/>
            </p:nvSpPr>
            <p:spPr>
              <a:xfrm>
                <a:off x="6858000" y="456077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4</m:t>
                      </m:r>
                    </m:oMath>
                  </m:oMathPara>
                </a14:m>
                <a:endParaRPr lang="en-US" baseline="-25000" dirty="0"/>
              </a:p>
            </p:txBody>
          </p:sp>
        </mc:Choice>
        <mc:Fallback xmlns="">
          <p:sp>
            <p:nvSpPr>
              <p:cNvPr id="16" name="Oval 15">
                <a:extLst>
                  <a:ext uri="{FF2B5EF4-FFF2-40B4-BE49-F238E27FC236}">
                    <a16:creationId xmlns:a16="http://schemas.microsoft.com/office/drawing/2014/main" id="{783B8BE9-DA49-4C16-9ADD-F838993B342A}"/>
                  </a:ext>
                </a:extLst>
              </p:cNvPr>
              <p:cNvSpPr>
                <a:spLocks noRot="1" noChangeAspect="1" noMove="1" noResize="1" noEditPoints="1" noAdjustHandles="1" noChangeArrowheads="1" noChangeShapeType="1" noTextEdit="1"/>
              </p:cNvSpPr>
              <p:nvPr/>
            </p:nvSpPr>
            <p:spPr>
              <a:xfrm>
                <a:off x="6858000" y="4560771"/>
                <a:ext cx="609600" cy="609600"/>
              </a:xfrm>
              <a:prstGeom prst="ellipse">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0049A55D-4040-4A82-8AA7-8814D41A7A4F}"/>
                  </a:ext>
                </a:extLst>
              </p:cNvPr>
              <p:cNvSpPr/>
              <p:nvPr/>
            </p:nvSpPr>
            <p:spPr>
              <a:xfrm>
                <a:off x="8653993" y="454342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5</m:t>
                      </m:r>
                    </m:oMath>
                  </m:oMathPara>
                </a14:m>
                <a:endParaRPr lang="en-US" baseline="-25000" dirty="0"/>
              </a:p>
            </p:txBody>
          </p:sp>
        </mc:Choice>
        <mc:Fallback xmlns="">
          <p:sp>
            <p:nvSpPr>
              <p:cNvPr id="17" name="Oval 16">
                <a:extLst>
                  <a:ext uri="{FF2B5EF4-FFF2-40B4-BE49-F238E27FC236}">
                    <a16:creationId xmlns:a16="http://schemas.microsoft.com/office/drawing/2014/main" id="{0049A55D-4040-4A82-8AA7-8814D41A7A4F}"/>
                  </a:ext>
                </a:extLst>
              </p:cNvPr>
              <p:cNvSpPr>
                <a:spLocks noRot="1" noChangeAspect="1" noMove="1" noResize="1" noEditPoints="1" noAdjustHandles="1" noChangeArrowheads="1" noChangeShapeType="1" noTextEdit="1"/>
              </p:cNvSpPr>
              <p:nvPr/>
            </p:nvSpPr>
            <p:spPr>
              <a:xfrm>
                <a:off x="8653993" y="4543429"/>
                <a:ext cx="609600" cy="609600"/>
              </a:xfrm>
              <a:prstGeom prst="ellipse">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A06E6A30-DA72-4D62-94C6-BC0E8C27DF5E}"/>
                  </a:ext>
                </a:extLst>
              </p:cNvPr>
              <p:cNvSpPr/>
              <p:nvPr/>
            </p:nvSpPr>
            <p:spPr>
              <a:xfrm>
                <a:off x="8653993" y="2971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𝑞</m:t>
                      </m:r>
                      <m:r>
                        <a:rPr lang="en-IN" b="0" i="1" baseline="-25000" smtClean="0">
                          <a:latin typeface="Cambria Math" panose="02040503050406030204" pitchFamily="18" charset="0"/>
                        </a:rPr>
                        <m:t>6</m:t>
                      </m:r>
                    </m:oMath>
                  </m:oMathPara>
                </a14:m>
                <a:endParaRPr lang="en-US" baseline="-25000" dirty="0"/>
              </a:p>
            </p:txBody>
          </p:sp>
        </mc:Choice>
        <mc:Fallback xmlns="">
          <p:sp>
            <p:nvSpPr>
              <p:cNvPr id="18" name="Oval 17">
                <a:extLst>
                  <a:ext uri="{FF2B5EF4-FFF2-40B4-BE49-F238E27FC236}">
                    <a16:creationId xmlns:a16="http://schemas.microsoft.com/office/drawing/2014/main" id="{A06E6A30-DA72-4D62-94C6-BC0E8C27DF5E}"/>
                  </a:ext>
                </a:extLst>
              </p:cNvPr>
              <p:cNvSpPr>
                <a:spLocks noRot="1" noChangeAspect="1" noMove="1" noResize="1" noEditPoints="1" noAdjustHandles="1" noChangeArrowheads="1" noChangeShapeType="1" noTextEdit="1"/>
              </p:cNvSpPr>
              <p:nvPr/>
            </p:nvSpPr>
            <p:spPr>
              <a:xfrm>
                <a:off x="8653993" y="2971800"/>
                <a:ext cx="609600" cy="609600"/>
              </a:xfrm>
              <a:prstGeom prst="ellipse">
                <a:avLst/>
              </a:prstGeom>
              <a:blipFill>
                <a:blip r:embed="rId8"/>
                <a:stretch>
                  <a:fillRect/>
                </a:stretch>
              </a:blipFill>
            </p:spPr>
            <p:txBody>
              <a:bodyPr/>
              <a:lstStyle/>
              <a:p>
                <a:r>
                  <a:rPr lang="en-IN">
                    <a:noFill/>
                  </a:rPr>
                  <a:t> </a:t>
                </a:r>
              </a:p>
            </p:txBody>
          </p:sp>
        </mc:Fallback>
      </mc:AlternateContent>
      <p:cxnSp>
        <p:nvCxnSpPr>
          <p:cNvPr id="20" name="Straight Arrow Connector 19">
            <a:extLst>
              <a:ext uri="{FF2B5EF4-FFF2-40B4-BE49-F238E27FC236}">
                <a16:creationId xmlns:a16="http://schemas.microsoft.com/office/drawing/2014/main" id="{1D16D6D7-5548-4E51-985E-53DB956BF876}"/>
              </a:ext>
            </a:extLst>
          </p:cNvPr>
          <p:cNvCxnSpPr>
            <a:stCxn id="6" idx="6"/>
            <a:endCxn id="15" idx="2"/>
          </p:cNvCxnSpPr>
          <p:nvPr/>
        </p:nvCxnSpPr>
        <p:spPr>
          <a:xfrm>
            <a:off x="3962400" y="4876800"/>
            <a:ext cx="1066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F6F04EB-3855-414D-BC52-9BD9EF65FEF2}"/>
              </a:ext>
            </a:extLst>
          </p:cNvPr>
          <p:cNvCxnSpPr>
            <a:stCxn id="15" idx="6"/>
            <a:endCxn id="16" idx="2"/>
          </p:cNvCxnSpPr>
          <p:nvPr/>
        </p:nvCxnSpPr>
        <p:spPr>
          <a:xfrm flipV="1">
            <a:off x="5638800" y="4865571"/>
            <a:ext cx="1219200" cy="112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E066D30-A3D2-42DE-9B57-0054CA8BDF46}"/>
              </a:ext>
            </a:extLst>
          </p:cNvPr>
          <p:cNvCxnSpPr>
            <a:stCxn id="16" idx="6"/>
            <a:endCxn id="17" idx="2"/>
          </p:cNvCxnSpPr>
          <p:nvPr/>
        </p:nvCxnSpPr>
        <p:spPr>
          <a:xfrm flipV="1">
            <a:off x="7467600" y="4848229"/>
            <a:ext cx="1186393" cy="17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DF0C5D3-4340-4F14-AE9F-10AA1EA2010B}"/>
              </a:ext>
            </a:extLst>
          </p:cNvPr>
          <p:cNvCxnSpPr>
            <a:stCxn id="17" idx="0"/>
            <a:endCxn id="18" idx="4"/>
          </p:cNvCxnSpPr>
          <p:nvPr/>
        </p:nvCxnSpPr>
        <p:spPr>
          <a:xfrm flipV="1">
            <a:off x="8958793" y="3581400"/>
            <a:ext cx="0" cy="9620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5E6BCAC-B5DF-4B79-9C8C-7C42750F792A}"/>
              </a:ext>
            </a:extLst>
          </p:cNvPr>
          <p:cNvCxnSpPr>
            <a:stCxn id="18" idx="2"/>
            <a:endCxn id="15" idx="7"/>
          </p:cNvCxnSpPr>
          <p:nvPr/>
        </p:nvCxnSpPr>
        <p:spPr>
          <a:xfrm flipH="1">
            <a:off x="5549526" y="3276600"/>
            <a:ext cx="3104467" cy="13846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426D2F57-D5F6-48AC-9D2E-68CBB2E48335}"/>
              </a:ext>
            </a:extLst>
          </p:cNvPr>
          <p:cNvSpPr/>
          <p:nvPr/>
        </p:nvSpPr>
        <p:spPr>
          <a:xfrm>
            <a:off x="6909114" y="4600868"/>
            <a:ext cx="507371" cy="5120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dirty="0"/>
          </a:p>
        </p:txBody>
      </p:sp>
      <p:sp>
        <p:nvSpPr>
          <p:cNvPr id="31" name="TextBox 30">
            <a:extLst>
              <a:ext uri="{FF2B5EF4-FFF2-40B4-BE49-F238E27FC236}">
                <a16:creationId xmlns:a16="http://schemas.microsoft.com/office/drawing/2014/main" id="{C79FFB54-AB03-419B-A651-54564F9FC073}"/>
              </a:ext>
            </a:extLst>
          </p:cNvPr>
          <p:cNvSpPr txBox="1"/>
          <p:nvPr/>
        </p:nvSpPr>
        <p:spPr>
          <a:xfrm>
            <a:off x="6012740" y="4556557"/>
            <a:ext cx="527709" cy="369332"/>
          </a:xfrm>
          <a:prstGeom prst="rect">
            <a:avLst/>
          </a:prstGeom>
          <a:noFill/>
        </p:spPr>
        <p:txBody>
          <a:bodyPr wrap="none" rtlCol="0">
            <a:spAutoFit/>
          </a:bodyPr>
          <a:lstStyle/>
          <a:p>
            <a:r>
              <a:rPr lang="en-IN" dirty="0"/>
              <a:t>a, b</a:t>
            </a:r>
          </a:p>
        </p:txBody>
      </p:sp>
      <p:sp>
        <p:nvSpPr>
          <p:cNvPr id="32" name="TextBox 31">
            <a:extLst>
              <a:ext uri="{FF2B5EF4-FFF2-40B4-BE49-F238E27FC236}">
                <a16:creationId xmlns:a16="http://schemas.microsoft.com/office/drawing/2014/main" id="{CA8FFD9E-9D91-425A-824C-6618092B10C2}"/>
              </a:ext>
            </a:extLst>
          </p:cNvPr>
          <p:cNvSpPr txBox="1"/>
          <p:nvPr/>
        </p:nvSpPr>
        <p:spPr>
          <a:xfrm>
            <a:off x="7759649" y="4535745"/>
            <a:ext cx="527709" cy="369332"/>
          </a:xfrm>
          <a:prstGeom prst="rect">
            <a:avLst/>
          </a:prstGeom>
          <a:noFill/>
        </p:spPr>
        <p:txBody>
          <a:bodyPr wrap="none" rtlCol="0">
            <a:spAutoFit/>
          </a:bodyPr>
          <a:lstStyle/>
          <a:p>
            <a:r>
              <a:rPr lang="en-IN" dirty="0"/>
              <a:t>a, b</a:t>
            </a:r>
          </a:p>
        </p:txBody>
      </p:sp>
      <p:sp>
        <p:nvSpPr>
          <p:cNvPr id="33" name="TextBox 32">
            <a:extLst>
              <a:ext uri="{FF2B5EF4-FFF2-40B4-BE49-F238E27FC236}">
                <a16:creationId xmlns:a16="http://schemas.microsoft.com/office/drawing/2014/main" id="{ED1A683A-E793-4D85-8FCE-C70E97A3C812}"/>
              </a:ext>
            </a:extLst>
          </p:cNvPr>
          <p:cNvSpPr txBox="1"/>
          <p:nvPr/>
        </p:nvSpPr>
        <p:spPr>
          <a:xfrm>
            <a:off x="8958793" y="3933829"/>
            <a:ext cx="527709" cy="369332"/>
          </a:xfrm>
          <a:prstGeom prst="rect">
            <a:avLst/>
          </a:prstGeom>
          <a:noFill/>
        </p:spPr>
        <p:txBody>
          <a:bodyPr wrap="none" rtlCol="0">
            <a:spAutoFit/>
          </a:bodyPr>
          <a:lstStyle/>
          <a:p>
            <a:r>
              <a:rPr lang="en-IN" dirty="0"/>
              <a:t>a, b</a:t>
            </a:r>
          </a:p>
        </p:txBody>
      </p:sp>
      <p:sp>
        <p:nvSpPr>
          <p:cNvPr id="34" name="TextBox 33">
            <a:extLst>
              <a:ext uri="{FF2B5EF4-FFF2-40B4-BE49-F238E27FC236}">
                <a16:creationId xmlns:a16="http://schemas.microsoft.com/office/drawing/2014/main" id="{1DBC0520-B94D-47E6-9BEF-B8F814B6FF1D}"/>
              </a:ext>
            </a:extLst>
          </p:cNvPr>
          <p:cNvSpPr txBox="1"/>
          <p:nvPr/>
        </p:nvSpPr>
        <p:spPr>
          <a:xfrm>
            <a:off x="7315200" y="3785599"/>
            <a:ext cx="527709" cy="369332"/>
          </a:xfrm>
          <a:prstGeom prst="rect">
            <a:avLst/>
          </a:prstGeom>
          <a:noFill/>
        </p:spPr>
        <p:txBody>
          <a:bodyPr wrap="none" rtlCol="0">
            <a:spAutoFit/>
          </a:bodyPr>
          <a:lstStyle/>
          <a:p>
            <a:r>
              <a:rPr lang="en-IN" dirty="0"/>
              <a:t>a, b</a:t>
            </a:r>
          </a:p>
        </p:txBody>
      </p:sp>
      <p:cxnSp>
        <p:nvCxnSpPr>
          <p:cNvPr id="36" name="Connector: Curved 35">
            <a:extLst>
              <a:ext uri="{FF2B5EF4-FFF2-40B4-BE49-F238E27FC236}">
                <a16:creationId xmlns:a16="http://schemas.microsoft.com/office/drawing/2014/main" id="{C9D45ED8-6B45-4DBD-9818-228A3140C277}"/>
              </a:ext>
            </a:extLst>
          </p:cNvPr>
          <p:cNvCxnSpPr>
            <a:stCxn id="7" idx="3"/>
            <a:endCxn id="7" idx="5"/>
          </p:cNvCxnSpPr>
          <p:nvPr/>
        </p:nvCxnSpPr>
        <p:spPr>
          <a:xfrm rot="16200000" flipH="1">
            <a:off x="2514600" y="6096000"/>
            <a:ext cx="12700" cy="431052"/>
          </a:xfrm>
          <a:prstGeom prst="curvedConnector3">
            <a:avLst>
              <a:gd name="adj1" fmla="val 2502945"/>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DBBDCDA-DC61-4D9B-8BAF-6598ABFF9344}"/>
              </a:ext>
            </a:extLst>
          </p:cNvPr>
          <p:cNvSpPr txBox="1"/>
          <p:nvPr/>
        </p:nvSpPr>
        <p:spPr>
          <a:xfrm rot="21411202">
            <a:off x="2752871" y="6008757"/>
            <a:ext cx="527709" cy="369332"/>
          </a:xfrm>
          <a:prstGeom prst="rect">
            <a:avLst/>
          </a:prstGeom>
          <a:noFill/>
        </p:spPr>
        <p:txBody>
          <a:bodyPr wrap="none" rtlCol="0">
            <a:spAutoFit/>
          </a:bodyPr>
          <a:lstStyle/>
          <a:p>
            <a:r>
              <a:rPr lang="en-IN" dirty="0"/>
              <a:t>a, b</a:t>
            </a:r>
          </a:p>
        </p:txBody>
      </p:sp>
      <p:sp>
        <p:nvSpPr>
          <p:cNvPr id="38" name="TextBox 37">
            <a:extLst>
              <a:ext uri="{FF2B5EF4-FFF2-40B4-BE49-F238E27FC236}">
                <a16:creationId xmlns:a16="http://schemas.microsoft.com/office/drawing/2014/main" id="{49872BC7-8A31-4377-BC85-F318F2470215}"/>
              </a:ext>
            </a:extLst>
          </p:cNvPr>
          <p:cNvSpPr txBox="1"/>
          <p:nvPr/>
        </p:nvSpPr>
        <p:spPr>
          <a:xfrm>
            <a:off x="4134856" y="4539419"/>
            <a:ext cx="306494" cy="369332"/>
          </a:xfrm>
          <a:prstGeom prst="rect">
            <a:avLst/>
          </a:prstGeom>
          <a:noFill/>
        </p:spPr>
        <p:txBody>
          <a:bodyPr wrap="none" rtlCol="0">
            <a:spAutoFit/>
          </a:bodyPr>
          <a:lstStyle/>
          <a:p>
            <a:r>
              <a:rPr lang="en-IN" dirty="0"/>
              <a:t>b</a:t>
            </a:r>
          </a:p>
        </p:txBody>
      </p:sp>
    </p:spTree>
    <p:extLst>
      <p:ext uri="{BB962C8B-B14F-4D97-AF65-F5344CB8AC3E}">
        <p14:creationId xmlns:p14="http://schemas.microsoft.com/office/powerpoint/2010/main" val="93545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5" grpId="0" animBg="1"/>
      <p:bldP spid="16" grpId="0" animBg="1"/>
      <p:bldP spid="17" grpId="0" animBg="1"/>
      <p:bldP spid="18" grpId="0" animBg="1"/>
      <p:bldP spid="2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129381"/>
            <a:ext cx="11684000" cy="808037"/>
          </a:xfrm>
        </p:spPr>
        <p:txBody>
          <a:bodyPr/>
          <a:lstStyle/>
          <a:p>
            <a:r>
              <a:rPr lang="en-US" dirty="0"/>
              <a:t>DFA Examples: </a:t>
            </a:r>
            <a:r>
              <a:rPr lang="en-US" dirty="0">
                <a:solidFill>
                  <a:srgbClr val="C00000"/>
                </a:solidFill>
              </a:rPr>
              <a:t>even or odd occurrence </a:t>
            </a:r>
            <a:endParaRPr lang="en-US" dirty="0">
              <a:solidFill>
                <a:srgbClr val="C00000"/>
              </a:solidFill>
              <a:latin typeface="+mj-lt"/>
            </a:endParaRPr>
          </a:p>
        </p:txBody>
      </p:sp>
      <p:sp>
        <p:nvSpPr>
          <p:cNvPr id="3" name="Content Placeholder 2"/>
          <p:cNvSpPr>
            <a:spLocks noGrp="1"/>
          </p:cNvSpPr>
          <p:nvPr>
            <p:ph idx="1"/>
          </p:nvPr>
        </p:nvSpPr>
        <p:spPr>
          <a:xfrm>
            <a:off x="254000" y="990599"/>
            <a:ext cx="11684000" cy="5738019"/>
          </a:xfrm>
        </p:spPr>
        <p:txBody>
          <a:bodyPr>
            <a:normAutofit/>
          </a:bodyPr>
          <a:lstStyle/>
          <a:p>
            <a:pPr>
              <a:buFont typeface="Arial" panose="020B0604020202020204" pitchFamily="34" charset="0"/>
              <a:buChar char="•"/>
            </a:pPr>
            <a:r>
              <a:rPr lang="en-IN" dirty="0"/>
              <a:t>The string with number of 0’s and number of 1’s are even</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marL="0" indent="0">
              <a:buNone/>
            </a:pPr>
            <a:endParaRPr lang="en-IN" dirty="0"/>
          </a:p>
          <a:p>
            <a:pPr marL="0" indent="0">
              <a:buNone/>
            </a:pPr>
            <a:endParaRPr lang="en-IN" dirty="0"/>
          </a:p>
          <a:p>
            <a:pPr>
              <a:buFont typeface="Arial" panose="020B0604020202020204" pitchFamily="34" charset="0"/>
              <a:buChar char="•"/>
            </a:pPr>
            <a:r>
              <a:rPr lang="en-IN" dirty="0"/>
              <a:t>The string with number of 0’s and number of 1’s are odd ?</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
        <p:nvSpPr>
          <p:cNvPr id="4" name="Oval 3"/>
          <p:cNvSpPr/>
          <p:nvPr/>
        </p:nvSpPr>
        <p:spPr>
          <a:xfrm>
            <a:off x="4192948" y="1752600"/>
            <a:ext cx="1143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odd 0</a:t>
            </a:r>
            <a:br>
              <a:rPr lang="en-IN" dirty="0"/>
            </a:br>
            <a:r>
              <a:rPr lang="en-IN" dirty="0"/>
              <a:t>even 1</a:t>
            </a:r>
          </a:p>
        </p:txBody>
      </p:sp>
      <p:cxnSp>
        <p:nvCxnSpPr>
          <p:cNvPr id="17" name="Straight Arrow Connector 16"/>
          <p:cNvCxnSpPr>
            <a:stCxn id="29" idx="7"/>
            <a:endCxn id="4" idx="1"/>
          </p:cNvCxnSpPr>
          <p:nvPr/>
        </p:nvCxnSpPr>
        <p:spPr>
          <a:xfrm>
            <a:off x="1991532" y="1908829"/>
            <a:ext cx="236880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192948" y="4191000"/>
            <a:ext cx="1143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even 1</a:t>
            </a:r>
            <a:br>
              <a:rPr lang="en-IN" dirty="0"/>
            </a:br>
            <a:r>
              <a:rPr lang="en-IN" dirty="0"/>
              <a:t>even 0</a:t>
            </a:r>
          </a:p>
        </p:txBody>
      </p:sp>
      <p:sp>
        <p:nvSpPr>
          <p:cNvPr id="28" name="Oval 27"/>
          <p:cNvSpPr/>
          <p:nvPr/>
        </p:nvSpPr>
        <p:spPr>
          <a:xfrm>
            <a:off x="1015919" y="4191000"/>
            <a:ext cx="1143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odd 1</a:t>
            </a:r>
            <a:br>
              <a:rPr lang="en-IN" dirty="0"/>
            </a:br>
            <a:r>
              <a:rPr lang="en-IN" dirty="0"/>
              <a:t>even 0</a:t>
            </a:r>
          </a:p>
        </p:txBody>
      </p:sp>
      <p:sp>
        <p:nvSpPr>
          <p:cNvPr id="29" name="Oval 28"/>
          <p:cNvSpPr/>
          <p:nvPr/>
        </p:nvSpPr>
        <p:spPr>
          <a:xfrm>
            <a:off x="1015919" y="1752600"/>
            <a:ext cx="1143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dirty="0"/>
              <a:t>odd 0</a:t>
            </a:r>
            <a:br>
              <a:rPr lang="en-IN" dirty="0"/>
            </a:br>
            <a:r>
              <a:rPr lang="en-IN" dirty="0"/>
              <a:t>odd 1</a:t>
            </a:r>
          </a:p>
        </p:txBody>
      </p:sp>
      <p:sp>
        <p:nvSpPr>
          <p:cNvPr id="31" name="Oval 30"/>
          <p:cNvSpPr/>
          <p:nvPr/>
        </p:nvSpPr>
        <p:spPr>
          <a:xfrm>
            <a:off x="1129470" y="1851660"/>
            <a:ext cx="915901" cy="8686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a:t> </a:t>
            </a:r>
            <a:endParaRPr lang="en-IN" dirty="0"/>
          </a:p>
        </p:txBody>
      </p:sp>
      <p:cxnSp>
        <p:nvCxnSpPr>
          <p:cNvPr id="32" name="Straight Arrow Connector 31"/>
          <p:cNvCxnSpPr>
            <a:endCxn id="29" idx="2"/>
          </p:cNvCxnSpPr>
          <p:nvPr/>
        </p:nvCxnSpPr>
        <p:spPr>
          <a:xfrm>
            <a:off x="265229" y="2286000"/>
            <a:ext cx="750690" cy="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8" idx="5"/>
            <a:endCxn id="27" idx="3"/>
          </p:cNvCxnSpPr>
          <p:nvPr/>
        </p:nvCxnSpPr>
        <p:spPr>
          <a:xfrm>
            <a:off x="1991532" y="5101571"/>
            <a:ext cx="236880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1"/>
            <a:endCxn id="29" idx="3"/>
          </p:cNvCxnSpPr>
          <p:nvPr/>
        </p:nvCxnSpPr>
        <p:spPr>
          <a:xfrm flipV="1">
            <a:off x="1183307" y="2663171"/>
            <a:ext cx="0" cy="168405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4" idx="3"/>
            <a:endCxn id="27" idx="1"/>
          </p:cNvCxnSpPr>
          <p:nvPr/>
        </p:nvCxnSpPr>
        <p:spPr>
          <a:xfrm>
            <a:off x="4360336" y="2663171"/>
            <a:ext cx="0" cy="168405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9" idx="5"/>
            <a:endCxn id="28" idx="7"/>
          </p:cNvCxnSpPr>
          <p:nvPr/>
        </p:nvCxnSpPr>
        <p:spPr>
          <a:xfrm>
            <a:off x="1991531" y="2663171"/>
            <a:ext cx="0" cy="168405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7" idx="7"/>
            <a:endCxn id="4" idx="5"/>
          </p:cNvCxnSpPr>
          <p:nvPr/>
        </p:nvCxnSpPr>
        <p:spPr>
          <a:xfrm flipV="1">
            <a:off x="5168560" y="2663171"/>
            <a:ext cx="0" cy="168405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 idx="3"/>
            <a:endCxn id="29" idx="5"/>
          </p:cNvCxnSpPr>
          <p:nvPr/>
        </p:nvCxnSpPr>
        <p:spPr>
          <a:xfrm flipH="1">
            <a:off x="1991532" y="2663171"/>
            <a:ext cx="236880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7" idx="1"/>
            <a:endCxn id="28" idx="7"/>
          </p:cNvCxnSpPr>
          <p:nvPr/>
        </p:nvCxnSpPr>
        <p:spPr>
          <a:xfrm flipH="1">
            <a:off x="1991532" y="4347229"/>
            <a:ext cx="236880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907203" y="3325190"/>
            <a:ext cx="280169" cy="369332"/>
          </a:xfrm>
          <a:prstGeom prst="rect">
            <a:avLst/>
          </a:prstGeom>
          <a:noFill/>
        </p:spPr>
        <p:txBody>
          <a:bodyPr wrap="square" rtlCol="0">
            <a:spAutoFit/>
          </a:bodyPr>
          <a:lstStyle/>
          <a:p>
            <a:r>
              <a:rPr lang="en-IN" dirty="0"/>
              <a:t>0</a:t>
            </a:r>
          </a:p>
        </p:txBody>
      </p:sp>
      <p:sp>
        <p:nvSpPr>
          <p:cNvPr id="60" name="TextBox 59"/>
          <p:cNvSpPr txBox="1"/>
          <p:nvPr/>
        </p:nvSpPr>
        <p:spPr>
          <a:xfrm>
            <a:off x="1968760" y="3325190"/>
            <a:ext cx="280169" cy="369332"/>
          </a:xfrm>
          <a:prstGeom prst="rect">
            <a:avLst/>
          </a:prstGeom>
          <a:noFill/>
        </p:spPr>
        <p:txBody>
          <a:bodyPr wrap="square" rtlCol="0">
            <a:spAutoFit/>
          </a:bodyPr>
          <a:lstStyle/>
          <a:p>
            <a:r>
              <a:rPr lang="en-IN" dirty="0"/>
              <a:t>0</a:t>
            </a:r>
          </a:p>
        </p:txBody>
      </p:sp>
      <p:sp>
        <p:nvSpPr>
          <p:cNvPr id="61" name="TextBox 60"/>
          <p:cNvSpPr txBox="1"/>
          <p:nvPr/>
        </p:nvSpPr>
        <p:spPr>
          <a:xfrm>
            <a:off x="4094650" y="3325190"/>
            <a:ext cx="280169" cy="369332"/>
          </a:xfrm>
          <a:prstGeom prst="rect">
            <a:avLst/>
          </a:prstGeom>
          <a:noFill/>
        </p:spPr>
        <p:txBody>
          <a:bodyPr wrap="square" rtlCol="0">
            <a:spAutoFit/>
          </a:bodyPr>
          <a:lstStyle/>
          <a:p>
            <a:r>
              <a:rPr lang="en-IN" dirty="0"/>
              <a:t>0</a:t>
            </a:r>
          </a:p>
        </p:txBody>
      </p:sp>
      <p:sp>
        <p:nvSpPr>
          <p:cNvPr id="62" name="TextBox 61"/>
          <p:cNvSpPr txBox="1"/>
          <p:nvPr/>
        </p:nvSpPr>
        <p:spPr>
          <a:xfrm>
            <a:off x="5168561" y="3325190"/>
            <a:ext cx="280169" cy="369332"/>
          </a:xfrm>
          <a:prstGeom prst="rect">
            <a:avLst/>
          </a:prstGeom>
          <a:noFill/>
        </p:spPr>
        <p:txBody>
          <a:bodyPr wrap="square" rtlCol="0">
            <a:spAutoFit/>
          </a:bodyPr>
          <a:lstStyle/>
          <a:p>
            <a:r>
              <a:rPr lang="en-IN" dirty="0"/>
              <a:t>0</a:t>
            </a:r>
          </a:p>
        </p:txBody>
      </p:sp>
      <p:sp>
        <p:nvSpPr>
          <p:cNvPr id="63" name="TextBox 62"/>
          <p:cNvSpPr txBox="1"/>
          <p:nvPr/>
        </p:nvSpPr>
        <p:spPr>
          <a:xfrm>
            <a:off x="3035850" y="1586159"/>
            <a:ext cx="280169" cy="369332"/>
          </a:xfrm>
          <a:prstGeom prst="rect">
            <a:avLst/>
          </a:prstGeom>
          <a:noFill/>
        </p:spPr>
        <p:txBody>
          <a:bodyPr wrap="square" rtlCol="0">
            <a:spAutoFit/>
          </a:bodyPr>
          <a:lstStyle/>
          <a:p>
            <a:r>
              <a:rPr lang="en-IN" dirty="0"/>
              <a:t>1</a:t>
            </a:r>
          </a:p>
        </p:txBody>
      </p:sp>
      <p:sp>
        <p:nvSpPr>
          <p:cNvPr id="64" name="TextBox 63"/>
          <p:cNvSpPr txBox="1"/>
          <p:nvPr/>
        </p:nvSpPr>
        <p:spPr>
          <a:xfrm>
            <a:off x="3039546" y="2329305"/>
            <a:ext cx="280169" cy="369332"/>
          </a:xfrm>
          <a:prstGeom prst="rect">
            <a:avLst/>
          </a:prstGeom>
          <a:noFill/>
        </p:spPr>
        <p:txBody>
          <a:bodyPr wrap="square" rtlCol="0">
            <a:spAutoFit/>
          </a:bodyPr>
          <a:lstStyle/>
          <a:p>
            <a:r>
              <a:rPr lang="en-IN" dirty="0"/>
              <a:t>1</a:t>
            </a:r>
          </a:p>
        </p:txBody>
      </p:sp>
      <p:sp>
        <p:nvSpPr>
          <p:cNvPr id="65" name="TextBox 64"/>
          <p:cNvSpPr txBox="1"/>
          <p:nvPr/>
        </p:nvSpPr>
        <p:spPr>
          <a:xfrm>
            <a:off x="3037271" y="3960516"/>
            <a:ext cx="280169" cy="369332"/>
          </a:xfrm>
          <a:prstGeom prst="rect">
            <a:avLst/>
          </a:prstGeom>
          <a:noFill/>
        </p:spPr>
        <p:txBody>
          <a:bodyPr wrap="square" rtlCol="0">
            <a:spAutoFit/>
          </a:bodyPr>
          <a:lstStyle/>
          <a:p>
            <a:r>
              <a:rPr lang="en-IN" dirty="0"/>
              <a:t>1</a:t>
            </a:r>
          </a:p>
        </p:txBody>
      </p:sp>
      <p:sp>
        <p:nvSpPr>
          <p:cNvPr id="66" name="TextBox 65"/>
          <p:cNvSpPr txBox="1"/>
          <p:nvPr/>
        </p:nvSpPr>
        <p:spPr>
          <a:xfrm>
            <a:off x="3039719" y="4732239"/>
            <a:ext cx="280169" cy="369332"/>
          </a:xfrm>
          <a:prstGeom prst="rect">
            <a:avLst/>
          </a:prstGeom>
          <a:noFill/>
        </p:spPr>
        <p:txBody>
          <a:bodyPr wrap="square" rtlCol="0">
            <a:spAutoFit/>
          </a:bodyPr>
          <a:lstStyle/>
          <a:p>
            <a:r>
              <a:rPr lang="en-IN" dirty="0"/>
              <a:t>1</a:t>
            </a:r>
          </a:p>
        </p:txBody>
      </p:sp>
    </p:spTree>
    <p:extLst>
      <p:ext uri="{BB962C8B-B14F-4D97-AF65-F5344CB8AC3E}">
        <p14:creationId xmlns:p14="http://schemas.microsoft.com/office/powerpoint/2010/main" val="423355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fade">
                                      <p:cBhvr>
                                        <p:cTn id="12" dur="500"/>
                                        <p:tgtEl>
                                          <p:spTgt spid="3">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up)">
                                      <p:cBhvr>
                                        <p:cTn id="27" dur="500"/>
                                        <p:tgtEl>
                                          <p:spTgt spid="4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down)">
                                      <p:cBhvr>
                                        <p:cTn id="30" dur="500"/>
                                        <p:tgtEl>
                                          <p:spTgt spid="6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animEffect transition="in" filter="wipe(down)">
                                      <p:cBhvr>
                                        <p:cTn id="41" dur="500"/>
                                        <p:tgtEl>
                                          <p:spTgt spid="6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wipe(down)">
                                      <p:cBhvr>
                                        <p:cTn id="49" dur="500"/>
                                        <p:tgtEl>
                                          <p:spTgt spid="44"/>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wipe(down)">
                                      <p:cBhvr>
                                        <p:cTn id="52" dur="500"/>
                                        <p:tgtEl>
                                          <p:spTgt spid="5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66"/>
                                        </p:tgtEl>
                                        <p:attrNameLst>
                                          <p:attrName>style.visibility</p:attrName>
                                        </p:attrNameLst>
                                      </p:cBhvr>
                                      <p:to>
                                        <p:strVal val="visible"/>
                                      </p:to>
                                    </p:set>
                                    <p:animEffect transition="in" filter="wipe(down)">
                                      <p:cBhvr>
                                        <p:cTn id="60" dur="500"/>
                                        <p:tgtEl>
                                          <p:spTgt spid="6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up)">
                                      <p:cBhvr>
                                        <p:cTn id="68" dur="500"/>
                                        <p:tgtEl>
                                          <p:spTgt spid="45"/>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wipe(down)">
                                      <p:cBhvr>
                                        <p:cTn id="71" dur="500"/>
                                        <p:tgtEl>
                                          <p:spTgt spid="6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2" fill="hold" nodeType="click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wipe(right)">
                                      <p:cBhvr>
                                        <p:cTn id="76" dur="500"/>
                                        <p:tgtEl>
                                          <p:spTgt spid="53"/>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64"/>
                                        </p:tgtEl>
                                        <p:attrNameLst>
                                          <p:attrName>style.visibility</p:attrName>
                                        </p:attrNameLst>
                                      </p:cBhvr>
                                      <p:to>
                                        <p:strVal val="visible"/>
                                      </p:to>
                                    </p:set>
                                    <p:animEffect transition="in" filter="wipe(down)">
                                      <p:cBhvr>
                                        <p:cTn id="79" dur="500"/>
                                        <p:tgtEl>
                                          <p:spTgt spid="6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wipe(down)">
                                      <p:cBhvr>
                                        <p:cTn id="84" dur="500"/>
                                        <p:tgtEl>
                                          <p:spTgt spid="48"/>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62"/>
                                        </p:tgtEl>
                                        <p:attrNameLst>
                                          <p:attrName>style.visibility</p:attrName>
                                        </p:attrNameLst>
                                      </p:cBhvr>
                                      <p:to>
                                        <p:strVal val="visible"/>
                                      </p:to>
                                    </p:set>
                                    <p:animEffect transition="in" filter="wipe(down)">
                                      <p:cBhvr>
                                        <p:cTn id="87" dur="500"/>
                                        <p:tgtEl>
                                          <p:spTgt spid="6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wipe(right)">
                                      <p:cBhvr>
                                        <p:cTn id="92" dur="500"/>
                                        <p:tgtEl>
                                          <p:spTgt spid="56"/>
                                        </p:tgtEl>
                                      </p:cBhvr>
                                    </p:animEffect>
                                  </p:childTnLst>
                                </p:cTn>
                              </p:par>
                              <p:par>
                                <p:cTn id="93" presetID="22" presetClass="entr" presetSubtype="4"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animEffect transition="in" filter="wipe(down)">
                                      <p:cBhvr>
                                        <p:cTn id="95" dur="500"/>
                                        <p:tgtEl>
                                          <p:spTgt spid="6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1"/>
                                        </p:tgtEl>
                                        <p:attrNameLst>
                                          <p:attrName>style.visibility</p:attrName>
                                        </p:attrNameLst>
                                      </p:cBhvr>
                                      <p:to>
                                        <p:strVal val="visible"/>
                                      </p:to>
                                    </p:set>
                                    <p:animEffect transition="in" filter="wipe(down)">
                                      <p:cBhvr>
                                        <p:cTn id="10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27" grpId="0" animBg="1"/>
      <p:bldP spid="28" grpId="0" animBg="1"/>
      <p:bldP spid="29" grpId="0" animBg="1"/>
      <p:bldP spid="31" grpId="0" animBg="1"/>
      <p:bldP spid="59" grpId="0"/>
      <p:bldP spid="60" grpId="0"/>
      <p:bldP spid="61" grpId="0"/>
      <p:bldP spid="62" grpId="0"/>
      <p:bldP spid="63" grpId="0"/>
      <p:bldP spid="64" grpId="0"/>
      <p:bldP spid="65" grpId="0"/>
      <p:bldP spid="6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C2B80-0EAC-4285-810E-24A334D2C57F}"/>
              </a:ext>
            </a:extLst>
          </p:cNvPr>
          <p:cNvSpPr>
            <a:spLocks noGrp="1"/>
          </p:cNvSpPr>
          <p:nvPr>
            <p:ph type="title"/>
          </p:nvPr>
        </p:nvSpPr>
        <p:spPr/>
        <p:txBody>
          <a:bodyPr/>
          <a:lstStyle/>
          <a:p>
            <a:r>
              <a:rPr lang="en-IN" dirty="0"/>
              <a:t>Minimization of DFA</a:t>
            </a:r>
          </a:p>
        </p:txBody>
      </p:sp>
      <p:sp>
        <p:nvSpPr>
          <p:cNvPr id="3" name="Content Placeholder 2">
            <a:extLst>
              <a:ext uri="{FF2B5EF4-FFF2-40B4-BE49-F238E27FC236}">
                <a16:creationId xmlns:a16="http://schemas.microsoft.com/office/drawing/2014/main" id="{FD4CE68B-ADE8-4D07-A9F2-6954596919BA}"/>
              </a:ext>
            </a:extLst>
          </p:cNvPr>
          <p:cNvSpPr>
            <a:spLocks noGrp="1"/>
          </p:cNvSpPr>
          <p:nvPr>
            <p:ph idx="1"/>
          </p:nvPr>
        </p:nvSpPr>
        <p:spPr/>
        <p:txBody>
          <a:bodyPr/>
          <a:lstStyle/>
          <a:p>
            <a:pPr marL="0" indent="0">
              <a:buNone/>
            </a:pPr>
            <a:r>
              <a:rPr lang="en-US" dirty="0"/>
              <a:t>The process of elimination of states whose presence or absence does not affects the language accepting capability of DFA. It is always unique for a language.</a:t>
            </a:r>
          </a:p>
          <a:p>
            <a:pPr marL="0" indent="0">
              <a:buNone/>
            </a:pPr>
            <a:r>
              <a:rPr lang="en-US" dirty="0"/>
              <a:t>The process of reducing a given DFA to its minimal form is called as minimization of DFA.</a:t>
            </a:r>
          </a:p>
          <a:p>
            <a:pPr lvl="1"/>
            <a:r>
              <a:rPr lang="en-US" dirty="0"/>
              <a:t> It contains the minimum number of states.</a:t>
            </a:r>
          </a:p>
          <a:p>
            <a:pPr lvl="1"/>
            <a:r>
              <a:rPr lang="en-US" dirty="0"/>
              <a:t>The DFA in its minimal form is called as a </a:t>
            </a:r>
            <a:r>
              <a:rPr lang="en-US" b="1" dirty="0">
                <a:solidFill>
                  <a:srgbClr val="C00000"/>
                </a:solidFill>
              </a:rPr>
              <a:t>Minimal DFA</a:t>
            </a:r>
          </a:p>
          <a:p>
            <a:pPr marL="0" indent="0" algn="l" fontAlgn="base">
              <a:buNone/>
            </a:pPr>
            <a:endParaRPr lang="en-US" b="1" i="0" u="sng" dirty="0">
              <a:solidFill>
                <a:srgbClr val="303030"/>
              </a:solidFill>
              <a:effectLst/>
              <a:latin typeface="roboto condensed" pitchFamily="2" charset="0"/>
            </a:endParaRPr>
          </a:p>
          <a:p>
            <a:pPr marL="0" indent="0" algn="l" fontAlgn="base">
              <a:buNone/>
            </a:pPr>
            <a:r>
              <a:rPr lang="en-US" b="1" i="0" u="sng" dirty="0">
                <a:solidFill>
                  <a:srgbClr val="303030"/>
                </a:solidFill>
                <a:effectLst/>
                <a:latin typeface="roboto condensed" pitchFamily="2" charset="0"/>
              </a:rPr>
              <a:t>How To Minimize DFA?</a:t>
            </a:r>
            <a:endParaRPr lang="en-US" b="1" i="0" dirty="0">
              <a:solidFill>
                <a:srgbClr val="303030"/>
              </a:solidFill>
              <a:effectLst/>
              <a:latin typeface="roboto condensed" pitchFamily="2" charset="0"/>
            </a:endParaRPr>
          </a:p>
          <a:p>
            <a:pPr algn="l" fontAlgn="base"/>
            <a:r>
              <a:rPr lang="en-US" b="0" i="0" dirty="0">
                <a:solidFill>
                  <a:srgbClr val="303030"/>
                </a:solidFill>
                <a:effectLst/>
                <a:latin typeface="Arimo"/>
              </a:rPr>
              <a:t> The two popular methods for minimizing a DFA are-</a:t>
            </a:r>
          </a:p>
          <a:p>
            <a:endParaRPr lang="en-IN" b="1" dirty="0">
              <a:solidFill>
                <a:srgbClr val="C00000"/>
              </a:solidFill>
            </a:endParaRPr>
          </a:p>
        </p:txBody>
      </p:sp>
      <p:pic>
        <p:nvPicPr>
          <p:cNvPr id="1026" name="Picture 2">
            <a:extLst>
              <a:ext uri="{FF2B5EF4-FFF2-40B4-BE49-F238E27FC236}">
                <a16:creationId xmlns:a16="http://schemas.microsoft.com/office/drawing/2014/main" id="{DEFBB1E9-D63B-4936-B77A-67F7112E7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4667350"/>
            <a:ext cx="6356476" cy="21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49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26"/>
                                        </p:tgtEl>
                                        <p:attrNameLst>
                                          <p:attrName>style.visibility</p:attrName>
                                        </p:attrNameLst>
                                      </p:cBhvr>
                                      <p:to>
                                        <p:strVal val="visible"/>
                                      </p:to>
                                    </p:set>
                                    <p:animEffect transition="in" filter="fade">
                                      <p:cBhvr>
                                        <p:cTn id="3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95BAF-5B08-4CC8-8EE4-F7552C84E7A6}"/>
              </a:ext>
            </a:extLst>
          </p:cNvPr>
          <p:cNvSpPr>
            <a:spLocks noGrp="1"/>
          </p:cNvSpPr>
          <p:nvPr>
            <p:ph type="title"/>
          </p:nvPr>
        </p:nvSpPr>
        <p:spPr/>
        <p:txBody>
          <a:bodyPr>
            <a:normAutofit/>
          </a:bodyPr>
          <a:lstStyle/>
          <a:p>
            <a:r>
              <a:rPr lang="en-US" u="sng" dirty="0"/>
              <a:t>Minimization of DFA Using Equivalence Theorem-</a:t>
            </a:r>
            <a:endParaRPr lang="en-IN" dirty="0"/>
          </a:p>
        </p:txBody>
      </p:sp>
      <p:sp>
        <p:nvSpPr>
          <p:cNvPr id="3" name="Content Placeholder 2">
            <a:extLst>
              <a:ext uri="{FF2B5EF4-FFF2-40B4-BE49-F238E27FC236}">
                <a16:creationId xmlns:a16="http://schemas.microsoft.com/office/drawing/2014/main" id="{6B6F93E9-AF05-4F0A-B7B3-CB1C1F4F1763}"/>
              </a:ext>
            </a:extLst>
          </p:cNvPr>
          <p:cNvSpPr>
            <a:spLocks noGrp="1"/>
          </p:cNvSpPr>
          <p:nvPr>
            <p:ph idx="1"/>
          </p:nvPr>
        </p:nvSpPr>
        <p:spPr/>
        <p:txBody>
          <a:bodyPr>
            <a:normAutofit fontScale="92500"/>
          </a:bodyPr>
          <a:lstStyle/>
          <a:p>
            <a:pPr marL="0" indent="0" fontAlgn="base">
              <a:buNone/>
            </a:pPr>
            <a:r>
              <a:rPr lang="en-US" b="1" u="sng" dirty="0"/>
              <a:t>Step-01:</a:t>
            </a:r>
            <a:r>
              <a:rPr lang="en-US" b="1" dirty="0"/>
              <a:t> </a:t>
            </a:r>
            <a:r>
              <a:rPr lang="en-US" dirty="0"/>
              <a:t>Eliminate all the </a:t>
            </a:r>
            <a:r>
              <a:rPr lang="en-US" b="1" dirty="0"/>
              <a:t>dead states</a:t>
            </a:r>
            <a:r>
              <a:rPr lang="en-US" sz="1700" b="1" dirty="0"/>
              <a:t>(keep one)</a:t>
            </a:r>
            <a:r>
              <a:rPr lang="en-US" b="1" dirty="0"/>
              <a:t> </a:t>
            </a:r>
            <a:r>
              <a:rPr lang="en-US" dirty="0"/>
              <a:t>and </a:t>
            </a:r>
            <a:r>
              <a:rPr lang="en-US" b="1" dirty="0"/>
              <a:t>inaccessible states </a:t>
            </a:r>
            <a:r>
              <a:rPr lang="en-US" dirty="0"/>
              <a:t>from the given DFA (if any).</a:t>
            </a:r>
          </a:p>
          <a:p>
            <a:pPr lvl="1" fontAlgn="base"/>
            <a:r>
              <a:rPr lang="en-US" b="1" u="sng" dirty="0"/>
              <a:t>Dead State:</a:t>
            </a:r>
            <a:r>
              <a:rPr lang="en-US" dirty="0"/>
              <a:t>  All those non-final states which transit to itself for all input symbols in ∑ are called as dead states.</a:t>
            </a:r>
          </a:p>
          <a:p>
            <a:pPr lvl="1" fontAlgn="base"/>
            <a:r>
              <a:rPr lang="en-US" dirty="0"/>
              <a:t> </a:t>
            </a:r>
            <a:r>
              <a:rPr lang="en-US" b="1" u="sng" dirty="0"/>
              <a:t>Inaccessible State:</a:t>
            </a:r>
            <a:r>
              <a:rPr lang="en-US" b="1" dirty="0"/>
              <a:t> </a:t>
            </a:r>
            <a:r>
              <a:rPr lang="en-US" dirty="0"/>
              <a:t>All those states which can never be reached from the initial state are called as inaccessible states.</a:t>
            </a:r>
          </a:p>
          <a:p>
            <a:pPr marL="0" indent="0" fontAlgn="base">
              <a:buNone/>
            </a:pPr>
            <a:r>
              <a:rPr lang="en-US" b="1" u="sng" dirty="0"/>
              <a:t>Step-02:</a:t>
            </a:r>
            <a:endParaRPr lang="en-US" b="1" dirty="0"/>
          </a:p>
          <a:p>
            <a:pPr lvl="1" fontAlgn="base"/>
            <a:r>
              <a:rPr lang="en-US" dirty="0"/>
              <a:t>Draw a state transition table for the given DFA.</a:t>
            </a:r>
          </a:p>
          <a:p>
            <a:pPr lvl="1" fontAlgn="base"/>
            <a:r>
              <a:rPr lang="en-US" dirty="0"/>
              <a:t>Transition table shows the transition of all states on all input symbols in Σ.</a:t>
            </a:r>
          </a:p>
          <a:p>
            <a:pPr marL="0" indent="0" fontAlgn="base">
              <a:buNone/>
            </a:pPr>
            <a:r>
              <a:rPr lang="en-IN" b="1" u="sng" dirty="0"/>
              <a:t>Step-03:</a:t>
            </a:r>
            <a:endParaRPr lang="en-IN" b="1" dirty="0"/>
          </a:p>
          <a:p>
            <a:pPr lvl="1" fontAlgn="base"/>
            <a:r>
              <a:rPr lang="en-US" dirty="0"/>
              <a:t>Take a counter variable k and initialize it with value 0.</a:t>
            </a:r>
          </a:p>
          <a:p>
            <a:pPr lvl="1" fontAlgn="base"/>
            <a:r>
              <a:rPr lang="en-US" dirty="0"/>
              <a:t>Divide Q (set of states) into two sets such that one set contains all the </a:t>
            </a:r>
            <a:r>
              <a:rPr lang="en-US" b="1" dirty="0">
                <a:solidFill>
                  <a:srgbClr val="C00000"/>
                </a:solidFill>
              </a:rPr>
              <a:t>non-final states</a:t>
            </a:r>
            <a:r>
              <a:rPr lang="en-US" dirty="0">
                <a:solidFill>
                  <a:srgbClr val="C00000"/>
                </a:solidFill>
              </a:rPr>
              <a:t> </a:t>
            </a:r>
            <a:r>
              <a:rPr lang="en-US" dirty="0"/>
              <a:t>and other set contains all the </a:t>
            </a:r>
            <a:r>
              <a:rPr lang="en-US" b="1" dirty="0">
                <a:solidFill>
                  <a:srgbClr val="C00000"/>
                </a:solidFill>
              </a:rPr>
              <a:t>final states</a:t>
            </a:r>
            <a:r>
              <a:rPr lang="en-US" dirty="0"/>
              <a:t>.</a:t>
            </a:r>
          </a:p>
          <a:p>
            <a:pPr lvl="1" fontAlgn="base"/>
            <a:r>
              <a:rPr lang="en-US" dirty="0"/>
              <a:t>This partition is called</a:t>
            </a:r>
            <a:r>
              <a:rPr lang="en-US" b="1" dirty="0">
                <a:solidFill>
                  <a:srgbClr val="C00000"/>
                </a:solidFill>
              </a:rPr>
              <a:t> P</a:t>
            </a:r>
            <a:r>
              <a:rPr lang="en-US" b="1" baseline="-25000" dirty="0">
                <a:solidFill>
                  <a:srgbClr val="C00000"/>
                </a:solidFill>
              </a:rPr>
              <a:t>0</a:t>
            </a:r>
            <a:r>
              <a:rPr lang="en-US" dirty="0"/>
              <a:t>.</a:t>
            </a:r>
          </a:p>
          <a:p>
            <a:pPr marL="0" indent="0" fontAlgn="base">
              <a:buNone/>
            </a:pPr>
            <a:endParaRPr lang="en-US" dirty="0"/>
          </a:p>
          <a:p>
            <a:pPr marL="0" indent="0" fontAlgn="base">
              <a:buNone/>
            </a:pPr>
            <a:endParaRPr lang="en-US" dirty="0"/>
          </a:p>
          <a:p>
            <a:pPr marL="0" indent="0">
              <a:buNone/>
            </a:pPr>
            <a:endParaRPr lang="en-IN" dirty="0"/>
          </a:p>
        </p:txBody>
      </p:sp>
    </p:spTree>
    <p:extLst>
      <p:ext uri="{BB962C8B-B14F-4D97-AF65-F5344CB8AC3E}">
        <p14:creationId xmlns:p14="http://schemas.microsoft.com/office/powerpoint/2010/main" val="123382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7A99A-9667-4BA9-AB89-0DBC2408E0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A73AF8-3FCA-4B39-AFCF-06B4464678F2}"/>
              </a:ext>
            </a:extLst>
          </p:cNvPr>
          <p:cNvSpPr>
            <a:spLocks noGrp="1"/>
          </p:cNvSpPr>
          <p:nvPr>
            <p:ph idx="1"/>
          </p:nvPr>
        </p:nvSpPr>
        <p:spPr/>
        <p:txBody>
          <a:bodyPr>
            <a:normAutofit fontScale="92500" lnSpcReduction="10000"/>
          </a:bodyPr>
          <a:lstStyle/>
          <a:p>
            <a:pPr marL="0" indent="0" fontAlgn="base">
              <a:buNone/>
            </a:pPr>
            <a:r>
              <a:rPr lang="en-US" b="1" u="sng" dirty="0"/>
              <a:t>Step-04:</a:t>
            </a:r>
            <a:endParaRPr lang="en-US" b="1" dirty="0"/>
          </a:p>
          <a:p>
            <a:pPr lvl="1" fontAlgn="base"/>
            <a:r>
              <a:rPr lang="en-US" dirty="0"/>
              <a:t>Increment k by 1.</a:t>
            </a:r>
          </a:p>
          <a:p>
            <a:pPr lvl="1" fontAlgn="base"/>
            <a:r>
              <a:rPr lang="en-US" dirty="0"/>
              <a:t>Find P</a:t>
            </a:r>
            <a:r>
              <a:rPr lang="en-US" baseline="-25000" dirty="0"/>
              <a:t>k</a:t>
            </a:r>
            <a:r>
              <a:rPr lang="en-US" dirty="0"/>
              <a:t> by partitioning the different sets of P</a:t>
            </a:r>
            <a:r>
              <a:rPr lang="en-US" baseline="-25000" dirty="0"/>
              <a:t>k-1</a:t>
            </a:r>
            <a:r>
              <a:rPr lang="en-US" dirty="0"/>
              <a:t> .</a:t>
            </a:r>
          </a:p>
          <a:p>
            <a:pPr lvl="1" fontAlgn="base"/>
            <a:r>
              <a:rPr lang="en-US" dirty="0"/>
              <a:t>In each set of P</a:t>
            </a:r>
            <a:r>
              <a:rPr lang="en-US" baseline="-25000" dirty="0"/>
              <a:t>k-1</a:t>
            </a:r>
            <a:r>
              <a:rPr lang="en-US" dirty="0"/>
              <a:t> , consider all the possible pair of states within each set and if the two states are distinguishable, partition the set into different sets in P</a:t>
            </a:r>
            <a:r>
              <a:rPr lang="en-US" baseline="-25000" dirty="0"/>
              <a:t>k</a:t>
            </a:r>
            <a:r>
              <a:rPr lang="en-US" dirty="0"/>
              <a:t>.</a:t>
            </a:r>
          </a:p>
          <a:p>
            <a:pPr lvl="2" fontAlgn="base"/>
            <a:r>
              <a:rPr lang="en-US" sz="2200" i="1" dirty="0">
                <a:solidFill>
                  <a:srgbClr val="C00000"/>
                </a:solidFill>
              </a:rPr>
              <a:t>Two states q</a:t>
            </a:r>
            <a:r>
              <a:rPr lang="en-US" sz="2200" i="1" baseline="-25000" dirty="0">
                <a:solidFill>
                  <a:srgbClr val="C00000"/>
                </a:solidFill>
              </a:rPr>
              <a:t>1</a:t>
            </a:r>
            <a:r>
              <a:rPr lang="en-US" sz="2200" i="1" dirty="0">
                <a:solidFill>
                  <a:srgbClr val="C00000"/>
                </a:solidFill>
              </a:rPr>
              <a:t> and q</a:t>
            </a:r>
            <a:r>
              <a:rPr lang="en-US" sz="2200" i="1" baseline="-25000" dirty="0">
                <a:solidFill>
                  <a:srgbClr val="C00000"/>
                </a:solidFill>
              </a:rPr>
              <a:t>2</a:t>
            </a:r>
            <a:r>
              <a:rPr lang="en-US" sz="2200" i="1" dirty="0">
                <a:solidFill>
                  <a:srgbClr val="C00000"/>
                </a:solidFill>
              </a:rPr>
              <a:t> are distinguishable in partition P</a:t>
            </a:r>
            <a:r>
              <a:rPr lang="en-US" sz="2200" i="1" baseline="-25000" dirty="0">
                <a:solidFill>
                  <a:srgbClr val="C00000"/>
                </a:solidFill>
              </a:rPr>
              <a:t>k</a:t>
            </a:r>
            <a:r>
              <a:rPr lang="en-US" sz="2200" i="1" dirty="0">
                <a:solidFill>
                  <a:srgbClr val="C00000"/>
                </a:solidFill>
              </a:rPr>
              <a:t> for any input symbol ‘a’,</a:t>
            </a:r>
          </a:p>
          <a:p>
            <a:pPr lvl="2" fontAlgn="base"/>
            <a:r>
              <a:rPr lang="en-US" sz="2200" i="1" u="sng" dirty="0">
                <a:solidFill>
                  <a:srgbClr val="C00000"/>
                </a:solidFill>
              </a:rPr>
              <a:t>if δ (q</a:t>
            </a:r>
            <a:r>
              <a:rPr lang="en-US" sz="2200" i="1" u="sng" baseline="-25000" dirty="0">
                <a:solidFill>
                  <a:srgbClr val="C00000"/>
                </a:solidFill>
              </a:rPr>
              <a:t>1</a:t>
            </a:r>
            <a:r>
              <a:rPr lang="en-US" sz="2200" i="1" u="sng" dirty="0">
                <a:solidFill>
                  <a:srgbClr val="C00000"/>
                </a:solidFill>
              </a:rPr>
              <a:t>, a) and δ (q</a:t>
            </a:r>
            <a:r>
              <a:rPr lang="en-US" sz="2200" i="1" u="sng" baseline="-25000" dirty="0">
                <a:solidFill>
                  <a:srgbClr val="C00000"/>
                </a:solidFill>
              </a:rPr>
              <a:t>2</a:t>
            </a:r>
            <a:r>
              <a:rPr lang="en-US" sz="2200" i="1" u="sng" dirty="0">
                <a:solidFill>
                  <a:srgbClr val="C00000"/>
                </a:solidFill>
              </a:rPr>
              <a:t>, a) are in different sets in partition P</a:t>
            </a:r>
            <a:r>
              <a:rPr lang="en-US" sz="2200" i="1" u="sng" baseline="-25000" dirty="0">
                <a:solidFill>
                  <a:srgbClr val="C00000"/>
                </a:solidFill>
              </a:rPr>
              <a:t>k-1</a:t>
            </a:r>
            <a:r>
              <a:rPr lang="en-US" sz="2200" i="1" u="sng" dirty="0">
                <a:solidFill>
                  <a:srgbClr val="C00000"/>
                </a:solidFill>
              </a:rPr>
              <a:t>.</a:t>
            </a:r>
            <a:endParaRPr lang="en-US" sz="1900" i="1" u="sng" dirty="0">
              <a:solidFill>
                <a:srgbClr val="C00000"/>
              </a:solidFill>
            </a:endParaRPr>
          </a:p>
          <a:p>
            <a:pPr marL="0" indent="0" fontAlgn="base">
              <a:buNone/>
            </a:pPr>
            <a:r>
              <a:rPr lang="en-US" sz="2600" b="1" u="sng" dirty="0"/>
              <a:t>Step-05:</a:t>
            </a:r>
            <a:endParaRPr lang="en-US" sz="2600" b="1" dirty="0"/>
          </a:p>
          <a:p>
            <a:pPr lvl="1" fontAlgn="base"/>
            <a:r>
              <a:rPr lang="en-US" dirty="0"/>
              <a:t>Repeat step-04 until no change in partition occurs.</a:t>
            </a:r>
          </a:p>
          <a:p>
            <a:pPr lvl="1" fontAlgn="base"/>
            <a:r>
              <a:rPr lang="en-US" dirty="0"/>
              <a:t>In other words, when you find P</a:t>
            </a:r>
            <a:r>
              <a:rPr lang="en-US" baseline="-25000" dirty="0"/>
              <a:t>k</a:t>
            </a:r>
            <a:r>
              <a:rPr lang="en-US" dirty="0"/>
              <a:t> = P</a:t>
            </a:r>
            <a:r>
              <a:rPr lang="en-US" baseline="-25000" dirty="0"/>
              <a:t>k-1</a:t>
            </a:r>
            <a:r>
              <a:rPr lang="en-US" dirty="0"/>
              <a:t>, stop.</a:t>
            </a:r>
          </a:p>
          <a:p>
            <a:pPr marL="0" indent="0" fontAlgn="base">
              <a:buNone/>
            </a:pPr>
            <a:r>
              <a:rPr lang="en-US" b="1" u="sng" dirty="0"/>
              <a:t>Step-06:</a:t>
            </a:r>
            <a:endParaRPr lang="en-US" b="1" dirty="0"/>
          </a:p>
          <a:p>
            <a:pPr lvl="1" fontAlgn="base"/>
            <a:r>
              <a:rPr lang="en-US" dirty="0"/>
              <a:t> All those states which belong to the same set are equivalent.</a:t>
            </a:r>
          </a:p>
          <a:p>
            <a:pPr lvl="1" fontAlgn="base"/>
            <a:r>
              <a:rPr lang="en-US" dirty="0"/>
              <a:t>The equivalent states are merged to form a single state in the minimal DFA</a:t>
            </a:r>
          </a:p>
          <a:p>
            <a:pPr fontAlgn="base"/>
            <a:r>
              <a:rPr lang="en-US" b="1" dirty="0">
                <a:solidFill>
                  <a:srgbClr val="C00000"/>
                </a:solidFill>
              </a:rPr>
              <a:t>Number of states in Minimal DFA = Number of sets in P</a:t>
            </a:r>
            <a:r>
              <a:rPr lang="en-US" b="1" baseline="-25000" dirty="0">
                <a:solidFill>
                  <a:srgbClr val="C00000"/>
                </a:solidFill>
              </a:rPr>
              <a:t>k</a:t>
            </a:r>
            <a:endParaRPr lang="en-US" dirty="0">
              <a:solidFill>
                <a:srgbClr val="C00000"/>
              </a:solidFill>
            </a:endParaRPr>
          </a:p>
          <a:p>
            <a:endParaRPr lang="en-IN" dirty="0"/>
          </a:p>
        </p:txBody>
      </p:sp>
    </p:spTree>
    <p:extLst>
      <p:ext uri="{BB962C8B-B14F-4D97-AF65-F5344CB8AC3E}">
        <p14:creationId xmlns:p14="http://schemas.microsoft.com/office/powerpoint/2010/main" val="27121765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557B0-DFA3-4CCC-BC8C-679F6E8F9499}"/>
              </a:ext>
            </a:extLst>
          </p:cNvPr>
          <p:cNvSpPr>
            <a:spLocks noGrp="1"/>
          </p:cNvSpPr>
          <p:nvPr>
            <p:ph type="title"/>
          </p:nvPr>
        </p:nvSpPr>
        <p:spPr/>
        <p:txBody>
          <a:bodyPr/>
          <a:lstStyle/>
          <a:p>
            <a:r>
              <a:rPr lang="en-IN" dirty="0"/>
              <a:t>Problem 1</a:t>
            </a:r>
          </a:p>
        </p:txBody>
      </p:sp>
      <p:sp>
        <p:nvSpPr>
          <p:cNvPr id="3" name="Content Placeholder 2">
            <a:extLst>
              <a:ext uri="{FF2B5EF4-FFF2-40B4-BE49-F238E27FC236}">
                <a16:creationId xmlns:a16="http://schemas.microsoft.com/office/drawing/2014/main" id="{3F39F732-C43C-412A-A482-E96BB6C4D6A1}"/>
              </a:ext>
            </a:extLst>
          </p:cNvPr>
          <p:cNvSpPr>
            <a:spLocks noGrp="1"/>
          </p:cNvSpPr>
          <p:nvPr>
            <p:ph idx="1"/>
          </p:nvPr>
        </p:nvSpPr>
        <p:spPr>
          <a:xfrm>
            <a:off x="254000" y="990600"/>
            <a:ext cx="7823200" cy="5334000"/>
          </a:xfrm>
        </p:spPr>
        <p:txBody>
          <a:bodyPr>
            <a:normAutofit/>
          </a:bodyPr>
          <a:lstStyle/>
          <a:p>
            <a:pPr marL="0" indent="0">
              <a:buNone/>
            </a:pPr>
            <a:r>
              <a:rPr lang="en-IN" sz="2000" b="1" dirty="0"/>
              <a:t>Step 1: </a:t>
            </a:r>
            <a:r>
              <a:rPr lang="en-US" sz="2000" b="0" i="0" dirty="0">
                <a:solidFill>
                  <a:srgbClr val="303030"/>
                </a:solidFill>
                <a:effectLst/>
                <a:latin typeface="Arimo"/>
              </a:rPr>
              <a:t>The given DFA contains no dead states and inaccessible states.</a:t>
            </a:r>
          </a:p>
          <a:p>
            <a:pPr marL="0" indent="0">
              <a:buNone/>
            </a:pPr>
            <a:r>
              <a:rPr lang="en-US" sz="2000" b="1" dirty="0">
                <a:solidFill>
                  <a:srgbClr val="303030"/>
                </a:solidFill>
                <a:latin typeface="Arimo"/>
              </a:rPr>
              <a:t>Step 2: </a:t>
            </a:r>
            <a:r>
              <a:rPr lang="en-US" sz="2000" dirty="0">
                <a:solidFill>
                  <a:srgbClr val="303030"/>
                </a:solidFill>
                <a:latin typeface="Arimo"/>
              </a:rPr>
              <a:t>Draw a state transition table-</a:t>
            </a:r>
          </a:p>
          <a:p>
            <a:pPr marL="0" indent="0">
              <a:buNone/>
            </a:pPr>
            <a:r>
              <a:rPr lang="en-US" sz="2000" dirty="0">
                <a:solidFill>
                  <a:srgbClr val="303030"/>
                </a:solidFill>
                <a:latin typeface="Arimo"/>
              </a:rPr>
              <a:t>Step 3: Now using Equivalence Theorem, we have-</a:t>
            </a:r>
          </a:p>
          <a:p>
            <a:pPr marL="0" indent="0">
              <a:buNone/>
            </a:pPr>
            <a:r>
              <a:rPr lang="en-US" sz="2000" dirty="0">
                <a:solidFill>
                  <a:srgbClr val="303030"/>
                </a:solidFill>
                <a:latin typeface="Arimo"/>
              </a:rPr>
              <a:t>P0 = { q0 , q1 , q2 , q3 } { q4 }  </a:t>
            </a:r>
            <a:r>
              <a:rPr lang="en-US" sz="1400" dirty="0">
                <a:solidFill>
                  <a:srgbClr val="FF0000"/>
                </a:solidFill>
                <a:latin typeface="Arimo"/>
              </a:rPr>
              <a:t>:set of final and non final</a:t>
            </a:r>
          </a:p>
          <a:p>
            <a:pPr marL="0" indent="0">
              <a:buNone/>
            </a:pPr>
            <a:r>
              <a:rPr lang="en-US" sz="2000" dirty="0">
                <a:solidFill>
                  <a:srgbClr val="303030"/>
                </a:solidFill>
                <a:latin typeface="Arimo"/>
              </a:rPr>
              <a:t>P1 = { q0 , q1 , q2 } { q3 } { q4 } </a:t>
            </a:r>
            <a:r>
              <a:rPr lang="en-US" sz="1400" dirty="0">
                <a:solidFill>
                  <a:srgbClr val="FF0000"/>
                </a:solidFill>
                <a:latin typeface="Arimo"/>
              </a:rPr>
              <a:t>:behavior or transition of q3 on input {a, b} is different from </a:t>
            </a:r>
            <a:r>
              <a:rPr lang="en-US" sz="1400" dirty="0">
                <a:solidFill>
                  <a:srgbClr val="303030"/>
                </a:solidFill>
                <a:latin typeface="Arimo"/>
              </a:rPr>
              <a:t>q0,q1,q2 </a:t>
            </a:r>
            <a:endParaRPr lang="en-US" sz="2000" dirty="0">
              <a:solidFill>
                <a:srgbClr val="303030"/>
              </a:solidFill>
              <a:latin typeface="Arimo"/>
            </a:endParaRPr>
          </a:p>
          <a:p>
            <a:pPr marL="0" indent="0">
              <a:buNone/>
            </a:pPr>
            <a:r>
              <a:rPr lang="en-US" sz="2000" dirty="0">
                <a:solidFill>
                  <a:srgbClr val="303030"/>
                </a:solidFill>
                <a:latin typeface="Arimo"/>
              </a:rPr>
              <a:t>P2 = { q0 , q2 } { q1 } { q3 } { q4 }</a:t>
            </a:r>
            <a:r>
              <a:rPr lang="en-US" sz="1400" dirty="0">
                <a:solidFill>
                  <a:srgbClr val="303030"/>
                </a:solidFill>
                <a:latin typeface="Arimo"/>
              </a:rPr>
              <a:t> </a:t>
            </a:r>
            <a:r>
              <a:rPr lang="en-US" sz="1400" dirty="0">
                <a:solidFill>
                  <a:srgbClr val="FF0000"/>
                </a:solidFill>
                <a:latin typeface="Arimo"/>
              </a:rPr>
              <a:t>:behavior or transition of q3 on input {a, b} is different from q0,q1,q2 </a:t>
            </a:r>
            <a:endParaRPr lang="en-US" sz="3200" dirty="0">
              <a:solidFill>
                <a:srgbClr val="FF0000"/>
              </a:solidFill>
              <a:latin typeface="Arimo"/>
            </a:endParaRPr>
          </a:p>
          <a:p>
            <a:pPr marL="0" indent="0">
              <a:buNone/>
            </a:pPr>
            <a:r>
              <a:rPr lang="en-US" sz="2000" dirty="0">
                <a:solidFill>
                  <a:srgbClr val="303030"/>
                </a:solidFill>
                <a:latin typeface="Arimo"/>
              </a:rPr>
              <a:t>P3 = { q0 , q2 } { q1 } { q3 } { q4 }</a:t>
            </a:r>
          </a:p>
          <a:p>
            <a:pPr marL="0" indent="0">
              <a:buNone/>
            </a:pPr>
            <a:r>
              <a:rPr lang="en-US" sz="2000" dirty="0">
                <a:solidFill>
                  <a:srgbClr val="303030"/>
                </a:solidFill>
                <a:latin typeface="Arimo"/>
              </a:rPr>
              <a:t>Since P3 = P2, so we stop.</a:t>
            </a:r>
          </a:p>
          <a:p>
            <a:pPr marL="0" indent="0">
              <a:buNone/>
            </a:pPr>
            <a:r>
              <a:rPr lang="en-US" sz="2000" dirty="0">
                <a:solidFill>
                  <a:srgbClr val="303030"/>
                </a:solidFill>
                <a:latin typeface="Arimo"/>
              </a:rPr>
              <a:t>From P3, we infer that states q0 and q2 are equivalent and can be merged together.</a:t>
            </a:r>
          </a:p>
          <a:p>
            <a:pPr marL="0" indent="0">
              <a:buNone/>
            </a:pPr>
            <a:r>
              <a:rPr lang="en-US" sz="2000" dirty="0">
                <a:solidFill>
                  <a:srgbClr val="303030"/>
                </a:solidFill>
                <a:latin typeface="Arimo"/>
              </a:rPr>
              <a:t>So, Our minimal DFA is-</a:t>
            </a:r>
            <a:endParaRPr lang="en-IN" sz="2000" dirty="0"/>
          </a:p>
        </p:txBody>
      </p:sp>
      <p:pic>
        <p:nvPicPr>
          <p:cNvPr id="2050" name="Picture 2">
            <a:extLst>
              <a:ext uri="{FF2B5EF4-FFF2-40B4-BE49-F238E27FC236}">
                <a16:creationId xmlns:a16="http://schemas.microsoft.com/office/drawing/2014/main" id="{32E9B72F-0E23-463F-9261-7D4A562F6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304800"/>
            <a:ext cx="4267200" cy="36449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3B036E6-BA6A-4A86-8FD2-FCC0223A080A}"/>
              </a:ext>
            </a:extLst>
          </p:cNvPr>
          <p:cNvPicPr>
            <a:picLocks noChangeAspect="1"/>
          </p:cNvPicPr>
          <p:nvPr/>
        </p:nvPicPr>
        <p:blipFill>
          <a:blip r:embed="rId3"/>
          <a:stretch>
            <a:fillRect/>
          </a:stretch>
        </p:blipFill>
        <p:spPr>
          <a:xfrm>
            <a:off x="8381804" y="4222622"/>
            <a:ext cx="3810196" cy="2482978"/>
          </a:xfrm>
          <a:prstGeom prst="rect">
            <a:avLst/>
          </a:prstGeom>
        </p:spPr>
      </p:pic>
      <p:pic>
        <p:nvPicPr>
          <p:cNvPr id="8" name="Picture 7">
            <a:extLst>
              <a:ext uri="{FF2B5EF4-FFF2-40B4-BE49-F238E27FC236}">
                <a16:creationId xmlns:a16="http://schemas.microsoft.com/office/drawing/2014/main" id="{5C666AE6-339B-4816-B2AE-949BE68718C8}"/>
              </a:ext>
            </a:extLst>
          </p:cNvPr>
          <p:cNvPicPr>
            <a:picLocks noChangeAspect="1"/>
          </p:cNvPicPr>
          <p:nvPr/>
        </p:nvPicPr>
        <p:blipFill>
          <a:blip r:embed="rId4"/>
          <a:stretch>
            <a:fillRect/>
          </a:stretch>
        </p:blipFill>
        <p:spPr>
          <a:xfrm>
            <a:off x="4724400" y="4613739"/>
            <a:ext cx="2117791" cy="2175596"/>
          </a:xfrm>
          <a:prstGeom prst="rect">
            <a:avLst/>
          </a:prstGeom>
        </p:spPr>
      </p:pic>
    </p:spTree>
    <p:extLst>
      <p:ext uri="{BB962C8B-B14F-4D97-AF65-F5344CB8AC3E}">
        <p14:creationId xmlns:p14="http://schemas.microsoft.com/office/powerpoint/2010/main" val="175128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02F3-E7EB-4AC9-A06F-A69EB72ABF39}"/>
              </a:ext>
            </a:extLst>
          </p:cNvPr>
          <p:cNvSpPr>
            <a:spLocks noGrp="1"/>
          </p:cNvSpPr>
          <p:nvPr>
            <p:ph type="title"/>
          </p:nvPr>
        </p:nvSpPr>
        <p:spPr/>
        <p:txBody>
          <a:bodyPr/>
          <a:lstStyle/>
          <a:p>
            <a:r>
              <a:rPr lang="en-IN" dirty="0"/>
              <a:t>Problem 2</a:t>
            </a:r>
          </a:p>
        </p:txBody>
      </p:sp>
      <p:sp>
        <p:nvSpPr>
          <p:cNvPr id="3" name="Content Placeholder 2">
            <a:extLst>
              <a:ext uri="{FF2B5EF4-FFF2-40B4-BE49-F238E27FC236}">
                <a16:creationId xmlns:a16="http://schemas.microsoft.com/office/drawing/2014/main" id="{C1E2176C-234B-47D1-95F0-3714486EC06D}"/>
              </a:ext>
            </a:extLst>
          </p:cNvPr>
          <p:cNvSpPr>
            <a:spLocks noGrp="1"/>
          </p:cNvSpPr>
          <p:nvPr>
            <p:ph idx="1"/>
          </p:nvPr>
        </p:nvSpPr>
        <p:spPr>
          <a:xfrm>
            <a:off x="254000" y="990600"/>
            <a:ext cx="7213600" cy="5334000"/>
          </a:xfrm>
        </p:spPr>
        <p:txBody>
          <a:bodyPr>
            <a:normAutofit fontScale="92500" lnSpcReduction="10000"/>
          </a:bodyPr>
          <a:lstStyle/>
          <a:p>
            <a:pPr marL="0" indent="0" algn="l" fontAlgn="base">
              <a:buNone/>
            </a:pPr>
            <a:r>
              <a:rPr lang="en-US" sz="2000" b="1" i="0" dirty="0">
                <a:solidFill>
                  <a:srgbClr val="303030"/>
                </a:solidFill>
                <a:effectLst/>
                <a:latin typeface="roboto condensed" pitchFamily="2" charset="0"/>
              </a:rPr>
              <a:t>Step-01: </a:t>
            </a:r>
            <a:r>
              <a:rPr lang="en-US" sz="2000" b="0" i="0" dirty="0">
                <a:solidFill>
                  <a:srgbClr val="303030"/>
                </a:solidFill>
                <a:effectLst/>
                <a:latin typeface="Arimo"/>
              </a:rPr>
              <a:t> State q</a:t>
            </a:r>
            <a:r>
              <a:rPr lang="en-US" sz="2000" b="0" i="0" baseline="-25000" dirty="0">
                <a:solidFill>
                  <a:srgbClr val="303030"/>
                </a:solidFill>
                <a:effectLst/>
                <a:latin typeface="Arimo"/>
              </a:rPr>
              <a:t>3</a:t>
            </a:r>
            <a:r>
              <a:rPr lang="en-US" sz="2000" b="0" i="0" dirty="0">
                <a:solidFill>
                  <a:srgbClr val="303030"/>
                </a:solidFill>
                <a:effectLst/>
                <a:latin typeface="Arimo"/>
              </a:rPr>
              <a:t> is inaccessible from the initial state.</a:t>
            </a:r>
          </a:p>
          <a:p>
            <a:pPr marL="0" indent="0" algn="l" fontAlgn="base">
              <a:buNone/>
            </a:pPr>
            <a:r>
              <a:rPr lang="en-US" sz="2000" b="0" i="0" dirty="0">
                <a:solidFill>
                  <a:srgbClr val="303030"/>
                </a:solidFill>
                <a:effectLst/>
                <a:latin typeface="Arimo"/>
              </a:rPr>
              <a:t>So, we eliminate it and its associated edges from the DFA.</a:t>
            </a:r>
          </a:p>
          <a:p>
            <a:pPr marL="0" indent="0" algn="l" fontAlgn="base">
              <a:buNone/>
            </a:pPr>
            <a:r>
              <a:rPr lang="en-US" sz="2000" b="1" i="0" dirty="0">
                <a:solidFill>
                  <a:srgbClr val="303030"/>
                </a:solidFill>
                <a:effectLst/>
                <a:latin typeface="roboto condensed" pitchFamily="2" charset="0"/>
              </a:rPr>
              <a:t>Step-02: </a:t>
            </a:r>
            <a:r>
              <a:rPr lang="en-US" sz="2000" b="0" i="0" dirty="0">
                <a:solidFill>
                  <a:srgbClr val="303030"/>
                </a:solidFill>
                <a:effectLst/>
                <a:latin typeface="Arimo"/>
              </a:rPr>
              <a:t>Draw a state transition table-</a:t>
            </a:r>
          </a:p>
          <a:p>
            <a:pPr marL="0" indent="0" fontAlgn="base">
              <a:buNone/>
            </a:pPr>
            <a:r>
              <a:rPr lang="en-US" sz="2100" b="1" dirty="0"/>
              <a:t>Step-03:</a:t>
            </a:r>
            <a:endParaRPr lang="en-US" sz="2100" dirty="0"/>
          </a:p>
          <a:p>
            <a:pPr marL="0" indent="0" fontAlgn="base">
              <a:buNone/>
            </a:pPr>
            <a:r>
              <a:rPr lang="en-US" sz="2100" dirty="0"/>
              <a:t>Now using Equivalence Theorem, we have-</a:t>
            </a:r>
          </a:p>
          <a:p>
            <a:pPr marL="0" indent="0" fontAlgn="base">
              <a:buNone/>
            </a:pPr>
            <a:r>
              <a:rPr lang="en-US" sz="2100" dirty="0"/>
              <a:t>P</a:t>
            </a:r>
            <a:r>
              <a:rPr lang="en-US" sz="2100" baseline="-25000" dirty="0"/>
              <a:t>0</a:t>
            </a:r>
            <a:r>
              <a:rPr lang="en-US" sz="2100" dirty="0"/>
              <a:t> = { q</a:t>
            </a:r>
            <a:r>
              <a:rPr lang="en-US" sz="2100" baseline="-25000" dirty="0"/>
              <a:t>0</a:t>
            </a:r>
            <a:r>
              <a:rPr lang="en-US" sz="2100" dirty="0"/>
              <a:t> } { q</a:t>
            </a:r>
            <a:r>
              <a:rPr lang="en-US" sz="2100" baseline="-25000" dirty="0"/>
              <a:t>1</a:t>
            </a:r>
            <a:r>
              <a:rPr lang="en-US" sz="2100" dirty="0"/>
              <a:t> , q</a:t>
            </a:r>
            <a:r>
              <a:rPr lang="en-US" sz="2100" baseline="-25000" dirty="0"/>
              <a:t>2</a:t>
            </a:r>
            <a:r>
              <a:rPr lang="en-US" sz="2100" dirty="0"/>
              <a:t> }</a:t>
            </a:r>
          </a:p>
          <a:p>
            <a:pPr marL="0" indent="0" fontAlgn="base">
              <a:buNone/>
            </a:pPr>
            <a:r>
              <a:rPr lang="en-US" sz="2100" dirty="0"/>
              <a:t>P</a:t>
            </a:r>
            <a:r>
              <a:rPr lang="en-US" sz="2100" baseline="-25000" dirty="0"/>
              <a:t>1</a:t>
            </a:r>
            <a:r>
              <a:rPr lang="en-US" sz="2100" dirty="0"/>
              <a:t> = { q</a:t>
            </a:r>
            <a:r>
              <a:rPr lang="en-US" sz="2100" baseline="-25000" dirty="0"/>
              <a:t>0</a:t>
            </a:r>
            <a:r>
              <a:rPr lang="en-US" sz="2100" dirty="0"/>
              <a:t> } { q</a:t>
            </a:r>
            <a:r>
              <a:rPr lang="en-US" sz="2100" baseline="-25000" dirty="0"/>
              <a:t>1</a:t>
            </a:r>
            <a:r>
              <a:rPr lang="en-US" sz="2100" dirty="0"/>
              <a:t> , q</a:t>
            </a:r>
            <a:r>
              <a:rPr lang="en-US" sz="2100" baseline="-25000" dirty="0"/>
              <a:t>2</a:t>
            </a:r>
            <a:r>
              <a:rPr lang="en-US" sz="2100" dirty="0"/>
              <a:t> }</a:t>
            </a:r>
          </a:p>
          <a:p>
            <a:pPr marL="0" indent="0" fontAlgn="base">
              <a:buNone/>
            </a:pPr>
            <a:r>
              <a:rPr lang="en-US" sz="2100" dirty="0"/>
              <a:t>Since P</a:t>
            </a:r>
            <a:r>
              <a:rPr lang="en-US" sz="2100" baseline="-25000" dirty="0"/>
              <a:t>1</a:t>
            </a:r>
            <a:r>
              <a:rPr lang="en-US" sz="2100" dirty="0"/>
              <a:t> = P</a:t>
            </a:r>
            <a:r>
              <a:rPr lang="en-US" sz="2100" baseline="-25000" dirty="0"/>
              <a:t>0</a:t>
            </a:r>
            <a:r>
              <a:rPr lang="en-US" sz="2100" dirty="0"/>
              <a:t>, so we stop.</a:t>
            </a:r>
          </a:p>
          <a:p>
            <a:pPr marL="0" indent="0" fontAlgn="base">
              <a:buNone/>
            </a:pPr>
            <a:r>
              <a:rPr lang="en-US" sz="2100" dirty="0"/>
              <a:t>From P</a:t>
            </a:r>
            <a:r>
              <a:rPr lang="en-US" sz="2100" baseline="-25000" dirty="0"/>
              <a:t>1</a:t>
            </a:r>
            <a:r>
              <a:rPr lang="en-US" sz="2100" dirty="0"/>
              <a:t>, we infer that states q</a:t>
            </a:r>
            <a:r>
              <a:rPr lang="en-US" sz="2100" baseline="-25000" dirty="0"/>
              <a:t>1</a:t>
            </a:r>
            <a:r>
              <a:rPr lang="en-US" sz="2100" dirty="0"/>
              <a:t> and q</a:t>
            </a:r>
            <a:r>
              <a:rPr lang="en-US" sz="2100" baseline="-25000" dirty="0"/>
              <a:t>2</a:t>
            </a:r>
            <a:r>
              <a:rPr lang="en-US" sz="2100" dirty="0"/>
              <a:t> are equivalent and can be merged together.</a:t>
            </a:r>
          </a:p>
          <a:p>
            <a:pPr marL="0" indent="0" fontAlgn="base">
              <a:buNone/>
            </a:pPr>
            <a:r>
              <a:rPr lang="en-US" sz="2100" dirty="0"/>
              <a:t>So, Our minimal DFA is-</a:t>
            </a:r>
          </a:p>
          <a:p>
            <a:pPr marL="0" indent="0" algn="l" fontAlgn="base">
              <a:buNone/>
            </a:pPr>
            <a:endParaRPr lang="en-US" sz="2000" b="0" i="0" dirty="0">
              <a:solidFill>
                <a:srgbClr val="303030"/>
              </a:solidFill>
              <a:effectLst/>
              <a:latin typeface="Arimo"/>
            </a:endParaRPr>
          </a:p>
          <a:p>
            <a:pPr marL="0" indent="0">
              <a:buNone/>
            </a:pPr>
            <a:br>
              <a:rPr lang="en-US" dirty="0"/>
            </a:br>
            <a:endParaRPr lang="en-US" b="0" i="0" dirty="0">
              <a:solidFill>
                <a:srgbClr val="303030"/>
              </a:solidFill>
              <a:effectLst/>
              <a:latin typeface="Arimo"/>
            </a:endParaRPr>
          </a:p>
          <a:p>
            <a:endParaRPr lang="en-IN" dirty="0"/>
          </a:p>
        </p:txBody>
      </p:sp>
      <p:pic>
        <p:nvPicPr>
          <p:cNvPr id="5" name="Picture 4">
            <a:extLst>
              <a:ext uri="{FF2B5EF4-FFF2-40B4-BE49-F238E27FC236}">
                <a16:creationId xmlns:a16="http://schemas.microsoft.com/office/drawing/2014/main" id="{C390DDBD-AC94-4912-898F-34B4856C08E4}"/>
              </a:ext>
            </a:extLst>
          </p:cNvPr>
          <p:cNvPicPr>
            <a:picLocks noChangeAspect="1"/>
          </p:cNvPicPr>
          <p:nvPr/>
        </p:nvPicPr>
        <p:blipFill>
          <a:blip r:embed="rId2"/>
          <a:stretch>
            <a:fillRect/>
          </a:stretch>
        </p:blipFill>
        <p:spPr>
          <a:xfrm>
            <a:off x="7315200" y="0"/>
            <a:ext cx="4845299" cy="2444876"/>
          </a:xfrm>
          <a:prstGeom prst="rect">
            <a:avLst/>
          </a:prstGeom>
        </p:spPr>
      </p:pic>
      <p:pic>
        <p:nvPicPr>
          <p:cNvPr id="7" name="Picture 6">
            <a:extLst>
              <a:ext uri="{FF2B5EF4-FFF2-40B4-BE49-F238E27FC236}">
                <a16:creationId xmlns:a16="http://schemas.microsoft.com/office/drawing/2014/main" id="{0EB60374-55F8-43D8-9DC9-BC641DA50FC0}"/>
              </a:ext>
            </a:extLst>
          </p:cNvPr>
          <p:cNvPicPr>
            <a:picLocks noChangeAspect="1"/>
          </p:cNvPicPr>
          <p:nvPr/>
        </p:nvPicPr>
        <p:blipFill>
          <a:blip r:embed="rId3"/>
          <a:stretch>
            <a:fillRect/>
          </a:stretch>
        </p:blipFill>
        <p:spPr>
          <a:xfrm>
            <a:off x="8333836" y="4430012"/>
            <a:ext cx="3797495" cy="1676486"/>
          </a:xfrm>
          <a:prstGeom prst="rect">
            <a:avLst/>
          </a:prstGeom>
        </p:spPr>
      </p:pic>
      <p:pic>
        <p:nvPicPr>
          <p:cNvPr id="9" name="Picture 8">
            <a:extLst>
              <a:ext uri="{FF2B5EF4-FFF2-40B4-BE49-F238E27FC236}">
                <a16:creationId xmlns:a16="http://schemas.microsoft.com/office/drawing/2014/main" id="{95DFB15D-13CA-49F0-A718-9116DAEC20A7}"/>
              </a:ext>
            </a:extLst>
          </p:cNvPr>
          <p:cNvPicPr>
            <a:picLocks noChangeAspect="1"/>
          </p:cNvPicPr>
          <p:nvPr/>
        </p:nvPicPr>
        <p:blipFill>
          <a:blip r:embed="rId4"/>
          <a:stretch>
            <a:fillRect/>
          </a:stretch>
        </p:blipFill>
        <p:spPr>
          <a:xfrm>
            <a:off x="7524757" y="2476651"/>
            <a:ext cx="4578585" cy="1466925"/>
          </a:xfrm>
          <a:prstGeom prst="rect">
            <a:avLst/>
          </a:prstGeom>
        </p:spPr>
      </p:pic>
      <p:pic>
        <p:nvPicPr>
          <p:cNvPr id="11" name="Picture 10">
            <a:extLst>
              <a:ext uri="{FF2B5EF4-FFF2-40B4-BE49-F238E27FC236}">
                <a16:creationId xmlns:a16="http://schemas.microsoft.com/office/drawing/2014/main" id="{2F0D1310-A88C-4002-973A-C88EF4F66013}"/>
              </a:ext>
            </a:extLst>
          </p:cNvPr>
          <p:cNvPicPr>
            <a:picLocks noChangeAspect="1"/>
          </p:cNvPicPr>
          <p:nvPr/>
        </p:nvPicPr>
        <p:blipFill>
          <a:blip r:embed="rId5"/>
          <a:stretch>
            <a:fillRect/>
          </a:stretch>
        </p:blipFill>
        <p:spPr>
          <a:xfrm>
            <a:off x="1981200" y="5268255"/>
            <a:ext cx="3111660" cy="1009702"/>
          </a:xfrm>
          <a:prstGeom prst="rect">
            <a:avLst/>
          </a:prstGeom>
        </p:spPr>
      </p:pic>
    </p:spTree>
    <p:extLst>
      <p:ext uri="{BB962C8B-B14F-4D97-AF65-F5344CB8AC3E}">
        <p14:creationId xmlns:p14="http://schemas.microsoft.com/office/powerpoint/2010/main" val="380429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500"/>
                                        <p:tgtEl>
                                          <p:spTgt spid="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5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fade">
                                      <p:cBhvr>
                                        <p:cTn id="55" dur="500"/>
                                        <p:tgtEl>
                                          <p:spTgt spid="3">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8E33-782C-4BAA-B6D5-50F17A89A3A3}"/>
              </a:ext>
            </a:extLst>
          </p:cNvPr>
          <p:cNvSpPr>
            <a:spLocks noGrp="1"/>
          </p:cNvSpPr>
          <p:nvPr>
            <p:ph type="title"/>
          </p:nvPr>
        </p:nvSpPr>
        <p:spPr/>
        <p:txBody>
          <a:bodyPr/>
          <a:lstStyle/>
          <a:p>
            <a:r>
              <a:rPr lang="en-IN" dirty="0"/>
              <a:t>Problem 3, 4</a:t>
            </a:r>
          </a:p>
        </p:txBody>
      </p:sp>
      <p:sp>
        <p:nvSpPr>
          <p:cNvPr id="3" name="Content Placeholder 2">
            <a:extLst>
              <a:ext uri="{FF2B5EF4-FFF2-40B4-BE49-F238E27FC236}">
                <a16:creationId xmlns:a16="http://schemas.microsoft.com/office/drawing/2014/main" id="{2D5F7A08-8482-4631-A199-2B1FBC14F49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430A79F-759A-4428-81D9-DA11E684F3B5}"/>
              </a:ext>
            </a:extLst>
          </p:cNvPr>
          <p:cNvPicPr>
            <a:picLocks noChangeAspect="1"/>
          </p:cNvPicPr>
          <p:nvPr/>
        </p:nvPicPr>
        <p:blipFill>
          <a:blip r:embed="rId2"/>
          <a:stretch>
            <a:fillRect/>
          </a:stretch>
        </p:blipFill>
        <p:spPr>
          <a:xfrm>
            <a:off x="533400" y="854982"/>
            <a:ext cx="4132598" cy="2574018"/>
          </a:xfrm>
          <a:prstGeom prst="rect">
            <a:avLst/>
          </a:prstGeom>
        </p:spPr>
      </p:pic>
      <p:pic>
        <p:nvPicPr>
          <p:cNvPr id="7" name="Picture 6">
            <a:extLst>
              <a:ext uri="{FF2B5EF4-FFF2-40B4-BE49-F238E27FC236}">
                <a16:creationId xmlns:a16="http://schemas.microsoft.com/office/drawing/2014/main" id="{B444BE33-813E-4DE2-B250-961FF67E213B}"/>
              </a:ext>
            </a:extLst>
          </p:cNvPr>
          <p:cNvPicPr>
            <a:picLocks noChangeAspect="1"/>
          </p:cNvPicPr>
          <p:nvPr/>
        </p:nvPicPr>
        <p:blipFill>
          <a:blip r:embed="rId3"/>
          <a:stretch>
            <a:fillRect/>
          </a:stretch>
        </p:blipFill>
        <p:spPr>
          <a:xfrm>
            <a:off x="6172200" y="1066800"/>
            <a:ext cx="4667490" cy="1143059"/>
          </a:xfrm>
          <a:prstGeom prst="rect">
            <a:avLst/>
          </a:prstGeom>
        </p:spPr>
      </p:pic>
      <p:pic>
        <p:nvPicPr>
          <p:cNvPr id="9" name="Picture 8">
            <a:extLst>
              <a:ext uri="{FF2B5EF4-FFF2-40B4-BE49-F238E27FC236}">
                <a16:creationId xmlns:a16="http://schemas.microsoft.com/office/drawing/2014/main" id="{09242650-BA6B-4304-B90C-C384174393D0}"/>
              </a:ext>
            </a:extLst>
          </p:cNvPr>
          <p:cNvPicPr>
            <a:picLocks noChangeAspect="1"/>
          </p:cNvPicPr>
          <p:nvPr/>
        </p:nvPicPr>
        <p:blipFill>
          <a:blip r:embed="rId4"/>
          <a:stretch>
            <a:fillRect/>
          </a:stretch>
        </p:blipFill>
        <p:spPr>
          <a:xfrm>
            <a:off x="254000" y="3418197"/>
            <a:ext cx="4673840" cy="3410125"/>
          </a:xfrm>
          <a:prstGeom prst="rect">
            <a:avLst/>
          </a:prstGeom>
        </p:spPr>
      </p:pic>
      <p:pic>
        <p:nvPicPr>
          <p:cNvPr id="11" name="Picture 10">
            <a:extLst>
              <a:ext uri="{FF2B5EF4-FFF2-40B4-BE49-F238E27FC236}">
                <a16:creationId xmlns:a16="http://schemas.microsoft.com/office/drawing/2014/main" id="{1DA39865-2B2F-4BBE-994A-2B5BB3E19535}"/>
              </a:ext>
            </a:extLst>
          </p:cNvPr>
          <p:cNvPicPr>
            <a:picLocks noChangeAspect="1"/>
          </p:cNvPicPr>
          <p:nvPr/>
        </p:nvPicPr>
        <p:blipFill>
          <a:blip r:embed="rId5"/>
          <a:stretch>
            <a:fillRect/>
          </a:stretch>
        </p:blipFill>
        <p:spPr>
          <a:xfrm>
            <a:off x="6400800" y="4267200"/>
            <a:ext cx="4635738" cy="1244664"/>
          </a:xfrm>
          <a:prstGeom prst="rect">
            <a:avLst/>
          </a:prstGeom>
        </p:spPr>
      </p:pic>
    </p:spTree>
    <p:extLst>
      <p:ext uri="{BB962C8B-B14F-4D97-AF65-F5344CB8AC3E}">
        <p14:creationId xmlns:p14="http://schemas.microsoft.com/office/powerpoint/2010/main" val="218606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C897-3105-400A-B11C-E09BC255635C}"/>
              </a:ext>
            </a:extLst>
          </p:cNvPr>
          <p:cNvSpPr>
            <a:spLocks noGrp="1"/>
          </p:cNvSpPr>
          <p:nvPr>
            <p:ph type="title"/>
          </p:nvPr>
        </p:nvSpPr>
        <p:spPr/>
        <p:txBody>
          <a:bodyPr/>
          <a:lstStyle/>
          <a:p>
            <a:r>
              <a:rPr lang="en-IN" dirty="0"/>
              <a:t>Problem 5</a:t>
            </a:r>
          </a:p>
        </p:txBody>
      </p:sp>
      <p:pic>
        <p:nvPicPr>
          <p:cNvPr id="5" name="Picture 4">
            <a:extLst>
              <a:ext uri="{FF2B5EF4-FFF2-40B4-BE49-F238E27FC236}">
                <a16:creationId xmlns:a16="http://schemas.microsoft.com/office/drawing/2014/main" id="{64F30BF3-79D5-43CE-A307-9CEA7AC744FE}"/>
              </a:ext>
            </a:extLst>
          </p:cNvPr>
          <p:cNvPicPr>
            <a:picLocks noChangeAspect="1"/>
          </p:cNvPicPr>
          <p:nvPr/>
        </p:nvPicPr>
        <p:blipFill>
          <a:blip r:embed="rId2"/>
          <a:stretch>
            <a:fillRect/>
          </a:stretch>
        </p:blipFill>
        <p:spPr>
          <a:xfrm>
            <a:off x="227531" y="996215"/>
            <a:ext cx="6278069" cy="2813785"/>
          </a:xfrm>
          <a:prstGeom prst="rect">
            <a:avLst/>
          </a:prstGeom>
        </p:spPr>
      </p:pic>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B082AB0-B4E0-4559-9367-0993156FE68D}"/>
                  </a:ext>
                </a:extLst>
              </p:cNvPr>
              <p:cNvSpPr/>
              <p:nvPr/>
            </p:nvSpPr>
            <p:spPr>
              <a:xfrm>
                <a:off x="8363011" y="209359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𝑎</m:t>
                      </m:r>
                    </m:oMath>
                  </m:oMathPara>
                </a14:m>
                <a:endParaRPr lang="en-US" dirty="0"/>
              </a:p>
            </p:txBody>
          </p:sp>
        </mc:Choice>
        <mc:Fallback xmlns="">
          <p:sp>
            <p:nvSpPr>
              <p:cNvPr id="6" name="Oval 5">
                <a:extLst>
                  <a:ext uri="{FF2B5EF4-FFF2-40B4-BE49-F238E27FC236}">
                    <a16:creationId xmlns:a16="http://schemas.microsoft.com/office/drawing/2014/main" id="{BB082AB0-B4E0-4559-9367-0993156FE68D}"/>
                  </a:ext>
                </a:extLst>
              </p:cNvPr>
              <p:cNvSpPr>
                <a:spLocks noRot="1" noChangeAspect="1" noMove="1" noResize="1" noEditPoints="1" noAdjustHandles="1" noChangeArrowheads="1" noChangeShapeType="1" noTextEdit="1"/>
              </p:cNvSpPr>
              <p:nvPr/>
            </p:nvSpPr>
            <p:spPr>
              <a:xfrm>
                <a:off x="8363011" y="2093591"/>
                <a:ext cx="609600" cy="609600"/>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F9E8ED-63B8-4599-9D1D-13626D90E176}"/>
                  </a:ext>
                </a:extLst>
              </p:cNvPr>
              <p:cNvSpPr/>
              <p:nvPr/>
            </p:nvSpPr>
            <p:spPr>
              <a:xfrm>
                <a:off x="9658411" y="209359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𝑐</m:t>
                      </m:r>
                    </m:oMath>
                  </m:oMathPara>
                </a14:m>
                <a:endParaRPr lang="en-US" dirty="0"/>
              </a:p>
            </p:txBody>
          </p:sp>
        </mc:Choice>
        <mc:Fallback xmlns="">
          <p:sp>
            <p:nvSpPr>
              <p:cNvPr id="7" name="Oval 6">
                <a:extLst>
                  <a:ext uri="{FF2B5EF4-FFF2-40B4-BE49-F238E27FC236}">
                    <a16:creationId xmlns:a16="http://schemas.microsoft.com/office/drawing/2014/main" id="{D1F9E8ED-63B8-4599-9D1D-13626D90E176}"/>
                  </a:ext>
                </a:extLst>
              </p:cNvPr>
              <p:cNvSpPr>
                <a:spLocks noRot="1" noChangeAspect="1" noMove="1" noResize="1" noEditPoints="1" noAdjustHandles="1" noChangeArrowheads="1" noChangeShapeType="1" noTextEdit="1"/>
              </p:cNvSpPr>
              <p:nvPr/>
            </p:nvSpPr>
            <p:spPr>
              <a:xfrm>
                <a:off x="9658411" y="2093591"/>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807FDD-EDC9-4FC7-B3A0-7207C81293CE}"/>
                  </a:ext>
                </a:extLst>
              </p:cNvPr>
              <p:cNvSpPr/>
              <p:nvPr/>
            </p:nvSpPr>
            <p:spPr>
              <a:xfrm>
                <a:off x="10953811" y="209359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𝑓</m:t>
                      </m:r>
                    </m:oMath>
                  </m:oMathPara>
                </a14:m>
                <a:endParaRPr lang="en-US" dirty="0"/>
              </a:p>
            </p:txBody>
          </p:sp>
        </mc:Choice>
        <mc:Fallback xmlns="">
          <p:sp>
            <p:nvSpPr>
              <p:cNvPr id="8" name="Oval 7">
                <a:extLst>
                  <a:ext uri="{FF2B5EF4-FFF2-40B4-BE49-F238E27FC236}">
                    <a16:creationId xmlns:a16="http://schemas.microsoft.com/office/drawing/2014/main" id="{B6807FDD-EDC9-4FC7-B3A0-7207C81293CE}"/>
                  </a:ext>
                </a:extLst>
              </p:cNvPr>
              <p:cNvSpPr>
                <a:spLocks noRot="1" noChangeAspect="1" noMove="1" noResize="1" noEditPoints="1" noAdjustHandles="1" noChangeArrowheads="1" noChangeShapeType="1" noTextEdit="1"/>
              </p:cNvSpPr>
              <p:nvPr/>
            </p:nvSpPr>
            <p:spPr>
              <a:xfrm>
                <a:off x="10953811" y="2093591"/>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10" name="Straight Arrow Connector 9">
            <a:extLst>
              <a:ext uri="{FF2B5EF4-FFF2-40B4-BE49-F238E27FC236}">
                <a16:creationId xmlns:a16="http://schemas.microsoft.com/office/drawing/2014/main" id="{694A1806-6F7F-4389-A283-29A30CFEA718}"/>
              </a:ext>
            </a:extLst>
          </p:cNvPr>
          <p:cNvCxnSpPr>
            <a:stCxn id="6" idx="6"/>
            <a:endCxn id="7" idx="2"/>
          </p:cNvCxnSpPr>
          <p:nvPr/>
        </p:nvCxnSpPr>
        <p:spPr>
          <a:xfrm>
            <a:off x="8972611" y="2398391"/>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C346DDF-B254-4F87-BD66-4BAAC02AE7EC}"/>
              </a:ext>
            </a:extLst>
          </p:cNvPr>
          <p:cNvCxnSpPr>
            <a:stCxn id="7" idx="6"/>
            <a:endCxn id="8" idx="2"/>
          </p:cNvCxnSpPr>
          <p:nvPr/>
        </p:nvCxnSpPr>
        <p:spPr>
          <a:xfrm>
            <a:off x="10268011" y="2398391"/>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1F25A64-10B0-4962-89A5-4005BFC5C4ED}"/>
              </a:ext>
            </a:extLst>
          </p:cNvPr>
          <p:cNvSpPr txBox="1"/>
          <p:nvPr/>
        </p:nvSpPr>
        <p:spPr>
          <a:xfrm>
            <a:off x="11486988" y="1659727"/>
            <a:ext cx="476412" cy="369332"/>
          </a:xfrm>
          <a:prstGeom prst="rect">
            <a:avLst/>
          </a:prstGeom>
          <a:noFill/>
        </p:spPr>
        <p:txBody>
          <a:bodyPr wrap="none" rtlCol="0">
            <a:spAutoFit/>
          </a:bodyPr>
          <a:lstStyle/>
          <a:p>
            <a:r>
              <a:rPr lang="en-US" dirty="0"/>
              <a:t>0,1</a:t>
            </a:r>
          </a:p>
        </p:txBody>
      </p:sp>
      <p:sp>
        <p:nvSpPr>
          <p:cNvPr id="14" name="TextBox 13">
            <a:extLst>
              <a:ext uri="{FF2B5EF4-FFF2-40B4-BE49-F238E27FC236}">
                <a16:creationId xmlns:a16="http://schemas.microsoft.com/office/drawing/2014/main" id="{2A499B29-E060-41E7-AE8B-D7E13C01BC2A}"/>
              </a:ext>
            </a:extLst>
          </p:cNvPr>
          <p:cNvSpPr txBox="1"/>
          <p:nvPr/>
        </p:nvSpPr>
        <p:spPr>
          <a:xfrm>
            <a:off x="10442761" y="2029059"/>
            <a:ext cx="306494" cy="369332"/>
          </a:xfrm>
          <a:prstGeom prst="rect">
            <a:avLst/>
          </a:prstGeom>
          <a:no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07739DDD-FDF3-4CE3-B76A-9227275977AE}"/>
              </a:ext>
            </a:extLst>
          </p:cNvPr>
          <p:cNvSpPr txBox="1"/>
          <p:nvPr/>
        </p:nvSpPr>
        <p:spPr>
          <a:xfrm>
            <a:off x="9147361" y="2003659"/>
            <a:ext cx="301686" cy="369332"/>
          </a:xfrm>
          <a:prstGeom prst="rect">
            <a:avLst/>
          </a:prstGeom>
          <a:noFill/>
        </p:spPr>
        <p:txBody>
          <a:bodyPr wrap="none" rtlCol="0">
            <a:spAutoFit/>
          </a:bodyPr>
          <a:lstStyle/>
          <a:p>
            <a:r>
              <a:rPr lang="en-US" dirty="0"/>
              <a:t>1</a:t>
            </a:r>
          </a:p>
        </p:txBody>
      </p:sp>
      <p:sp>
        <p:nvSpPr>
          <p:cNvPr id="16" name="Oval 15">
            <a:extLst>
              <a:ext uri="{FF2B5EF4-FFF2-40B4-BE49-F238E27FC236}">
                <a16:creationId xmlns:a16="http://schemas.microsoft.com/office/drawing/2014/main" id="{414BC511-5E51-41E0-9BFE-558F5586D022}"/>
              </a:ext>
            </a:extLst>
          </p:cNvPr>
          <p:cNvSpPr/>
          <p:nvPr/>
        </p:nvSpPr>
        <p:spPr>
          <a:xfrm>
            <a:off x="9734611" y="2169791"/>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707EA0EC-71CC-43E9-839D-4E21437CB7C8}"/>
              </a:ext>
            </a:extLst>
          </p:cNvPr>
          <p:cNvCxnSpPr/>
          <p:nvPr/>
        </p:nvCxnSpPr>
        <p:spPr>
          <a:xfrm>
            <a:off x="7677211" y="2427419"/>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5E85CF12-A830-4D0D-B346-587FCF50FBBB}"/>
              </a:ext>
            </a:extLst>
          </p:cNvPr>
          <p:cNvCxnSpPr>
            <a:stCxn id="8" idx="1"/>
            <a:endCxn id="8" idx="7"/>
          </p:cNvCxnSpPr>
          <p:nvPr/>
        </p:nvCxnSpPr>
        <p:spPr>
          <a:xfrm rot="5400000" flipH="1" flipV="1">
            <a:off x="11258611" y="1967339"/>
            <a:ext cx="12700" cy="431052"/>
          </a:xfrm>
          <a:prstGeom prst="curvedConnector3">
            <a:avLst>
              <a:gd name="adj1" fmla="val 507978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866863C3-B4D2-44A5-B3D3-DEF838095A9B}"/>
              </a:ext>
            </a:extLst>
          </p:cNvPr>
          <p:cNvCxnSpPr/>
          <p:nvPr/>
        </p:nvCxnSpPr>
        <p:spPr>
          <a:xfrm rot="5400000" flipH="1" flipV="1">
            <a:off x="9943787" y="2024115"/>
            <a:ext cx="12700" cy="431052"/>
          </a:xfrm>
          <a:prstGeom prst="curvedConnector3">
            <a:avLst>
              <a:gd name="adj1" fmla="val 507978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D36EF9EB-E7D7-4B59-AE6E-183E9D7309BB}"/>
              </a:ext>
            </a:extLst>
          </p:cNvPr>
          <p:cNvCxnSpPr/>
          <p:nvPr/>
        </p:nvCxnSpPr>
        <p:spPr>
          <a:xfrm rot="5400000" flipH="1" flipV="1">
            <a:off x="8648387" y="2024115"/>
            <a:ext cx="12700" cy="431052"/>
          </a:xfrm>
          <a:prstGeom prst="curvedConnector3">
            <a:avLst>
              <a:gd name="adj1" fmla="val 5079787"/>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C3D67FD-0DCD-4B09-A192-0623FD8BB941}"/>
              </a:ext>
            </a:extLst>
          </p:cNvPr>
          <p:cNvSpPr txBox="1"/>
          <p:nvPr/>
        </p:nvSpPr>
        <p:spPr>
          <a:xfrm>
            <a:off x="10029805" y="1527925"/>
            <a:ext cx="301686" cy="369332"/>
          </a:xfrm>
          <a:prstGeom prst="rect">
            <a:avLst/>
          </a:prstGeom>
          <a:noFill/>
        </p:spPr>
        <p:txBody>
          <a:bodyPr wrap="none" rtlCol="0">
            <a:spAutoFit/>
          </a:bodyPr>
          <a:lstStyle/>
          <a:p>
            <a:r>
              <a:rPr lang="en-US" dirty="0"/>
              <a:t>0</a:t>
            </a:r>
          </a:p>
        </p:txBody>
      </p:sp>
      <p:sp>
        <p:nvSpPr>
          <p:cNvPr id="24" name="TextBox 23">
            <a:extLst>
              <a:ext uri="{FF2B5EF4-FFF2-40B4-BE49-F238E27FC236}">
                <a16:creationId xmlns:a16="http://schemas.microsoft.com/office/drawing/2014/main" id="{9FAAACFF-E4E1-404C-B8C9-6E246B201CE2}"/>
              </a:ext>
            </a:extLst>
          </p:cNvPr>
          <p:cNvSpPr txBox="1"/>
          <p:nvPr/>
        </p:nvSpPr>
        <p:spPr>
          <a:xfrm>
            <a:off x="8697170" y="1447800"/>
            <a:ext cx="301686" cy="369332"/>
          </a:xfrm>
          <a:prstGeom prst="rect">
            <a:avLst/>
          </a:prstGeom>
          <a:noFill/>
        </p:spPr>
        <p:txBody>
          <a:bodyPr wrap="none" rtlCol="0">
            <a:spAutoFit/>
          </a:bodyPr>
          <a:lstStyle/>
          <a:p>
            <a:r>
              <a:rPr lang="en-US" dirty="0"/>
              <a:t>0</a:t>
            </a:r>
          </a:p>
        </p:txBody>
      </p:sp>
    </p:spTree>
    <p:extLst>
      <p:ext uri="{BB962C8B-B14F-4D97-AF65-F5344CB8AC3E}">
        <p14:creationId xmlns:p14="http://schemas.microsoft.com/office/powerpoint/2010/main" val="290878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3" grpId="0"/>
      <p:bldP spid="14" grpId="0"/>
      <p:bldP spid="15" grpId="0"/>
      <p:bldP spid="16" grpId="0" animBg="1"/>
      <p:bldP spid="23" grpId="0"/>
      <p:bldP spid="2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Nondeterministic Finite Automata (NFA)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buFont typeface="Arial" panose="020B0604020202020204" pitchFamily="34" charset="0"/>
                  <a:buChar char="•"/>
                </a:pPr>
                <a:r>
                  <a:rPr lang="en-US" dirty="0"/>
                  <a:t>A nondeterministic finite automaton is a 5-tuple </a:t>
                </a:r>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𝑄</m:t>
                    </m:r>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𝐹</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m:t>
                    </m:r>
                  </m:oMath>
                </a14:m>
                <a:r>
                  <a:rPr lang="en-US" dirty="0"/>
                  <a:t> </a:t>
                </a:r>
                <a:endParaRPr lang="en-IN" dirty="0"/>
              </a:p>
              <a:p>
                <a:pPr lvl="1" algn="just"/>
                <a14:m>
                  <m:oMath xmlns:m="http://schemas.openxmlformats.org/officeDocument/2006/math">
                    <m:r>
                      <a:rPr lang="en-US" b="1" i="1">
                        <a:latin typeface="Cambria Math" panose="02040503050406030204" pitchFamily="18" charset="0"/>
                      </a:rPr>
                      <m:t>𝑸</m:t>
                    </m:r>
                  </m:oMath>
                </a14:m>
                <a:r>
                  <a:rPr lang="en-US" dirty="0"/>
                  <a:t> is finite set of states;</a:t>
                </a:r>
              </a:p>
              <a:p>
                <a:pPr lvl="1" algn="just"/>
                <a14:m>
                  <m:oMath xmlns:m="http://schemas.openxmlformats.org/officeDocument/2006/math">
                    <m:r>
                      <a:rPr lang="el-GR" b="1" i="1">
                        <a:latin typeface="Cambria Math" panose="02040503050406030204" pitchFamily="18" charset="0"/>
                        <a:ea typeface="Cambria Math" panose="02040503050406030204" pitchFamily="18" charset="0"/>
                      </a:rPr>
                      <m:t>𝜮</m:t>
                    </m:r>
                  </m:oMath>
                </a14:m>
                <a:r>
                  <a:rPr lang="en-US" dirty="0"/>
                  <a:t> is finite set of </a:t>
                </a:r>
                <a:r>
                  <a:rPr lang="en-US" i="1" dirty="0"/>
                  <a:t>input symbols called </a:t>
                </a:r>
                <a:r>
                  <a:rPr lang="en-US" i="1" dirty="0">
                    <a:solidFill>
                      <a:srgbClr val="C00000"/>
                    </a:solidFill>
                  </a:rPr>
                  <a:t>Input Alphabets</a:t>
                </a:r>
                <a:r>
                  <a:rPr lang="en-US" dirty="0"/>
                  <a:t>;</a:t>
                </a:r>
              </a:p>
              <a:p>
                <a:pPr lvl="1" algn="just"/>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𝒒</m:t>
                        </m:r>
                      </m:e>
                      <m:sub>
                        <m:r>
                          <a:rPr lang="en-US" b="1" i="1">
                            <a:latin typeface="Cambria Math" panose="02040503050406030204" pitchFamily="18" charset="0"/>
                            <a:ea typeface="Cambria Math" panose="02040503050406030204" pitchFamily="18" charset="0"/>
                          </a:rPr>
                          <m:t>𝟎</m:t>
                        </m:r>
                      </m:sub>
                    </m:sSub>
                    <m:r>
                      <a:rPr lang="en-US" b="1"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𝝐</m:t>
                    </m:r>
                    <m:r>
                      <a:rPr lang="en-US" b="1"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𝑸</m:t>
                    </m:r>
                  </m:oMath>
                </a14:m>
                <a:r>
                  <a:rPr lang="en-US" b="1" dirty="0"/>
                  <a:t> </a:t>
                </a:r>
                <a:r>
                  <a:rPr lang="en-US" dirty="0"/>
                  <a:t>(</a:t>
                </a:r>
                <a:r>
                  <a:rPr lang="en-US" i="1" dirty="0">
                    <a:solidFill>
                      <a:srgbClr val="C00000"/>
                    </a:solidFill>
                  </a:rPr>
                  <a:t>initial</a:t>
                </a:r>
                <a:r>
                  <a:rPr lang="en-US" dirty="0">
                    <a:solidFill>
                      <a:srgbClr val="C00000"/>
                    </a:solidFill>
                  </a:rPr>
                  <a:t> state</a:t>
                </a:r>
                <a:r>
                  <a:rPr lang="en-US" dirty="0"/>
                  <a:t>);</a:t>
                </a:r>
              </a:p>
              <a:p>
                <a:pPr lvl="1" algn="just"/>
                <a14:m>
                  <m:oMath xmlns:m="http://schemas.openxmlformats.org/officeDocument/2006/math">
                    <m:r>
                      <a:rPr lang="en-US" b="1" i="1">
                        <a:latin typeface="Cambria Math" panose="02040503050406030204" pitchFamily="18" charset="0"/>
                        <a:ea typeface="Cambria Math" panose="02040503050406030204" pitchFamily="18" charset="0"/>
                      </a:rPr>
                      <m:t>𝑭</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𝑸</m:t>
                    </m:r>
                  </m:oMath>
                </a14:m>
                <a:r>
                  <a:rPr lang="en-US" b="1" dirty="0"/>
                  <a:t> </a:t>
                </a:r>
                <a:r>
                  <a:rPr lang="en-US" dirty="0"/>
                  <a:t>(the set of </a:t>
                </a:r>
                <a:r>
                  <a:rPr lang="en-US" i="1" dirty="0"/>
                  <a:t>accepting</a:t>
                </a:r>
                <a:r>
                  <a:rPr lang="en-US" dirty="0"/>
                  <a:t> states of </a:t>
                </a:r>
                <a:r>
                  <a:rPr lang="en-US" dirty="0">
                    <a:solidFill>
                      <a:srgbClr val="C00000"/>
                    </a:solidFill>
                  </a:rPr>
                  <a:t>final states</a:t>
                </a:r>
                <a:r>
                  <a:rPr lang="en-US" dirty="0"/>
                  <a:t>);</a:t>
                </a:r>
              </a:p>
              <a:p>
                <a:pPr lvl="1" algn="just"/>
                <a14:m>
                  <m:oMath xmlns:m="http://schemas.openxmlformats.org/officeDocument/2006/math">
                    <m:r>
                      <a:rPr lang="en-US" b="1" i="1">
                        <a:latin typeface="Cambria Math" panose="02040503050406030204" pitchFamily="18" charset="0"/>
                        <a:ea typeface="Cambria Math" panose="02040503050406030204" pitchFamily="18" charset="0"/>
                      </a:rPr>
                      <m:t>𝜹</m:t>
                    </m:r>
                  </m:oMath>
                </a14:m>
                <a:r>
                  <a:rPr lang="en-US" dirty="0"/>
                  <a:t> is a function from </a:t>
                </a:r>
                <a14:m>
                  <m:oMath xmlns:m="http://schemas.openxmlformats.org/officeDocument/2006/math">
                    <m:r>
                      <a:rPr lang="en-US" b="1" i="1" smtClean="0">
                        <a:solidFill>
                          <a:srgbClr val="C00000"/>
                        </a:solidFill>
                        <a:latin typeface="Cambria Math" panose="02040503050406030204" pitchFamily="18" charset="0"/>
                      </a:rPr>
                      <m:t>𝑸</m:t>
                    </m:r>
                    <m:r>
                      <a:rPr lang="en-US" b="1" i="1">
                        <a:solidFill>
                          <a:srgbClr val="C00000"/>
                        </a:solidFill>
                        <a:latin typeface="Cambria Math" panose="02040503050406030204" pitchFamily="18" charset="0"/>
                        <a:ea typeface="Cambria Math" panose="02040503050406030204" pitchFamily="18" charset="0"/>
                      </a:rPr>
                      <m:t>×</m:t>
                    </m:r>
                    <m:r>
                      <a:rPr lang="el-GR" b="1" i="1">
                        <a:solidFill>
                          <a:srgbClr val="C00000"/>
                        </a:solidFill>
                        <a:latin typeface="Cambria Math" panose="02040503050406030204" pitchFamily="18" charset="0"/>
                        <a:ea typeface="Cambria Math" panose="02040503050406030204" pitchFamily="18" charset="0"/>
                      </a:rPr>
                      <m:t>𝜮</m:t>
                    </m:r>
                    <m:r>
                      <a:rPr lang="en-US" b="1" i="1">
                        <a:solidFill>
                          <a:srgbClr val="C00000"/>
                        </a:solidFill>
                        <a:latin typeface="Cambria Math" panose="02040503050406030204" pitchFamily="18" charset="0"/>
                        <a:ea typeface="Cambria Math" panose="02040503050406030204" pitchFamily="18" charset="0"/>
                      </a:rPr>
                      <m:t> </m:t>
                    </m:r>
                    <m:r>
                      <a:rPr lang="en-IN" b="1" i="1" smtClean="0">
                        <a:solidFill>
                          <a:srgbClr val="C00000"/>
                        </a:solidFill>
                        <a:latin typeface="Cambria Math" panose="02040503050406030204" pitchFamily="18" charset="0"/>
                        <a:ea typeface="Cambria Math" panose="02040503050406030204" pitchFamily="18" charset="0"/>
                      </a:rPr>
                      <m:t>→</m:t>
                    </m:r>
                    <m:r>
                      <a:rPr lang="en-IN" b="1" i="1" smtClean="0">
                        <a:solidFill>
                          <a:srgbClr val="C00000"/>
                        </a:solidFill>
                        <a:latin typeface="Cambria Math" panose="02040503050406030204" pitchFamily="18" charset="0"/>
                        <a:ea typeface="Cambria Math" panose="02040503050406030204" pitchFamily="18" charset="0"/>
                      </a:rPr>
                      <m:t>𝟐</m:t>
                    </m:r>
                    <m:r>
                      <a:rPr lang="en-US" b="1" i="1" baseline="30000">
                        <a:solidFill>
                          <a:srgbClr val="C00000"/>
                        </a:solidFill>
                        <a:latin typeface="Cambria Math" panose="02040503050406030204" pitchFamily="18" charset="0"/>
                        <a:ea typeface="Cambria Math" panose="02040503050406030204" pitchFamily="18" charset="0"/>
                      </a:rPr>
                      <m:t>𝑸</m:t>
                    </m:r>
                  </m:oMath>
                </a14:m>
                <a:r>
                  <a:rPr lang="en-US" dirty="0"/>
                  <a:t> (the </a:t>
                </a:r>
                <a:r>
                  <a:rPr lang="en-US" i="1" dirty="0">
                    <a:solidFill>
                      <a:srgbClr val="C00000"/>
                    </a:solidFill>
                  </a:rPr>
                  <a:t>transition</a:t>
                </a:r>
                <a:r>
                  <a:rPr lang="en-US" dirty="0">
                    <a:solidFill>
                      <a:srgbClr val="C00000"/>
                    </a:solidFill>
                  </a:rPr>
                  <a:t> function</a:t>
                </a:r>
                <a:r>
                  <a:rPr lang="en-US" dirty="0"/>
                  <a:t>).</a:t>
                </a:r>
              </a:p>
              <a:p>
                <a:pPr indent="0" algn="just">
                  <a:buNone/>
                </a:pPr>
                <a:r>
                  <a:rPr lang="en-US" dirty="0"/>
                  <a:t>If </a:t>
                </a:r>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oMath>
                </a14:m>
                <a:r>
                  <a:rPr lang="en-US" dirty="0"/>
                  <a:t>={</a:t>
                </a:r>
                <a:r>
                  <a:rPr lang="en-US" dirty="0" err="1"/>
                  <a:t>a,b</a:t>
                </a:r>
                <a:r>
                  <a:rPr lang="en-US" dirty="0"/>
                  <a:t>}</a:t>
                </a:r>
                <a14:m>
                  <m:oMath xmlns:m="http://schemas.openxmlformats.org/officeDocument/2006/math">
                    <m:r>
                      <a:rPr lang="en-IN" b="0" i="0" smtClean="0">
                        <a:solidFill>
                          <a:srgbClr val="C00000"/>
                        </a:solidFill>
                        <a:latin typeface="Cambria Math" panose="02040503050406030204" pitchFamily="18" charset="0"/>
                        <a:ea typeface="Cambria Math" panose="02040503050406030204" pitchFamily="18" charset="0"/>
                      </a:rPr>
                      <m:t> </m:t>
                    </m:r>
                    <m:r>
                      <m:rPr>
                        <m:sty m:val="p"/>
                      </m:rPr>
                      <a:rPr lang="en-IN" b="0" i="0" smtClean="0">
                        <a:solidFill>
                          <a:srgbClr val="C00000"/>
                        </a:solidFill>
                        <a:latin typeface="Cambria Math" panose="02040503050406030204" pitchFamily="18" charset="0"/>
                        <a:ea typeface="Cambria Math" panose="02040503050406030204" pitchFamily="18" charset="0"/>
                      </a:rPr>
                      <m:t>then</m:t>
                    </m:r>
                    <m:r>
                      <a:rPr lang="en-IN" b="0" i="0" smtClean="0">
                        <a:solidFill>
                          <a:srgbClr val="C00000"/>
                        </a:solidFill>
                        <a:latin typeface="Cambria Math" panose="02040503050406030204" pitchFamily="18" charset="0"/>
                        <a:ea typeface="Cambria Math" panose="02040503050406030204" pitchFamily="18" charset="0"/>
                      </a:rPr>
                      <m:t> </m:t>
                    </m:r>
                    <m:sSup>
                      <m:sSupPr>
                        <m:ctrlPr>
                          <a:rPr lang="el-GR" b="1" i="1">
                            <a:solidFill>
                              <a:srgbClr val="C00000"/>
                            </a:solidFill>
                            <a:latin typeface="Cambria Math" panose="02040503050406030204" pitchFamily="18" charset="0"/>
                            <a:ea typeface="Cambria Math" panose="02040503050406030204" pitchFamily="18" charset="0"/>
                          </a:rPr>
                        </m:ctrlPr>
                      </m:sSupPr>
                      <m:e>
                        <m:r>
                          <a:rPr lang="en-US" b="1" i="1">
                            <a:solidFill>
                              <a:srgbClr val="C00000"/>
                            </a:solidFill>
                            <a:latin typeface="Cambria Math" panose="02040503050406030204" pitchFamily="18" charset="0"/>
                            <a:ea typeface="Cambria Math" panose="02040503050406030204" pitchFamily="18" charset="0"/>
                          </a:rPr>
                          <m:t>𝟐</m:t>
                        </m:r>
                      </m:e>
                      <m:sup>
                        <m:r>
                          <a:rPr lang="en-US" b="1" i="1">
                            <a:solidFill>
                              <a:srgbClr val="C00000"/>
                            </a:solidFill>
                            <a:latin typeface="Cambria Math" panose="02040503050406030204" pitchFamily="18" charset="0"/>
                            <a:ea typeface="Cambria Math" panose="02040503050406030204" pitchFamily="18" charset="0"/>
                          </a:rPr>
                          <m:t>𝑸</m:t>
                        </m:r>
                      </m:sup>
                    </m:sSup>
                  </m:oMath>
                </a14:m>
                <a:r>
                  <a:rPr lang="en-US" dirty="0"/>
                  <a:t> : {</a:t>
                </a:r>
                <a:r>
                  <a:rPr lang="en-US" dirty="0">
                    <a:latin typeface="Calibri" panose="020F0502020204030204" pitchFamily="34" charset="0"/>
                    <a:cs typeface="Calibri" panose="020F0502020204030204" pitchFamily="34" charset="0"/>
                  </a:rPr>
                  <a:t>ɸ, {a}, {b}, {</a:t>
                </a:r>
                <a:r>
                  <a:rPr lang="en-US" dirty="0" err="1">
                    <a:latin typeface="Calibri" panose="020F0502020204030204" pitchFamily="34" charset="0"/>
                    <a:cs typeface="Calibri" panose="020F0502020204030204" pitchFamily="34" charset="0"/>
                  </a:rPr>
                  <a:t>a,b</a:t>
                </a:r>
                <a:r>
                  <a:rPr lang="en-US" dirty="0">
                    <a:latin typeface="Calibri" panose="020F0502020204030204" pitchFamily="34" charset="0"/>
                    <a:cs typeface="Calibri" panose="020F0502020204030204" pitchFamily="34" charset="0"/>
                  </a:rPr>
                  <a:t>} </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4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D8767314-64BB-4D53-AE4A-81EEA8570483}"/>
                  </a:ext>
                </a:extLst>
              </p:cNvPr>
              <p:cNvSpPr/>
              <p:nvPr/>
            </p:nvSpPr>
            <p:spPr>
              <a:xfrm>
                <a:off x="1447800"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4" name="Oval 3">
                <a:extLst>
                  <a:ext uri="{FF2B5EF4-FFF2-40B4-BE49-F238E27FC236}">
                    <a16:creationId xmlns:a16="http://schemas.microsoft.com/office/drawing/2014/main" id="{D8767314-64BB-4D53-AE4A-81EEA8570483}"/>
                  </a:ext>
                </a:extLst>
              </p:cNvPr>
              <p:cNvSpPr>
                <a:spLocks noRot="1" noChangeAspect="1" noMove="1" noResize="1" noEditPoints="1" noAdjustHandles="1" noChangeArrowheads="1" noChangeShapeType="1" noTextEdit="1"/>
              </p:cNvSpPr>
              <p:nvPr/>
            </p:nvSpPr>
            <p:spPr>
              <a:xfrm>
                <a:off x="1447800" y="4495800"/>
                <a:ext cx="609600" cy="609600"/>
              </a:xfrm>
              <a:prstGeom prst="ellipse">
                <a:avLst/>
              </a:prstGeom>
              <a:blipFill>
                <a:blip r:embed="rId3"/>
                <a:stretch>
                  <a:fillRect/>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C6EAE880-223B-41E9-9F1D-D73594298B67}"/>
              </a:ext>
            </a:extLst>
          </p:cNvPr>
          <p:cNvCxnSpPr/>
          <p:nvPr/>
        </p:nvCxnSpPr>
        <p:spPr>
          <a:xfrm>
            <a:off x="762000" y="4829628"/>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75031D33-3843-4B6F-9D30-6DA5C9CBD817}"/>
                  </a:ext>
                </a:extLst>
              </p:cNvPr>
              <p:cNvSpPr/>
              <p:nvPr/>
            </p:nvSpPr>
            <p:spPr>
              <a:xfrm>
                <a:off x="2971800"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6" name="Oval 5">
                <a:extLst>
                  <a:ext uri="{FF2B5EF4-FFF2-40B4-BE49-F238E27FC236}">
                    <a16:creationId xmlns:a16="http://schemas.microsoft.com/office/drawing/2014/main" id="{75031D33-3843-4B6F-9D30-6DA5C9CBD817}"/>
                  </a:ext>
                </a:extLst>
              </p:cNvPr>
              <p:cNvSpPr>
                <a:spLocks noRot="1" noChangeAspect="1" noMove="1" noResize="1" noEditPoints="1" noAdjustHandles="1" noChangeArrowheads="1" noChangeShapeType="1" noTextEdit="1"/>
              </p:cNvSpPr>
              <p:nvPr/>
            </p:nvSpPr>
            <p:spPr>
              <a:xfrm>
                <a:off x="2971800" y="4495800"/>
                <a:ext cx="609600" cy="609600"/>
              </a:xfrm>
              <a:prstGeom prst="ellipse">
                <a:avLst/>
              </a:prstGeom>
              <a:blipFill>
                <a:blip r:embed="rId3"/>
                <a:stretch>
                  <a:fillRect/>
                </a:stretch>
              </a:blipFill>
            </p:spPr>
            <p:txBody>
              <a:bodyPr/>
              <a:lstStyle/>
              <a:p>
                <a:r>
                  <a:rPr lang="en-IN">
                    <a:noFill/>
                  </a:rPr>
                  <a:t> </a:t>
                </a:r>
              </a:p>
            </p:txBody>
          </p:sp>
        </mc:Fallback>
      </mc:AlternateContent>
      <p:cxnSp>
        <p:nvCxnSpPr>
          <p:cNvPr id="8" name="Straight Arrow Connector 7">
            <a:extLst>
              <a:ext uri="{FF2B5EF4-FFF2-40B4-BE49-F238E27FC236}">
                <a16:creationId xmlns:a16="http://schemas.microsoft.com/office/drawing/2014/main" id="{E44B4737-3901-47A2-B08E-42804B99DA6C}"/>
              </a:ext>
            </a:extLst>
          </p:cNvPr>
          <p:cNvCxnSpPr>
            <a:stCxn id="4" idx="6"/>
            <a:endCxn id="6" idx="2"/>
          </p:cNvCxnSpPr>
          <p:nvPr/>
        </p:nvCxnSpPr>
        <p:spPr>
          <a:xfrm>
            <a:off x="2057400" y="4800600"/>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AD7F031-5D85-4C3D-91D0-F4E9565B4D3D}"/>
              </a:ext>
            </a:extLst>
          </p:cNvPr>
          <p:cNvSpPr txBox="1"/>
          <p:nvPr/>
        </p:nvSpPr>
        <p:spPr>
          <a:xfrm>
            <a:off x="2362200" y="4495800"/>
            <a:ext cx="295274" cy="369332"/>
          </a:xfrm>
          <a:prstGeom prst="rect">
            <a:avLst/>
          </a:prstGeom>
          <a:noFill/>
        </p:spPr>
        <p:txBody>
          <a:bodyPr wrap="none" rtlCol="0">
            <a:spAutoFit/>
          </a:bodyPr>
          <a:lstStyle/>
          <a:p>
            <a:r>
              <a:rPr lang="en-IN" dirty="0"/>
              <a:t>a</a:t>
            </a:r>
          </a:p>
        </p:txBody>
      </p:sp>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10E6C69F-1080-4A66-948C-A7D3BB7C7A03}"/>
                  </a:ext>
                </a:extLst>
              </p:cNvPr>
              <p:cNvSpPr/>
              <p:nvPr/>
            </p:nvSpPr>
            <p:spPr>
              <a:xfrm>
                <a:off x="6096000"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10" name="Oval 9">
                <a:extLst>
                  <a:ext uri="{FF2B5EF4-FFF2-40B4-BE49-F238E27FC236}">
                    <a16:creationId xmlns:a16="http://schemas.microsoft.com/office/drawing/2014/main" id="{10E6C69F-1080-4A66-948C-A7D3BB7C7A03}"/>
                  </a:ext>
                </a:extLst>
              </p:cNvPr>
              <p:cNvSpPr>
                <a:spLocks noRot="1" noChangeAspect="1" noMove="1" noResize="1" noEditPoints="1" noAdjustHandles="1" noChangeArrowheads="1" noChangeShapeType="1" noTextEdit="1"/>
              </p:cNvSpPr>
              <p:nvPr/>
            </p:nvSpPr>
            <p:spPr>
              <a:xfrm>
                <a:off x="6096000" y="4495800"/>
                <a:ext cx="609600" cy="609600"/>
              </a:xfrm>
              <a:prstGeom prst="ellipse">
                <a:avLst/>
              </a:prstGeom>
              <a:blipFill>
                <a:blip r:embed="rId4"/>
                <a:stretch>
                  <a:fillRect/>
                </a:stretch>
              </a:blipFill>
            </p:spPr>
            <p:txBody>
              <a:bodyPr/>
              <a:lstStyle/>
              <a:p>
                <a:r>
                  <a:rPr lang="en-IN">
                    <a:noFill/>
                  </a:rPr>
                  <a:t> </a:t>
                </a:r>
              </a:p>
            </p:txBody>
          </p:sp>
        </mc:Fallback>
      </mc:AlternateContent>
      <p:cxnSp>
        <p:nvCxnSpPr>
          <p:cNvPr id="11" name="Straight Arrow Connector 10">
            <a:extLst>
              <a:ext uri="{FF2B5EF4-FFF2-40B4-BE49-F238E27FC236}">
                <a16:creationId xmlns:a16="http://schemas.microsoft.com/office/drawing/2014/main" id="{101B123D-4EF3-4774-9927-13F826F0661F}"/>
              </a:ext>
            </a:extLst>
          </p:cNvPr>
          <p:cNvCxnSpPr/>
          <p:nvPr/>
        </p:nvCxnSpPr>
        <p:spPr>
          <a:xfrm>
            <a:off x="5410200" y="4829628"/>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B20CD814-CB86-41F5-8B7D-FC12748F6032}"/>
                  </a:ext>
                </a:extLst>
              </p:cNvPr>
              <p:cNvSpPr/>
              <p:nvPr/>
            </p:nvSpPr>
            <p:spPr>
              <a:xfrm>
                <a:off x="7620000" y="510058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12" name="Oval 11">
                <a:extLst>
                  <a:ext uri="{FF2B5EF4-FFF2-40B4-BE49-F238E27FC236}">
                    <a16:creationId xmlns:a16="http://schemas.microsoft.com/office/drawing/2014/main" id="{B20CD814-CB86-41F5-8B7D-FC12748F6032}"/>
                  </a:ext>
                </a:extLst>
              </p:cNvPr>
              <p:cNvSpPr>
                <a:spLocks noRot="1" noChangeAspect="1" noMove="1" noResize="1" noEditPoints="1" noAdjustHandles="1" noChangeArrowheads="1" noChangeShapeType="1" noTextEdit="1"/>
              </p:cNvSpPr>
              <p:nvPr/>
            </p:nvSpPr>
            <p:spPr>
              <a:xfrm>
                <a:off x="7620000" y="5100587"/>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13" name="Straight Arrow Connector 12">
            <a:extLst>
              <a:ext uri="{FF2B5EF4-FFF2-40B4-BE49-F238E27FC236}">
                <a16:creationId xmlns:a16="http://schemas.microsoft.com/office/drawing/2014/main" id="{DFDBFB24-4101-4178-966D-5DE45FC8D3EE}"/>
              </a:ext>
            </a:extLst>
          </p:cNvPr>
          <p:cNvCxnSpPr>
            <a:stCxn id="10" idx="6"/>
            <a:endCxn id="12" idx="2"/>
          </p:cNvCxnSpPr>
          <p:nvPr/>
        </p:nvCxnSpPr>
        <p:spPr>
          <a:xfrm>
            <a:off x="6705600" y="4800600"/>
            <a:ext cx="914400" cy="6047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6D634C7-5EBB-48E0-AF33-E723A6B201FB}"/>
              </a:ext>
            </a:extLst>
          </p:cNvPr>
          <p:cNvSpPr txBox="1"/>
          <p:nvPr/>
        </p:nvSpPr>
        <p:spPr>
          <a:xfrm>
            <a:off x="7010400" y="4495800"/>
            <a:ext cx="295274" cy="369332"/>
          </a:xfrm>
          <a:prstGeom prst="rect">
            <a:avLst/>
          </a:prstGeom>
          <a:noFill/>
        </p:spPr>
        <p:txBody>
          <a:bodyPr wrap="none" rtlCol="0">
            <a:spAutoFit/>
          </a:bodyPr>
          <a:lstStyle/>
          <a:p>
            <a:r>
              <a:rPr lang="en-IN" dirty="0"/>
              <a:t>a</a:t>
            </a:r>
          </a:p>
        </p:txBody>
      </p: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2C1E898-B3C1-4818-9A9E-C56CDA84870F}"/>
                  </a:ext>
                </a:extLst>
              </p:cNvPr>
              <p:cNvSpPr/>
              <p:nvPr/>
            </p:nvSpPr>
            <p:spPr>
              <a:xfrm>
                <a:off x="7620000" y="360827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15" name="Oval 14">
                <a:extLst>
                  <a:ext uri="{FF2B5EF4-FFF2-40B4-BE49-F238E27FC236}">
                    <a16:creationId xmlns:a16="http://schemas.microsoft.com/office/drawing/2014/main" id="{A2C1E898-B3C1-4818-9A9E-C56CDA84870F}"/>
                  </a:ext>
                </a:extLst>
              </p:cNvPr>
              <p:cNvSpPr>
                <a:spLocks noRot="1" noChangeAspect="1" noMove="1" noResize="1" noEditPoints="1" noAdjustHandles="1" noChangeArrowheads="1" noChangeShapeType="1" noTextEdit="1"/>
              </p:cNvSpPr>
              <p:nvPr/>
            </p:nvSpPr>
            <p:spPr>
              <a:xfrm>
                <a:off x="7620000" y="3608272"/>
                <a:ext cx="609600" cy="609600"/>
              </a:xfrm>
              <a:prstGeom prst="ellipse">
                <a:avLst/>
              </a:prstGeom>
              <a:blipFill>
                <a:blip r:embed="rId6"/>
                <a:stretch>
                  <a:fillRect/>
                </a:stretch>
              </a:blipFill>
            </p:spPr>
            <p:txBody>
              <a:bodyPr/>
              <a:lstStyle/>
              <a:p>
                <a:r>
                  <a:rPr lang="en-IN">
                    <a:noFill/>
                  </a:rPr>
                  <a:t> </a:t>
                </a:r>
              </a:p>
            </p:txBody>
          </p:sp>
        </mc:Fallback>
      </mc:AlternateContent>
      <p:cxnSp>
        <p:nvCxnSpPr>
          <p:cNvPr id="18" name="Straight Arrow Connector 17">
            <a:extLst>
              <a:ext uri="{FF2B5EF4-FFF2-40B4-BE49-F238E27FC236}">
                <a16:creationId xmlns:a16="http://schemas.microsoft.com/office/drawing/2014/main" id="{D33458D4-809F-4714-BDF8-D7C358F5E720}"/>
              </a:ext>
            </a:extLst>
          </p:cNvPr>
          <p:cNvCxnSpPr>
            <a:stCxn id="10" idx="6"/>
            <a:endCxn id="15" idx="3"/>
          </p:cNvCxnSpPr>
          <p:nvPr/>
        </p:nvCxnSpPr>
        <p:spPr>
          <a:xfrm flipV="1">
            <a:off x="6705600" y="4128598"/>
            <a:ext cx="1003674" cy="672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0E28490-12FB-42A0-9B74-09091C953CD7}"/>
              </a:ext>
            </a:extLst>
          </p:cNvPr>
          <p:cNvSpPr txBox="1"/>
          <p:nvPr/>
        </p:nvSpPr>
        <p:spPr>
          <a:xfrm>
            <a:off x="7010400" y="5047668"/>
            <a:ext cx="295274" cy="369332"/>
          </a:xfrm>
          <a:prstGeom prst="rect">
            <a:avLst/>
          </a:prstGeom>
          <a:noFill/>
        </p:spPr>
        <p:txBody>
          <a:bodyPr wrap="none" rtlCol="0">
            <a:spAutoFit/>
          </a:bodyPr>
          <a:lstStyle/>
          <a:p>
            <a:r>
              <a:rPr lang="en-IN" dirty="0"/>
              <a:t>a</a:t>
            </a:r>
          </a:p>
        </p:txBody>
      </p:sp>
    </p:spTree>
    <p:extLst>
      <p:ext uri="{BB962C8B-B14F-4D97-AF65-F5344CB8AC3E}">
        <p14:creationId xmlns:p14="http://schemas.microsoft.com/office/powerpoint/2010/main" val="7323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0" grpId="0" animBg="1"/>
      <p:bldP spid="12" grpId="0" animBg="1"/>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84A09-C827-42D0-8F71-F8ED94187138}"/>
              </a:ext>
            </a:extLst>
          </p:cNvPr>
          <p:cNvSpPr>
            <a:spLocks noGrp="1"/>
          </p:cNvSpPr>
          <p:nvPr>
            <p:ph type="title"/>
          </p:nvPr>
        </p:nvSpPr>
        <p:spPr/>
        <p:txBody>
          <a:bodyPr/>
          <a:lstStyle/>
          <a:p>
            <a:r>
              <a:rPr lang="en-IN" dirty="0"/>
              <a:t>Why we need non deterministic</a:t>
            </a:r>
          </a:p>
        </p:txBody>
      </p:sp>
      <p:sp>
        <p:nvSpPr>
          <p:cNvPr id="3" name="Content Placeholder 2">
            <a:extLst>
              <a:ext uri="{FF2B5EF4-FFF2-40B4-BE49-F238E27FC236}">
                <a16:creationId xmlns:a16="http://schemas.microsoft.com/office/drawing/2014/main" id="{BB916AD1-87D0-4C4E-8EF1-383CE9B4F21C}"/>
              </a:ext>
            </a:extLst>
          </p:cNvPr>
          <p:cNvSpPr>
            <a:spLocks noGrp="1"/>
          </p:cNvSpPr>
          <p:nvPr>
            <p:ph idx="1"/>
          </p:nvPr>
        </p:nvSpPr>
        <p:spPr/>
        <p:txBody>
          <a:bodyPr/>
          <a:lstStyle/>
          <a:p>
            <a:r>
              <a:rPr lang="en-IN" dirty="0"/>
              <a:t>All machines around us are deterministic</a:t>
            </a:r>
          </a:p>
          <a:p>
            <a:r>
              <a:rPr lang="en-IN" dirty="0"/>
              <a:t>Theoretical model is possible, but actual implementation is not possible</a:t>
            </a:r>
          </a:p>
          <a:p>
            <a:r>
              <a:rPr lang="en-IN" dirty="0"/>
              <a:t>We do not have software or hardware that work as non deterministically </a:t>
            </a:r>
          </a:p>
          <a:p>
            <a:pPr marL="0" indent="0">
              <a:buNone/>
            </a:pPr>
            <a:r>
              <a:rPr lang="en-IN" dirty="0"/>
              <a:t>Why it is important…???</a:t>
            </a:r>
          </a:p>
          <a:p>
            <a:pPr marL="0" indent="0">
              <a:buNone/>
            </a:pPr>
            <a:endParaRPr lang="en-IN" dirty="0"/>
          </a:p>
          <a:p>
            <a:pPr marL="0" indent="0">
              <a:buNone/>
            </a:pPr>
            <a:r>
              <a:rPr lang="en-IN" dirty="0"/>
              <a:t> </a:t>
            </a:r>
          </a:p>
        </p:txBody>
      </p:sp>
      <p:cxnSp>
        <p:nvCxnSpPr>
          <p:cNvPr id="5" name="Straight Arrow Connector 4">
            <a:extLst>
              <a:ext uri="{FF2B5EF4-FFF2-40B4-BE49-F238E27FC236}">
                <a16:creationId xmlns:a16="http://schemas.microsoft.com/office/drawing/2014/main" id="{C78D9ED9-2961-468D-A15E-D20407F825DC}"/>
              </a:ext>
            </a:extLst>
          </p:cNvPr>
          <p:cNvCxnSpPr/>
          <p:nvPr/>
        </p:nvCxnSpPr>
        <p:spPr>
          <a:xfrm>
            <a:off x="3848499" y="3886200"/>
            <a:ext cx="1219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 name="Straight Arrow Connector 5">
            <a:extLst>
              <a:ext uri="{FF2B5EF4-FFF2-40B4-BE49-F238E27FC236}">
                <a16:creationId xmlns:a16="http://schemas.microsoft.com/office/drawing/2014/main" id="{1151EEC6-AB3B-4677-8039-A183FF2C25E1}"/>
              </a:ext>
            </a:extLst>
          </p:cNvPr>
          <p:cNvCxnSpPr/>
          <p:nvPr/>
        </p:nvCxnSpPr>
        <p:spPr>
          <a:xfrm>
            <a:off x="6324600" y="3886200"/>
            <a:ext cx="1219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Oval 7">
            <a:extLst>
              <a:ext uri="{FF2B5EF4-FFF2-40B4-BE49-F238E27FC236}">
                <a16:creationId xmlns:a16="http://schemas.microsoft.com/office/drawing/2014/main" id="{7B4C2C05-8607-4F3D-B8E6-3D69917C1950}"/>
              </a:ext>
            </a:extLst>
          </p:cNvPr>
          <p:cNvSpPr/>
          <p:nvPr/>
        </p:nvSpPr>
        <p:spPr>
          <a:xfrm>
            <a:off x="7581499" y="3333757"/>
            <a:ext cx="1371600" cy="11048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Minimal DFA</a:t>
            </a:r>
          </a:p>
          <a:p>
            <a:pPr algn="ctr"/>
            <a:endParaRPr lang="en-IN" dirty="0"/>
          </a:p>
        </p:txBody>
      </p:sp>
      <p:sp>
        <p:nvSpPr>
          <p:cNvPr id="9" name="Oval 8">
            <a:extLst>
              <a:ext uri="{FF2B5EF4-FFF2-40B4-BE49-F238E27FC236}">
                <a16:creationId xmlns:a16="http://schemas.microsoft.com/office/drawing/2014/main" id="{5DB36706-FD22-44A8-ADE6-B4A1225DD8D3}"/>
              </a:ext>
            </a:extLst>
          </p:cNvPr>
          <p:cNvSpPr/>
          <p:nvPr/>
        </p:nvSpPr>
        <p:spPr>
          <a:xfrm>
            <a:off x="5067699" y="3333756"/>
            <a:ext cx="1219201" cy="110488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dirty="0"/>
          </a:p>
          <a:p>
            <a:pPr algn="ctr"/>
            <a:r>
              <a:rPr lang="en-IN" dirty="0"/>
              <a:t>DFA</a:t>
            </a:r>
          </a:p>
          <a:p>
            <a:pPr algn="ctr"/>
            <a:endParaRPr lang="en-IN" dirty="0"/>
          </a:p>
        </p:txBody>
      </p:sp>
      <p:sp>
        <p:nvSpPr>
          <p:cNvPr id="10" name="Oval 9">
            <a:extLst>
              <a:ext uri="{FF2B5EF4-FFF2-40B4-BE49-F238E27FC236}">
                <a16:creationId xmlns:a16="http://schemas.microsoft.com/office/drawing/2014/main" id="{4A593492-F435-4079-B6E3-EB21EEF7394A}"/>
              </a:ext>
            </a:extLst>
          </p:cNvPr>
          <p:cNvSpPr/>
          <p:nvPr/>
        </p:nvSpPr>
        <p:spPr>
          <a:xfrm>
            <a:off x="2599620" y="3333755"/>
            <a:ext cx="1219201" cy="110488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dirty="0"/>
          </a:p>
          <a:p>
            <a:pPr algn="ctr"/>
            <a:r>
              <a:rPr lang="en-IN" dirty="0"/>
              <a:t>NFA</a:t>
            </a:r>
          </a:p>
          <a:p>
            <a:pPr algn="ctr"/>
            <a:endParaRPr lang="en-IN" dirty="0"/>
          </a:p>
        </p:txBody>
      </p:sp>
      <p:cxnSp>
        <p:nvCxnSpPr>
          <p:cNvPr id="12" name="Straight Arrow Connector 11">
            <a:extLst>
              <a:ext uri="{FF2B5EF4-FFF2-40B4-BE49-F238E27FC236}">
                <a16:creationId xmlns:a16="http://schemas.microsoft.com/office/drawing/2014/main" id="{79239851-0D0E-4931-811C-3578707B130C}"/>
              </a:ext>
            </a:extLst>
          </p:cNvPr>
          <p:cNvCxnSpPr/>
          <p:nvPr/>
        </p:nvCxnSpPr>
        <p:spPr>
          <a:xfrm>
            <a:off x="3048000" y="4800600"/>
            <a:ext cx="5410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82D9BEBF-B5C3-43D0-B5C7-6D01BF6846D3}"/>
              </a:ext>
            </a:extLst>
          </p:cNvPr>
          <p:cNvSpPr txBox="1"/>
          <p:nvPr/>
        </p:nvSpPr>
        <p:spPr>
          <a:xfrm>
            <a:off x="4731655" y="4806419"/>
            <a:ext cx="1891287" cy="369332"/>
          </a:xfrm>
          <a:prstGeom prst="rect">
            <a:avLst/>
          </a:prstGeom>
          <a:noFill/>
        </p:spPr>
        <p:txBody>
          <a:bodyPr wrap="none" rtlCol="0">
            <a:spAutoFit/>
          </a:bodyPr>
          <a:lstStyle/>
          <a:p>
            <a:r>
              <a:rPr lang="en-IN" dirty="0"/>
              <a:t>Design complexity</a:t>
            </a:r>
          </a:p>
        </p:txBody>
      </p:sp>
    </p:spTree>
    <p:extLst>
      <p:ext uri="{BB962C8B-B14F-4D97-AF65-F5344CB8AC3E}">
        <p14:creationId xmlns:p14="http://schemas.microsoft.com/office/powerpoint/2010/main" val="18555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0" grpId="0" animBg="1"/>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A0AEA-B029-48EA-B5EB-BBED5425D6EA}"/>
              </a:ext>
            </a:extLst>
          </p:cNvPr>
          <p:cNvSpPr>
            <a:spLocks noGrp="1"/>
          </p:cNvSpPr>
          <p:nvPr>
            <p:ph type="title"/>
          </p:nvPr>
        </p:nvSpPr>
        <p:spPr/>
        <p:txBody>
          <a:bodyPr/>
          <a:lstStyle/>
          <a:p>
            <a:endParaRPr lang="en-IN"/>
          </a:p>
        </p:txBody>
      </p:sp>
      <p:sp>
        <p:nvSpPr>
          <p:cNvPr id="9" name="Oval 8">
            <a:extLst>
              <a:ext uri="{FF2B5EF4-FFF2-40B4-BE49-F238E27FC236}">
                <a16:creationId xmlns:a16="http://schemas.microsoft.com/office/drawing/2014/main" id="{1F20AE9D-FFD5-40A6-8D41-C8588CA29A07}"/>
              </a:ext>
            </a:extLst>
          </p:cNvPr>
          <p:cNvSpPr/>
          <p:nvPr/>
        </p:nvSpPr>
        <p:spPr>
          <a:xfrm>
            <a:off x="5269821" y="28876"/>
            <a:ext cx="1524000" cy="885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r>
              <a:rPr lang="en-IN" dirty="0"/>
              <a:t>Regular </a:t>
            </a:r>
          </a:p>
          <a:p>
            <a:r>
              <a:rPr lang="en-IN" dirty="0"/>
              <a:t>Grammar</a:t>
            </a:r>
          </a:p>
          <a:p>
            <a:pPr algn="ctr"/>
            <a:endParaRPr lang="en-IN" dirty="0"/>
          </a:p>
        </p:txBody>
      </p:sp>
      <p:sp>
        <p:nvSpPr>
          <p:cNvPr id="10" name="Oval 9">
            <a:extLst>
              <a:ext uri="{FF2B5EF4-FFF2-40B4-BE49-F238E27FC236}">
                <a16:creationId xmlns:a16="http://schemas.microsoft.com/office/drawing/2014/main" id="{10B55F66-A419-455C-B0B5-37B21D2FFB2D}"/>
              </a:ext>
            </a:extLst>
          </p:cNvPr>
          <p:cNvSpPr/>
          <p:nvPr/>
        </p:nvSpPr>
        <p:spPr>
          <a:xfrm>
            <a:off x="5269821" y="1771851"/>
            <a:ext cx="1524000" cy="762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endParaRPr lang="en-IN" dirty="0"/>
          </a:p>
          <a:p>
            <a:r>
              <a:rPr lang="en-IN" dirty="0"/>
              <a:t>Regular </a:t>
            </a:r>
          </a:p>
          <a:p>
            <a:r>
              <a:rPr lang="en-IN" dirty="0"/>
              <a:t>Language</a:t>
            </a:r>
          </a:p>
          <a:p>
            <a:pPr algn="ctr"/>
            <a:endParaRPr lang="en-IN" dirty="0"/>
          </a:p>
        </p:txBody>
      </p:sp>
      <p:sp>
        <p:nvSpPr>
          <p:cNvPr id="11" name="Oval 10">
            <a:extLst>
              <a:ext uri="{FF2B5EF4-FFF2-40B4-BE49-F238E27FC236}">
                <a16:creationId xmlns:a16="http://schemas.microsoft.com/office/drawing/2014/main" id="{E0405A0B-8578-460A-877C-29F84E4FF47B}"/>
              </a:ext>
            </a:extLst>
          </p:cNvPr>
          <p:cNvSpPr/>
          <p:nvPr/>
        </p:nvSpPr>
        <p:spPr>
          <a:xfrm>
            <a:off x="5232924" y="3404163"/>
            <a:ext cx="1652337" cy="808037"/>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endParaRPr lang="en-IN" dirty="0"/>
          </a:p>
          <a:p>
            <a:r>
              <a:rPr lang="en-IN" dirty="0"/>
              <a:t>Finite Automata</a:t>
            </a:r>
          </a:p>
          <a:p>
            <a:pPr algn="ctr"/>
            <a:endParaRPr lang="en-IN" dirty="0"/>
          </a:p>
        </p:txBody>
      </p:sp>
      <p:sp>
        <p:nvSpPr>
          <p:cNvPr id="12" name="Oval 11">
            <a:extLst>
              <a:ext uri="{FF2B5EF4-FFF2-40B4-BE49-F238E27FC236}">
                <a16:creationId xmlns:a16="http://schemas.microsoft.com/office/drawing/2014/main" id="{8923CC60-66A8-46F2-837E-9C4E4EB8889A}"/>
              </a:ext>
            </a:extLst>
          </p:cNvPr>
          <p:cNvSpPr/>
          <p:nvPr/>
        </p:nvSpPr>
        <p:spPr>
          <a:xfrm>
            <a:off x="3965333" y="5125876"/>
            <a:ext cx="858028" cy="8080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DFA</a:t>
            </a:r>
          </a:p>
        </p:txBody>
      </p:sp>
      <p:sp>
        <p:nvSpPr>
          <p:cNvPr id="13" name="Oval 12">
            <a:extLst>
              <a:ext uri="{FF2B5EF4-FFF2-40B4-BE49-F238E27FC236}">
                <a16:creationId xmlns:a16="http://schemas.microsoft.com/office/drawing/2014/main" id="{C32911FB-38B7-4CE7-B195-B46BA5D176A5}"/>
              </a:ext>
            </a:extLst>
          </p:cNvPr>
          <p:cNvSpPr/>
          <p:nvPr/>
        </p:nvSpPr>
        <p:spPr>
          <a:xfrm>
            <a:off x="7162800" y="5147534"/>
            <a:ext cx="858028" cy="80803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NFA</a:t>
            </a:r>
          </a:p>
        </p:txBody>
      </p:sp>
      <p:cxnSp>
        <p:nvCxnSpPr>
          <p:cNvPr id="15" name="Straight Arrow Connector 14">
            <a:extLst>
              <a:ext uri="{FF2B5EF4-FFF2-40B4-BE49-F238E27FC236}">
                <a16:creationId xmlns:a16="http://schemas.microsoft.com/office/drawing/2014/main" id="{D43A7270-205C-4B41-B9AD-E4EBC756E1EC}"/>
              </a:ext>
            </a:extLst>
          </p:cNvPr>
          <p:cNvCxnSpPr>
            <a:stCxn id="9" idx="4"/>
            <a:endCxn id="10" idx="0"/>
          </p:cNvCxnSpPr>
          <p:nvPr/>
        </p:nvCxnSpPr>
        <p:spPr>
          <a:xfrm>
            <a:off x="6031821" y="914401"/>
            <a:ext cx="0" cy="8574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E98886FA-EA64-4020-AC97-E3ED53A0B54B}"/>
              </a:ext>
            </a:extLst>
          </p:cNvPr>
          <p:cNvCxnSpPr>
            <a:stCxn id="10" idx="4"/>
            <a:endCxn id="11" idx="0"/>
          </p:cNvCxnSpPr>
          <p:nvPr/>
        </p:nvCxnSpPr>
        <p:spPr>
          <a:xfrm>
            <a:off x="6031821" y="2533851"/>
            <a:ext cx="27272" cy="87031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B453057F-6DA1-4A67-A775-54CAEAE2811A}"/>
              </a:ext>
            </a:extLst>
          </p:cNvPr>
          <p:cNvCxnSpPr>
            <a:cxnSpLocks/>
            <a:stCxn id="11" idx="3"/>
            <a:endCxn id="12" idx="0"/>
          </p:cNvCxnSpPr>
          <p:nvPr/>
        </p:nvCxnSpPr>
        <p:spPr>
          <a:xfrm flipH="1">
            <a:off x="4394347" y="4093866"/>
            <a:ext cx="1080556" cy="103201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EFECA245-D9E7-439F-A580-813EFEC4697D}"/>
              </a:ext>
            </a:extLst>
          </p:cNvPr>
          <p:cNvCxnSpPr>
            <a:cxnSpLocks/>
            <a:stCxn id="11" idx="5"/>
            <a:endCxn id="13" idx="0"/>
          </p:cNvCxnSpPr>
          <p:nvPr/>
        </p:nvCxnSpPr>
        <p:spPr>
          <a:xfrm>
            <a:off x="6643282" y="4093866"/>
            <a:ext cx="948532" cy="10536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5" name="Connector: Curved 24">
            <a:extLst>
              <a:ext uri="{FF2B5EF4-FFF2-40B4-BE49-F238E27FC236}">
                <a16:creationId xmlns:a16="http://schemas.microsoft.com/office/drawing/2014/main" id="{54A57BA2-4453-4E20-8221-B82BC2A94BC3}"/>
              </a:ext>
            </a:extLst>
          </p:cNvPr>
          <p:cNvCxnSpPr>
            <a:cxnSpLocks/>
            <a:stCxn id="10" idx="2"/>
            <a:endCxn id="12" idx="1"/>
          </p:cNvCxnSpPr>
          <p:nvPr/>
        </p:nvCxnSpPr>
        <p:spPr>
          <a:xfrm rot="10800000" flipV="1">
            <a:off x="4090989" y="2152850"/>
            <a:ext cx="1178833" cy="3091359"/>
          </a:xfrm>
          <a:prstGeom prst="curved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Connector: Curved 26">
            <a:extLst>
              <a:ext uri="{FF2B5EF4-FFF2-40B4-BE49-F238E27FC236}">
                <a16:creationId xmlns:a16="http://schemas.microsoft.com/office/drawing/2014/main" id="{5358804D-740D-439D-9257-A43891CBE993}"/>
              </a:ext>
            </a:extLst>
          </p:cNvPr>
          <p:cNvCxnSpPr>
            <a:stCxn id="10" idx="6"/>
            <a:endCxn id="13" idx="7"/>
          </p:cNvCxnSpPr>
          <p:nvPr/>
        </p:nvCxnSpPr>
        <p:spPr>
          <a:xfrm>
            <a:off x="6793821" y="2152851"/>
            <a:ext cx="1101352" cy="3113017"/>
          </a:xfrm>
          <a:prstGeom prst="curved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TextBox 30">
            <a:extLst>
              <a:ext uri="{FF2B5EF4-FFF2-40B4-BE49-F238E27FC236}">
                <a16:creationId xmlns:a16="http://schemas.microsoft.com/office/drawing/2014/main" id="{5AC49030-A782-47A3-9141-80FB255E376E}"/>
              </a:ext>
            </a:extLst>
          </p:cNvPr>
          <p:cNvSpPr txBox="1"/>
          <p:nvPr/>
        </p:nvSpPr>
        <p:spPr>
          <a:xfrm>
            <a:off x="3524047" y="3329197"/>
            <a:ext cx="758606" cy="369332"/>
          </a:xfrm>
          <a:prstGeom prst="rect">
            <a:avLst/>
          </a:prstGeom>
          <a:noFill/>
        </p:spPr>
        <p:txBody>
          <a:bodyPr wrap="none" rtlCol="0">
            <a:spAutoFit/>
          </a:bodyPr>
          <a:lstStyle/>
          <a:p>
            <a:r>
              <a:rPr lang="en-IN" dirty="0"/>
              <a:t>For all</a:t>
            </a:r>
          </a:p>
        </p:txBody>
      </p:sp>
      <p:sp>
        <p:nvSpPr>
          <p:cNvPr id="32" name="TextBox 31">
            <a:extLst>
              <a:ext uri="{FF2B5EF4-FFF2-40B4-BE49-F238E27FC236}">
                <a16:creationId xmlns:a16="http://schemas.microsoft.com/office/drawing/2014/main" id="{A0704755-A7AD-48D5-A33E-7808F3220B19}"/>
              </a:ext>
            </a:extLst>
          </p:cNvPr>
          <p:cNvSpPr txBox="1"/>
          <p:nvPr/>
        </p:nvSpPr>
        <p:spPr>
          <a:xfrm>
            <a:off x="7666409" y="3329197"/>
            <a:ext cx="758606" cy="369332"/>
          </a:xfrm>
          <a:prstGeom prst="rect">
            <a:avLst/>
          </a:prstGeom>
          <a:noFill/>
        </p:spPr>
        <p:txBody>
          <a:bodyPr wrap="none" rtlCol="0">
            <a:spAutoFit/>
          </a:bodyPr>
          <a:lstStyle/>
          <a:p>
            <a:r>
              <a:rPr lang="en-IN" dirty="0"/>
              <a:t>For all</a:t>
            </a:r>
          </a:p>
        </p:txBody>
      </p:sp>
      <p:sp>
        <p:nvSpPr>
          <p:cNvPr id="33" name="TextBox 32">
            <a:extLst>
              <a:ext uri="{FF2B5EF4-FFF2-40B4-BE49-F238E27FC236}">
                <a16:creationId xmlns:a16="http://schemas.microsoft.com/office/drawing/2014/main" id="{104C0093-505A-4632-AB0F-BE3773FB9826}"/>
              </a:ext>
            </a:extLst>
          </p:cNvPr>
          <p:cNvSpPr txBox="1"/>
          <p:nvPr/>
        </p:nvSpPr>
        <p:spPr>
          <a:xfrm>
            <a:off x="5438918" y="5320719"/>
            <a:ext cx="1208279" cy="461665"/>
          </a:xfrm>
          <a:prstGeom prst="rect">
            <a:avLst/>
          </a:prstGeom>
          <a:noFill/>
        </p:spPr>
        <p:txBody>
          <a:bodyPr wrap="none" rtlCol="0">
            <a:spAutoFit/>
          </a:bodyPr>
          <a:lstStyle/>
          <a:p>
            <a:r>
              <a:rPr lang="en-IN" sz="2400" dirty="0"/>
              <a:t>= power</a:t>
            </a:r>
          </a:p>
        </p:txBody>
      </p:sp>
      <p:sp>
        <p:nvSpPr>
          <p:cNvPr id="34" name="TextBox 33">
            <a:extLst>
              <a:ext uri="{FF2B5EF4-FFF2-40B4-BE49-F238E27FC236}">
                <a16:creationId xmlns:a16="http://schemas.microsoft.com/office/drawing/2014/main" id="{F95D4F02-B49C-43B5-9545-EBCCADA2D737}"/>
              </a:ext>
            </a:extLst>
          </p:cNvPr>
          <p:cNvSpPr txBox="1"/>
          <p:nvPr/>
        </p:nvSpPr>
        <p:spPr>
          <a:xfrm>
            <a:off x="8153400" y="1784713"/>
            <a:ext cx="4038600" cy="1477328"/>
          </a:xfrm>
          <a:prstGeom prst="rect">
            <a:avLst/>
          </a:prstGeom>
          <a:noFill/>
        </p:spPr>
        <p:txBody>
          <a:bodyPr wrap="square" rtlCol="0">
            <a:spAutoFit/>
          </a:bodyPr>
          <a:lstStyle/>
          <a:p>
            <a:r>
              <a:rPr lang="en-IN" dirty="0"/>
              <a:t>If any regular language in the world DFA is possible then NFA is also possible and vice-versa  </a:t>
            </a:r>
          </a:p>
          <a:p>
            <a:r>
              <a:rPr lang="en-IN" dirty="0"/>
              <a:t>Every DFA is also a NFA</a:t>
            </a:r>
          </a:p>
          <a:p>
            <a:r>
              <a:rPr lang="en-IN" dirty="0"/>
              <a:t>We can convert every NFA to DFA</a:t>
            </a:r>
          </a:p>
        </p:txBody>
      </p:sp>
    </p:spTree>
    <p:extLst>
      <p:ext uri="{BB962C8B-B14F-4D97-AF65-F5344CB8AC3E}">
        <p14:creationId xmlns:p14="http://schemas.microsoft.com/office/powerpoint/2010/main" val="241180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2">
                                            <p:txEl>
                                              <p:pRg st="0" end="0"/>
                                            </p:txEl>
                                          </p:spTgt>
                                        </p:tgtEl>
                                        <p:attrNameLst>
                                          <p:attrName>style.visibility</p:attrName>
                                        </p:attrNameLst>
                                      </p:cBhvr>
                                      <p:to>
                                        <p:strVal val="visible"/>
                                      </p:to>
                                    </p:set>
                                    <p:animEffect transition="in" filter="fade">
                                      <p:cBhvr>
                                        <p:cTn id="59" dur="500"/>
                                        <p:tgtEl>
                                          <p:spTgt spid="32">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31" grpId="0"/>
      <p:bldP spid="33" grpId="0"/>
      <p:bldP spid="3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9966-5D35-44BC-8D42-76A80E5A0D6D}"/>
              </a:ext>
            </a:extLst>
          </p:cNvPr>
          <p:cNvSpPr>
            <a:spLocks noGrp="1"/>
          </p:cNvSpPr>
          <p:nvPr>
            <p:ph type="title"/>
          </p:nvPr>
        </p:nvSpPr>
        <p:spPr/>
        <p:txBody>
          <a:bodyPr/>
          <a:lstStyle/>
          <a:p>
            <a:r>
              <a:rPr lang="en-IN" dirty="0"/>
              <a:t>Acceptance by NFA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ADE79A-6D4C-49A6-9FAF-20979DB9896A}"/>
                  </a:ext>
                </a:extLst>
              </p:cNvPr>
              <p:cNvSpPr>
                <a:spLocks noGrp="1"/>
              </p:cNvSpPr>
              <p:nvPr>
                <p:ph idx="1"/>
              </p:nvPr>
            </p:nvSpPr>
            <p:spPr/>
            <p:txBody>
              <a:bodyPr/>
              <a:lstStyle/>
              <a:p>
                <a:r>
                  <a:rPr lang="en-IN" dirty="0"/>
                  <a:t>A string w is said to be  accepted by NFA if there exist at </a:t>
                </a:r>
                <a:r>
                  <a:rPr lang="en-IN" dirty="0">
                    <a:solidFill>
                      <a:srgbClr val="C00000"/>
                    </a:solidFill>
                  </a:rPr>
                  <a:t>least one transition </a:t>
                </a:r>
                <a:r>
                  <a:rPr lang="en-IN" dirty="0"/>
                  <a:t>path on which we start at </a:t>
                </a:r>
                <a:r>
                  <a:rPr lang="en-IN" dirty="0">
                    <a:solidFill>
                      <a:srgbClr val="C00000"/>
                    </a:solidFill>
                  </a:rPr>
                  <a:t>initial state </a:t>
                </a:r>
                <a:r>
                  <a:rPr lang="en-IN" dirty="0"/>
                  <a:t>and ends at </a:t>
                </a:r>
                <a:r>
                  <a:rPr lang="en-IN" dirty="0">
                    <a:solidFill>
                      <a:srgbClr val="C00000"/>
                    </a:solidFill>
                  </a:rPr>
                  <a:t>final state</a:t>
                </a:r>
                <a:r>
                  <a:rPr lang="en-IN" dirty="0"/>
                  <a:t>.</a:t>
                </a:r>
              </a:p>
              <a:p>
                <a14:m>
                  <m:oMath xmlns:m="http://schemas.openxmlformats.org/officeDocument/2006/math">
                    <m:r>
                      <a:rPr lang="en-US" i="1" smtClean="0">
                        <a:latin typeface="Cambria Math" panose="02040503050406030204" pitchFamily="18" charset="0"/>
                        <a:ea typeface="Cambria Math" panose="02040503050406030204" pitchFamily="18" charset="0"/>
                      </a:rPr>
                      <m:t>𝛿</m:t>
                    </m:r>
                  </m:oMath>
                </a14:m>
                <a:r>
                  <a:rPr lang="en-IN" dirty="0">
                    <a:latin typeface="Cambria Math" panose="02040503050406030204" pitchFamily="18" charset="0"/>
                    <a:ea typeface="Cambria Math" panose="02040503050406030204" pitchFamily="18" charset="0"/>
                  </a:rPr>
                  <a:t>*(q</a:t>
                </a:r>
                <a:r>
                  <a:rPr lang="en-IN" baseline="-25000" dirty="0">
                    <a:latin typeface="Cambria Math" panose="02040503050406030204" pitchFamily="18" charset="0"/>
                    <a:ea typeface="Cambria Math" panose="02040503050406030204" pitchFamily="18" charset="0"/>
                  </a:rPr>
                  <a:t>0</a:t>
                </a:r>
                <a:r>
                  <a:rPr lang="en-IN" dirty="0">
                    <a:latin typeface="Cambria Math" panose="02040503050406030204" pitchFamily="18" charset="0"/>
                    <a:ea typeface="Cambria Math" panose="02040503050406030204" pitchFamily="18" charset="0"/>
                  </a:rPr>
                  <a:t>,w) = F</a:t>
                </a:r>
              </a:p>
            </p:txBody>
          </p:sp>
        </mc:Choice>
        <mc:Fallback xmlns="">
          <p:sp>
            <p:nvSpPr>
              <p:cNvPr id="3" name="Content Placeholder 2">
                <a:extLst>
                  <a:ext uri="{FF2B5EF4-FFF2-40B4-BE49-F238E27FC236}">
                    <a16:creationId xmlns:a16="http://schemas.microsoft.com/office/drawing/2014/main" id="{B6ADE79A-6D4C-49A6-9FAF-20979DB9896A}"/>
                  </a:ext>
                </a:extLst>
              </p:cNvPr>
              <p:cNvSpPr>
                <a:spLocks noGrp="1" noRot="1" noChangeAspect="1" noMove="1" noResize="1" noEditPoints="1" noAdjustHandles="1" noChangeArrowheads="1" noChangeShapeType="1" noTextEdit="1"/>
              </p:cNvSpPr>
              <p:nvPr>
                <p:ph idx="1"/>
              </p:nvPr>
            </p:nvSpPr>
            <p:spPr>
              <a:blipFill>
                <a:blip r:embed="rId2"/>
                <a:stretch>
                  <a:fillRect l="-731" t="-457" r="-125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8B04541-BE11-4A33-9BBC-3A34F607AFA7}"/>
                  </a:ext>
                </a:extLst>
              </p:cNvPr>
              <p:cNvSpPr/>
              <p:nvPr/>
            </p:nvSpPr>
            <p:spPr>
              <a:xfrm>
                <a:off x="1447800"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4" name="Oval 3">
                <a:extLst>
                  <a:ext uri="{FF2B5EF4-FFF2-40B4-BE49-F238E27FC236}">
                    <a16:creationId xmlns:a16="http://schemas.microsoft.com/office/drawing/2014/main" id="{C8B04541-BE11-4A33-9BBC-3A34F607AFA7}"/>
                  </a:ext>
                </a:extLst>
              </p:cNvPr>
              <p:cNvSpPr>
                <a:spLocks noRot="1" noChangeAspect="1" noMove="1" noResize="1" noEditPoints="1" noAdjustHandles="1" noChangeArrowheads="1" noChangeShapeType="1" noTextEdit="1"/>
              </p:cNvSpPr>
              <p:nvPr/>
            </p:nvSpPr>
            <p:spPr>
              <a:xfrm>
                <a:off x="1447800" y="4495800"/>
                <a:ext cx="609600" cy="609600"/>
              </a:xfrm>
              <a:prstGeom prst="ellipse">
                <a:avLst/>
              </a:prstGeom>
              <a:blipFill>
                <a:blip r:embed="rId3"/>
                <a:stretch>
                  <a:fillRect/>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0FC7B6E0-F55C-469F-8C26-CE7730011BD2}"/>
              </a:ext>
            </a:extLst>
          </p:cNvPr>
          <p:cNvCxnSpPr/>
          <p:nvPr/>
        </p:nvCxnSpPr>
        <p:spPr>
          <a:xfrm>
            <a:off x="762000" y="4829628"/>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D02E52DE-8DD4-4186-A1AD-1D3B02C08E19}"/>
                  </a:ext>
                </a:extLst>
              </p:cNvPr>
              <p:cNvSpPr/>
              <p:nvPr/>
            </p:nvSpPr>
            <p:spPr>
              <a:xfrm>
                <a:off x="3287295" y="4495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IN" b="0" i="1" smtClean="0">
                        <a:latin typeface="Cambria Math" panose="02040503050406030204" pitchFamily="18" charset="0"/>
                      </a:rPr>
                      <m:t>𝑞</m:t>
                    </m:r>
                  </m:oMath>
                </a14:m>
                <a:r>
                  <a:rPr lang="en-US" dirty="0"/>
                  <a:t>1</a:t>
                </a:r>
              </a:p>
            </p:txBody>
          </p:sp>
        </mc:Choice>
        <mc:Fallback xmlns="">
          <p:sp>
            <p:nvSpPr>
              <p:cNvPr id="6" name="Oval 5">
                <a:extLst>
                  <a:ext uri="{FF2B5EF4-FFF2-40B4-BE49-F238E27FC236}">
                    <a16:creationId xmlns:a16="http://schemas.microsoft.com/office/drawing/2014/main" id="{D02E52DE-8DD4-4186-A1AD-1D3B02C08E19}"/>
                  </a:ext>
                </a:extLst>
              </p:cNvPr>
              <p:cNvSpPr>
                <a:spLocks noRot="1" noChangeAspect="1" noMove="1" noResize="1" noEditPoints="1" noAdjustHandles="1" noChangeArrowheads="1" noChangeShapeType="1" noTextEdit="1"/>
              </p:cNvSpPr>
              <p:nvPr/>
            </p:nvSpPr>
            <p:spPr>
              <a:xfrm>
                <a:off x="3287295" y="4495800"/>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A82C711-E811-4289-B6C0-7D383825207C}"/>
                  </a:ext>
                </a:extLst>
              </p:cNvPr>
              <p:cNvSpPr/>
              <p:nvPr/>
            </p:nvSpPr>
            <p:spPr>
              <a:xfrm>
                <a:off x="3287295" y="5755104"/>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IN" b="0" i="1" smtClean="0">
                        <a:latin typeface="Cambria Math" panose="02040503050406030204" pitchFamily="18" charset="0"/>
                      </a:rPr>
                      <m:t>𝑞</m:t>
                    </m:r>
                  </m:oMath>
                </a14:m>
                <a:r>
                  <a:rPr lang="en-US" dirty="0"/>
                  <a:t>2</a:t>
                </a:r>
              </a:p>
            </p:txBody>
          </p:sp>
        </mc:Choice>
        <mc:Fallback xmlns="">
          <p:sp>
            <p:nvSpPr>
              <p:cNvPr id="7" name="Oval 6">
                <a:extLst>
                  <a:ext uri="{FF2B5EF4-FFF2-40B4-BE49-F238E27FC236}">
                    <a16:creationId xmlns:a16="http://schemas.microsoft.com/office/drawing/2014/main" id="{1A82C711-E811-4289-B6C0-7D383825207C}"/>
                  </a:ext>
                </a:extLst>
              </p:cNvPr>
              <p:cNvSpPr>
                <a:spLocks noRot="1" noChangeAspect="1" noMove="1" noResize="1" noEditPoints="1" noAdjustHandles="1" noChangeArrowheads="1" noChangeShapeType="1" noTextEdit="1"/>
              </p:cNvSpPr>
              <p:nvPr/>
            </p:nvSpPr>
            <p:spPr>
              <a:xfrm>
                <a:off x="3287295" y="5755104"/>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9" name="Straight Arrow Connector 8">
            <a:extLst>
              <a:ext uri="{FF2B5EF4-FFF2-40B4-BE49-F238E27FC236}">
                <a16:creationId xmlns:a16="http://schemas.microsoft.com/office/drawing/2014/main" id="{37BC059C-1D3E-480C-AA5A-1F65716D9D05}"/>
              </a:ext>
            </a:extLst>
          </p:cNvPr>
          <p:cNvCxnSpPr>
            <a:stCxn id="4" idx="6"/>
            <a:endCxn id="6" idx="2"/>
          </p:cNvCxnSpPr>
          <p:nvPr/>
        </p:nvCxnSpPr>
        <p:spPr>
          <a:xfrm>
            <a:off x="2057400" y="4800600"/>
            <a:ext cx="12298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37D35E7-3005-4064-AAD7-BCDA044B8312}"/>
              </a:ext>
            </a:extLst>
          </p:cNvPr>
          <p:cNvCxnSpPr>
            <a:cxnSpLocks/>
            <a:stCxn id="4" idx="5"/>
            <a:endCxn id="7" idx="1"/>
          </p:cNvCxnSpPr>
          <p:nvPr/>
        </p:nvCxnSpPr>
        <p:spPr>
          <a:xfrm>
            <a:off x="1968126" y="5016126"/>
            <a:ext cx="1408443" cy="828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EFE5F2F7-442F-4112-BD80-FA1210986B86}"/>
              </a:ext>
            </a:extLst>
          </p:cNvPr>
          <p:cNvCxnSpPr>
            <a:stCxn id="7" idx="7"/>
            <a:endCxn id="7" idx="5"/>
          </p:cNvCxnSpPr>
          <p:nvPr/>
        </p:nvCxnSpPr>
        <p:spPr>
          <a:xfrm rot="16200000" flipH="1">
            <a:off x="3592095" y="6059904"/>
            <a:ext cx="431052" cy="12700"/>
          </a:xfrm>
          <a:prstGeom prst="curvedConnector5">
            <a:avLst>
              <a:gd name="adj1" fmla="val -53033"/>
              <a:gd name="adj2" fmla="val 5897055"/>
              <a:gd name="adj3" fmla="val 15303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0C6587F7-EA37-43CE-B759-8D094F9B596F}"/>
              </a:ext>
            </a:extLst>
          </p:cNvPr>
          <p:cNvSpPr/>
          <p:nvPr/>
        </p:nvSpPr>
        <p:spPr>
          <a:xfrm>
            <a:off x="3363495" y="4571478"/>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Curved 16">
            <a:extLst>
              <a:ext uri="{FF2B5EF4-FFF2-40B4-BE49-F238E27FC236}">
                <a16:creationId xmlns:a16="http://schemas.microsoft.com/office/drawing/2014/main" id="{4C247590-E3DE-4D96-BE81-FD8E30364A44}"/>
              </a:ext>
            </a:extLst>
          </p:cNvPr>
          <p:cNvCxnSpPr>
            <a:stCxn id="6" idx="1"/>
            <a:endCxn id="6" idx="7"/>
          </p:cNvCxnSpPr>
          <p:nvPr/>
        </p:nvCxnSpPr>
        <p:spPr>
          <a:xfrm rot="5400000" flipH="1" flipV="1">
            <a:off x="3592095" y="4369548"/>
            <a:ext cx="12700" cy="431052"/>
          </a:xfrm>
          <a:prstGeom prst="curvedConnector3">
            <a:avLst>
              <a:gd name="adj1" fmla="val 4246102"/>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C19FBE4-A9AC-4CB6-98A6-AA0F42A1F520}"/>
              </a:ext>
            </a:extLst>
          </p:cNvPr>
          <p:cNvSpPr txBox="1"/>
          <p:nvPr/>
        </p:nvSpPr>
        <p:spPr>
          <a:xfrm>
            <a:off x="2362200" y="4495800"/>
            <a:ext cx="295274" cy="369332"/>
          </a:xfrm>
          <a:prstGeom prst="rect">
            <a:avLst/>
          </a:prstGeom>
          <a:noFill/>
        </p:spPr>
        <p:txBody>
          <a:bodyPr wrap="none" rtlCol="0">
            <a:spAutoFit/>
          </a:bodyPr>
          <a:lstStyle/>
          <a:p>
            <a:r>
              <a:rPr lang="en-IN" dirty="0"/>
              <a:t>a</a:t>
            </a:r>
          </a:p>
        </p:txBody>
      </p:sp>
      <p:sp>
        <p:nvSpPr>
          <p:cNvPr id="20" name="TextBox 19">
            <a:extLst>
              <a:ext uri="{FF2B5EF4-FFF2-40B4-BE49-F238E27FC236}">
                <a16:creationId xmlns:a16="http://schemas.microsoft.com/office/drawing/2014/main" id="{01C04741-900D-4CA7-9FB2-2331FA4A1346}"/>
              </a:ext>
            </a:extLst>
          </p:cNvPr>
          <p:cNvSpPr txBox="1"/>
          <p:nvPr/>
        </p:nvSpPr>
        <p:spPr>
          <a:xfrm>
            <a:off x="2377073" y="5308978"/>
            <a:ext cx="306494" cy="369332"/>
          </a:xfrm>
          <a:prstGeom prst="rect">
            <a:avLst/>
          </a:prstGeom>
          <a:noFill/>
        </p:spPr>
        <p:txBody>
          <a:bodyPr wrap="none" rtlCol="0">
            <a:spAutoFit/>
          </a:bodyPr>
          <a:lstStyle/>
          <a:p>
            <a:r>
              <a:rPr lang="en-IN" dirty="0"/>
              <a:t>b</a:t>
            </a:r>
          </a:p>
        </p:txBody>
      </p:sp>
      <p:sp>
        <p:nvSpPr>
          <p:cNvPr id="21" name="TextBox 20">
            <a:extLst>
              <a:ext uri="{FF2B5EF4-FFF2-40B4-BE49-F238E27FC236}">
                <a16:creationId xmlns:a16="http://schemas.microsoft.com/office/drawing/2014/main" id="{313FBE6E-7796-4423-913E-8BEC783B1629}"/>
              </a:ext>
            </a:extLst>
          </p:cNvPr>
          <p:cNvSpPr txBox="1"/>
          <p:nvPr/>
        </p:nvSpPr>
        <p:spPr>
          <a:xfrm>
            <a:off x="3413667" y="3701858"/>
            <a:ext cx="527709" cy="369332"/>
          </a:xfrm>
          <a:prstGeom prst="rect">
            <a:avLst/>
          </a:prstGeom>
          <a:noFill/>
        </p:spPr>
        <p:txBody>
          <a:bodyPr wrap="none" rtlCol="0">
            <a:spAutoFit/>
          </a:bodyPr>
          <a:lstStyle/>
          <a:p>
            <a:r>
              <a:rPr lang="en-IN" dirty="0"/>
              <a:t>a, b</a:t>
            </a:r>
          </a:p>
        </p:txBody>
      </p:sp>
      <p:sp>
        <p:nvSpPr>
          <p:cNvPr id="22" name="TextBox 21">
            <a:extLst>
              <a:ext uri="{FF2B5EF4-FFF2-40B4-BE49-F238E27FC236}">
                <a16:creationId xmlns:a16="http://schemas.microsoft.com/office/drawing/2014/main" id="{894AD126-C3AB-4D15-B7CA-3B7F7EE94820}"/>
              </a:ext>
            </a:extLst>
          </p:cNvPr>
          <p:cNvSpPr txBox="1"/>
          <p:nvPr/>
        </p:nvSpPr>
        <p:spPr>
          <a:xfrm>
            <a:off x="4548101" y="5755104"/>
            <a:ext cx="527709" cy="369332"/>
          </a:xfrm>
          <a:prstGeom prst="rect">
            <a:avLst/>
          </a:prstGeom>
          <a:noFill/>
        </p:spPr>
        <p:txBody>
          <a:bodyPr wrap="none" rtlCol="0">
            <a:spAutoFit/>
          </a:bodyPr>
          <a:lstStyle/>
          <a:p>
            <a:r>
              <a:rPr lang="en-IN" dirty="0"/>
              <a:t>a, b</a:t>
            </a:r>
          </a:p>
        </p:txBody>
      </p:sp>
      <mc:AlternateContent xmlns:mc="http://schemas.openxmlformats.org/markup-compatibility/2006" xmlns:a14="http://schemas.microsoft.com/office/drawing/2010/main">
        <mc:Choice Requires="a14">
          <p:sp>
            <p:nvSpPr>
              <p:cNvPr id="23" name="Oval 22">
                <a:extLst>
                  <a:ext uri="{FF2B5EF4-FFF2-40B4-BE49-F238E27FC236}">
                    <a16:creationId xmlns:a16="http://schemas.microsoft.com/office/drawing/2014/main" id="{7B68A7E9-7037-42CF-827F-AE5F7396E0F4}"/>
                  </a:ext>
                </a:extLst>
              </p:cNvPr>
              <p:cNvSpPr/>
              <p:nvPr/>
            </p:nvSpPr>
            <p:spPr>
              <a:xfrm>
                <a:off x="7039990" y="45277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IN" b="0" i="1" smtClean="0">
                          <a:latin typeface="Cambria Math" panose="02040503050406030204" pitchFamily="18" charset="0"/>
                        </a:rPr>
                        <m:t>𝑞</m:t>
                      </m:r>
                      <m:r>
                        <a:rPr lang="en-IN" b="0" i="1" smtClean="0">
                          <a:latin typeface="Cambria Math" panose="02040503050406030204" pitchFamily="18" charset="0"/>
                        </a:rPr>
                        <m:t>0</m:t>
                      </m:r>
                    </m:oMath>
                  </m:oMathPara>
                </a14:m>
                <a:endParaRPr lang="en-US" dirty="0"/>
              </a:p>
            </p:txBody>
          </p:sp>
        </mc:Choice>
        <mc:Fallback xmlns="">
          <p:sp>
            <p:nvSpPr>
              <p:cNvPr id="23" name="Oval 22">
                <a:extLst>
                  <a:ext uri="{FF2B5EF4-FFF2-40B4-BE49-F238E27FC236}">
                    <a16:creationId xmlns:a16="http://schemas.microsoft.com/office/drawing/2014/main" id="{7B68A7E9-7037-42CF-827F-AE5F7396E0F4}"/>
                  </a:ext>
                </a:extLst>
              </p:cNvPr>
              <p:cNvSpPr>
                <a:spLocks noRot="1" noChangeAspect="1" noMove="1" noResize="1" noEditPoints="1" noAdjustHandles="1" noChangeArrowheads="1" noChangeShapeType="1" noTextEdit="1"/>
              </p:cNvSpPr>
              <p:nvPr/>
            </p:nvSpPr>
            <p:spPr>
              <a:xfrm>
                <a:off x="7039990" y="4527742"/>
                <a:ext cx="609600" cy="609600"/>
              </a:xfrm>
              <a:prstGeom prst="ellipse">
                <a:avLst/>
              </a:prstGeom>
              <a:blipFill>
                <a:blip r:embed="rId6"/>
                <a:stretch>
                  <a:fillRect/>
                </a:stretch>
              </a:blipFill>
            </p:spPr>
            <p:txBody>
              <a:bodyPr/>
              <a:lstStyle/>
              <a:p>
                <a:r>
                  <a:rPr lang="en-IN">
                    <a:noFill/>
                  </a:rPr>
                  <a:t> </a:t>
                </a:r>
              </a:p>
            </p:txBody>
          </p:sp>
        </mc:Fallback>
      </mc:AlternateContent>
      <p:cxnSp>
        <p:nvCxnSpPr>
          <p:cNvPr id="24" name="Straight Arrow Connector 23">
            <a:extLst>
              <a:ext uri="{FF2B5EF4-FFF2-40B4-BE49-F238E27FC236}">
                <a16:creationId xmlns:a16="http://schemas.microsoft.com/office/drawing/2014/main" id="{8FD4F36A-93BF-4979-AEA5-B560BE9C236A}"/>
              </a:ext>
            </a:extLst>
          </p:cNvPr>
          <p:cNvCxnSpPr/>
          <p:nvPr/>
        </p:nvCxnSpPr>
        <p:spPr>
          <a:xfrm>
            <a:off x="6354190" y="4861570"/>
            <a:ext cx="6858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D2A7F9CC-0E0E-414D-8CDF-BE55E48C5F3E}"/>
                  </a:ext>
                </a:extLst>
              </p:cNvPr>
              <p:cNvSpPr/>
              <p:nvPr/>
            </p:nvSpPr>
            <p:spPr>
              <a:xfrm>
                <a:off x="8879485" y="45277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IN" b="0" i="1" smtClean="0">
                        <a:latin typeface="Cambria Math" panose="02040503050406030204" pitchFamily="18" charset="0"/>
                      </a:rPr>
                      <m:t>𝑞</m:t>
                    </m:r>
                  </m:oMath>
                </a14:m>
                <a:r>
                  <a:rPr lang="en-US" dirty="0"/>
                  <a:t>1</a:t>
                </a:r>
              </a:p>
            </p:txBody>
          </p:sp>
        </mc:Choice>
        <mc:Fallback xmlns="">
          <p:sp>
            <p:nvSpPr>
              <p:cNvPr id="25" name="Oval 24">
                <a:extLst>
                  <a:ext uri="{FF2B5EF4-FFF2-40B4-BE49-F238E27FC236}">
                    <a16:creationId xmlns:a16="http://schemas.microsoft.com/office/drawing/2014/main" id="{D2A7F9CC-0E0E-414D-8CDF-BE55E48C5F3E}"/>
                  </a:ext>
                </a:extLst>
              </p:cNvPr>
              <p:cNvSpPr>
                <a:spLocks noRot="1" noChangeAspect="1" noMove="1" noResize="1" noEditPoints="1" noAdjustHandles="1" noChangeArrowheads="1" noChangeShapeType="1" noTextEdit="1"/>
              </p:cNvSpPr>
              <p:nvPr/>
            </p:nvSpPr>
            <p:spPr>
              <a:xfrm>
                <a:off x="8879485" y="4527742"/>
                <a:ext cx="609600" cy="609600"/>
              </a:xfrm>
              <a:prstGeom prst="ellipse">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58A282FD-BE63-4683-AFC7-B146CB73C1B9}"/>
                  </a:ext>
                </a:extLst>
              </p:cNvPr>
              <p:cNvSpPr/>
              <p:nvPr/>
            </p:nvSpPr>
            <p:spPr>
              <a:xfrm>
                <a:off x="8879485" y="578704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 xmlns:m="http://schemas.openxmlformats.org/officeDocument/2006/math">
                    <m:r>
                      <a:rPr lang="en-IN" b="0" i="1" smtClean="0">
                        <a:latin typeface="Cambria Math" panose="02040503050406030204" pitchFamily="18" charset="0"/>
                      </a:rPr>
                      <m:t>𝑞</m:t>
                    </m:r>
                  </m:oMath>
                </a14:m>
                <a:r>
                  <a:rPr lang="en-US" dirty="0"/>
                  <a:t>2</a:t>
                </a:r>
              </a:p>
            </p:txBody>
          </p:sp>
        </mc:Choice>
        <mc:Fallback xmlns="">
          <p:sp>
            <p:nvSpPr>
              <p:cNvPr id="26" name="Oval 25">
                <a:extLst>
                  <a:ext uri="{FF2B5EF4-FFF2-40B4-BE49-F238E27FC236}">
                    <a16:creationId xmlns:a16="http://schemas.microsoft.com/office/drawing/2014/main" id="{58A282FD-BE63-4683-AFC7-B146CB73C1B9}"/>
                  </a:ext>
                </a:extLst>
              </p:cNvPr>
              <p:cNvSpPr>
                <a:spLocks noRot="1" noChangeAspect="1" noMove="1" noResize="1" noEditPoints="1" noAdjustHandles="1" noChangeArrowheads="1" noChangeShapeType="1" noTextEdit="1"/>
              </p:cNvSpPr>
              <p:nvPr/>
            </p:nvSpPr>
            <p:spPr>
              <a:xfrm>
                <a:off x="8879485" y="5787046"/>
                <a:ext cx="609600" cy="609600"/>
              </a:xfrm>
              <a:prstGeom prst="ellipse">
                <a:avLst/>
              </a:prstGeom>
              <a:blipFill>
                <a:blip r:embed="rId8"/>
                <a:stretch>
                  <a:fillRect/>
                </a:stretch>
              </a:blipFill>
            </p:spPr>
            <p:txBody>
              <a:bodyPr/>
              <a:lstStyle/>
              <a:p>
                <a:r>
                  <a:rPr lang="en-IN">
                    <a:noFill/>
                  </a:rPr>
                  <a:t> </a:t>
                </a:r>
              </a:p>
            </p:txBody>
          </p:sp>
        </mc:Fallback>
      </mc:AlternateContent>
      <p:cxnSp>
        <p:nvCxnSpPr>
          <p:cNvPr id="27" name="Straight Arrow Connector 26">
            <a:extLst>
              <a:ext uri="{FF2B5EF4-FFF2-40B4-BE49-F238E27FC236}">
                <a16:creationId xmlns:a16="http://schemas.microsoft.com/office/drawing/2014/main" id="{B2036D45-3B29-41E7-B6E9-07B67767B51C}"/>
              </a:ext>
            </a:extLst>
          </p:cNvPr>
          <p:cNvCxnSpPr>
            <a:stCxn id="23" idx="6"/>
            <a:endCxn id="25" idx="2"/>
          </p:cNvCxnSpPr>
          <p:nvPr/>
        </p:nvCxnSpPr>
        <p:spPr>
          <a:xfrm>
            <a:off x="7649590" y="4832542"/>
            <a:ext cx="12298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CE840ED-FEBE-4FA6-AB4A-181A4AA0C0D6}"/>
              </a:ext>
            </a:extLst>
          </p:cNvPr>
          <p:cNvCxnSpPr>
            <a:cxnSpLocks/>
            <a:stCxn id="23" idx="5"/>
            <a:endCxn id="26" idx="1"/>
          </p:cNvCxnSpPr>
          <p:nvPr/>
        </p:nvCxnSpPr>
        <p:spPr>
          <a:xfrm>
            <a:off x="7560316" y="5048068"/>
            <a:ext cx="1408443" cy="828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Curved 28">
            <a:extLst>
              <a:ext uri="{FF2B5EF4-FFF2-40B4-BE49-F238E27FC236}">
                <a16:creationId xmlns:a16="http://schemas.microsoft.com/office/drawing/2014/main" id="{1E548072-6E39-4393-9E19-CD4192A1F1D5}"/>
              </a:ext>
            </a:extLst>
          </p:cNvPr>
          <p:cNvCxnSpPr>
            <a:stCxn id="26" idx="7"/>
            <a:endCxn id="26" idx="5"/>
          </p:cNvCxnSpPr>
          <p:nvPr/>
        </p:nvCxnSpPr>
        <p:spPr>
          <a:xfrm rot="16200000" flipH="1">
            <a:off x="9184285" y="6091846"/>
            <a:ext cx="431052" cy="12700"/>
          </a:xfrm>
          <a:prstGeom prst="curvedConnector5">
            <a:avLst>
              <a:gd name="adj1" fmla="val -53033"/>
              <a:gd name="adj2" fmla="val 5897055"/>
              <a:gd name="adj3" fmla="val 153033"/>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15DA7923-4955-4806-A44A-222686778283}"/>
              </a:ext>
            </a:extLst>
          </p:cNvPr>
          <p:cNvSpPr/>
          <p:nvPr/>
        </p:nvSpPr>
        <p:spPr>
          <a:xfrm>
            <a:off x="8955685" y="460342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Connector: Curved 30">
            <a:extLst>
              <a:ext uri="{FF2B5EF4-FFF2-40B4-BE49-F238E27FC236}">
                <a16:creationId xmlns:a16="http://schemas.microsoft.com/office/drawing/2014/main" id="{B7D3A677-E842-41C3-9B06-C0E98A293F31}"/>
              </a:ext>
            </a:extLst>
          </p:cNvPr>
          <p:cNvCxnSpPr>
            <a:stCxn id="25" idx="1"/>
            <a:endCxn id="25" idx="7"/>
          </p:cNvCxnSpPr>
          <p:nvPr/>
        </p:nvCxnSpPr>
        <p:spPr>
          <a:xfrm rot="5400000" flipH="1" flipV="1">
            <a:off x="9184285" y="4401490"/>
            <a:ext cx="12700" cy="431052"/>
          </a:xfrm>
          <a:prstGeom prst="curvedConnector3">
            <a:avLst>
              <a:gd name="adj1" fmla="val 4246102"/>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E45940A-1B4D-4FA2-825D-5E9CFE3DB28F}"/>
              </a:ext>
            </a:extLst>
          </p:cNvPr>
          <p:cNvSpPr txBox="1"/>
          <p:nvPr/>
        </p:nvSpPr>
        <p:spPr>
          <a:xfrm>
            <a:off x="7954390" y="4527742"/>
            <a:ext cx="295274" cy="369332"/>
          </a:xfrm>
          <a:prstGeom prst="rect">
            <a:avLst/>
          </a:prstGeom>
          <a:noFill/>
        </p:spPr>
        <p:txBody>
          <a:bodyPr wrap="none" rtlCol="0">
            <a:spAutoFit/>
          </a:bodyPr>
          <a:lstStyle/>
          <a:p>
            <a:r>
              <a:rPr lang="en-IN" dirty="0"/>
              <a:t>a</a:t>
            </a:r>
          </a:p>
        </p:txBody>
      </p:sp>
      <p:sp>
        <p:nvSpPr>
          <p:cNvPr id="33" name="TextBox 32">
            <a:extLst>
              <a:ext uri="{FF2B5EF4-FFF2-40B4-BE49-F238E27FC236}">
                <a16:creationId xmlns:a16="http://schemas.microsoft.com/office/drawing/2014/main" id="{9DC9FB24-464B-476F-9707-B6CA88837439}"/>
              </a:ext>
            </a:extLst>
          </p:cNvPr>
          <p:cNvSpPr txBox="1"/>
          <p:nvPr/>
        </p:nvSpPr>
        <p:spPr>
          <a:xfrm>
            <a:off x="7969263" y="5340920"/>
            <a:ext cx="306494" cy="369332"/>
          </a:xfrm>
          <a:prstGeom prst="rect">
            <a:avLst/>
          </a:prstGeom>
          <a:noFill/>
        </p:spPr>
        <p:txBody>
          <a:bodyPr wrap="none" rtlCol="0">
            <a:spAutoFit/>
          </a:bodyPr>
          <a:lstStyle/>
          <a:p>
            <a:r>
              <a:rPr lang="en-IN" dirty="0"/>
              <a:t>a</a:t>
            </a:r>
          </a:p>
        </p:txBody>
      </p:sp>
      <p:sp>
        <p:nvSpPr>
          <p:cNvPr id="34" name="TextBox 33">
            <a:extLst>
              <a:ext uri="{FF2B5EF4-FFF2-40B4-BE49-F238E27FC236}">
                <a16:creationId xmlns:a16="http://schemas.microsoft.com/office/drawing/2014/main" id="{461FA456-1357-48DF-833E-9B5D573F8533}"/>
              </a:ext>
            </a:extLst>
          </p:cNvPr>
          <p:cNvSpPr txBox="1"/>
          <p:nvPr/>
        </p:nvSpPr>
        <p:spPr>
          <a:xfrm>
            <a:off x="9005857" y="3733800"/>
            <a:ext cx="527709" cy="369332"/>
          </a:xfrm>
          <a:prstGeom prst="rect">
            <a:avLst/>
          </a:prstGeom>
          <a:noFill/>
        </p:spPr>
        <p:txBody>
          <a:bodyPr wrap="none" rtlCol="0">
            <a:spAutoFit/>
          </a:bodyPr>
          <a:lstStyle/>
          <a:p>
            <a:r>
              <a:rPr lang="en-IN" dirty="0"/>
              <a:t>a, b</a:t>
            </a:r>
          </a:p>
        </p:txBody>
      </p:sp>
      <p:sp>
        <p:nvSpPr>
          <p:cNvPr id="35" name="TextBox 34">
            <a:extLst>
              <a:ext uri="{FF2B5EF4-FFF2-40B4-BE49-F238E27FC236}">
                <a16:creationId xmlns:a16="http://schemas.microsoft.com/office/drawing/2014/main" id="{6246A45B-8D02-4615-8C1A-B4C9C8F5E2A0}"/>
              </a:ext>
            </a:extLst>
          </p:cNvPr>
          <p:cNvSpPr txBox="1"/>
          <p:nvPr/>
        </p:nvSpPr>
        <p:spPr>
          <a:xfrm>
            <a:off x="10140291" y="5787046"/>
            <a:ext cx="527709" cy="369332"/>
          </a:xfrm>
          <a:prstGeom prst="rect">
            <a:avLst/>
          </a:prstGeom>
          <a:noFill/>
        </p:spPr>
        <p:txBody>
          <a:bodyPr wrap="none" rtlCol="0">
            <a:spAutoFit/>
          </a:bodyPr>
          <a:lstStyle/>
          <a:p>
            <a:r>
              <a:rPr lang="en-IN" dirty="0"/>
              <a:t>a, b</a:t>
            </a:r>
          </a:p>
        </p:txBody>
      </p:sp>
    </p:spTree>
    <p:extLst>
      <p:ext uri="{BB962C8B-B14F-4D97-AF65-F5344CB8AC3E}">
        <p14:creationId xmlns:p14="http://schemas.microsoft.com/office/powerpoint/2010/main" val="16080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5" grpId="0" animBg="1"/>
      <p:bldP spid="23" grpId="0" animBg="1"/>
      <p:bldP spid="25" grpId="0" animBg="1"/>
      <p:bldP spid="26" grpId="0" animBg="1"/>
      <p:bldP spid="3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E537-F57B-4DB1-AE8C-ED7CEA596225}"/>
              </a:ext>
            </a:extLst>
          </p:cNvPr>
          <p:cNvSpPr>
            <a:spLocks noGrp="1"/>
          </p:cNvSpPr>
          <p:nvPr>
            <p:ph type="title"/>
          </p:nvPr>
        </p:nvSpPr>
        <p:spPr/>
        <p:txBody>
          <a:bodyPr/>
          <a:lstStyle/>
          <a:p>
            <a:r>
              <a:rPr lang="en-IN" dirty="0"/>
              <a:t>Example</a:t>
            </a:r>
          </a:p>
        </p:txBody>
      </p:sp>
      <p:pic>
        <p:nvPicPr>
          <p:cNvPr id="5" name="Picture 4">
            <a:extLst>
              <a:ext uri="{FF2B5EF4-FFF2-40B4-BE49-F238E27FC236}">
                <a16:creationId xmlns:a16="http://schemas.microsoft.com/office/drawing/2014/main" id="{44595FA0-AAE5-4130-9434-C3F3867D5D68}"/>
              </a:ext>
            </a:extLst>
          </p:cNvPr>
          <p:cNvPicPr>
            <a:picLocks noChangeAspect="1"/>
          </p:cNvPicPr>
          <p:nvPr/>
        </p:nvPicPr>
        <p:blipFill>
          <a:blip r:embed="rId2"/>
          <a:stretch>
            <a:fillRect/>
          </a:stretch>
        </p:blipFill>
        <p:spPr>
          <a:xfrm>
            <a:off x="685800" y="1066800"/>
            <a:ext cx="3873699" cy="2495678"/>
          </a:xfrm>
          <a:prstGeom prst="rect">
            <a:avLst/>
          </a:prstGeom>
        </p:spPr>
      </p:pic>
      <p:pic>
        <p:nvPicPr>
          <p:cNvPr id="7" name="Picture 6">
            <a:extLst>
              <a:ext uri="{FF2B5EF4-FFF2-40B4-BE49-F238E27FC236}">
                <a16:creationId xmlns:a16="http://schemas.microsoft.com/office/drawing/2014/main" id="{FE7C9198-9028-4A0A-807B-DC9F79C7A187}"/>
              </a:ext>
            </a:extLst>
          </p:cNvPr>
          <p:cNvPicPr>
            <a:picLocks noChangeAspect="1"/>
          </p:cNvPicPr>
          <p:nvPr/>
        </p:nvPicPr>
        <p:blipFill>
          <a:blip r:embed="rId3"/>
          <a:stretch>
            <a:fillRect/>
          </a:stretch>
        </p:blipFill>
        <p:spPr>
          <a:xfrm>
            <a:off x="152400" y="3921061"/>
            <a:ext cx="4711942" cy="2838596"/>
          </a:xfrm>
          <a:prstGeom prst="rect">
            <a:avLst/>
          </a:prstGeom>
        </p:spPr>
      </p:pic>
      <p:pic>
        <p:nvPicPr>
          <p:cNvPr id="9" name="Picture 8">
            <a:extLst>
              <a:ext uri="{FF2B5EF4-FFF2-40B4-BE49-F238E27FC236}">
                <a16:creationId xmlns:a16="http://schemas.microsoft.com/office/drawing/2014/main" id="{FDAFC8E1-15A0-4B43-BE1F-E4CE6D15D8CA}"/>
              </a:ext>
            </a:extLst>
          </p:cNvPr>
          <p:cNvPicPr>
            <a:picLocks noChangeAspect="1"/>
          </p:cNvPicPr>
          <p:nvPr/>
        </p:nvPicPr>
        <p:blipFill>
          <a:blip r:embed="rId4"/>
          <a:stretch>
            <a:fillRect/>
          </a:stretch>
        </p:blipFill>
        <p:spPr>
          <a:xfrm>
            <a:off x="6705600" y="1371600"/>
            <a:ext cx="3162463" cy="1244664"/>
          </a:xfrm>
          <a:prstGeom prst="rect">
            <a:avLst/>
          </a:prstGeom>
        </p:spPr>
      </p:pic>
      <p:pic>
        <p:nvPicPr>
          <p:cNvPr id="11" name="Picture 10">
            <a:extLst>
              <a:ext uri="{FF2B5EF4-FFF2-40B4-BE49-F238E27FC236}">
                <a16:creationId xmlns:a16="http://schemas.microsoft.com/office/drawing/2014/main" id="{A163778F-9280-4F34-842C-EEFC585859F0}"/>
              </a:ext>
            </a:extLst>
          </p:cNvPr>
          <p:cNvPicPr>
            <a:picLocks noChangeAspect="1"/>
          </p:cNvPicPr>
          <p:nvPr/>
        </p:nvPicPr>
        <p:blipFill>
          <a:blip r:embed="rId5"/>
          <a:stretch>
            <a:fillRect/>
          </a:stretch>
        </p:blipFill>
        <p:spPr>
          <a:xfrm>
            <a:off x="6172200" y="2895600"/>
            <a:ext cx="4730993" cy="1695537"/>
          </a:xfrm>
          <a:prstGeom prst="rect">
            <a:avLst/>
          </a:prstGeom>
        </p:spPr>
      </p:pic>
    </p:spTree>
    <p:extLst>
      <p:ext uri="{BB962C8B-B14F-4D97-AF65-F5344CB8AC3E}">
        <p14:creationId xmlns:p14="http://schemas.microsoft.com/office/powerpoint/2010/main" val="21587239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Example of NFA for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{11</m:t>
                        </m:r>
                        <m:r>
                          <a:rPr lang="en-IN" b="0" i="1" smtClean="0">
                            <a:latin typeface="Cambria Math" panose="02040503050406030204" pitchFamily="18" charset="0"/>
                          </a:rPr>
                          <m:t>+</m:t>
                        </m:r>
                        <m:r>
                          <a:rPr lang="en-US" b="0" i="1" smtClean="0">
                            <a:latin typeface="Cambria Math" panose="02040503050406030204" pitchFamily="18" charset="0"/>
                          </a:rPr>
                          <m:t>110}</m:t>
                        </m:r>
                      </m:e>
                      <m:sup>
                        <m:r>
                          <a:rPr lang="en-US" b="0" i="1" smtClean="0">
                            <a:latin typeface="Cambria Math" panose="02040503050406030204" pitchFamily="18" charset="0"/>
                          </a:rPr>
                          <m:t>∗</m:t>
                        </m:r>
                      </m:sup>
                    </m:sSup>
                    <m:r>
                      <a:rPr lang="en-US" b="0" i="1" smtClean="0">
                        <a:latin typeface="Cambria Math" panose="02040503050406030204" pitchFamily="18" charset="0"/>
                      </a:rPr>
                      <m:t>{0}</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618" t="-752" b="-1804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i="1">
                          <a:latin typeface="Cambria Math" panose="02040503050406030204" pitchFamily="18" charset="0"/>
                        </a:rPr>
                        <m:t>𝑄</m:t>
                      </m:r>
                      <m:r>
                        <a:rPr lang="en-US"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rPr>
                        <m:t>)</m:t>
                      </m:r>
                    </m:oMath>
                  </m:oMathPara>
                </a14:m>
                <a:endParaRPr lang="en-US" dirty="0"/>
              </a:p>
              <a:p>
                <a:pPr lvl="1" algn="just"/>
                <a14:m>
                  <m:oMath xmlns:m="http://schemas.openxmlformats.org/officeDocument/2006/math">
                    <m:r>
                      <a:rPr lang="en-US" i="1">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4</m:t>
                        </m:r>
                      </m:sub>
                    </m:sSub>
                    <m:r>
                      <a:rPr lang="en-US" b="0" i="1" smtClean="0">
                        <a:latin typeface="Cambria Math" panose="02040503050406030204" pitchFamily="18" charset="0"/>
                      </a:rPr>
                      <m:t>}</m:t>
                    </m:r>
                  </m:oMath>
                </a14:m>
                <a:endParaRPr lang="en-US" dirty="0"/>
              </a:p>
              <a:p>
                <a:pPr lvl="1" algn="just"/>
                <a14:m>
                  <m:oMath xmlns:m="http://schemas.openxmlformats.org/officeDocument/2006/math">
                    <m:r>
                      <m:rPr>
                        <m:sty m:val="p"/>
                      </m:rPr>
                      <a:rPr lang="el-GR" i="1">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={0,1}</m:t>
                    </m:r>
                  </m:oMath>
                </a14:m>
                <a:endParaRPr lang="en-US" dirty="0"/>
              </a:p>
              <a:p>
                <a:pPr lvl="1" algn="just"/>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0</m:t>
                        </m:r>
                      </m:sub>
                    </m:sSub>
                  </m:oMath>
                </a14:m>
                <a:endParaRPr lang="en-US" dirty="0"/>
              </a:p>
              <a:p>
                <a:pPr lvl="1" algn="just"/>
                <a14:m>
                  <m:oMath xmlns:m="http://schemas.openxmlformats.org/officeDocument/2006/math">
                    <m:r>
                      <a:rPr lang="en-US"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4</m:t>
                        </m:r>
                      </m:sub>
                    </m:sSub>
                    <m:r>
                      <a:rPr lang="en-US" b="0" i="1" smtClean="0">
                        <a:latin typeface="Cambria Math" panose="02040503050406030204" pitchFamily="18" charset="0"/>
                        <a:ea typeface="Cambria Math" panose="02040503050406030204" pitchFamily="18" charset="0"/>
                      </a:rPr>
                      <m:t>}</m:t>
                    </m:r>
                  </m:oMath>
                </a14:m>
                <a:endParaRPr lang="en-US" dirty="0"/>
              </a:p>
              <a:p>
                <a:pPr lvl="1" algn="just"/>
                <a14:m>
                  <m:oMath xmlns:m="http://schemas.openxmlformats.org/officeDocument/2006/math">
                    <m:r>
                      <a:rPr lang="en-US" i="1">
                        <a:latin typeface="Cambria Math" panose="02040503050406030204" pitchFamily="18" charset="0"/>
                        <a:ea typeface="Cambria Math" panose="02040503050406030204" pitchFamily="18" charset="0"/>
                      </a:rPr>
                      <m:t>𝛿</m:t>
                    </m:r>
                  </m:oMath>
                </a14:m>
                <a:r>
                  <a:rPr lang="en-US" dirty="0"/>
                  <a:t> is defined as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4"/>
                <a:stretch>
                  <a:fillRect/>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544512301"/>
              </p:ext>
            </p:extLst>
          </p:nvPr>
        </p:nvGraphicFramePr>
        <p:xfrm>
          <a:off x="4914900" y="1143000"/>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tblGrid>
              <a:tr h="370840">
                <a:tc>
                  <a:txBody>
                    <a:bodyPr/>
                    <a:lstStyle/>
                    <a:p>
                      <a:pPr algn="ctr"/>
                      <a:r>
                        <a:rPr lang="el-GR" b="1" dirty="0">
                          <a:latin typeface="Cambria Math" panose="02040503050406030204" pitchFamily="18" charset="0"/>
                          <a:ea typeface="Cambria Math" panose="02040503050406030204" pitchFamily="18" charset="0"/>
                        </a:rPr>
                        <a:t>δ</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716532663"/>
                  </p:ext>
                </p:extLst>
              </p:nvPr>
            </p:nvGraphicFramePr>
            <p:xfrm>
              <a:off x="4916489" y="1515112"/>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accent1">
                                  <a:lumMod val="75000"/>
                                </a:schemeClr>
                              </a:solidFill>
                            </a:rPr>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1">
                                        <a:lumMod val="75000"/>
                                      </a:schemeClr>
                                    </a:solidFill>
                                    <a:latin typeface="Cambria Math" panose="02040503050406030204" pitchFamily="18" charset="0"/>
                                  </a:rPr>
                                  <m:t>0</m:t>
                                </m:r>
                              </m:oMath>
                            </m:oMathPara>
                          </a14:m>
                          <a:endParaRPr lang="en-US"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solidFill>
                                      <a:schemeClr val="accent1">
                                        <a:lumMod val="75000"/>
                                      </a:schemeClr>
                                    </a:solidFill>
                                    <a:latin typeface="Cambria Math" panose="02040503050406030204" pitchFamily="18" charset="0"/>
                                  </a:rPr>
                                  <m:t>1</m:t>
                                </m:r>
                              </m:oMath>
                            </m:oMathPara>
                          </a14:m>
                          <a:endParaRPr lang="en-US"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716532663"/>
                  </p:ext>
                </p:extLst>
              </p:nvPr>
            </p:nvGraphicFramePr>
            <p:xfrm>
              <a:off x="4916489" y="1515112"/>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accent1">
                                  <a:lumMod val="75000"/>
                                </a:schemeClr>
                              </a:solidFill>
                            </a:rPr>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658" t="-8065" r="-100987" b="-241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8065" r="-656" b="-24194"/>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4918075" y="1886585"/>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4</m:t>
                                    </m:r>
                                  </m:sub>
                                </m:sSub>
                                <m:r>
                                  <a:rPr lang="en-US" b="0" i="1" smtClean="0">
                                    <a:latin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7" name="Table 6"/>
              <p:cNvGraphicFramePr>
                <a:graphicFrameLocks noGrp="1"/>
              </p:cNvGraphicFramePr>
              <p:nvPr/>
            </p:nvGraphicFramePr>
            <p:xfrm>
              <a:off x="4918075" y="1886585"/>
              <a:ext cx="5562600" cy="370840"/>
            </p:xfrm>
            <a:graphic>
              <a:graphicData uri="http://schemas.openxmlformats.org/drawingml/2006/table">
                <a:tbl>
                  <a:tblPr firstRow="1" bandRow="1">
                    <a:tableStyleId>{2D5ABB26-0587-4C30-8999-92F81FD0307C}</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28" t="-1613" r="-200328" b="-1290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658" t="-1613" r="-100987" b="-1290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000" t="-1613" r="-656" b="-12903"/>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4919664" y="22606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8" name="Table 7"/>
              <p:cNvGraphicFramePr>
                <a:graphicFrameLocks noGrp="1"/>
              </p:cNvGraphicFramePr>
              <p:nvPr/>
            </p:nvGraphicFramePr>
            <p:xfrm>
              <a:off x="4919664" y="22606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658" t="-1515" r="-200658" b="-75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658" t="-1515" r="-100658" b="-75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00658" t="-1515" r="-658" b="-7576"/>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921252" y="265938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nvGraphicFramePr>
            <p:xfrm>
              <a:off x="4921252" y="265938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29" t="-1515" r="-200658" b="-606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329" t="-1515" r="-100658" b="-606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329" t="-1515" r="-658" b="-6061"/>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sp>
            <p:nvSpPr>
              <p:cNvPr id="31" name="Oval 30"/>
              <p:cNvSpPr/>
              <p:nvPr/>
            </p:nvSpPr>
            <p:spPr>
              <a:xfrm>
                <a:off x="3921180" y="473388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0</m:t>
                          </m:r>
                        </m:sub>
                      </m:sSub>
                    </m:oMath>
                  </m:oMathPara>
                </a14:m>
                <a:endParaRPr lang="en-US" dirty="0"/>
              </a:p>
            </p:txBody>
          </p:sp>
        </mc:Choice>
        <mc:Fallback xmlns="">
          <p:sp>
            <p:nvSpPr>
              <p:cNvPr id="31" name="Oval 30"/>
              <p:cNvSpPr>
                <a:spLocks noRot="1" noChangeAspect="1" noMove="1" noResize="1" noEditPoints="1" noAdjustHandles="1" noChangeArrowheads="1" noChangeShapeType="1" noTextEdit="1"/>
              </p:cNvSpPr>
              <p:nvPr/>
            </p:nvSpPr>
            <p:spPr>
              <a:xfrm>
                <a:off x="3921180" y="4733889"/>
                <a:ext cx="609600" cy="609600"/>
              </a:xfrm>
              <a:prstGeom prst="ellipse">
                <a:avLst/>
              </a:prstGeom>
              <a:blipFill>
                <a:blip r:embed="rId9"/>
                <a:stretch>
                  <a:fillRect/>
                </a:stretch>
              </a:blipFill>
            </p:spPr>
            <p:txBody>
              <a:bodyPr/>
              <a:lstStyle/>
              <a:p>
                <a:r>
                  <a:rPr lang="en-IN">
                    <a:noFill/>
                  </a:rPr>
                  <a:t> </a:t>
                </a:r>
              </a:p>
            </p:txBody>
          </p:sp>
        </mc:Fallback>
      </mc:AlternateContent>
      <p:cxnSp>
        <p:nvCxnSpPr>
          <p:cNvPr id="33" name="Straight Connector 32"/>
          <p:cNvCxnSpPr>
            <a:stCxn id="31" idx="2"/>
          </p:cNvCxnSpPr>
          <p:nvPr/>
        </p:nvCxnSpPr>
        <p:spPr>
          <a:xfrm flipH="1">
            <a:off x="3311580" y="5038689"/>
            <a:ext cx="609600" cy="0"/>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Oval 35"/>
              <p:cNvSpPr/>
              <p:nvPr/>
            </p:nvSpPr>
            <p:spPr>
              <a:xfrm>
                <a:off x="3917169" y="34644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1</m:t>
                          </m:r>
                        </m:sub>
                      </m:sSub>
                    </m:oMath>
                  </m:oMathPara>
                </a14:m>
                <a:endParaRPr lang="en-US" dirty="0"/>
              </a:p>
            </p:txBody>
          </p:sp>
        </mc:Choice>
        <mc:Fallback xmlns="">
          <p:sp>
            <p:nvSpPr>
              <p:cNvPr id="36" name="Oval 35"/>
              <p:cNvSpPr>
                <a:spLocks noRot="1" noChangeAspect="1" noMove="1" noResize="1" noEditPoints="1" noAdjustHandles="1" noChangeArrowheads="1" noChangeShapeType="1" noTextEdit="1"/>
              </p:cNvSpPr>
              <p:nvPr/>
            </p:nvSpPr>
            <p:spPr>
              <a:xfrm>
                <a:off x="3917169" y="3464498"/>
                <a:ext cx="609600" cy="609600"/>
              </a:xfrm>
              <a:prstGeom prst="ellipse">
                <a:avLst/>
              </a:prstGeom>
              <a:blipFill>
                <a:blip r:embed="rId10"/>
                <a:stretch>
                  <a:fillRect/>
                </a:stretch>
              </a:blipFill>
            </p:spPr>
            <p:txBody>
              <a:bodyPr/>
              <a:lstStyle/>
              <a:p>
                <a:r>
                  <a:rPr lang="en-IN">
                    <a:noFill/>
                  </a:rPr>
                  <a:t> </a:t>
                </a:r>
              </a:p>
            </p:txBody>
          </p:sp>
        </mc:Fallback>
      </mc:AlternateContent>
      <p:cxnSp>
        <p:nvCxnSpPr>
          <p:cNvPr id="37" name="Straight Connector 36"/>
          <p:cNvCxnSpPr>
            <a:stCxn id="36" idx="3"/>
            <a:endCxn id="31" idx="1"/>
          </p:cNvCxnSpPr>
          <p:nvPr/>
        </p:nvCxnSpPr>
        <p:spPr>
          <a:xfrm>
            <a:off x="4006444" y="3984825"/>
            <a:ext cx="4011" cy="838339"/>
          </a:xfrm>
          <a:prstGeom prst="line">
            <a:avLst/>
          </a:prstGeom>
          <a:ln w="25400">
            <a:solidFill>
              <a:srgbClr val="C00000"/>
            </a:solidFill>
            <a:head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p:cNvSpPr/>
              <p:nvPr/>
            </p:nvSpPr>
            <p:spPr>
              <a:xfrm>
                <a:off x="5978580" y="473388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4</m:t>
                          </m:r>
                        </m:sub>
                      </m:sSub>
                    </m:oMath>
                  </m:oMathPara>
                </a14:m>
                <a:endParaRPr lang="en-US" dirty="0"/>
              </a:p>
            </p:txBody>
          </p:sp>
        </mc:Choice>
        <mc:Fallback xmlns="">
          <p:sp>
            <p:nvSpPr>
              <p:cNvPr id="39" name="Oval 38"/>
              <p:cNvSpPr>
                <a:spLocks noRot="1" noChangeAspect="1" noMove="1" noResize="1" noEditPoints="1" noAdjustHandles="1" noChangeArrowheads="1" noChangeShapeType="1" noTextEdit="1"/>
              </p:cNvSpPr>
              <p:nvPr/>
            </p:nvSpPr>
            <p:spPr>
              <a:xfrm>
                <a:off x="5978580" y="4733889"/>
                <a:ext cx="609600" cy="609600"/>
              </a:xfrm>
              <a:prstGeom prst="ellipse">
                <a:avLst/>
              </a:prstGeom>
              <a:blipFill>
                <a:blip r:embed="rId11"/>
                <a:stretch>
                  <a:fillRect/>
                </a:stretch>
              </a:blipFill>
            </p:spPr>
            <p:txBody>
              <a:bodyPr/>
              <a:lstStyle/>
              <a:p>
                <a:r>
                  <a:rPr lang="en-IN">
                    <a:noFill/>
                  </a:rPr>
                  <a:t> </a:t>
                </a:r>
              </a:p>
            </p:txBody>
          </p:sp>
        </mc:Fallback>
      </mc:AlternateContent>
      <p:cxnSp>
        <p:nvCxnSpPr>
          <p:cNvPr id="40" name="Straight Connector 39"/>
          <p:cNvCxnSpPr>
            <a:stCxn id="39" idx="2"/>
            <a:endCxn id="31" idx="6"/>
          </p:cNvCxnSpPr>
          <p:nvPr/>
        </p:nvCxnSpPr>
        <p:spPr>
          <a:xfrm flipH="1">
            <a:off x="4530780" y="5038689"/>
            <a:ext cx="1447800" cy="0"/>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cxnSp>
        <p:nvCxnSpPr>
          <p:cNvPr id="67" name="Curved Connector 66"/>
          <p:cNvCxnSpPr>
            <a:stCxn id="36" idx="5"/>
            <a:endCxn id="31" idx="7"/>
          </p:cNvCxnSpPr>
          <p:nvPr/>
        </p:nvCxnSpPr>
        <p:spPr>
          <a:xfrm rot="16200000" flipH="1">
            <a:off x="4020332" y="4401988"/>
            <a:ext cx="838339" cy="4011"/>
          </a:xfrm>
          <a:prstGeom prst="curvedConnector3">
            <a:avLst>
              <a:gd name="adj1" fmla="val 50000"/>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4454580" y="4207615"/>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81" name="TextBox 80"/>
          <p:cNvSpPr txBox="1"/>
          <p:nvPr/>
        </p:nvSpPr>
        <p:spPr>
          <a:xfrm>
            <a:off x="5070500" y="4700135"/>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0</a:t>
            </a:r>
          </a:p>
        </p:txBody>
      </p:sp>
      <p:sp>
        <p:nvSpPr>
          <p:cNvPr id="103" name="Oval 102"/>
          <p:cNvSpPr/>
          <p:nvPr/>
        </p:nvSpPr>
        <p:spPr>
          <a:xfrm>
            <a:off x="6054780" y="4810089"/>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mc:AlternateContent xmlns:mc="http://schemas.openxmlformats.org/markup-compatibility/2006" xmlns:a14="http://schemas.microsoft.com/office/drawing/2010/main">
        <mc:Choice Requires="a14">
          <p:graphicFrame>
            <p:nvGraphicFramePr>
              <p:cNvPr id="26" name="Table 25"/>
              <p:cNvGraphicFramePr>
                <a:graphicFrameLocks noGrp="1"/>
              </p:cNvGraphicFramePr>
              <p:nvPr/>
            </p:nvGraphicFramePr>
            <p:xfrm>
              <a:off x="4921251" y="305816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3</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𝑞</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26" name="Table 25"/>
              <p:cNvGraphicFramePr>
                <a:graphicFrameLocks noGrp="1"/>
              </p:cNvGraphicFramePr>
              <p:nvPr/>
            </p:nvGraphicFramePr>
            <p:xfrm>
              <a:off x="4921251" y="305816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29" t="-1515" r="-200658" b="-75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00329" t="-1515" r="-100658" b="-75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00329" t="-1515" r="-658" b="-7576"/>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Table 26"/>
              <p:cNvGraphicFramePr>
                <a:graphicFrameLocks noGrp="1"/>
              </p:cNvGraphicFramePr>
              <p:nvPr/>
            </p:nvGraphicFramePr>
            <p:xfrm>
              <a:off x="4921251" y="34544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4</m:t>
                                    </m:r>
                                  </m:sub>
                                </m:sSub>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27" name="Table 26"/>
              <p:cNvGraphicFramePr>
                <a:graphicFrameLocks noGrp="1"/>
              </p:cNvGraphicFramePr>
              <p:nvPr/>
            </p:nvGraphicFramePr>
            <p:xfrm>
              <a:off x="4921251" y="3454400"/>
              <a:ext cx="5556249" cy="396240"/>
            </p:xfrm>
            <a:graphic>
              <a:graphicData uri="http://schemas.openxmlformats.org/drawingml/2006/table">
                <a:tbl>
                  <a:tblPr firstRow="1" bandRow="1">
                    <a:tableStyleId>{2D5ABB26-0587-4C30-8999-92F81FD0307C}</a:tableStyleId>
                  </a:tblPr>
                  <a:tblGrid>
                    <a:gridCol w="1852083">
                      <a:extLst>
                        <a:ext uri="{9D8B030D-6E8A-4147-A177-3AD203B41FA5}">
                          <a16:colId xmlns:a16="http://schemas.microsoft.com/office/drawing/2014/main" val="20000"/>
                        </a:ext>
                      </a:extLst>
                    </a:gridCol>
                    <a:gridCol w="1852083">
                      <a:extLst>
                        <a:ext uri="{9D8B030D-6E8A-4147-A177-3AD203B41FA5}">
                          <a16:colId xmlns:a16="http://schemas.microsoft.com/office/drawing/2014/main" val="20001"/>
                        </a:ext>
                      </a:extLst>
                    </a:gridCol>
                    <a:gridCol w="1852083">
                      <a:extLst>
                        <a:ext uri="{9D8B030D-6E8A-4147-A177-3AD203B41FA5}">
                          <a16:colId xmlns:a16="http://schemas.microsoft.com/office/drawing/2014/main" val="20002"/>
                        </a:ext>
                      </a:extLst>
                    </a:gridCol>
                  </a:tblGrid>
                  <a:tr h="3962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329" t="-1515" r="-2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100329" t="-1515" r="-100658" b="-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00329" t="-1515" r="-658" b="-3030"/>
                          </a:stretch>
                        </a:blipFill>
                      </a:tcPr>
                    </a:tc>
                    <a:extLst>
                      <a:ext uri="{0D108BD9-81ED-4DB2-BD59-A6C34878D82A}">
                        <a16:rowId xmlns:a16="http://schemas.microsoft.com/office/drawing/2014/main" val="10000"/>
                      </a:ext>
                    </a:extLst>
                  </a:tr>
                </a:tbl>
              </a:graphicData>
            </a:graphic>
          </p:graphicFrame>
        </mc:Fallback>
      </mc:AlternateContent>
      <p:sp>
        <p:nvSpPr>
          <p:cNvPr id="38" name="TextBox 37"/>
          <p:cNvSpPr txBox="1"/>
          <p:nvPr/>
        </p:nvSpPr>
        <p:spPr>
          <a:xfrm>
            <a:off x="3772793" y="4224106"/>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mc:AlternateContent xmlns:mc="http://schemas.openxmlformats.org/markup-compatibility/2006" xmlns:a14="http://schemas.microsoft.com/office/drawing/2010/main">
        <mc:Choice Requires="a14">
          <p:sp>
            <p:nvSpPr>
              <p:cNvPr id="41" name="Oval 40"/>
              <p:cNvSpPr/>
              <p:nvPr/>
            </p:nvSpPr>
            <p:spPr>
              <a:xfrm>
                <a:off x="3256284" y="578891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2</m:t>
                          </m:r>
                        </m:sub>
                      </m:sSub>
                    </m:oMath>
                  </m:oMathPara>
                </a14:m>
                <a:endParaRPr lang="en-US" dirty="0"/>
              </a:p>
            </p:txBody>
          </p:sp>
        </mc:Choice>
        <mc:Fallback xmlns="">
          <p:sp>
            <p:nvSpPr>
              <p:cNvPr id="41" name="Oval 40"/>
              <p:cNvSpPr>
                <a:spLocks noRot="1" noChangeAspect="1" noMove="1" noResize="1" noEditPoints="1" noAdjustHandles="1" noChangeArrowheads="1" noChangeShapeType="1" noTextEdit="1"/>
              </p:cNvSpPr>
              <p:nvPr/>
            </p:nvSpPr>
            <p:spPr>
              <a:xfrm>
                <a:off x="3256284" y="5788912"/>
                <a:ext cx="609600" cy="609600"/>
              </a:xfrm>
              <a:prstGeom prst="ellipse">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Oval 41"/>
              <p:cNvSpPr/>
              <p:nvPr/>
            </p:nvSpPr>
            <p:spPr>
              <a:xfrm>
                <a:off x="4651430" y="579681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3</m:t>
                          </m:r>
                        </m:sub>
                      </m:sSub>
                    </m:oMath>
                  </m:oMathPara>
                </a14:m>
                <a:endParaRPr lang="en-US" dirty="0"/>
              </a:p>
            </p:txBody>
          </p:sp>
        </mc:Choice>
        <mc:Fallback xmlns="">
          <p:sp>
            <p:nvSpPr>
              <p:cNvPr id="42" name="Oval 41"/>
              <p:cNvSpPr>
                <a:spLocks noRot="1" noChangeAspect="1" noMove="1" noResize="1" noEditPoints="1" noAdjustHandles="1" noChangeArrowheads="1" noChangeShapeType="1" noTextEdit="1"/>
              </p:cNvSpPr>
              <p:nvPr/>
            </p:nvSpPr>
            <p:spPr>
              <a:xfrm>
                <a:off x="4651430" y="5796819"/>
                <a:ext cx="609600" cy="609600"/>
              </a:xfrm>
              <a:prstGeom prst="ellipse">
                <a:avLst/>
              </a:prstGeom>
              <a:blipFill>
                <a:blip r:embed="rId15"/>
                <a:stretch>
                  <a:fillRect/>
                </a:stretch>
              </a:blipFill>
            </p:spPr>
            <p:txBody>
              <a:bodyPr/>
              <a:lstStyle/>
              <a:p>
                <a:r>
                  <a:rPr lang="en-IN">
                    <a:noFill/>
                  </a:rPr>
                  <a:t> </a:t>
                </a:r>
              </a:p>
            </p:txBody>
          </p:sp>
        </mc:Fallback>
      </mc:AlternateContent>
      <p:cxnSp>
        <p:nvCxnSpPr>
          <p:cNvPr id="45" name="Straight Connector 44"/>
          <p:cNvCxnSpPr>
            <a:stCxn id="41" idx="0"/>
            <a:endCxn id="31" idx="3"/>
          </p:cNvCxnSpPr>
          <p:nvPr/>
        </p:nvCxnSpPr>
        <p:spPr>
          <a:xfrm flipV="1">
            <a:off x="3561084" y="5254216"/>
            <a:ext cx="449370" cy="534697"/>
          </a:xfrm>
          <a:prstGeom prst="line">
            <a:avLst/>
          </a:prstGeom>
          <a:ln w="25400">
            <a:solidFill>
              <a:srgbClr val="C00000"/>
            </a:solidFill>
            <a:head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1" idx="5"/>
            <a:endCxn id="42" idx="0"/>
          </p:cNvCxnSpPr>
          <p:nvPr/>
        </p:nvCxnSpPr>
        <p:spPr>
          <a:xfrm>
            <a:off x="4441506" y="5254215"/>
            <a:ext cx="514724" cy="542604"/>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2" idx="2"/>
            <a:endCxn id="41" idx="6"/>
          </p:cNvCxnSpPr>
          <p:nvPr/>
        </p:nvCxnSpPr>
        <p:spPr>
          <a:xfrm flipH="1" flipV="1">
            <a:off x="3865884" y="6093713"/>
            <a:ext cx="785546" cy="7907"/>
          </a:xfrm>
          <a:prstGeom prst="line">
            <a:avLst/>
          </a:prstGeom>
          <a:ln w="25400">
            <a:headEnd type="stealth" w="lg" len="lg"/>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511216" y="5262010"/>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57" name="TextBox 56"/>
          <p:cNvSpPr txBox="1"/>
          <p:nvPr/>
        </p:nvSpPr>
        <p:spPr>
          <a:xfrm>
            <a:off x="4072729" y="6075986"/>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1</a:t>
            </a:r>
          </a:p>
        </p:txBody>
      </p:sp>
      <p:sp>
        <p:nvSpPr>
          <p:cNvPr id="58" name="TextBox 57"/>
          <p:cNvSpPr txBox="1"/>
          <p:nvPr/>
        </p:nvSpPr>
        <p:spPr>
          <a:xfrm>
            <a:off x="4689500" y="5262010"/>
            <a:ext cx="298480" cy="338554"/>
          </a:xfrm>
          <a:prstGeom prst="rect">
            <a:avLst/>
          </a:prstGeom>
          <a:noFill/>
        </p:spPr>
        <p:txBody>
          <a:bodyPr wrap="none" rtlCol="0">
            <a:spAutoFit/>
          </a:bodyPr>
          <a:lstStyle/>
          <a:p>
            <a:r>
              <a:rPr lang="en-US" sz="1600" dirty="0">
                <a:latin typeface="Cambria Math" panose="02040503050406030204" pitchFamily="18" charset="0"/>
                <a:ea typeface="Cambria Math" panose="02040503050406030204" pitchFamily="18" charset="0"/>
              </a:rPr>
              <a:t>0</a:t>
            </a:r>
          </a:p>
        </p:txBody>
      </p:sp>
    </p:spTree>
    <p:extLst>
      <p:ext uri="{BB962C8B-B14F-4D97-AF65-F5344CB8AC3E}">
        <p14:creationId xmlns:p14="http://schemas.microsoft.com/office/powerpoint/2010/main" val="204766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5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fade">
                                      <p:cBhvr>
                                        <p:cTn id="39" dur="500"/>
                                        <p:tgtEl>
                                          <p:spTgt spid="3">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left)">
                                      <p:cBhvr>
                                        <p:cTn id="44" dur="5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500"/>
                                        <p:tgtEl>
                                          <p:spTgt spid="3">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03"/>
                                        </p:tgtEl>
                                        <p:attrNameLst>
                                          <p:attrName>style.visibility</p:attrName>
                                        </p:attrNameLst>
                                      </p:cBhvr>
                                      <p:to>
                                        <p:strVal val="visible"/>
                                      </p:to>
                                    </p:set>
                                    <p:animEffect transition="in" filter="wipe(down)">
                                      <p:cBhvr>
                                        <p:cTn id="54" dur="500"/>
                                        <p:tgtEl>
                                          <p:spTgt spid="10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Effect transition="in" filter="fade">
                                      <p:cBhvr>
                                        <p:cTn id="59" dur="500"/>
                                        <p:tgtEl>
                                          <p:spTgt spid="3">
                                            <p:txEl>
                                              <p:pRg st="5" end="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fade">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fade">
                                      <p:cBhvr>
                                        <p:cTn id="69" dur="500"/>
                                        <p:tgtEl>
                                          <p:spTgt spid="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fade">
                                      <p:cBhvr>
                                        <p:cTn id="74" dur="500"/>
                                        <p:tgtEl>
                                          <p:spTgt spid="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wipe(left)">
                                      <p:cBhvr>
                                        <p:cTn id="79" dur="500"/>
                                        <p:tgtEl>
                                          <p:spTgt spid="40"/>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wipe(down)">
                                      <p:cBhvr>
                                        <p:cTn id="82" dur="500"/>
                                        <p:tgtEl>
                                          <p:spTgt spid="8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00"/>
                                        <p:tgtEl>
                                          <p:spTgt spid="37"/>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wipe(down)">
                                      <p:cBhvr>
                                        <p:cTn id="90" dur="500"/>
                                        <p:tgtEl>
                                          <p:spTgt spid="38"/>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animEffect transition="in" filter="wipe(down)">
                                      <p:cBhvr>
                                        <p:cTn id="93" dur="500"/>
                                        <p:tgtEl>
                                          <p:spTgt spid="56"/>
                                        </p:tgtEl>
                                      </p:cBhvr>
                                    </p:animEffect>
                                  </p:childTnLst>
                                </p:cTn>
                              </p:par>
                              <p:par>
                                <p:cTn id="94" presetID="22" presetClass="entr" presetSubtype="1" fill="hold"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wipe(up)">
                                      <p:cBhvr>
                                        <p:cTn id="96" dur="500"/>
                                        <p:tgtEl>
                                          <p:spTgt spid="4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fade">
                                      <p:cBhvr>
                                        <p:cTn id="101" dur="500"/>
                                        <p:tgtEl>
                                          <p:spTgt spid="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wipe(up)">
                                      <p:cBhvr>
                                        <p:cTn id="106" dur="500"/>
                                        <p:tgtEl>
                                          <p:spTgt spid="67"/>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80"/>
                                        </p:tgtEl>
                                        <p:attrNameLst>
                                          <p:attrName>style.visibility</p:attrName>
                                        </p:attrNameLst>
                                      </p:cBhvr>
                                      <p:to>
                                        <p:strVal val="visible"/>
                                      </p:to>
                                    </p:set>
                                    <p:animEffect transition="in" filter="wipe(down)">
                                      <p:cBhvr>
                                        <p:cTn id="109" dur="500"/>
                                        <p:tgtEl>
                                          <p:spTgt spid="8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10"/>
                                        </p:tgtEl>
                                        <p:attrNameLst>
                                          <p:attrName>style.visibility</p:attrName>
                                        </p:attrNameLst>
                                      </p:cBhvr>
                                      <p:to>
                                        <p:strVal val="visible"/>
                                      </p:to>
                                    </p:set>
                                    <p:animEffect transition="in" filter="fade">
                                      <p:cBhvr>
                                        <p:cTn id="114" dur="500"/>
                                        <p:tgtEl>
                                          <p:spTgt spid="1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wipe(left)">
                                      <p:cBhvr>
                                        <p:cTn id="119" dur="500"/>
                                        <p:tgtEl>
                                          <p:spTgt spid="51"/>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animEffect transition="in" filter="wipe(down)">
                                      <p:cBhvr>
                                        <p:cTn id="122" dur="500"/>
                                        <p:tgtEl>
                                          <p:spTgt spid="57"/>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50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nodeType="click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wipe(down)">
                                      <p:cBhvr>
                                        <p:cTn id="132" dur="500"/>
                                        <p:tgtEl>
                                          <p:spTgt spid="48"/>
                                        </p:tgtEl>
                                      </p:cBhvr>
                                    </p:animEffect>
                                  </p:childTnLst>
                                </p:cTn>
                              </p:par>
                              <p:par>
                                <p:cTn id="133" presetID="22" presetClass="entr" presetSubtype="4" fill="hold" grpId="0" nodeType="withEffect">
                                  <p:stCondLst>
                                    <p:cond delay="0"/>
                                  </p:stCondLst>
                                  <p:childTnLst>
                                    <p:set>
                                      <p:cBhvr>
                                        <p:cTn id="134" dur="1" fill="hold">
                                          <p:stCondLst>
                                            <p:cond delay="0"/>
                                          </p:stCondLst>
                                        </p:cTn>
                                        <p:tgtEl>
                                          <p:spTgt spid="58"/>
                                        </p:tgtEl>
                                        <p:attrNameLst>
                                          <p:attrName>style.visibility</p:attrName>
                                        </p:attrNameLst>
                                      </p:cBhvr>
                                      <p:to>
                                        <p:strVal val="visible"/>
                                      </p:to>
                                    </p:set>
                                    <p:animEffect transition="in" filter="wipe(down)">
                                      <p:cBhvr>
                                        <p:cTn id="135" dur="500"/>
                                        <p:tgtEl>
                                          <p:spTgt spid="58"/>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nodeType="clickEffect">
                                  <p:stCondLst>
                                    <p:cond delay="0"/>
                                  </p:stCondLst>
                                  <p:childTnLst>
                                    <p:set>
                                      <p:cBhvr>
                                        <p:cTn id="139" dur="1" fill="hold">
                                          <p:stCondLst>
                                            <p:cond delay="0"/>
                                          </p:stCondLst>
                                        </p:cTn>
                                        <p:tgtEl>
                                          <p:spTgt spid="27"/>
                                        </p:tgtEl>
                                        <p:attrNameLst>
                                          <p:attrName>style.visibility</p:attrName>
                                        </p:attrNameLst>
                                      </p:cBhvr>
                                      <p:to>
                                        <p:strVal val="visible"/>
                                      </p:to>
                                    </p:set>
                                    <p:animEffect transition="in" filter="fade">
                                      <p:cBhvr>
                                        <p:cTn id="1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6" grpId="0" animBg="1"/>
      <p:bldP spid="39" grpId="0" animBg="1"/>
      <p:bldP spid="80" grpId="0"/>
      <p:bldP spid="81" grpId="0"/>
      <p:bldP spid="103" grpId="0" animBg="1"/>
      <p:bldP spid="38" grpId="0"/>
      <p:bldP spid="41" grpId="0" animBg="1"/>
      <p:bldP spid="42" grpId="0" animBg="1"/>
      <p:bldP spid="56" grpId="0"/>
      <p:bldP spid="57" grpId="0"/>
      <p:bldP spid="5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D5053-B7F5-48BF-86AB-7C274CBA1566}"/>
              </a:ext>
            </a:extLst>
          </p:cNvPr>
          <p:cNvSpPr>
            <a:spLocks noGrp="1"/>
          </p:cNvSpPr>
          <p:nvPr>
            <p:ph type="title"/>
          </p:nvPr>
        </p:nvSpPr>
        <p:spPr/>
        <p:txBody>
          <a:bodyPr/>
          <a:lstStyle/>
          <a:p>
            <a:r>
              <a:rPr lang="en-IN" dirty="0"/>
              <a:t>NFA: </a:t>
            </a:r>
            <a:r>
              <a:rPr lang="en-IN" dirty="0">
                <a:solidFill>
                  <a:srgbClr val="C00000"/>
                </a:solidFill>
              </a:rPr>
              <a:t>ending with w</a:t>
            </a:r>
          </a:p>
        </p:txBody>
      </p:sp>
      <p:sp>
        <p:nvSpPr>
          <p:cNvPr id="3" name="Content Placeholder 2">
            <a:extLst>
              <a:ext uri="{FF2B5EF4-FFF2-40B4-BE49-F238E27FC236}">
                <a16:creationId xmlns:a16="http://schemas.microsoft.com/office/drawing/2014/main" id="{27DBD96B-0365-4474-83FC-0C7D6C015FEC}"/>
              </a:ext>
            </a:extLst>
          </p:cNvPr>
          <p:cNvSpPr>
            <a:spLocks noGrp="1"/>
          </p:cNvSpPr>
          <p:nvPr>
            <p:ph idx="1"/>
          </p:nvPr>
        </p:nvSpPr>
        <p:spPr/>
        <p:txBody>
          <a:bodyPr/>
          <a:lstStyle/>
          <a:p>
            <a:r>
              <a:rPr lang="en-US" dirty="0"/>
              <a:t>NFA that accepts all binary strings that end with 101.</a:t>
            </a:r>
          </a:p>
          <a:p>
            <a:endParaRPr lang="en-US" dirty="0"/>
          </a:p>
          <a:p>
            <a:endParaRPr lang="en-US" dirty="0"/>
          </a:p>
          <a:p>
            <a:endParaRPr lang="en-US" dirty="0"/>
          </a:p>
          <a:p>
            <a:r>
              <a:rPr lang="en-US" dirty="0"/>
              <a:t>Accepts all binary strings where the last symbol is 0 or that contain only 1’s.</a:t>
            </a:r>
          </a:p>
          <a:p>
            <a:endParaRPr lang="en-IN" dirty="0"/>
          </a:p>
        </p:txBody>
      </p:sp>
      <p:pic>
        <p:nvPicPr>
          <p:cNvPr id="5" name="Picture 4">
            <a:extLst>
              <a:ext uri="{FF2B5EF4-FFF2-40B4-BE49-F238E27FC236}">
                <a16:creationId xmlns:a16="http://schemas.microsoft.com/office/drawing/2014/main" id="{A0B7044E-4DE4-4685-9F06-2B650B834E5F}"/>
              </a:ext>
            </a:extLst>
          </p:cNvPr>
          <p:cNvPicPr>
            <a:picLocks noChangeAspect="1"/>
          </p:cNvPicPr>
          <p:nvPr/>
        </p:nvPicPr>
        <p:blipFill>
          <a:blip r:embed="rId2"/>
          <a:stretch>
            <a:fillRect/>
          </a:stretch>
        </p:blipFill>
        <p:spPr>
          <a:xfrm>
            <a:off x="4419600" y="1600200"/>
            <a:ext cx="5188217" cy="1130358"/>
          </a:xfrm>
          <a:prstGeom prst="rect">
            <a:avLst/>
          </a:prstGeom>
        </p:spPr>
      </p:pic>
      <p:pic>
        <p:nvPicPr>
          <p:cNvPr id="7" name="Picture 6">
            <a:extLst>
              <a:ext uri="{FF2B5EF4-FFF2-40B4-BE49-F238E27FC236}">
                <a16:creationId xmlns:a16="http://schemas.microsoft.com/office/drawing/2014/main" id="{4B89610C-A1CA-4A9F-8C07-4BEFDB5E3BD1}"/>
              </a:ext>
            </a:extLst>
          </p:cNvPr>
          <p:cNvPicPr>
            <a:picLocks noChangeAspect="1"/>
          </p:cNvPicPr>
          <p:nvPr/>
        </p:nvPicPr>
        <p:blipFill>
          <a:blip r:embed="rId3"/>
          <a:stretch>
            <a:fillRect/>
          </a:stretch>
        </p:blipFill>
        <p:spPr>
          <a:xfrm>
            <a:off x="4572000" y="3448251"/>
            <a:ext cx="6426530" cy="1454225"/>
          </a:xfrm>
          <a:prstGeom prst="rect">
            <a:avLst/>
          </a:prstGeom>
        </p:spPr>
      </p:pic>
    </p:spTree>
    <p:extLst>
      <p:ext uri="{BB962C8B-B14F-4D97-AF65-F5344CB8AC3E}">
        <p14:creationId xmlns:p14="http://schemas.microsoft.com/office/powerpoint/2010/main" val="59570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7424-4CAE-458F-A12F-87B29C7992D6}"/>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FCFBA480-1699-464B-BDB7-9A5146E1EE0A}"/>
              </a:ext>
            </a:extLst>
          </p:cNvPr>
          <p:cNvSpPr>
            <a:spLocks noGrp="1"/>
          </p:cNvSpPr>
          <p:nvPr>
            <p:ph idx="1"/>
          </p:nvPr>
        </p:nvSpPr>
        <p:spPr/>
        <p:txBody>
          <a:bodyPr/>
          <a:lstStyle/>
          <a:p>
            <a:r>
              <a:rPr lang="en-US" b="0" i="0" dirty="0">
                <a:solidFill>
                  <a:srgbClr val="242424"/>
                </a:solidFill>
                <a:effectLst/>
              </a:rPr>
              <a:t>Design a NFA of all binary strings in which 2</a:t>
            </a:r>
            <a:r>
              <a:rPr lang="en-US" b="0" i="0" baseline="30000" dirty="0">
                <a:solidFill>
                  <a:srgbClr val="242424"/>
                </a:solidFill>
                <a:effectLst/>
              </a:rPr>
              <a:t>nd</a:t>
            </a:r>
            <a:r>
              <a:rPr lang="en-US" b="0" i="0" dirty="0">
                <a:solidFill>
                  <a:srgbClr val="242424"/>
                </a:solidFill>
                <a:effectLst/>
              </a:rPr>
              <a:t> last bit is 1.</a:t>
            </a:r>
          </a:p>
          <a:p>
            <a:pPr lvl="1"/>
            <a:r>
              <a:rPr lang="en-IN" b="0" i="0" dirty="0">
                <a:solidFill>
                  <a:srgbClr val="242424"/>
                </a:solidFill>
                <a:effectLst/>
              </a:rPr>
              <a:t>L= {10, 010, 000010, 11, 101011……..}</a:t>
            </a:r>
            <a:endParaRPr lang="en-IN" dirty="0"/>
          </a:p>
          <a:p>
            <a:endParaRPr lang="en-US" dirty="0">
              <a:solidFill>
                <a:srgbClr val="242424"/>
              </a:solidFill>
            </a:endParaRPr>
          </a:p>
          <a:p>
            <a:endParaRPr lang="en-US" b="0" i="0" dirty="0">
              <a:solidFill>
                <a:srgbClr val="242424"/>
              </a:solidFill>
              <a:effectLst/>
            </a:endParaRPr>
          </a:p>
          <a:p>
            <a:endParaRPr lang="en-US" b="0" i="0" dirty="0">
              <a:solidFill>
                <a:srgbClr val="242424"/>
              </a:solidFill>
              <a:effectLst/>
            </a:endParaRPr>
          </a:p>
          <a:p>
            <a:r>
              <a:rPr lang="en-US" b="0" i="0" dirty="0">
                <a:solidFill>
                  <a:srgbClr val="242424"/>
                </a:solidFill>
                <a:effectLst/>
              </a:rPr>
              <a:t>Design an NFA with ∑ = {0, 1} accepts all string ending with 01.</a:t>
            </a:r>
          </a:p>
          <a:p>
            <a:pPr lvl="1"/>
            <a:r>
              <a:rPr lang="en-IN" b="0" i="0" dirty="0">
                <a:solidFill>
                  <a:srgbClr val="242424"/>
                </a:solidFill>
                <a:effectLst/>
              </a:rPr>
              <a:t>L= {01, 0101, 0000101, 101, 101001……..}</a:t>
            </a:r>
            <a:endParaRPr lang="en-US" b="0" i="0" dirty="0">
              <a:solidFill>
                <a:srgbClr val="242424"/>
              </a:solidFill>
              <a:effectLst/>
            </a:endParaRPr>
          </a:p>
        </p:txBody>
      </p:sp>
      <p:pic>
        <p:nvPicPr>
          <p:cNvPr id="1026" name="Picture 2" descr="NFA examples (1)">
            <a:extLst>
              <a:ext uri="{FF2B5EF4-FFF2-40B4-BE49-F238E27FC236}">
                <a16:creationId xmlns:a16="http://schemas.microsoft.com/office/drawing/2014/main" id="{C9E4986D-D0C6-4E00-A131-1FB7CFB60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199" y="1600200"/>
            <a:ext cx="4875497"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FA examples (2)">
            <a:extLst>
              <a:ext uri="{FF2B5EF4-FFF2-40B4-BE49-F238E27FC236}">
                <a16:creationId xmlns:a16="http://schemas.microsoft.com/office/drawing/2014/main" id="{679D67E6-99D5-4EB2-A06D-3A3FFE150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4723" y="4495800"/>
            <a:ext cx="4875497"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5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D7A1-F28A-4707-9FBB-7E0D4A65613D}"/>
              </a:ext>
            </a:extLst>
          </p:cNvPr>
          <p:cNvSpPr>
            <a:spLocks noGrp="1"/>
          </p:cNvSpPr>
          <p:nvPr>
            <p:ph type="title"/>
          </p:nvPr>
        </p:nvSpPr>
        <p:spPr/>
        <p:txBody>
          <a:bodyPr/>
          <a:lstStyle/>
          <a:p>
            <a:r>
              <a:rPr lang="en-IN" dirty="0"/>
              <a:t>NFA to DFA conversion</a:t>
            </a:r>
          </a:p>
        </p:txBody>
      </p:sp>
      <p:sp>
        <p:nvSpPr>
          <p:cNvPr id="3" name="Content Placeholder 2">
            <a:extLst>
              <a:ext uri="{FF2B5EF4-FFF2-40B4-BE49-F238E27FC236}">
                <a16:creationId xmlns:a16="http://schemas.microsoft.com/office/drawing/2014/main" id="{1C5CB6A6-E5B0-48AB-B72F-8857EC46058F}"/>
              </a:ext>
            </a:extLst>
          </p:cNvPr>
          <p:cNvSpPr>
            <a:spLocks noGrp="1"/>
          </p:cNvSpPr>
          <p:nvPr>
            <p:ph idx="1"/>
          </p:nvPr>
        </p:nvSpPr>
        <p:spPr/>
        <p:txBody>
          <a:bodyPr/>
          <a:lstStyle/>
          <a:p>
            <a:pPr marL="0" indent="0">
              <a:buNone/>
            </a:pPr>
            <a:r>
              <a:rPr lang="en-US" b="1" dirty="0">
                <a:solidFill>
                  <a:srgbClr val="C00000"/>
                </a:solidFill>
              </a:rPr>
              <a:t>Steps For Converting NFA to DFA</a:t>
            </a:r>
          </a:p>
          <a:p>
            <a:pPr marL="0" indent="0">
              <a:buNone/>
            </a:pPr>
            <a:r>
              <a:rPr lang="en-US" dirty="0"/>
              <a:t>There are five basic steps for conversion of NFA to DFA.</a:t>
            </a:r>
          </a:p>
          <a:p>
            <a:r>
              <a:rPr lang="en-US" b="1" dirty="0"/>
              <a:t>Step 01: </a:t>
            </a:r>
            <a:r>
              <a:rPr lang="en-US" dirty="0"/>
              <a:t>Draw NFA.</a:t>
            </a:r>
          </a:p>
          <a:p>
            <a:r>
              <a:rPr lang="en-US" b="1" dirty="0"/>
              <a:t>Step 02: </a:t>
            </a:r>
            <a:r>
              <a:rPr lang="en-US" dirty="0"/>
              <a:t>Draw NFA transition Table.</a:t>
            </a:r>
          </a:p>
          <a:p>
            <a:r>
              <a:rPr lang="en-US" b="1" dirty="0"/>
              <a:t>Step 03: </a:t>
            </a:r>
            <a:r>
              <a:rPr lang="en-US" dirty="0"/>
              <a:t>Now convert NFA transition Table To its corresponding DFA transition Table.</a:t>
            </a:r>
          </a:p>
          <a:p>
            <a:r>
              <a:rPr lang="en-US" b="1" dirty="0"/>
              <a:t>Step 04: </a:t>
            </a:r>
            <a:r>
              <a:rPr lang="en-US" dirty="0"/>
              <a:t>Through DFA transition Table draw DFA.</a:t>
            </a:r>
          </a:p>
          <a:p>
            <a:r>
              <a:rPr lang="en-US" b="1" dirty="0"/>
              <a:t>Step 05: </a:t>
            </a:r>
            <a:r>
              <a:rPr lang="en-US" dirty="0"/>
              <a:t>If “</a:t>
            </a:r>
            <a:r>
              <a:rPr lang="en-US" sz="3200" b="1" dirty="0" err="1"/>
              <a:t>q</a:t>
            </a:r>
            <a:r>
              <a:rPr lang="en-US" sz="3200" b="1" baseline="-25000" dirty="0" err="1"/>
              <a:t>k</a:t>
            </a:r>
            <a:r>
              <a:rPr lang="en-US" dirty="0"/>
              <a:t>” was the final state in NFA, then all those states will be the final in DFA where “</a:t>
            </a:r>
            <a:r>
              <a:rPr lang="en-US" sz="3200" b="1" dirty="0" err="1"/>
              <a:t>q</a:t>
            </a:r>
            <a:r>
              <a:rPr lang="en-US" sz="3200" b="1" baseline="-25000" dirty="0" err="1"/>
              <a:t>k</a:t>
            </a:r>
            <a:r>
              <a:rPr lang="en-US" dirty="0"/>
              <a:t>” exist.</a:t>
            </a:r>
            <a:endParaRPr lang="en-IN" dirty="0"/>
          </a:p>
        </p:txBody>
      </p:sp>
    </p:spTree>
    <p:extLst>
      <p:ext uri="{BB962C8B-B14F-4D97-AF65-F5344CB8AC3E}">
        <p14:creationId xmlns:p14="http://schemas.microsoft.com/office/powerpoint/2010/main" val="29830945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F139-DE97-46A6-81BE-0B48985CC451}"/>
              </a:ext>
            </a:extLst>
          </p:cNvPr>
          <p:cNvSpPr>
            <a:spLocks noGrp="1"/>
          </p:cNvSpPr>
          <p:nvPr>
            <p:ph type="title"/>
          </p:nvPr>
        </p:nvSpPr>
        <p:spPr/>
        <p:txBody>
          <a:bodyPr/>
          <a:lstStyle/>
          <a:p>
            <a:r>
              <a:rPr lang="en-IN" dirty="0"/>
              <a:t>Example 1</a:t>
            </a:r>
          </a:p>
        </p:txBody>
      </p:sp>
      <p:pic>
        <p:nvPicPr>
          <p:cNvPr id="1026" name="Picture 2">
            <a:extLst>
              <a:ext uri="{FF2B5EF4-FFF2-40B4-BE49-F238E27FC236}">
                <a16:creationId xmlns:a16="http://schemas.microsoft.com/office/drawing/2014/main" id="{6D60A85D-1A60-49B5-9E48-CD91481E2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742"/>
            <a:ext cx="3133725" cy="1066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9CADDF8F-F726-4E8D-9EF5-FE6B81AF383A}"/>
              </a:ext>
            </a:extLst>
          </p:cNvPr>
          <p:cNvGraphicFramePr>
            <a:graphicFrameLocks noGrp="1"/>
          </p:cNvGraphicFramePr>
          <p:nvPr>
            <p:extLst>
              <p:ext uri="{D42A27DB-BD31-4B8C-83A1-F6EECF244321}">
                <p14:modId xmlns:p14="http://schemas.microsoft.com/office/powerpoint/2010/main" val="4045443887"/>
              </p:ext>
            </p:extLst>
          </p:nvPr>
        </p:nvGraphicFramePr>
        <p:xfrm>
          <a:off x="4800600" y="162561"/>
          <a:ext cx="3616128" cy="1503680"/>
        </p:xfrm>
        <a:graphic>
          <a:graphicData uri="http://schemas.openxmlformats.org/drawingml/2006/table">
            <a:tbl>
              <a:tblPr/>
              <a:tblGrid>
                <a:gridCol w="1302679">
                  <a:extLst>
                    <a:ext uri="{9D8B030D-6E8A-4147-A177-3AD203B41FA5}">
                      <a16:colId xmlns:a16="http://schemas.microsoft.com/office/drawing/2014/main" val="3350844810"/>
                    </a:ext>
                  </a:extLst>
                </a:gridCol>
                <a:gridCol w="1064478">
                  <a:extLst>
                    <a:ext uri="{9D8B030D-6E8A-4147-A177-3AD203B41FA5}">
                      <a16:colId xmlns:a16="http://schemas.microsoft.com/office/drawing/2014/main" val="2121338240"/>
                    </a:ext>
                  </a:extLst>
                </a:gridCol>
                <a:gridCol w="1248971">
                  <a:extLst>
                    <a:ext uri="{9D8B030D-6E8A-4147-A177-3AD203B41FA5}">
                      <a16:colId xmlns:a16="http://schemas.microsoft.com/office/drawing/2014/main" val="2497870779"/>
                    </a:ext>
                  </a:extLst>
                </a:gridCol>
              </a:tblGrid>
              <a:tr h="158750">
                <a:tc>
                  <a:txBody>
                    <a:bodyPr/>
                    <a:lstStyle/>
                    <a:p>
                      <a:pPr algn="ctr"/>
                      <a:r>
                        <a:rPr lang="en-IN" sz="1800" b="1" dirty="0">
                          <a:effectLst/>
                          <a:latin typeface="+mn-lt"/>
                        </a:rPr>
                        <a:t>State </a:t>
                      </a:r>
                      <a:endParaRPr lang="en-IN" sz="1800" dirty="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latin typeface="+mn-lt"/>
                        </a:rPr>
                        <a:t>a</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latin typeface="+mn-lt"/>
                        </a:rPr>
                        <a:t>b</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024413758"/>
                  </a:ext>
                </a:extLst>
              </a:tr>
              <a:tr h="177800">
                <a:tc>
                  <a:txBody>
                    <a:bodyPr/>
                    <a:lstStyle/>
                    <a:p>
                      <a:pPr algn="ctr"/>
                      <a:r>
                        <a:rPr lang="en-IN" sz="1800">
                          <a:effectLst/>
                          <a:latin typeface="+mn-lt"/>
                        </a:rPr>
                        <a:t>→</a:t>
                      </a:r>
                      <a:r>
                        <a:rPr lang="en-IN" sz="1800" b="1">
                          <a:effectLst/>
                          <a:latin typeface="+mn-lt"/>
                        </a:rPr>
                        <a:t>q0</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latin typeface="+mn-l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latin typeface="+mn-lt"/>
                        </a:rPr>
                        <a:t>q0, q1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844956520"/>
                  </a:ext>
                </a:extLst>
              </a:tr>
              <a:tr h="177800">
                <a:tc>
                  <a:txBody>
                    <a:bodyPr/>
                    <a:lstStyle/>
                    <a:p>
                      <a:pPr algn="ctr"/>
                      <a:r>
                        <a:rPr lang="en-IN" sz="1800" b="1">
                          <a:effectLst/>
                          <a:latin typeface="+mn-lt"/>
                        </a:rPr>
                        <a:t>q1</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latin typeface="+mn-lt"/>
                        </a:rPr>
                        <a: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latin typeface="+mn-lt"/>
                        </a:rPr>
                        <a:t>*q2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889491705"/>
                  </a:ext>
                </a:extLst>
              </a:tr>
              <a:tr h="177800">
                <a:tc>
                  <a:txBody>
                    <a:bodyPr/>
                    <a:lstStyle/>
                    <a:p>
                      <a:pPr algn="ctr"/>
                      <a:r>
                        <a:rPr lang="en-IN" sz="1800" b="1">
                          <a:effectLst/>
                          <a:latin typeface="+mn-lt"/>
                        </a:rPr>
                        <a:t>*q2</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latin typeface="+mn-lt"/>
                        </a:rPr>
                        <a: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latin typeface="+mn-lt"/>
                        </a:rPr>
                        <a: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551271415"/>
                  </a:ext>
                </a:extLst>
              </a:tr>
            </a:tbl>
          </a:graphicData>
        </a:graphic>
      </p:graphicFrame>
      <p:graphicFrame>
        <p:nvGraphicFramePr>
          <p:cNvPr id="5" name="Table 4">
            <a:extLst>
              <a:ext uri="{FF2B5EF4-FFF2-40B4-BE49-F238E27FC236}">
                <a16:creationId xmlns:a16="http://schemas.microsoft.com/office/drawing/2014/main" id="{489BC925-89DC-4BE0-BF7C-E4FB4E032702}"/>
              </a:ext>
            </a:extLst>
          </p:cNvPr>
          <p:cNvGraphicFramePr>
            <a:graphicFrameLocks noGrp="1"/>
          </p:cNvGraphicFramePr>
          <p:nvPr>
            <p:extLst>
              <p:ext uri="{D42A27DB-BD31-4B8C-83A1-F6EECF244321}">
                <p14:modId xmlns:p14="http://schemas.microsoft.com/office/powerpoint/2010/main" val="284661883"/>
              </p:ext>
            </p:extLst>
          </p:nvPr>
        </p:nvGraphicFramePr>
        <p:xfrm>
          <a:off x="436225" y="2454922"/>
          <a:ext cx="3616129" cy="751840"/>
        </p:xfrm>
        <a:graphic>
          <a:graphicData uri="http://schemas.openxmlformats.org/drawingml/2006/table">
            <a:tbl>
              <a:tblPr/>
              <a:tblGrid>
                <a:gridCol w="1302679">
                  <a:extLst>
                    <a:ext uri="{9D8B030D-6E8A-4147-A177-3AD203B41FA5}">
                      <a16:colId xmlns:a16="http://schemas.microsoft.com/office/drawing/2014/main" val="2789355310"/>
                    </a:ext>
                  </a:extLst>
                </a:gridCol>
                <a:gridCol w="1155072">
                  <a:extLst>
                    <a:ext uri="{9D8B030D-6E8A-4147-A177-3AD203B41FA5}">
                      <a16:colId xmlns:a16="http://schemas.microsoft.com/office/drawing/2014/main" val="759245757"/>
                    </a:ext>
                  </a:extLst>
                </a:gridCol>
                <a:gridCol w="1158378">
                  <a:extLst>
                    <a:ext uri="{9D8B030D-6E8A-4147-A177-3AD203B41FA5}">
                      <a16:colId xmlns:a16="http://schemas.microsoft.com/office/drawing/2014/main" val="2646490393"/>
                    </a:ext>
                  </a:extLst>
                </a:gridCol>
              </a:tblGrid>
              <a:tr h="158750">
                <a:tc>
                  <a:txBody>
                    <a:bodyPr/>
                    <a:lstStyle/>
                    <a:p>
                      <a:pPr algn="ctr"/>
                      <a:r>
                        <a:rPr lang="en-IN" sz="1800" b="1" dirty="0">
                          <a:effectLst/>
                          <a:latin typeface="+mn-lt"/>
                        </a:rPr>
                        <a:t>State </a:t>
                      </a:r>
                      <a:endParaRPr lang="en-IN" sz="1800" dirty="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latin typeface="+mn-lt"/>
                        </a:rPr>
                        <a:t>a</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latin typeface="+mn-lt"/>
                        </a:rPr>
                        <a:t>b</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198423858"/>
                  </a:ext>
                </a:extLst>
              </a:tr>
              <a:tr h="0">
                <a:tc>
                  <a:txBody>
                    <a:bodyPr/>
                    <a:lstStyle/>
                    <a:p>
                      <a:pPr algn="ctr"/>
                      <a:r>
                        <a:rPr lang="en-IN" sz="1800">
                          <a:effectLst/>
                          <a:latin typeface="+mn-lt"/>
                        </a:rPr>
                        <a:t>→</a:t>
                      </a:r>
                      <a:r>
                        <a:rPr lang="en-IN" sz="1800" b="1">
                          <a:effectLst/>
                          <a:latin typeface="+mn-lt"/>
                        </a:rPr>
                        <a:t>q0</a:t>
                      </a:r>
                      <a:endParaRPr lang="en-IN" sz="1800">
                        <a:effectLst/>
                        <a:latin typeface="+mn-l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latin typeface="+mn-l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latin typeface="+mn-lt"/>
                        </a:rPr>
                        <a:t>{q0, q1}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038195140"/>
                  </a:ext>
                </a:extLst>
              </a:tr>
            </a:tbl>
          </a:graphicData>
        </a:graphic>
      </p:graphicFrame>
      <p:graphicFrame>
        <p:nvGraphicFramePr>
          <p:cNvPr id="6" name="Table 5">
            <a:extLst>
              <a:ext uri="{FF2B5EF4-FFF2-40B4-BE49-F238E27FC236}">
                <a16:creationId xmlns:a16="http://schemas.microsoft.com/office/drawing/2014/main" id="{0D059C0D-AA21-4359-BBFA-959B9A936C2E}"/>
              </a:ext>
            </a:extLst>
          </p:cNvPr>
          <p:cNvGraphicFramePr>
            <a:graphicFrameLocks noGrp="1"/>
          </p:cNvGraphicFramePr>
          <p:nvPr>
            <p:extLst>
              <p:ext uri="{D42A27DB-BD31-4B8C-83A1-F6EECF244321}">
                <p14:modId xmlns:p14="http://schemas.microsoft.com/office/powerpoint/2010/main" val="1597829253"/>
              </p:ext>
            </p:extLst>
          </p:nvPr>
        </p:nvGraphicFramePr>
        <p:xfrm>
          <a:off x="436225" y="3763204"/>
          <a:ext cx="3882992" cy="1127760"/>
        </p:xfrm>
        <a:graphic>
          <a:graphicData uri="http://schemas.openxmlformats.org/drawingml/2006/table">
            <a:tbl>
              <a:tblPr/>
              <a:tblGrid>
                <a:gridCol w="1398814">
                  <a:extLst>
                    <a:ext uri="{9D8B030D-6E8A-4147-A177-3AD203B41FA5}">
                      <a16:colId xmlns:a16="http://schemas.microsoft.com/office/drawing/2014/main" val="60077479"/>
                    </a:ext>
                  </a:extLst>
                </a:gridCol>
                <a:gridCol w="1240314">
                  <a:extLst>
                    <a:ext uri="{9D8B030D-6E8A-4147-A177-3AD203B41FA5}">
                      <a16:colId xmlns:a16="http://schemas.microsoft.com/office/drawing/2014/main" val="3083265376"/>
                    </a:ext>
                  </a:extLst>
                </a:gridCol>
                <a:gridCol w="1243864">
                  <a:extLst>
                    <a:ext uri="{9D8B030D-6E8A-4147-A177-3AD203B41FA5}">
                      <a16:colId xmlns:a16="http://schemas.microsoft.com/office/drawing/2014/main" val="409543840"/>
                    </a:ext>
                  </a:extLst>
                </a:gridCol>
              </a:tblGrid>
              <a:tr h="158750">
                <a:tc>
                  <a:txBody>
                    <a:bodyPr/>
                    <a:lstStyle/>
                    <a:p>
                      <a:pPr algn="ctr"/>
                      <a:r>
                        <a:rPr lang="en-IN" sz="1800" b="1" dirty="0">
                          <a:effectLst/>
                        </a:rPr>
                        <a:t>State</a:t>
                      </a:r>
                      <a:endParaRPr lang="en-IN" sz="1800"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a</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b</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285991090"/>
                  </a:ext>
                </a:extLst>
              </a:tr>
              <a:tr h="0">
                <a:tc>
                  <a:txBody>
                    <a:bodyPr/>
                    <a:lstStyle/>
                    <a:p>
                      <a:pPr algn="ctr"/>
                      <a:r>
                        <a:rPr lang="en-IN" sz="1800">
                          <a:effectLst/>
                        </a:rPr>
                        <a:t>→</a:t>
                      </a:r>
                      <a:r>
                        <a:rPr lang="en-IN" sz="1800" b="1">
                          <a:effectLst/>
                        </a:rPr>
                        <a:t>q0</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 q1}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217970207"/>
                  </a:ext>
                </a:extLst>
              </a:tr>
              <a:tr h="222250">
                <a:tc>
                  <a:txBody>
                    <a:bodyPr/>
                    <a:lstStyle/>
                    <a:p>
                      <a:pPr algn="ctr"/>
                      <a:r>
                        <a:rPr lang="en-IN" sz="1800" b="1">
                          <a:effectLst/>
                        </a:rPr>
                        <a:t>{q0, q1}</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 q1, 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590085380"/>
                  </a:ext>
                </a:extLst>
              </a:tr>
            </a:tbl>
          </a:graphicData>
        </a:graphic>
      </p:graphicFrame>
      <p:graphicFrame>
        <p:nvGraphicFramePr>
          <p:cNvPr id="7" name="Table 6">
            <a:extLst>
              <a:ext uri="{FF2B5EF4-FFF2-40B4-BE49-F238E27FC236}">
                <a16:creationId xmlns:a16="http://schemas.microsoft.com/office/drawing/2014/main" id="{37D2FC0E-98FB-4E78-8F2E-1BAF7144A858}"/>
              </a:ext>
            </a:extLst>
          </p:cNvPr>
          <p:cNvGraphicFramePr>
            <a:graphicFrameLocks noGrp="1"/>
          </p:cNvGraphicFramePr>
          <p:nvPr>
            <p:extLst>
              <p:ext uri="{D42A27DB-BD31-4B8C-83A1-F6EECF244321}">
                <p14:modId xmlns:p14="http://schemas.microsoft.com/office/powerpoint/2010/main" val="435212691"/>
              </p:ext>
            </p:extLst>
          </p:nvPr>
        </p:nvGraphicFramePr>
        <p:xfrm>
          <a:off x="477433" y="5354320"/>
          <a:ext cx="3882992" cy="1503680"/>
        </p:xfrm>
        <a:graphic>
          <a:graphicData uri="http://schemas.openxmlformats.org/drawingml/2006/table">
            <a:tbl>
              <a:tblPr/>
              <a:tblGrid>
                <a:gridCol w="1398814">
                  <a:extLst>
                    <a:ext uri="{9D8B030D-6E8A-4147-A177-3AD203B41FA5}">
                      <a16:colId xmlns:a16="http://schemas.microsoft.com/office/drawing/2014/main" val="2938625966"/>
                    </a:ext>
                  </a:extLst>
                </a:gridCol>
                <a:gridCol w="1240314">
                  <a:extLst>
                    <a:ext uri="{9D8B030D-6E8A-4147-A177-3AD203B41FA5}">
                      <a16:colId xmlns:a16="http://schemas.microsoft.com/office/drawing/2014/main" val="3935733354"/>
                    </a:ext>
                  </a:extLst>
                </a:gridCol>
                <a:gridCol w="1243864">
                  <a:extLst>
                    <a:ext uri="{9D8B030D-6E8A-4147-A177-3AD203B41FA5}">
                      <a16:colId xmlns:a16="http://schemas.microsoft.com/office/drawing/2014/main" val="2563566398"/>
                    </a:ext>
                  </a:extLst>
                </a:gridCol>
              </a:tblGrid>
              <a:tr h="158750">
                <a:tc>
                  <a:txBody>
                    <a:bodyPr/>
                    <a:lstStyle/>
                    <a:p>
                      <a:pPr algn="ctr"/>
                      <a:r>
                        <a:rPr lang="en-IN" sz="1800" b="1" dirty="0">
                          <a:effectLst/>
                        </a:rPr>
                        <a:t>State </a:t>
                      </a:r>
                      <a:endParaRPr lang="en-IN" sz="1800"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a</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b</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066627016"/>
                  </a:ext>
                </a:extLst>
              </a:tr>
              <a:tr h="0">
                <a:tc>
                  <a:txBody>
                    <a:bodyPr/>
                    <a:lstStyle/>
                    <a:p>
                      <a:pPr algn="ctr"/>
                      <a:r>
                        <a:rPr lang="en-IN" sz="1800" dirty="0">
                          <a:effectLst/>
                        </a:rPr>
                        <a:t>→</a:t>
                      </a:r>
                      <a:r>
                        <a:rPr lang="en-IN" sz="1800" b="1" dirty="0">
                          <a:effectLst/>
                        </a:rPr>
                        <a:t>q0</a:t>
                      </a:r>
                      <a:endParaRPr lang="en-IN" sz="1800"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 q1}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38118801"/>
                  </a:ext>
                </a:extLst>
              </a:tr>
              <a:tr h="222250">
                <a:tc>
                  <a:txBody>
                    <a:bodyPr/>
                    <a:lstStyle/>
                    <a:p>
                      <a:pPr algn="ctr"/>
                      <a:r>
                        <a:rPr lang="en-IN" sz="1800" b="1">
                          <a:effectLst/>
                        </a:rPr>
                        <a:t>{q0, q1}</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 q1, 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786999092"/>
                  </a:ext>
                </a:extLst>
              </a:tr>
              <a:tr h="222250">
                <a:tc>
                  <a:txBody>
                    <a:bodyPr/>
                    <a:lstStyle/>
                    <a:p>
                      <a:pPr algn="ctr"/>
                      <a:r>
                        <a:rPr lang="en-IN" sz="1800" b="1">
                          <a:effectLst/>
                        </a:rPr>
                        <a:t>{q0, q1, q2}</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 q1, 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172540376"/>
                  </a:ext>
                </a:extLst>
              </a:tr>
            </a:tbl>
          </a:graphicData>
        </a:graphic>
      </p:graphicFrame>
      <p:graphicFrame>
        <p:nvGraphicFramePr>
          <p:cNvPr id="8" name="Table 7">
            <a:extLst>
              <a:ext uri="{FF2B5EF4-FFF2-40B4-BE49-F238E27FC236}">
                <a16:creationId xmlns:a16="http://schemas.microsoft.com/office/drawing/2014/main" id="{10DA69D0-3E88-4609-955A-8E88DFC1B468}"/>
              </a:ext>
            </a:extLst>
          </p:cNvPr>
          <p:cNvGraphicFramePr>
            <a:graphicFrameLocks noGrp="1"/>
          </p:cNvGraphicFramePr>
          <p:nvPr>
            <p:extLst>
              <p:ext uri="{D42A27DB-BD31-4B8C-83A1-F6EECF244321}">
                <p14:modId xmlns:p14="http://schemas.microsoft.com/office/powerpoint/2010/main" val="1850008500"/>
              </p:ext>
            </p:extLst>
          </p:nvPr>
        </p:nvGraphicFramePr>
        <p:xfrm>
          <a:off x="7696200" y="2175597"/>
          <a:ext cx="4094066" cy="1503680"/>
        </p:xfrm>
        <a:graphic>
          <a:graphicData uri="http://schemas.openxmlformats.org/drawingml/2006/table">
            <a:tbl>
              <a:tblPr/>
              <a:tblGrid>
                <a:gridCol w="1474852">
                  <a:extLst>
                    <a:ext uri="{9D8B030D-6E8A-4147-A177-3AD203B41FA5}">
                      <a16:colId xmlns:a16="http://schemas.microsoft.com/office/drawing/2014/main" val="3140200463"/>
                    </a:ext>
                  </a:extLst>
                </a:gridCol>
                <a:gridCol w="1095213">
                  <a:extLst>
                    <a:ext uri="{9D8B030D-6E8A-4147-A177-3AD203B41FA5}">
                      <a16:colId xmlns:a16="http://schemas.microsoft.com/office/drawing/2014/main" val="105288845"/>
                    </a:ext>
                  </a:extLst>
                </a:gridCol>
                <a:gridCol w="1524001">
                  <a:extLst>
                    <a:ext uri="{9D8B030D-6E8A-4147-A177-3AD203B41FA5}">
                      <a16:colId xmlns:a16="http://schemas.microsoft.com/office/drawing/2014/main" val="1365001259"/>
                    </a:ext>
                  </a:extLst>
                </a:gridCol>
              </a:tblGrid>
              <a:tr h="158750">
                <a:tc>
                  <a:txBody>
                    <a:bodyPr/>
                    <a:lstStyle/>
                    <a:p>
                      <a:pPr algn="ctr"/>
                      <a:r>
                        <a:rPr lang="en-IN" sz="1800" b="1" dirty="0">
                          <a:effectLst/>
                        </a:rPr>
                        <a:t>State</a:t>
                      </a:r>
                      <a:endParaRPr lang="en-IN" sz="1800"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a</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b="1">
                          <a:effectLst/>
                        </a:rPr>
                        <a:t>b</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756986779"/>
                  </a:ext>
                </a:extLst>
              </a:tr>
              <a:tr h="0">
                <a:tc>
                  <a:txBody>
                    <a:bodyPr/>
                    <a:lstStyle/>
                    <a:p>
                      <a:pPr algn="ctr"/>
                      <a:r>
                        <a:rPr lang="en-IN" sz="1800">
                          <a:effectLst/>
                        </a:rPr>
                        <a:t>→</a:t>
                      </a:r>
                      <a:r>
                        <a:rPr lang="en-IN" sz="1800" b="1">
                          <a:effectLst/>
                        </a:rPr>
                        <a:t>q0</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 q1}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207548997"/>
                  </a:ext>
                </a:extLst>
              </a:tr>
              <a:tr h="222250">
                <a:tc>
                  <a:txBody>
                    <a:bodyPr/>
                    <a:lstStyle/>
                    <a:p>
                      <a:pPr algn="ctr"/>
                      <a:r>
                        <a:rPr lang="en-IN" sz="1800" b="1">
                          <a:effectLst/>
                        </a:rPr>
                        <a:t>{q0, q1}</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 q1, 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59271870"/>
                  </a:ext>
                </a:extLst>
              </a:tr>
              <a:tr h="222250">
                <a:tc>
                  <a:txBody>
                    <a:bodyPr/>
                    <a:lstStyle/>
                    <a:p>
                      <a:pPr algn="ctr"/>
                      <a:r>
                        <a:rPr lang="en-IN" sz="1800" b="1">
                          <a:effectLst/>
                        </a:rPr>
                        <a:t>*{q0, q1, q2}</a:t>
                      </a:r>
                      <a:endParaRPr lang="en-IN" sz="180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a:effectLst/>
                        </a:rPr>
                        <a:t>q0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800" dirty="0">
                          <a:effectLst/>
                        </a:rPr>
                        <a:t>*{q0, q1, q2}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280367966"/>
                  </a:ext>
                </a:extLst>
              </a:tr>
            </a:tbl>
          </a:graphicData>
        </a:graphic>
      </p:graphicFrame>
      <p:pic>
        <p:nvPicPr>
          <p:cNvPr id="1028" name="Picture 4">
            <a:extLst>
              <a:ext uri="{FF2B5EF4-FFF2-40B4-BE49-F238E27FC236}">
                <a16:creationId xmlns:a16="http://schemas.microsoft.com/office/drawing/2014/main" id="{A2B6F3E0-75B9-4582-AD88-70CA6A052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8224" y="3926073"/>
            <a:ext cx="4657725" cy="26955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419F970-9D16-46B4-84F0-1BDE47F00A7F}"/>
              </a:ext>
            </a:extLst>
          </p:cNvPr>
          <p:cNvSpPr txBox="1"/>
          <p:nvPr/>
        </p:nvSpPr>
        <p:spPr>
          <a:xfrm>
            <a:off x="-53975" y="2133883"/>
            <a:ext cx="7442199" cy="307777"/>
          </a:xfrm>
          <a:prstGeom prst="rect">
            <a:avLst/>
          </a:prstGeom>
          <a:noFill/>
        </p:spPr>
        <p:txBody>
          <a:bodyPr wrap="square">
            <a:spAutoFit/>
          </a:bodyPr>
          <a:lstStyle/>
          <a:p>
            <a:r>
              <a:rPr lang="en-US" sz="1400" b="0" i="0" dirty="0">
                <a:solidFill>
                  <a:srgbClr val="303030"/>
                </a:solidFill>
                <a:effectLst/>
                <a:latin typeface="Arimo"/>
              </a:rPr>
              <a:t>Let T’ be a new transition table of the DFA. Add transitions of start state q0 to the transition table T’.</a:t>
            </a:r>
            <a:endParaRPr lang="en-IN" sz="1400" dirty="0"/>
          </a:p>
        </p:txBody>
      </p:sp>
      <p:sp>
        <p:nvSpPr>
          <p:cNvPr id="14" name="TextBox 13">
            <a:extLst>
              <a:ext uri="{FF2B5EF4-FFF2-40B4-BE49-F238E27FC236}">
                <a16:creationId xmlns:a16="http://schemas.microsoft.com/office/drawing/2014/main" id="{CE67A808-5A74-4184-82BF-12773577DAA9}"/>
              </a:ext>
            </a:extLst>
          </p:cNvPr>
          <p:cNvSpPr txBox="1"/>
          <p:nvPr/>
        </p:nvSpPr>
        <p:spPr>
          <a:xfrm>
            <a:off x="-53975" y="3412529"/>
            <a:ext cx="7826949" cy="307777"/>
          </a:xfrm>
          <a:prstGeom prst="rect">
            <a:avLst/>
          </a:prstGeom>
          <a:noFill/>
        </p:spPr>
        <p:txBody>
          <a:bodyPr wrap="square">
            <a:spAutoFit/>
          </a:bodyPr>
          <a:lstStyle/>
          <a:p>
            <a:pPr algn="l" fontAlgn="base"/>
            <a:r>
              <a:rPr lang="en-US" sz="1400" b="0" i="0" dirty="0">
                <a:solidFill>
                  <a:srgbClr val="303030"/>
                </a:solidFill>
                <a:effectLst/>
                <a:latin typeface="Arimo"/>
              </a:rPr>
              <a:t>New state present in state Q’ is {q0, q1}. Add transitions for set of states {q0, q1} to the transition table T’.</a:t>
            </a:r>
          </a:p>
        </p:txBody>
      </p:sp>
      <p:sp>
        <p:nvSpPr>
          <p:cNvPr id="16" name="TextBox 15">
            <a:extLst>
              <a:ext uri="{FF2B5EF4-FFF2-40B4-BE49-F238E27FC236}">
                <a16:creationId xmlns:a16="http://schemas.microsoft.com/office/drawing/2014/main" id="{BB1DF565-5282-4283-815A-3DC64B360343}"/>
              </a:ext>
            </a:extLst>
          </p:cNvPr>
          <p:cNvSpPr txBox="1"/>
          <p:nvPr/>
        </p:nvSpPr>
        <p:spPr>
          <a:xfrm>
            <a:off x="-53975" y="4933863"/>
            <a:ext cx="7750175" cy="523220"/>
          </a:xfrm>
          <a:prstGeom prst="rect">
            <a:avLst/>
          </a:prstGeom>
          <a:noFill/>
        </p:spPr>
        <p:txBody>
          <a:bodyPr wrap="square">
            <a:spAutoFit/>
          </a:bodyPr>
          <a:lstStyle/>
          <a:p>
            <a:pPr algn="l" fontAlgn="base"/>
            <a:r>
              <a:rPr lang="en-US" sz="1400" b="0" i="0" dirty="0">
                <a:solidFill>
                  <a:srgbClr val="303030"/>
                </a:solidFill>
                <a:effectLst/>
                <a:latin typeface="Arimo"/>
              </a:rPr>
              <a:t>New state present in state Q’ is {q0, q1, q2}. Add transitions for set of states {q0, q1, q2} to the transition table T’.</a:t>
            </a:r>
          </a:p>
        </p:txBody>
      </p:sp>
      <p:sp>
        <p:nvSpPr>
          <p:cNvPr id="18" name="TextBox 17">
            <a:extLst>
              <a:ext uri="{FF2B5EF4-FFF2-40B4-BE49-F238E27FC236}">
                <a16:creationId xmlns:a16="http://schemas.microsoft.com/office/drawing/2014/main" id="{490E6D0C-2DE2-41AF-BEB7-CA13EBB360CE}"/>
              </a:ext>
            </a:extLst>
          </p:cNvPr>
          <p:cNvSpPr txBox="1"/>
          <p:nvPr/>
        </p:nvSpPr>
        <p:spPr>
          <a:xfrm>
            <a:off x="8592410" y="1157186"/>
            <a:ext cx="3505832" cy="954107"/>
          </a:xfrm>
          <a:prstGeom prst="rect">
            <a:avLst/>
          </a:prstGeom>
          <a:noFill/>
        </p:spPr>
        <p:txBody>
          <a:bodyPr wrap="square">
            <a:spAutoFit/>
          </a:bodyPr>
          <a:lstStyle/>
          <a:p>
            <a:pPr algn="l" fontAlgn="base"/>
            <a:r>
              <a:rPr lang="en-US" sz="1400" b="0" i="0" dirty="0">
                <a:solidFill>
                  <a:srgbClr val="303030"/>
                </a:solidFill>
                <a:effectLst/>
                <a:latin typeface="Arimo"/>
              </a:rPr>
              <a:t>Since no new states are left to be added in the transition table T’, so we stop.</a:t>
            </a:r>
          </a:p>
          <a:p>
            <a:pPr algn="l" fontAlgn="base"/>
            <a:r>
              <a:rPr lang="en-US" sz="1400" b="0" i="0" dirty="0">
                <a:solidFill>
                  <a:srgbClr val="303030"/>
                </a:solidFill>
                <a:effectLst/>
                <a:latin typeface="Arimo"/>
              </a:rPr>
              <a:t>States containing q2 as its component are treated as final states of the DFA</a:t>
            </a:r>
          </a:p>
        </p:txBody>
      </p:sp>
    </p:spTree>
    <p:extLst>
      <p:ext uri="{BB962C8B-B14F-4D97-AF65-F5344CB8AC3E}">
        <p14:creationId xmlns:p14="http://schemas.microsoft.com/office/powerpoint/2010/main" val="7618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36CFD-37C4-4ECC-A434-CC7DAF38D5A9}"/>
              </a:ext>
            </a:extLst>
          </p:cNvPr>
          <p:cNvSpPr>
            <a:spLocks noGrp="1"/>
          </p:cNvSpPr>
          <p:nvPr>
            <p:ph type="title"/>
          </p:nvPr>
        </p:nvSpPr>
        <p:spPr/>
        <p:txBody>
          <a:bodyPr>
            <a:normAutofit/>
          </a:bodyPr>
          <a:lstStyle/>
          <a:p>
            <a:r>
              <a:rPr lang="en-IN" b="1" i="0" dirty="0">
                <a:solidFill>
                  <a:srgbClr val="000000"/>
                </a:solidFill>
                <a:effectLst/>
                <a:latin typeface="Nunito Sans" panose="020B0604020202020204" pitchFamily="2" charset="0"/>
              </a:rPr>
              <a:t>(Epsilon) </a:t>
            </a:r>
            <a:r>
              <a:rPr lang="en-US" b="0" i="0" dirty="0">
                <a:solidFill>
                  <a:srgbClr val="303030"/>
                </a:solidFill>
                <a:effectLst/>
                <a:latin typeface="Arimo"/>
              </a:rPr>
              <a:t>∈-</a:t>
            </a:r>
            <a:r>
              <a:rPr lang="en-IN" b="1" i="0" dirty="0">
                <a:solidFill>
                  <a:srgbClr val="000000"/>
                </a:solidFill>
                <a:effectLst/>
                <a:latin typeface="Nunito Sans" panose="020B0604020202020204" pitchFamily="2" charset="0"/>
              </a:rPr>
              <a:t>NFA</a:t>
            </a:r>
            <a:endParaRPr lang="en-IN" dirty="0"/>
          </a:p>
        </p:txBody>
      </p:sp>
      <p:sp>
        <p:nvSpPr>
          <p:cNvPr id="3" name="Content Placeholder 2">
            <a:extLst>
              <a:ext uri="{FF2B5EF4-FFF2-40B4-BE49-F238E27FC236}">
                <a16:creationId xmlns:a16="http://schemas.microsoft.com/office/drawing/2014/main" id="{E1A79957-67D2-4E8B-AF38-3DEC5B3D0C3C}"/>
              </a:ext>
            </a:extLst>
          </p:cNvPr>
          <p:cNvSpPr>
            <a:spLocks noGrp="1"/>
          </p:cNvSpPr>
          <p:nvPr>
            <p:ph idx="1"/>
          </p:nvPr>
        </p:nvSpPr>
        <p:spPr/>
        <p:txBody>
          <a:bodyPr/>
          <a:lstStyle/>
          <a:p>
            <a:r>
              <a:rPr lang="en-US" b="0" i="0" dirty="0">
                <a:solidFill>
                  <a:srgbClr val="3D3D4E"/>
                </a:solidFill>
                <a:effectLst/>
                <a:latin typeface="Droid Serif"/>
              </a:rPr>
              <a:t>An </a:t>
            </a:r>
            <a:r>
              <a:rPr lang="en-US" b="1" i="0" dirty="0">
                <a:solidFill>
                  <a:srgbClr val="C00000"/>
                </a:solidFill>
                <a:effectLst/>
                <a:latin typeface="Droid Serif"/>
              </a:rPr>
              <a:t>epsilon nondeterministic finite automaton (NFA)</a:t>
            </a:r>
            <a:r>
              <a:rPr lang="en-US" b="0" i="0" dirty="0">
                <a:solidFill>
                  <a:srgbClr val="C00000"/>
                </a:solidFill>
                <a:effectLst/>
                <a:latin typeface="Droid Serif"/>
              </a:rPr>
              <a:t> </a:t>
            </a:r>
            <a:r>
              <a:rPr lang="en-US" b="0" i="0" dirty="0">
                <a:solidFill>
                  <a:srgbClr val="3D3D4E"/>
                </a:solidFill>
                <a:effectLst/>
                <a:latin typeface="Droid Serif"/>
              </a:rPr>
              <a:t>has null or epsilon transitions from one state to another. Epsilon NFA is also called a </a:t>
            </a:r>
            <a:r>
              <a:rPr lang="en-US" b="1" i="0" dirty="0">
                <a:solidFill>
                  <a:srgbClr val="C00000"/>
                </a:solidFill>
                <a:effectLst/>
                <a:latin typeface="Droid Serif"/>
              </a:rPr>
              <a:t>null NFA</a:t>
            </a:r>
            <a:r>
              <a:rPr lang="en-US" b="0" i="0" dirty="0">
                <a:solidFill>
                  <a:srgbClr val="C00000"/>
                </a:solidFill>
                <a:effectLst/>
                <a:latin typeface="Droid Serif"/>
              </a:rPr>
              <a:t> </a:t>
            </a:r>
            <a:r>
              <a:rPr lang="en-US" b="0" i="0" dirty="0">
                <a:solidFill>
                  <a:srgbClr val="3D3D4E"/>
                </a:solidFill>
                <a:effectLst/>
                <a:latin typeface="Droid Serif"/>
              </a:rPr>
              <a:t>or an </a:t>
            </a:r>
            <a:r>
              <a:rPr lang="en-US" b="1" i="0" dirty="0">
                <a:solidFill>
                  <a:srgbClr val="C00000"/>
                </a:solidFill>
                <a:effectLst/>
                <a:latin typeface="Droid Serif"/>
              </a:rPr>
              <a:t>NFA lambda</a:t>
            </a:r>
            <a:r>
              <a:rPr lang="en-US" b="0" i="0" dirty="0">
                <a:solidFill>
                  <a:srgbClr val="C00000"/>
                </a:solidFill>
                <a:effectLst/>
                <a:latin typeface="Droid Serif"/>
              </a:rPr>
              <a:t>.</a:t>
            </a:r>
          </a:p>
          <a:p>
            <a:r>
              <a:rPr lang="en-US" b="0" i="0" dirty="0">
                <a:solidFill>
                  <a:srgbClr val="3D3D4E"/>
                </a:solidFill>
                <a:effectLst/>
                <a:latin typeface="Droid Serif"/>
              </a:rPr>
              <a:t>A regular expression for a language forms an epsilon NFA. This epsilon NFA then converts to a simple NFA. We then use the simple NFA to make a </a:t>
            </a:r>
            <a:r>
              <a:rPr lang="en-US" b="1" i="0" dirty="0">
                <a:solidFill>
                  <a:srgbClr val="3D3D4E"/>
                </a:solidFill>
                <a:effectLst/>
                <a:latin typeface="Droid Serif"/>
              </a:rPr>
              <a:t>deterministic finite automaton (DFA)</a:t>
            </a:r>
          </a:p>
          <a:p>
            <a:pPr marL="0" indent="0" algn="l">
              <a:buNone/>
            </a:pPr>
            <a:r>
              <a:rPr lang="en-US" b="1" i="0" dirty="0">
                <a:solidFill>
                  <a:srgbClr val="C00000"/>
                </a:solidFill>
                <a:effectLst/>
                <a:latin typeface="var(--font-family-heading-lesson-markdown)"/>
              </a:rPr>
              <a:t>Null closure: </a:t>
            </a:r>
            <a:r>
              <a:rPr lang="en-US" b="0" i="0" dirty="0">
                <a:solidFill>
                  <a:srgbClr val="3D3D4E"/>
                </a:solidFill>
                <a:effectLst/>
                <a:latin typeface="Droid Serif"/>
              </a:rPr>
              <a:t>We require </a:t>
            </a:r>
            <a:r>
              <a:rPr lang="en-US" b="1" i="0" dirty="0">
                <a:solidFill>
                  <a:srgbClr val="3D3D4E"/>
                </a:solidFill>
                <a:effectLst/>
                <a:latin typeface="var(--font-family-body-lesson-markdown,&quot;Droid Serif&quot;)"/>
              </a:rPr>
              <a:t>null closure</a:t>
            </a:r>
            <a:r>
              <a:rPr lang="en-US" b="0" i="0" dirty="0">
                <a:solidFill>
                  <a:srgbClr val="3D3D4E"/>
                </a:solidFill>
                <a:effectLst/>
                <a:latin typeface="Droid Serif"/>
              </a:rPr>
              <a:t> to convert an epsilon NFA to an NFA. Moreover, it shows us the states we can transcend due to a null transition.</a:t>
            </a:r>
          </a:p>
          <a:p>
            <a:endParaRPr lang="en-IN" dirty="0">
              <a:solidFill>
                <a:srgbClr val="C00000"/>
              </a:solidFill>
            </a:endParaRPr>
          </a:p>
        </p:txBody>
      </p:sp>
    </p:spTree>
    <p:extLst>
      <p:ext uri="{BB962C8B-B14F-4D97-AF65-F5344CB8AC3E}">
        <p14:creationId xmlns:p14="http://schemas.microsoft.com/office/powerpoint/2010/main" val="332512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8CF6-0E2B-486F-9E13-5186D5748E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B7F378B-B17E-484A-A064-0776E2195F3F}"/>
              </a:ext>
            </a:extLst>
          </p:cNvPr>
          <p:cNvSpPr>
            <a:spLocks noGrp="1"/>
          </p:cNvSpPr>
          <p:nvPr>
            <p:ph idx="1"/>
          </p:nvPr>
        </p:nvSpPr>
        <p:spPr/>
        <p:txBody>
          <a:bodyPr/>
          <a:lstStyle/>
          <a:p>
            <a:r>
              <a:rPr lang="en-US" dirty="0"/>
              <a:t>Let's suppose an NFA </a:t>
            </a:r>
            <a:r>
              <a:rPr lang="en-US" dirty="0">
                <a:solidFill>
                  <a:srgbClr val="C00000"/>
                </a:solidFill>
              </a:rPr>
              <a:t>&lt; </a:t>
            </a:r>
            <a:r>
              <a:rPr lang="en-US" i="1" dirty="0">
                <a:solidFill>
                  <a:srgbClr val="C00000"/>
                </a:solidFill>
              </a:rPr>
              <a:t>Q</a:t>
            </a:r>
            <a:r>
              <a:rPr lang="en-US" dirty="0">
                <a:solidFill>
                  <a:srgbClr val="C00000"/>
                </a:solidFill>
              </a:rPr>
              <a:t>, Σ, </a:t>
            </a:r>
            <a:r>
              <a:rPr lang="en-US" i="1" dirty="0">
                <a:solidFill>
                  <a:srgbClr val="C00000"/>
                </a:solidFill>
              </a:rPr>
              <a:t>q</a:t>
            </a:r>
            <a:r>
              <a:rPr lang="en-US" dirty="0">
                <a:solidFill>
                  <a:srgbClr val="C00000"/>
                </a:solidFill>
              </a:rPr>
              <a:t>0​​, </a:t>
            </a:r>
            <a:r>
              <a:rPr lang="en-US" i="1" dirty="0">
                <a:solidFill>
                  <a:srgbClr val="C00000"/>
                </a:solidFill>
              </a:rPr>
              <a:t>δ</a:t>
            </a:r>
            <a:r>
              <a:rPr lang="en-US" dirty="0">
                <a:solidFill>
                  <a:srgbClr val="C00000"/>
                </a:solidFill>
              </a:rPr>
              <a:t>, </a:t>
            </a:r>
            <a:r>
              <a:rPr lang="en-US" i="1" dirty="0">
                <a:solidFill>
                  <a:srgbClr val="C00000"/>
                </a:solidFill>
              </a:rPr>
              <a:t>F </a:t>
            </a:r>
            <a:r>
              <a:rPr lang="en-US" dirty="0">
                <a:solidFill>
                  <a:srgbClr val="C00000"/>
                </a:solidFill>
              </a:rPr>
              <a:t>&gt; </a:t>
            </a:r>
            <a:r>
              <a:rPr lang="en-US" dirty="0"/>
              <a:t>and </a:t>
            </a:r>
            <a:r>
              <a:rPr lang="en-US" i="1" dirty="0">
                <a:solidFill>
                  <a:srgbClr val="C00000"/>
                </a:solidFill>
              </a:rPr>
              <a:t>S </a:t>
            </a:r>
            <a:r>
              <a:rPr lang="en-US" dirty="0">
                <a:solidFill>
                  <a:srgbClr val="C00000"/>
                </a:solidFill>
              </a:rPr>
              <a:t>⊆ </a:t>
            </a:r>
            <a:r>
              <a:rPr lang="en-US" i="1" dirty="0">
                <a:solidFill>
                  <a:srgbClr val="C00000"/>
                </a:solidFill>
              </a:rPr>
              <a:t>Q</a:t>
            </a:r>
            <a:r>
              <a:rPr lang="en-US" dirty="0">
                <a:solidFill>
                  <a:srgbClr val="C00000"/>
                </a:solidFill>
              </a:rPr>
              <a:t> </a:t>
            </a:r>
            <a:r>
              <a:rPr lang="en-US" dirty="0"/>
              <a:t>is a defined set of states, where:</a:t>
            </a:r>
          </a:p>
          <a:p>
            <a:pPr marL="0" indent="0">
              <a:buNone/>
            </a:pPr>
            <a:r>
              <a:rPr lang="en-US" b="1" i="1" dirty="0">
                <a:solidFill>
                  <a:srgbClr val="C00000"/>
                </a:solidFill>
              </a:rPr>
              <a:t>Q</a:t>
            </a:r>
            <a:r>
              <a:rPr lang="en-US" dirty="0"/>
              <a:t> is the finite set of states</a:t>
            </a:r>
          </a:p>
          <a:p>
            <a:pPr marL="0" indent="0">
              <a:buNone/>
            </a:pPr>
            <a:r>
              <a:rPr lang="en-US" b="1" dirty="0">
                <a:solidFill>
                  <a:srgbClr val="C00000"/>
                </a:solidFill>
              </a:rPr>
              <a:t>Σ </a:t>
            </a:r>
            <a:r>
              <a:rPr lang="en-US" dirty="0"/>
              <a:t>is the input symbols</a:t>
            </a:r>
          </a:p>
          <a:p>
            <a:pPr marL="0" indent="0">
              <a:buNone/>
            </a:pPr>
            <a:r>
              <a:rPr lang="en-US" b="1" i="1" dirty="0">
                <a:solidFill>
                  <a:srgbClr val="C00000"/>
                </a:solidFill>
              </a:rPr>
              <a:t>q</a:t>
            </a:r>
            <a:r>
              <a:rPr lang="en-US" b="1" dirty="0">
                <a:solidFill>
                  <a:srgbClr val="C00000"/>
                </a:solidFill>
              </a:rPr>
              <a:t>0​ </a:t>
            </a:r>
            <a:r>
              <a:rPr lang="en-US" dirty="0"/>
              <a:t>is the start state</a:t>
            </a:r>
          </a:p>
          <a:p>
            <a:pPr marL="0" indent="0">
              <a:buNone/>
            </a:pPr>
            <a:r>
              <a:rPr lang="en-US" b="1" i="1" dirty="0">
                <a:solidFill>
                  <a:srgbClr val="C00000"/>
                </a:solidFill>
              </a:rPr>
              <a:t>δ</a:t>
            </a:r>
            <a:r>
              <a:rPr lang="en-US" dirty="0"/>
              <a:t> is the transition function</a:t>
            </a:r>
          </a:p>
          <a:p>
            <a:pPr marL="0" indent="0">
              <a:buNone/>
            </a:pPr>
            <a:r>
              <a:rPr lang="en-US" b="1" i="1" dirty="0">
                <a:solidFill>
                  <a:srgbClr val="C00000"/>
                </a:solidFill>
              </a:rPr>
              <a:t>F</a:t>
            </a:r>
            <a:r>
              <a:rPr lang="en-US" dirty="0"/>
              <a:t> is the final state</a:t>
            </a:r>
          </a:p>
          <a:p>
            <a:pPr marL="0" indent="0">
              <a:buNone/>
            </a:pPr>
            <a:r>
              <a:rPr lang="en-US" dirty="0">
                <a:solidFill>
                  <a:srgbClr val="C00000"/>
                </a:solidFill>
              </a:rPr>
              <a:t>The null closure</a:t>
            </a:r>
            <a:r>
              <a:rPr lang="en-US" dirty="0"/>
              <a:t> of </a:t>
            </a:r>
            <a:r>
              <a:rPr lang="en-US" i="1" dirty="0"/>
              <a:t>S</a:t>
            </a:r>
            <a:r>
              <a:rPr lang="en-US" dirty="0"/>
              <a:t> is the set </a:t>
            </a:r>
            <a:r>
              <a:rPr lang="en-US" b="1" dirty="0">
                <a:solidFill>
                  <a:srgbClr val="C00000"/>
                </a:solidFill>
              </a:rPr>
              <a:t>Λ(</a:t>
            </a:r>
            <a:r>
              <a:rPr lang="en-US" b="1" i="1" dirty="0">
                <a:solidFill>
                  <a:srgbClr val="C00000"/>
                </a:solidFill>
              </a:rPr>
              <a:t>S</a:t>
            </a:r>
            <a:r>
              <a:rPr lang="en-US" b="1" dirty="0">
                <a:solidFill>
                  <a:srgbClr val="C00000"/>
                </a:solidFill>
              </a:rPr>
              <a:t>). </a:t>
            </a:r>
            <a:r>
              <a:rPr lang="en-US" dirty="0"/>
              <a:t>We can define it recursively as follows:</a:t>
            </a:r>
          </a:p>
          <a:p>
            <a:r>
              <a:rPr lang="en-US" i="1" dirty="0"/>
              <a:t>S</a:t>
            </a:r>
            <a:r>
              <a:rPr lang="en-US" dirty="0"/>
              <a:t>⊆Λ(</a:t>
            </a:r>
            <a:r>
              <a:rPr lang="en-US" i="1" dirty="0"/>
              <a:t>S</a:t>
            </a:r>
            <a:r>
              <a:rPr lang="en-US" dirty="0"/>
              <a:t>)</a:t>
            </a:r>
          </a:p>
          <a:p>
            <a:r>
              <a:rPr lang="en-US" dirty="0"/>
              <a:t>For every </a:t>
            </a:r>
            <a:r>
              <a:rPr lang="en-US" i="1" dirty="0" err="1"/>
              <a:t>q</a:t>
            </a:r>
            <a:r>
              <a:rPr lang="en-US" dirty="0" err="1"/>
              <a:t>∈Λ</a:t>
            </a:r>
            <a:r>
              <a:rPr lang="en-US" dirty="0"/>
              <a:t>(</a:t>
            </a:r>
            <a:r>
              <a:rPr lang="en-US" i="1" dirty="0"/>
              <a:t>S</a:t>
            </a:r>
            <a:r>
              <a:rPr lang="en-US" dirty="0"/>
              <a:t>), </a:t>
            </a:r>
            <a:r>
              <a:rPr lang="en-US" i="1" dirty="0"/>
              <a:t>δ</a:t>
            </a:r>
            <a:r>
              <a:rPr lang="en-US" dirty="0"/>
              <a:t>(</a:t>
            </a:r>
            <a:r>
              <a:rPr lang="en-US" i="1" dirty="0" err="1"/>
              <a:t>q</a:t>
            </a:r>
            <a:r>
              <a:rPr lang="en-US" dirty="0" err="1"/>
              <a:t>,Λ</a:t>
            </a:r>
            <a:r>
              <a:rPr lang="en-US" dirty="0"/>
              <a:t>)⊆Λ(</a:t>
            </a:r>
            <a:r>
              <a:rPr lang="en-US" i="1" dirty="0"/>
              <a:t>S</a:t>
            </a:r>
            <a:r>
              <a:rPr lang="en-US" dirty="0"/>
              <a:t>)</a:t>
            </a:r>
          </a:p>
          <a:p>
            <a:endParaRPr lang="en-IN" dirty="0"/>
          </a:p>
        </p:txBody>
      </p:sp>
    </p:spTree>
    <p:extLst>
      <p:ext uri="{BB962C8B-B14F-4D97-AF65-F5344CB8AC3E}">
        <p14:creationId xmlns:p14="http://schemas.microsoft.com/office/powerpoint/2010/main" val="17636168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5DCC4-0DA0-4853-A161-571199EC15C7}"/>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54AC334E-93E9-449C-BE04-89BC8244E418}"/>
              </a:ext>
            </a:extLst>
          </p:cNvPr>
          <p:cNvSpPr>
            <a:spLocks noGrp="1"/>
          </p:cNvSpPr>
          <p:nvPr>
            <p:ph idx="1"/>
          </p:nvPr>
        </p:nvSpPr>
        <p:spPr/>
        <p:txBody>
          <a:bodyPr/>
          <a:lstStyle/>
          <a:p>
            <a:r>
              <a:rPr lang="en-US" b="0" i="0" dirty="0">
                <a:solidFill>
                  <a:srgbClr val="3D3D4E"/>
                </a:solidFill>
                <a:effectLst/>
                <a:latin typeface="Droid Serif"/>
              </a:rPr>
              <a:t>Consider the following epsilon NFA, where </a:t>
            </a:r>
            <a:r>
              <a:rPr lang="en-US" i="1" dirty="0">
                <a:effectLst/>
                <a:latin typeface="KaTeX_Math"/>
              </a:rPr>
              <a:t>q</a:t>
            </a:r>
            <a:r>
              <a:rPr lang="en-US" dirty="0">
                <a:effectLst/>
                <a:latin typeface="KaTeX_Main"/>
              </a:rPr>
              <a:t>0​</a:t>
            </a:r>
            <a:r>
              <a:rPr lang="en-US" b="0" i="0" dirty="0">
                <a:solidFill>
                  <a:srgbClr val="3D3D4E"/>
                </a:solidFill>
                <a:effectLst/>
                <a:latin typeface="Droid Serif"/>
              </a:rPr>
              <a:t> is the start state</a:t>
            </a:r>
            <a:endParaRPr lang="en-IN" dirty="0"/>
          </a:p>
        </p:txBody>
      </p:sp>
      <p:pic>
        <p:nvPicPr>
          <p:cNvPr id="5" name="Picture 4">
            <a:extLst>
              <a:ext uri="{FF2B5EF4-FFF2-40B4-BE49-F238E27FC236}">
                <a16:creationId xmlns:a16="http://schemas.microsoft.com/office/drawing/2014/main" id="{5B52D090-5727-447A-86C9-CB18CDB52673}"/>
              </a:ext>
            </a:extLst>
          </p:cNvPr>
          <p:cNvPicPr>
            <a:picLocks noChangeAspect="1"/>
          </p:cNvPicPr>
          <p:nvPr/>
        </p:nvPicPr>
        <p:blipFill>
          <a:blip r:embed="rId2"/>
          <a:stretch>
            <a:fillRect/>
          </a:stretch>
        </p:blipFill>
        <p:spPr>
          <a:xfrm>
            <a:off x="762000" y="1524000"/>
            <a:ext cx="4219651" cy="2676982"/>
          </a:xfrm>
          <a:prstGeom prst="rect">
            <a:avLst/>
          </a:prstGeom>
        </p:spPr>
      </p:pic>
      <p:sp>
        <p:nvSpPr>
          <p:cNvPr id="7" name="TextBox 6">
            <a:extLst>
              <a:ext uri="{FF2B5EF4-FFF2-40B4-BE49-F238E27FC236}">
                <a16:creationId xmlns:a16="http://schemas.microsoft.com/office/drawing/2014/main" id="{34846107-BDC5-46C8-BF13-E3A9A8A1EF3D}"/>
              </a:ext>
            </a:extLst>
          </p:cNvPr>
          <p:cNvSpPr txBox="1"/>
          <p:nvPr/>
        </p:nvSpPr>
        <p:spPr>
          <a:xfrm>
            <a:off x="914400" y="4410670"/>
            <a:ext cx="2438400" cy="923330"/>
          </a:xfrm>
          <a:prstGeom prst="rect">
            <a:avLst/>
          </a:prstGeom>
          <a:noFill/>
        </p:spPr>
        <p:txBody>
          <a:bodyPr wrap="square">
            <a:spAutoFit/>
          </a:bodyPr>
          <a:lstStyle/>
          <a:p>
            <a:pPr algn="l"/>
            <a:r>
              <a:rPr lang="en-IN" b="0" i="1" dirty="0">
                <a:solidFill>
                  <a:srgbClr val="000000"/>
                </a:solidFill>
                <a:effectLst/>
                <a:latin typeface="KaTeX_Math"/>
              </a:rPr>
              <a:t>Q </a:t>
            </a:r>
            <a:r>
              <a:rPr lang="en-IN" b="0" i="0" dirty="0">
                <a:solidFill>
                  <a:srgbClr val="000000"/>
                </a:solidFill>
                <a:effectLst/>
                <a:latin typeface="KaTeX_Main"/>
              </a:rPr>
              <a:t>= {</a:t>
            </a:r>
            <a:r>
              <a:rPr lang="en-IN" b="0" i="1" dirty="0">
                <a:solidFill>
                  <a:srgbClr val="000000"/>
                </a:solidFill>
                <a:effectLst/>
                <a:latin typeface="KaTeX_Math"/>
              </a:rPr>
              <a:t>q</a:t>
            </a:r>
            <a:r>
              <a:rPr lang="en-IN" b="0" i="0" dirty="0">
                <a:solidFill>
                  <a:srgbClr val="000000"/>
                </a:solidFill>
                <a:effectLst/>
                <a:latin typeface="KaTeX_Main"/>
              </a:rPr>
              <a:t>0​, </a:t>
            </a:r>
            <a:r>
              <a:rPr lang="en-IN" b="0" i="1" dirty="0">
                <a:solidFill>
                  <a:srgbClr val="000000"/>
                </a:solidFill>
                <a:effectLst/>
                <a:latin typeface="KaTeX_Math"/>
              </a:rPr>
              <a:t>q</a:t>
            </a:r>
            <a:r>
              <a:rPr lang="en-IN" b="0" i="0" dirty="0">
                <a:solidFill>
                  <a:srgbClr val="000000"/>
                </a:solidFill>
                <a:effectLst/>
                <a:latin typeface="KaTeX_Main"/>
              </a:rPr>
              <a:t>1​, </a:t>
            </a:r>
            <a:r>
              <a:rPr lang="en-IN" b="0" i="1" dirty="0">
                <a:solidFill>
                  <a:srgbClr val="000000"/>
                </a:solidFill>
                <a:effectLst/>
                <a:latin typeface="KaTeX_Math"/>
              </a:rPr>
              <a:t>q</a:t>
            </a:r>
            <a:r>
              <a:rPr lang="en-IN" b="0" i="0" dirty="0">
                <a:solidFill>
                  <a:srgbClr val="000000"/>
                </a:solidFill>
                <a:effectLst/>
                <a:latin typeface="KaTeX_Main"/>
              </a:rPr>
              <a:t>2​, </a:t>
            </a:r>
            <a:r>
              <a:rPr lang="en-IN" b="0" i="1" dirty="0">
                <a:solidFill>
                  <a:srgbClr val="000000"/>
                </a:solidFill>
                <a:effectLst/>
                <a:latin typeface="KaTeX_Math"/>
              </a:rPr>
              <a:t>q</a:t>
            </a:r>
            <a:r>
              <a:rPr lang="en-IN" b="0" i="0" dirty="0">
                <a:solidFill>
                  <a:srgbClr val="000000"/>
                </a:solidFill>
                <a:effectLst/>
                <a:latin typeface="KaTeX_Main"/>
              </a:rPr>
              <a:t>3​}</a:t>
            </a:r>
            <a:endParaRPr lang="en-IN" b="0" i="0" dirty="0">
              <a:solidFill>
                <a:srgbClr val="000000"/>
              </a:solidFill>
              <a:effectLst/>
              <a:latin typeface="Nunito Sans" pitchFamily="2" charset="0"/>
            </a:endParaRPr>
          </a:p>
          <a:p>
            <a:pPr algn="l"/>
            <a:r>
              <a:rPr lang="el-GR" b="0" i="0" dirty="0">
                <a:solidFill>
                  <a:srgbClr val="000000"/>
                </a:solidFill>
                <a:effectLst/>
                <a:latin typeface="KaTeX_Main"/>
              </a:rPr>
              <a:t>Σ</a:t>
            </a:r>
            <a:r>
              <a:rPr lang="en-US" b="0" i="0" dirty="0">
                <a:solidFill>
                  <a:srgbClr val="000000"/>
                </a:solidFill>
                <a:effectLst/>
                <a:latin typeface="KaTeX_Main"/>
              </a:rPr>
              <a:t> </a:t>
            </a:r>
            <a:r>
              <a:rPr lang="el-GR" b="0" i="0" dirty="0">
                <a:solidFill>
                  <a:srgbClr val="000000"/>
                </a:solidFill>
                <a:effectLst/>
                <a:latin typeface="KaTeX_Main"/>
              </a:rPr>
              <a:t>=</a:t>
            </a:r>
            <a:r>
              <a:rPr lang="en-US" b="0" i="0" dirty="0">
                <a:solidFill>
                  <a:srgbClr val="000000"/>
                </a:solidFill>
                <a:effectLst/>
                <a:latin typeface="KaTeX_Main"/>
              </a:rPr>
              <a:t> </a:t>
            </a:r>
            <a:r>
              <a:rPr lang="el-GR" b="0" i="0" dirty="0">
                <a:solidFill>
                  <a:srgbClr val="000000"/>
                </a:solidFill>
                <a:effectLst/>
                <a:latin typeface="KaTeX_Main"/>
              </a:rPr>
              <a:t>(0,1)</a:t>
            </a:r>
            <a:endParaRPr lang="el-GR" b="0" i="0" dirty="0">
              <a:solidFill>
                <a:srgbClr val="000000"/>
              </a:solidFill>
              <a:effectLst/>
              <a:latin typeface="Nunito Sans" pitchFamily="2" charset="0"/>
            </a:endParaRPr>
          </a:p>
          <a:p>
            <a:pPr algn="l"/>
            <a:r>
              <a:rPr lang="en-IN" b="0" i="1" dirty="0">
                <a:solidFill>
                  <a:srgbClr val="000000"/>
                </a:solidFill>
                <a:effectLst/>
                <a:latin typeface="KaTeX_Math"/>
              </a:rPr>
              <a:t>F </a:t>
            </a:r>
            <a:r>
              <a:rPr lang="en-IN" b="0" i="0" dirty="0">
                <a:solidFill>
                  <a:srgbClr val="000000"/>
                </a:solidFill>
                <a:effectLst/>
                <a:latin typeface="KaTeX_Main"/>
              </a:rPr>
              <a:t>= {</a:t>
            </a:r>
            <a:r>
              <a:rPr lang="en-IN" b="0" i="1" dirty="0">
                <a:solidFill>
                  <a:srgbClr val="000000"/>
                </a:solidFill>
                <a:effectLst/>
                <a:latin typeface="KaTeX_Math"/>
              </a:rPr>
              <a:t>q</a:t>
            </a:r>
            <a:r>
              <a:rPr lang="en-IN" b="0" i="0" dirty="0">
                <a:solidFill>
                  <a:srgbClr val="000000"/>
                </a:solidFill>
                <a:effectLst/>
                <a:latin typeface="KaTeX_Main"/>
              </a:rPr>
              <a:t>3​}</a:t>
            </a:r>
            <a:endParaRPr lang="en-IN" b="0" i="0" dirty="0">
              <a:solidFill>
                <a:srgbClr val="000000"/>
              </a:solidFill>
              <a:effectLst/>
              <a:latin typeface="Nunito Sans" pitchFamily="2" charset="0"/>
            </a:endParaRPr>
          </a:p>
        </p:txBody>
      </p:sp>
      <p:graphicFrame>
        <p:nvGraphicFramePr>
          <p:cNvPr id="8" name="Table 7">
            <a:extLst>
              <a:ext uri="{FF2B5EF4-FFF2-40B4-BE49-F238E27FC236}">
                <a16:creationId xmlns:a16="http://schemas.microsoft.com/office/drawing/2014/main" id="{7A6AF3DF-8BAE-4E0B-A8E8-A91EE1C72A74}"/>
              </a:ext>
            </a:extLst>
          </p:cNvPr>
          <p:cNvGraphicFramePr>
            <a:graphicFrameLocks noGrp="1"/>
          </p:cNvGraphicFramePr>
          <p:nvPr>
            <p:extLst>
              <p:ext uri="{D42A27DB-BD31-4B8C-83A1-F6EECF244321}">
                <p14:modId xmlns:p14="http://schemas.microsoft.com/office/powerpoint/2010/main" val="1193173474"/>
              </p:ext>
            </p:extLst>
          </p:nvPr>
        </p:nvGraphicFramePr>
        <p:xfrm>
          <a:off x="7186288" y="2600782"/>
          <a:ext cx="3329312" cy="1981200"/>
        </p:xfrm>
        <a:graphic>
          <a:graphicData uri="http://schemas.openxmlformats.org/drawingml/2006/table">
            <a:tbl>
              <a:tblPr/>
              <a:tblGrid>
                <a:gridCol w="1664656">
                  <a:extLst>
                    <a:ext uri="{9D8B030D-6E8A-4147-A177-3AD203B41FA5}">
                      <a16:colId xmlns:a16="http://schemas.microsoft.com/office/drawing/2014/main" val="3917265042"/>
                    </a:ext>
                  </a:extLst>
                </a:gridCol>
                <a:gridCol w="1664656">
                  <a:extLst>
                    <a:ext uri="{9D8B030D-6E8A-4147-A177-3AD203B41FA5}">
                      <a16:colId xmlns:a16="http://schemas.microsoft.com/office/drawing/2014/main" val="2146975559"/>
                    </a:ext>
                  </a:extLst>
                </a:gridCol>
              </a:tblGrid>
              <a:tr h="0">
                <a:tc>
                  <a:txBody>
                    <a:bodyPr/>
                    <a:lstStyle/>
                    <a:p>
                      <a:pPr algn="ctr" fontAlgn="t"/>
                      <a:r>
                        <a:rPr lang="en-IN" sz="2000" b="1" dirty="0">
                          <a:effectLst/>
                          <a:latin typeface="+mn-lt"/>
                        </a:rPr>
                        <a:t>State</a:t>
                      </a:r>
                      <a:endParaRPr lang="en-IN" sz="2000" dirty="0">
                        <a:effectLst/>
                        <a:latin typeface="+mn-lt"/>
                      </a:endParaRPr>
                    </a:p>
                  </a:txBody>
                  <a:tcPr>
                    <a:lnL>
                      <a:noFill/>
                    </a:lnL>
                    <a:lnR>
                      <a:noFill/>
                    </a:lnR>
                    <a:lnT>
                      <a:noFill/>
                    </a:lnT>
                    <a:lnB>
                      <a:noFill/>
                    </a:lnB>
                    <a:solidFill>
                      <a:srgbClr val="FFF1EF"/>
                    </a:solidFill>
                  </a:tcPr>
                </a:tc>
                <a:tc>
                  <a:txBody>
                    <a:bodyPr/>
                    <a:lstStyle/>
                    <a:p>
                      <a:pPr algn="ctr" fontAlgn="t"/>
                      <a:r>
                        <a:rPr lang="en-IN" sz="2000" b="1" dirty="0">
                          <a:effectLst/>
                          <a:latin typeface="+mn-lt"/>
                        </a:rPr>
                        <a:t>Set</a:t>
                      </a:r>
                      <a:endParaRPr lang="en-IN" sz="2000" dirty="0">
                        <a:effectLst/>
                        <a:latin typeface="+mn-lt"/>
                      </a:endParaRPr>
                    </a:p>
                  </a:txBody>
                  <a:tcPr>
                    <a:lnL>
                      <a:noFill/>
                    </a:lnL>
                    <a:lnR>
                      <a:noFill/>
                    </a:lnR>
                    <a:lnT>
                      <a:noFill/>
                    </a:lnT>
                    <a:lnB>
                      <a:noFill/>
                    </a:lnB>
                    <a:solidFill>
                      <a:srgbClr val="FFF1EF"/>
                    </a:solidFill>
                  </a:tcPr>
                </a:tc>
                <a:extLst>
                  <a:ext uri="{0D108BD9-81ED-4DB2-BD59-A6C34878D82A}">
                    <a16:rowId xmlns:a16="http://schemas.microsoft.com/office/drawing/2014/main" val="3681539856"/>
                  </a:ext>
                </a:extLst>
              </a:tr>
              <a:tr h="0">
                <a:tc>
                  <a:txBody>
                    <a:bodyPr/>
                    <a:lstStyle/>
                    <a:p>
                      <a:pPr algn="ctr" fontAlgn="t"/>
                      <a:r>
                        <a:rPr lang="en-IN" sz="2000" dirty="0">
                          <a:effectLst/>
                          <a:latin typeface="+mn-lt"/>
                        </a:rPr>
                        <a:t>q0</a:t>
                      </a:r>
                    </a:p>
                  </a:txBody>
                  <a:tcPr>
                    <a:lnL>
                      <a:noFill/>
                    </a:lnL>
                    <a:lnR>
                      <a:noFill/>
                    </a:lnR>
                    <a:lnT>
                      <a:noFill/>
                    </a:lnT>
                    <a:lnB>
                      <a:noFill/>
                    </a:lnB>
                    <a:solidFill>
                      <a:srgbClr val="FFFFFF"/>
                    </a:solidFill>
                  </a:tcPr>
                </a:tc>
                <a:tc>
                  <a:txBody>
                    <a:bodyPr/>
                    <a:lstStyle/>
                    <a:p>
                      <a:pPr algn="ctr" fontAlgn="t"/>
                      <a:r>
                        <a:rPr lang="en-IN" sz="2000" dirty="0">
                          <a:effectLst/>
                          <a:latin typeface="+mn-lt"/>
                        </a:rPr>
                        <a:t>{q0, q1, q3}</a:t>
                      </a:r>
                    </a:p>
                  </a:txBody>
                  <a:tcPr>
                    <a:lnL>
                      <a:noFill/>
                    </a:lnL>
                    <a:lnR>
                      <a:noFill/>
                    </a:lnR>
                    <a:lnT>
                      <a:noFill/>
                    </a:lnT>
                    <a:lnB>
                      <a:noFill/>
                    </a:lnB>
                    <a:solidFill>
                      <a:srgbClr val="FFFFFF"/>
                    </a:solidFill>
                  </a:tcPr>
                </a:tc>
                <a:extLst>
                  <a:ext uri="{0D108BD9-81ED-4DB2-BD59-A6C34878D82A}">
                    <a16:rowId xmlns:a16="http://schemas.microsoft.com/office/drawing/2014/main" val="1106400378"/>
                  </a:ext>
                </a:extLst>
              </a:tr>
              <a:tr h="0">
                <a:tc>
                  <a:txBody>
                    <a:bodyPr/>
                    <a:lstStyle/>
                    <a:p>
                      <a:pPr algn="ctr" fontAlgn="t"/>
                      <a:r>
                        <a:rPr lang="en-IN" sz="2000" dirty="0">
                          <a:effectLst/>
                          <a:latin typeface="+mn-lt"/>
                        </a:rPr>
                        <a:t>q1</a:t>
                      </a:r>
                    </a:p>
                  </a:txBody>
                  <a:tcPr>
                    <a:lnL>
                      <a:noFill/>
                    </a:lnL>
                    <a:lnR>
                      <a:noFill/>
                    </a:lnR>
                    <a:lnT>
                      <a:noFill/>
                    </a:lnT>
                    <a:lnB>
                      <a:noFill/>
                    </a:lnB>
                    <a:solidFill>
                      <a:srgbClr val="FFFFFF"/>
                    </a:solidFill>
                  </a:tcPr>
                </a:tc>
                <a:tc>
                  <a:txBody>
                    <a:bodyPr/>
                    <a:lstStyle/>
                    <a:p>
                      <a:pPr algn="ctr" fontAlgn="t"/>
                      <a:r>
                        <a:rPr lang="en-IN" sz="2000" dirty="0">
                          <a:effectLst/>
                          <a:latin typeface="+mn-lt"/>
                        </a:rPr>
                        <a:t>{q1, q3}</a:t>
                      </a:r>
                    </a:p>
                  </a:txBody>
                  <a:tcPr>
                    <a:lnL>
                      <a:noFill/>
                    </a:lnL>
                    <a:lnR>
                      <a:noFill/>
                    </a:lnR>
                    <a:lnT>
                      <a:noFill/>
                    </a:lnT>
                    <a:lnB>
                      <a:noFill/>
                    </a:lnB>
                    <a:solidFill>
                      <a:srgbClr val="FFFFFF"/>
                    </a:solidFill>
                  </a:tcPr>
                </a:tc>
                <a:extLst>
                  <a:ext uri="{0D108BD9-81ED-4DB2-BD59-A6C34878D82A}">
                    <a16:rowId xmlns:a16="http://schemas.microsoft.com/office/drawing/2014/main" val="996067186"/>
                  </a:ext>
                </a:extLst>
              </a:tr>
              <a:tr h="0">
                <a:tc>
                  <a:txBody>
                    <a:bodyPr/>
                    <a:lstStyle/>
                    <a:p>
                      <a:pPr algn="ctr" fontAlgn="t"/>
                      <a:r>
                        <a:rPr lang="en-IN" sz="2000" dirty="0">
                          <a:effectLst/>
                          <a:latin typeface="+mn-lt"/>
                        </a:rPr>
                        <a:t>q2</a:t>
                      </a:r>
                    </a:p>
                  </a:txBody>
                  <a:tcPr>
                    <a:lnL>
                      <a:noFill/>
                    </a:lnL>
                    <a:lnR>
                      <a:noFill/>
                    </a:lnR>
                    <a:lnT>
                      <a:noFill/>
                    </a:lnT>
                    <a:lnB>
                      <a:noFill/>
                    </a:lnB>
                    <a:solidFill>
                      <a:srgbClr val="FFFFFF"/>
                    </a:solidFill>
                  </a:tcPr>
                </a:tc>
                <a:tc>
                  <a:txBody>
                    <a:bodyPr/>
                    <a:lstStyle/>
                    <a:p>
                      <a:pPr algn="ctr" fontAlgn="t"/>
                      <a:r>
                        <a:rPr lang="en-IN" sz="2000" dirty="0">
                          <a:effectLst/>
                          <a:latin typeface="+mn-lt"/>
                        </a:rPr>
                        <a:t>{q2}</a:t>
                      </a:r>
                    </a:p>
                  </a:txBody>
                  <a:tcPr>
                    <a:lnL>
                      <a:noFill/>
                    </a:lnL>
                    <a:lnR>
                      <a:noFill/>
                    </a:lnR>
                    <a:lnT>
                      <a:noFill/>
                    </a:lnT>
                    <a:lnB>
                      <a:noFill/>
                    </a:lnB>
                    <a:solidFill>
                      <a:srgbClr val="FFFFFF"/>
                    </a:solidFill>
                  </a:tcPr>
                </a:tc>
                <a:extLst>
                  <a:ext uri="{0D108BD9-81ED-4DB2-BD59-A6C34878D82A}">
                    <a16:rowId xmlns:a16="http://schemas.microsoft.com/office/drawing/2014/main" val="2053745285"/>
                  </a:ext>
                </a:extLst>
              </a:tr>
              <a:tr h="0">
                <a:tc>
                  <a:txBody>
                    <a:bodyPr/>
                    <a:lstStyle/>
                    <a:p>
                      <a:pPr algn="ctr" fontAlgn="t"/>
                      <a:r>
                        <a:rPr lang="en-IN" sz="2000" dirty="0">
                          <a:effectLst/>
                          <a:latin typeface="+mn-lt"/>
                        </a:rPr>
                        <a:t>q3</a:t>
                      </a:r>
                    </a:p>
                  </a:txBody>
                  <a:tcPr>
                    <a:lnL>
                      <a:noFill/>
                    </a:lnL>
                    <a:lnR>
                      <a:noFill/>
                    </a:lnR>
                    <a:lnT>
                      <a:noFill/>
                    </a:lnT>
                    <a:lnB>
                      <a:noFill/>
                    </a:lnB>
                    <a:solidFill>
                      <a:srgbClr val="FFFFFF"/>
                    </a:solidFill>
                  </a:tcPr>
                </a:tc>
                <a:tc>
                  <a:txBody>
                    <a:bodyPr/>
                    <a:lstStyle/>
                    <a:p>
                      <a:pPr algn="ctr" fontAlgn="t"/>
                      <a:r>
                        <a:rPr lang="en-IN" sz="2000" dirty="0">
                          <a:effectLst/>
                          <a:latin typeface="+mn-lt"/>
                        </a:rPr>
                        <a:t>{q3}</a:t>
                      </a:r>
                    </a:p>
                  </a:txBody>
                  <a:tcPr>
                    <a:lnL>
                      <a:noFill/>
                    </a:lnL>
                    <a:lnR>
                      <a:noFill/>
                    </a:lnR>
                    <a:lnT>
                      <a:noFill/>
                    </a:lnT>
                    <a:lnB>
                      <a:noFill/>
                    </a:lnB>
                    <a:solidFill>
                      <a:srgbClr val="FFFFFF"/>
                    </a:solidFill>
                  </a:tcPr>
                </a:tc>
                <a:extLst>
                  <a:ext uri="{0D108BD9-81ED-4DB2-BD59-A6C34878D82A}">
                    <a16:rowId xmlns:a16="http://schemas.microsoft.com/office/drawing/2014/main" val="3339977586"/>
                  </a:ext>
                </a:extLst>
              </a:tr>
            </a:tbl>
          </a:graphicData>
        </a:graphic>
      </p:graphicFrame>
      <p:sp>
        <p:nvSpPr>
          <p:cNvPr id="9" name="Rectangle 1">
            <a:extLst>
              <a:ext uri="{FF2B5EF4-FFF2-40B4-BE49-F238E27FC236}">
                <a16:creationId xmlns:a16="http://schemas.microsoft.com/office/drawing/2014/main" id="{7FFB3B5C-0056-4C61-BE08-33F1E35645CB}"/>
              </a:ext>
            </a:extLst>
          </p:cNvPr>
          <p:cNvSpPr>
            <a:spLocks noChangeArrowheads="1"/>
          </p:cNvSpPr>
          <p:nvPr/>
        </p:nvSpPr>
        <p:spPr bwMode="auto">
          <a:xfrm>
            <a:off x="7210351" y="2191139"/>
            <a:ext cx="38100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var(--font-family-heading-lesson-markdown)"/>
              </a:rPr>
              <a:t>Null closure</a:t>
            </a:r>
          </a:p>
        </p:txBody>
      </p:sp>
      <p:sp>
        <p:nvSpPr>
          <p:cNvPr id="11" name="TextBox 10">
            <a:extLst>
              <a:ext uri="{FF2B5EF4-FFF2-40B4-BE49-F238E27FC236}">
                <a16:creationId xmlns:a16="http://schemas.microsoft.com/office/drawing/2014/main" id="{649DB77B-146F-42A6-9388-21B949174BA0}"/>
              </a:ext>
            </a:extLst>
          </p:cNvPr>
          <p:cNvSpPr txBox="1"/>
          <p:nvPr/>
        </p:nvSpPr>
        <p:spPr>
          <a:xfrm>
            <a:off x="6248400" y="4806959"/>
            <a:ext cx="6097604" cy="646331"/>
          </a:xfrm>
          <a:prstGeom prst="rect">
            <a:avLst/>
          </a:prstGeom>
          <a:noFill/>
        </p:spPr>
        <p:txBody>
          <a:bodyPr wrap="square">
            <a:spAutoFit/>
          </a:bodyPr>
          <a:lstStyle/>
          <a:p>
            <a:r>
              <a:rPr lang="en-US" b="0" i="0" dirty="0">
                <a:solidFill>
                  <a:srgbClr val="3D3D4E"/>
                </a:solidFill>
                <a:effectLst/>
                <a:latin typeface="Droid Serif"/>
              </a:rPr>
              <a:t>We determine this null closure by how a transition transcends from one state to another with a null input.</a:t>
            </a:r>
            <a:endParaRPr lang="en-IN" dirty="0"/>
          </a:p>
        </p:txBody>
      </p:sp>
    </p:spTree>
    <p:extLst>
      <p:ext uri="{BB962C8B-B14F-4D97-AF65-F5344CB8AC3E}">
        <p14:creationId xmlns:p14="http://schemas.microsoft.com/office/powerpoint/2010/main" val="4023582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2A464-4305-48AD-9C06-A3B10E12542C}"/>
              </a:ext>
            </a:extLst>
          </p:cNvPr>
          <p:cNvSpPr>
            <a:spLocks noGrp="1"/>
          </p:cNvSpPr>
          <p:nvPr>
            <p:ph type="title"/>
          </p:nvPr>
        </p:nvSpPr>
        <p:spPr/>
        <p:txBody>
          <a:bodyPr/>
          <a:lstStyle/>
          <a:p>
            <a:r>
              <a:rPr lang="en-IN" b="0" i="0" dirty="0">
                <a:solidFill>
                  <a:srgbClr val="3D3D4E"/>
                </a:solidFill>
                <a:effectLst/>
                <a:latin typeface="Droid Serif"/>
              </a:rPr>
              <a:t>epsilon NFA to NFA</a:t>
            </a:r>
            <a:endParaRPr lang="en-IN" dirty="0"/>
          </a:p>
        </p:txBody>
      </p:sp>
      <p:sp>
        <p:nvSpPr>
          <p:cNvPr id="3" name="Content Placeholder 2">
            <a:extLst>
              <a:ext uri="{FF2B5EF4-FFF2-40B4-BE49-F238E27FC236}">
                <a16:creationId xmlns:a16="http://schemas.microsoft.com/office/drawing/2014/main" id="{2CAE11F3-DBCE-4F36-92E3-5C057B61B466}"/>
              </a:ext>
            </a:extLst>
          </p:cNvPr>
          <p:cNvSpPr>
            <a:spLocks noGrp="1"/>
          </p:cNvSpPr>
          <p:nvPr>
            <p:ph idx="1"/>
          </p:nvPr>
        </p:nvSpPr>
        <p:spPr/>
        <p:txBody>
          <a:bodyPr/>
          <a:lstStyle/>
          <a:p>
            <a:pPr marL="0" indent="0" algn="l">
              <a:buNone/>
            </a:pPr>
            <a:r>
              <a:rPr lang="en-US" b="0" i="0" dirty="0">
                <a:solidFill>
                  <a:srgbClr val="3D3D4E"/>
                </a:solidFill>
                <a:effectLst/>
                <a:latin typeface="Droid Serif"/>
              </a:rPr>
              <a:t>To convert an epsilon NFA to NFA, the null closure method makes use of the following general set of rules.</a:t>
            </a:r>
          </a:p>
          <a:p>
            <a:pPr algn="l">
              <a:buFont typeface="+mj-lt"/>
              <a:buAutoNum type="arabicPeriod"/>
            </a:pPr>
            <a:r>
              <a:rPr lang="en-US" b="0" i="0" dirty="0">
                <a:solidFill>
                  <a:srgbClr val="3D3D4E"/>
                </a:solidFill>
                <a:effectLst/>
                <a:latin typeface="Droid Serif"/>
              </a:rPr>
              <a:t>Find the null closures for each state.</a:t>
            </a:r>
          </a:p>
          <a:p>
            <a:pPr algn="l">
              <a:buFont typeface="+mj-lt"/>
              <a:buAutoNum type="arabicPeriod"/>
            </a:pPr>
            <a:r>
              <a:rPr lang="en-US" b="0" i="0" dirty="0">
                <a:solidFill>
                  <a:srgbClr val="3D3D4E"/>
                </a:solidFill>
                <a:effectLst/>
                <a:latin typeface="Droid Serif"/>
              </a:rPr>
              <a:t>For each state, check for the transitions by the null closures obtained, the given input, and then the null closures again. This eliminates any potential null closures that can occur.</a:t>
            </a:r>
          </a:p>
          <a:p>
            <a:pPr algn="l">
              <a:buFont typeface="+mj-lt"/>
              <a:buAutoNum type="arabicPeriod"/>
            </a:pPr>
            <a:r>
              <a:rPr lang="en-US" b="0" i="0" dirty="0">
                <a:solidFill>
                  <a:srgbClr val="3D3D4E"/>
                </a:solidFill>
                <a:effectLst/>
                <a:latin typeface="Droid Serif"/>
              </a:rPr>
              <a:t>Make an NFA by the transitions obtained in the previous step. The final state will be all those states that have </a:t>
            </a:r>
            <a:r>
              <a:rPr lang="en-US" b="0" i="1" dirty="0">
                <a:solidFill>
                  <a:srgbClr val="3D3D4E"/>
                </a:solidFill>
                <a:effectLst/>
                <a:latin typeface="KaTeX_Math"/>
              </a:rPr>
              <a:t>F</a:t>
            </a:r>
            <a:r>
              <a:rPr lang="en-US" b="0" i="0" dirty="0">
                <a:solidFill>
                  <a:srgbClr val="3D3D4E"/>
                </a:solidFill>
                <a:effectLst/>
                <a:latin typeface="Droid Serif"/>
              </a:rPr>
              <a:t> in them.</a:t>
            </a:r>
          </a:p>
          <a:p>
            <a:pPr marL="0" indent="0">
              <a:buNone/>
            </a:pPr>
            <a:endParaRPr lang="en-IN" dirty="0"/>
          </a:p>
        </p:txBody>
      </p:sp>
    </p:spTree>
    <p:extLst>
      <p:ext uri="{BB962C8B-B14F-4D97-AF65-F5344CB8AC3E}">
        <p14:creationId xmlns:p14="http://schemas.microsoft.com/office/powerpoint/2010/main" val="41447776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1608-45F3-4E18-A9D4-62E14F1BA6B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D84EADB3-34E0-48F5-8041-1AF66F1BE73C}"/>
              </a:ext>
            </a:extLst>
          </p:cNvPr>
          <p:cNvSpPr>
            <a:spLocks noGrp="1"/>
          </p:cNvSpPr>
          <p:nvPr>
            <p:ph idx="1"/>
          </p:nvPr>
        </p:nvSpPr>
        <p:spPr>
          <a:xfrm>
            <a:off x="254000" y="990600"/>
            <a:ext cx="11684000" cy="5761036"/>
          </a:xfrm>
        </p:spPr>
        <p:txBody>
          <a:bodyPr>
            <a:normAutofit lnSpcReduction="10000"/>
          </a:bodyPr>
          <a:lstStyle/>
          <a:p>
            <a:pPr marL="0" indent="0">
              <a:buNone/>
            </a:pPr>
            <a:r>
              <a:rPr lang="en-US" b="0" i="0" dirty="0">
                <a:solidFill>
                  <a:srgbClr val="3D3D4E"/>
                </a:solidFill>
                <a:effectLst/>
                <a:latin typeface="Droid Serif"/>
              </a:rPr>
              <a:t>Consider the following epsilon NFA, </a:t>
            </a:r>
            <a:r>
              <a:rPr lang="en-US" i="1" dirty="0">
                <a:effectLst/>
                <a:latin typeface="KaTeX_Math"/>
              </a:rPr>
              <a:t>q</a:t>
            </a:r>
            <a:r>
              <a:rPr lang="en-US" dirty="0">
                <a:effectLst/>
                <a:latin typeface="KaTeX_Main"/>
              </a:rPr>
              <a:t>0​</a:t>
            </a:r>
            <a:r>
              <a:rPr lang="en-US" b="0" i="0" dirty="0">
                <a:solidFill>
                  <a:srgbClr val="3D3D4E"/>
                </a:solidFill>
                <a:effectLst/>
                <a:latin typeface="Droid Serif"/>
              </a:rPr>
              <a:t> is the start state.</a:t>
            </a:r>
          </a:p>
          <a:p>
            <a:pPr marL="0" indent="0">
              <a:buNone/>
            </a:pPr>
            <a:r>
              <a:rPr lang="en-US" b="1" i="0" dirty="0">
                <a:effectLst/>
                <a:latin typeface="var(--font-family-heading-lesson-markdown)"/>
              </a:rPr>
              <a:t>Step 1: Find null closure of all states</a:t>
            </a:r>
          </a:p>
          <a:p>
            <a:pPr marL="0" indent="0">
              <a:buNone/>
            </a:pPr>
            <a:endParaRPr lang="en-US" b="1" dirty="0">
              <a:latin typeface="var(--font-family-heading-lesson-markdown)"/>
            </a:endParaRPr>
          </a:p>
          <a:p>
            <a:pPr marL="0" indent="0">
              <a:buNone/>
            </a:pPr>
            <a:r>
              <a:rPr lang="en-US" b="1" dirty="0"/>
              <a:t>Step 2: Follow the process of null closure, input, null closure</a:t>
            </a:r>
          </a:p>
          <a:p>
            <a:pPr marL="0" indent="0">
              <a:buNone/>
            </a:pPr>
            <a:r>
              <a:rPr lang="en-US" sz="2000" dirty="0"/>
              <a:t>Implement the process for all states for the given inputs in order.</a:t>
            </a:r>
            <a:endParaRPr lang="en-US" sz="2000" b="1" dirty="0"/>
          </a:p>
          <a:p>
            <a:pPr marL="0" indent="0">
              <a:buNone/>
            </a:pPr>
            <a:r>
              <a:rPr lang="en-IN" b="1" dirty="0"/>
              <a:t>Transitions</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t>Step 3: Result</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US" sz="2000" b="1" i="0" dirty="0">
              <a:effectLst/>
              <a:latin typeface="var(--font-family-heading-lesson-markdown)"/>
            </a:endParaRPr>
          </a:p>
          <a:p>
            <a:pPr marL="0" indent="0">
              <a:buNone/>
            </a:pPr>
            <a:endParaRPr lang="en-IN" dirty="0"/>
          </a:p>
        </p:txBody>
      </p:sp>
      <p:pic>
        <p:nvPicPr>
          <p:cNvPr id="5" name="Picture 4">
            <a:extLst>
              <a:ext uri="{FF2B5EF4-FFF2-40B4-BE49-F238E27FC236}">
                <a16:creationId xmlns:a16="http://schemas.microsoft.com/office/drawing/2014/main" id="{E43247B4-E23B-41C5-B4E2-44E065BE79D9}"/>
              </a:ext>
            </a:extLst>
          </p:cNvPr>
          <p:cNvPicPr>
            <a:picLocks noChangeAspect="1"/>
          </p:cNvPicPr>
          <p:nvPr/>
        </p:nvPicPr>
        <p:blipFill>
          <a:blip r:embed="rId2"/>
          <a:stretch>
            <a:fillRect/>
          </a:stretch>
        </p:blipFill>
        <p:spPr>
          <a:xfrm>
            <a:off x="7848600" y="79895"/>
            <a:ext cx="4238163" cy="2136815"/>
          </a:xfrm>
          <a:prstGeom prst="rect">
            <a:avLst/>
          </a:prstGeom>
        </p:spPr>
      </p:pic>
      <p:sp>
        <p:nvSpPr>
          <p:cNvPr id="7" name="TextBox 6">
            <a:extLst>
              <a:ext uri="{FF2B5EF4-FFF2-40B4-BE49-F238E27FC236}">
                <a16:creationId xmlns:a16="http://schemas.microsoft.com/office/drawing/2014/main" id="{CF1E2C5C-5447-4F70-89FE-1EEDC8633626}"/>
              </a:ext>
            </a:extLst>
          </p:cNvPr>
          <p:cNvSpPr txBox="1"/>
          <p:nvPr/>
        </p:nvSpPr>
        <p:spPr>
          <a:xfrm>
            <a:off x="7924800" y="1831244"/>
            <a:ext cx="1904198" cy="923330"/>
          </a:xfrm>
          <a:prstGeom prst="rect">
            <a:avLst/>
          </a:prstGeom>
          <a:noFill/>
        </p:spPr>
        <p:txBody>
          <a:bodyPr wrap="square">
            <a:spAutoFit/>
          </a:bodyPr>
          <a:lstStyle/>
          <a:p>
            <a:pPr algn="l"/>
            <a:r>
              <a:rPr lang="en-IN" b="0" i="1" dirty="0">
                <a:solidFill>
                  <a:srgbClr val="000000"/>
                </a:solidFill>
                <a:effectLst/>
                <a:latin typeface="KaTeX_Math"/>
              </a:rPr>
              <a:t>Q</a:t>
            </a:r>
            <a:r>
              <a:rPr lang="en-IN" b="0" i="0" dirty="0">
                <a:solidFill>
                  <a:srgbClr val="000000"/>
                </a:solidFill>
                <a:effectLst/>
                <a:latin typeface="KaTeX_Main"/>
              </a:rPr>
              <a:t>={</a:t>
            </a:r>
            <a:r>
              <a:rPr lang="en-IN" b="0" i="1" dirty="0">
                <a:solidFill>
                  <a:srgbClr val="000000"/>
                </a:solidFill>
                <a:effectLst/>
                <a:latin typeface="KaTeX_Math"/>
              </a:rPr>
              <a:t>q</a:t>
            </a:r>
            <a:r>
              <a:rPr lang="en-IN" b="0" i="0" dirty="0">
                <a:solidFill>
                  <a:srgbClr val="000000"/>
                </a:solidFill>
                <a:effectLst/>
                <a:latin typeface="KaTeX_Main"/>
              </a:rPr>
              <a:t>0​, </a:t>
            </a:r>
            <a:r>
              <a:rPr lang="en-IN" b="0" i="1" dirty="0">
                <a:solidFill>
                  <a:srgbClr val="000000"/>
                </a:solidFill>
                <a:effectLst/>
                <a:latin typeface="KaTeX_Math"/>
              </a:rPr>
              <a:t>q</a:t>
            </a:r>
            <a:r>
              <a:rPr lang="en-IN" b="0" i="0" dirty="0">
                <a:solidFill>
                  <a:srgbClr val="000000"/>
                </a:solidFill>
                <a:effectLst/>
                <a:latin typeface="KaTeX_Main"/>
              </a:rPr>
              <a:t>1​, </a:t>
            </a:r>
            <a:r>
              <a:rPr lang="en-IN" b="0" i="1" dirty="0">
                <a:solidFill>
                  <a:srgbClr val="000000"/>
                </a:solidFill>
                <a:effectLst/>
                <a:latin typeface="KaTeX_Math"/>
              </a:rPr>
              <a:t>q</a:t>
            </a:r>
            <a:r>
              <a:rPr lang="en-IN" b="0" i="0" dirty="0">
                <a:solidFill>
                  <a:srgbClr val="000000"/>
                </a:solidFill>
                <a:effectLst/>
                <a:latin typeface="KaTeX_Main"/>
              </a:rPr>
              <a:t>2​, </a:t>
            </a:r>
            <a:r>
              <a:rPr lang="en-IN" b="0" i="1" dirty="0">
                <a:solidFill>
                  <a:srgbClr val="000000"/>
                </a:solidFill>
                <a:effectLst/>
                <a:latin typeface="KaTeX_Math"/>
              </a:rPr>
              <a:t>q</a:t>
            </a:r>
            <a:r>
              <a:rPr lang="en-IN" b="0" i="0" dirty="0">
                <a:solidFill>
                  <a:srgbClr val="000000"/>
                </a:solidFill>
                <a:effectLst/>
                <a:latin typeface="KaTeX_Main"/>
              </a:rPr>
              <a:t>3​}</a:t>
            </a:r>
            <a:endParaRPr lang="en-IN" b="0" i="0" dirty="0">
              <a:solidFill>
                <a:srgbClr val="000000"/>
              </a:solidFill>
              <a:effectLst/>
              <a:latin typeface="Nunito Sans" pitchFamily="2" charset="0"/>
            </a:endParaRPr>
          </a:p>
          <a:p>
            <a:pPr algn="l"/>
            <a:r>
              <a:rPr lang="el-GR" b="0" i="0" dirty="0">
                <a:solidFill>
                  <a:srgbClr val="000000"/>
                </a:solidFill>
                <a:effectLst/>
                <a:latin typeface="KaTeX_Main"/>
              </a:rPr>
              <a:t>Σ=(0,1)</a:t>
            </a:r>
            <a:endParaRPr lang="el-GR" b="0" i="0" dirty="0">
              <a:solidFill>
                <a:srgbClr val="000000"/>
              </a:solidFill>
              <a:effectLst/>
              <a:latin typeface="Nunito Sans" pitchFamily="2" charset="0"/>
            </a:endParaRPr>
          </a:p>
          <a:p>
            <a:pPr algn="l"/>
            <a:r>
              <a:rPr lang="en-IN" b="0" i="1" dirty="0">
                <a:solidFill>
                  <a:srgbClr val="000000"/>
                </a:solidFill>
                <a:effectLst/>
                <a:latin typeface="KaTeX_Math"/>
              </a:rPr>
              <a:t>F</a:t>
            </a:r>
            <a:r>
              <a:rPr lang="en-IN" b="0" i="0" dirty="0">
                <a:solidFill>
                  <a:srgbClr val="000000"/>
                </a:solidFill>
                <a:effectLst/>
                <a:latin typeface="KaTeX_Main"/>
              </a:rPr>
              <a:t>={</a:t>
            </a:r>
            <a:r>
              <a:rPr lang="en-IN" b="0" i="1" dirty="0">
                <a:solidFill>
                  <a:srgbClr val="000000"/>
                </a:solidFill>
                <a:effectLst/>
                <a:latin typeface="KaTeX_Math"/>
              </a:rPr>
              <a:t>q</a:t>
            </a:r>
            <a:r>
              <a:rPr lang="en-IN" b="0" i="0" dirty="0">
                <a:solidFill>
                  <a:srgbClr val="000000"/>
                </a:solidFill>
                <a:effectLst/>
                <a:latin typeface="KaTeX_Main"/>
              </a:rPr>
              <a:t>3​}</a:t>
            </a:r>
            <a:endParaRPr lang="en-IN" b="0" i="0" dirty="0">
              <a:solidFill>
                <a:srgbClr val="000000"/>
              </a:solidFill>
              <a:effectLst/>
              <a:latin typeface="Nunito Sans" pitchFamily="2" charset="0"/>
            </a:endParaRPr>
          </a:p>
        </p:txBody>
      </p:sp>
      <p:graphicFrame>
        <p:nvGraphicFramePr>
          <p:cNvPr id="8" name="Table 7">
            <a:extLst>
              <a:ext uri="{FF2B5EF4-FFF2-40B4-BE49-F238E27FC236}">
                <a16:creationId xmlns:a16="http://schemas.microsoft.com/office/drawing/2014/main" id="{BF57BBEA-5134-46CD-89CE-B1DE90D543C3}"/>
              </a:ext>
            </a:extLst>
          </p:cNvPr>
          <p:cNvGraphicFramePr>
            <a:graphicFrameLocks noGrp="1"/>
          </p:cNvGraphicFramePr>
          <p:nvPr>
            <p:extLst>
              <p:ext uri="{D42A27DB-BD31-4B8C-83A1-F6EECF244321}">
                <p14:modId xmlns:p14="http://schemas.microsoft.com/office/powerpoint/2010/main" val="1088738473"/>
              </p:ext>
            </p:extLst>
          </p:nvPr>
        </p:nvGraphicFramePr>
        <p:xfrm>
          <a:off x="7848600" y="3091042"/>
          <a:ext cx="3505200" cy="1828800"/>
        </p:xfrm>
        <a:graphic>
          <a:graphicData uri="http://schemas.openxmlformats.org/drawingml/2006/table">
            <a:tbl>
              <a:tblPr/>
              <a:tblGrid>
                <a:gridCol w="1752600">
                  <a:extLst>
                    <a:ext uri="{9D8B030D-6E8A-4147-A177-3AD203B41FA5}">
                      <a16:colId xmlns:a16="http://schemas.microsoft.com/office/drawing/2014/main" val="86569421"/>
                    </a:ext>
                  </a:extLst>
                </a:gridCol>
                <a:gridCol w="1752600">
                  <a:extLst>
                    <a:ext uri="{9D8B030D-6E8A-4147-A177-3AD203B41FA5}">
                      <a16:colId xmlns:a16="http://schemas.microsoft.com/office/drawing/2014/main" val="788410706"/>
                    </a:ext>
                  </a:extLst>
                </a:gridCol>
              </a:tblGrid>
              <a:tr h="0">
                <a:tc>
                  <a:txBody>
                    <a:bodyPr/>
                    <a:lstStyle/>
                    <a:p>
                      <a:pPr algn="ctr" fontAlgn="t"/>
                      <a:r>
                        <a:rPr lang="en-IN" b="1" dirty="0">
                          <a:effectLst/>
                          <a:latin typeface="var(--font-family-body-lesson-markdown,&quot;Droid Serif&quot;)"/>
                        </a:rPr>
                        <a:t>state</a:t>
                      </a:r>
                      <a:endParaRPr lang="en-IN" dirty="0">
                        <a:effectLst/>
                        <a:latin typeface="var(--font-family-body-lesson-markdown,&quot;Droid Serif&quot;)"/>
                      </a:endParaRPr>
                    </a:p>
                  </a:txBody>
                  <a:tcPr>
                    <a:lnL>
                      <a:noFill/>
                    </a:lnL>
                    <a:lnR>
                      <a:noFill/>
                    </a:lnR>
                    <a:lnT>
                      <a:noFill/>
                    </a:lnT>
                    <a:lnB>
                      <a:noFill/>
                    </a:lnB>
                    <a:solidFill>
                      <a:srgbClr val="FFF1EF"/>
                    </a:solidFill>
                  </a:tcPr>
                </a:tc>
                <a:tc>
                  <a:txBody>
                    <a:bodyPr/>
                    <a:lstStyle/>
                    <a:p>
                      <a:pPr algn="ctr" fontAlgn="t"/>
                      <a:r>
                        <a:rPr lang="en-IN" b="1" dirty="0">
                          <a:effectLst/>
                          <a:latin typeface="var(--font-family-body-lesson-markdown,&quot;Droid Serif&quot;)"/>
                        </a:rPr>
                        <a:t>set</a:t>
                      </a:r>
                      <a:endParaRPr lang="en-IN" dirty="0">
                        <a:effectLst/>
                        <a:latin typeface="var(--font-family-body-lesson-markdown,&quot;Droid Serif&quot;)"/>
                      </a:endParaRPr>
                    </a:p>
                  </a:txBody>
                  <a:tcPr>
                    <a:lnL>
                      <a:noFill/>
                    </a:lnL>
                    <a:lnR>
                      <a:noFill/>
                    </a:lnR>
                    <a:lnT>
                      <a:noFill/>
                    </a:lnT>
                    <a:lnB>
                      <a:noFill/>
                    </a:lnB>
                    <a:solidFill>
                      <a:srgbClr val="FFF1EF"/>
                    </a:solidFill>
                  </a:tcPr>
                </a:tc>
                <a:extLst>
                  <a:ext uri="{0D108BD9-81ED-4DB2-BD59-A6C34878D82A}">
                    <a16:rowId xmlns:a16="http://schemas.microsoft.com/office/drawing/2014/main" val="2528189687"/>
                  </a:ext>
                </a:extLst>
              </a:tr>
              <a:tr h="0">
                <a:tc>
                  <a:txBody>
                    <a:bodyPr/>
                    <a:lstStyle/>
                    <a:p>
                      <a:pPr algn="ctr" fontAlgn="t"/>
                      <a:r>
                        <a:rPr lang="en-IN" dirty="0">
                          <a:effectLst/>
                          <a:latin typeface="var(--font-family-body-lesson-markdown,&quot;Droid Serif&quot;)"/>
                        </a:rPr>
                        <a:t>q0</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{q0, q1, q3}</a:t>
                      </a:r>
                    </a:p>
                  </a:txBody>
                  <a:tcPr>
                    <a:lnL>
                      <a:noFill/>
                    </a:lnL>
                    <a:lnR>
                      <a:noFill/>
                    </a:lnR>
                    <a:lnT>
                      <a:noFill/>
                    </a:lnT>
                    <a:lnB>
                      <a:noFill/>
                    </a:lnB>
                    <a:solidFill>
                      <a:srgbClr val="FFFFFF"/>
                    </a:solidFill>
                  </a:tcPr>
                </a:tc>
                <a:extLst>
                  <a:ext uri="{0D108BD9-81ED-4DB2-BD59-A6C34878D82A}">
                    <a16:rowId xmlns:a16="http://schemas.microsoft.com/office/drawing/2014/main" val="3722896578"/>
                  </a:ext>
                </a:extLst>
              </a:tr>
              <a:tr h="0">
                <a:tc>
                  <a:txBody>
                    <a:bodyPr/>
                    <a:lstStyle/>
                    <a:p>
                      <a:pPr algn="ctr" fontAlgn="t"/>
                      <a:r>
                        <a:rPr lang="en-IN" dirty="0">
                          <a:effectLst/>
                          <a:latin typeface="var(--font-family-body-lesson-markdown,&quot;Droid Serif&quot;)"/>
                        </a:rPr>
                        <a:t>q1</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{q1, q3}</a:t>
                      </a:r>
                    </a:p>
                  </a:txBody>
                  <a:tcPr>
                    <a:lnL>
                      <a:noFill/>
                    </a:lnL>
                    <a:lnR>
                      <a:noFill/>
                    </a:lnR>
                    <a:lnT>
                      <a:noFill/>
                    </a:lnT>
                    <a:lnB>
                      <a:noFill/>
                    </a:lnB>
                    <a:solidFill>
                      <a:srgbClr val="FFFFFF"/>
                    </a:solidFill>
                  </a:tcPr>
                </a:tc>
                <a:extLst>
                  <a:ext uri="{0D108BD9-81ED-4DB2-BD59-A6C34878D82A}">
                    <a16:rowId xmlns:a16="http://schemas.microsoft.com/office/drawing/2014/main" val="2566277457"/>
                  </a:ext>
                </a:extLst>
              </a:tr>
              <a:tr h="0">
                <a:tc>
                  <a:txBody>
                    <a:bodyPr/>
                    <a:lstStyle/>
                    <a:p>
                      <a:pPr algn="ctr" fontAlgn="t"/>
                      <a:r>
                        <a:rPr lang="en-IN" dirty="0">
                          <a:effectLst/>
                          <a:latin typeface="var(--font-family-body-lesson-markdown,&quot;Droid Serif&quot;)"/>
                        </a:rPr>
                        <a:t>q2</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{q2}</a:t>
                      </a:r>
                    </a:p>
                  </a:txBody>
                  <a:tcPr>
                    <a:lnL>
                      <a:noFill/>
                    </a:lnL>
                    <a:lnR>
                      <a:noFill/>
                    </a:lnR>
                    <a:lnT>
                      <a:noFill/>
                    </a:lnT>
                    <a:lnB>
                      <a:noFill/>
                    </a:lnB>
                    <a:solidFill>
                      <a:srgbClr val="FFFFFF"/>
                    </a:solidFill>
                  </a:tcPr>
                </a:tc>
                <a:extLst>
                  <a:ext uri="{0D108BD9-81ED-4DB2-BD59-A6C34878D82A}">
                    <a16:rowId xmlns:a16="http://schemas.microsoft.com/office/drawing/2014/main" val="1401453620"/>
                  </a:ext>
                </a:extLst>
              </a:tr>
              <a:tr h="0">
                <a:tc>
                  <a:txBody>
                    <a:bodyPr/>
                    <a:lstStyle/>
                    <a:p>
                      <a:pPr algn="ctr" fontAlgn="t"/>
                      <a:r>
                        <a:rPr lang="en-IN" dirty="0">
                          <a:effectLst/>
                          <a:latin typeface="var(--font-family-body-lesson-markdown,&quot;Droid Serif&quot;)"/>
                        </a:rPr>
                        <a:t>q3</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{q3}</a:t>
                      </a:r>
                    </a:p>
                  </a:txBody>
                  <a:tcPr>
                    <a:lnL>
                      <a:noFill/>
                    </a:lnL>
                    <a:lnR>
                      <a:noFill/>
                    </a:lnR>
                    <a:lnT>
                      <a:noFill/>
                    </a:lnT>
                    <a:lnB>
                      <a:noFill/>
                    </a:lnB>
                    <a:solidFill>
                      <a:srgbClr val="FFFFFF"/>
                    </a:solidFill>
                  </a:tcPr>
                </a:tc>
                <a:extLst>
                  <a:ext uri="{0D108BD9-81ED-4DB2-BD59-A6C34878D82A}">
                    <a16:rowId xmlns:a16="http://schemas.microsoft.com/office/drawing/2014/main" val="104350999"/>
                  </a:ext>
                </a:extLst>
              </a:tr>
            </a:tbl>
          </a:graphicData>
        </a:graphic>
      </p:graphicFrame>
      <p:graphicFrame>
        <p:nvGraphicFramePr>
          <p:cNvPr id="11" name="Table 10">
            <a:extLst>
              <a:ext uri="{FF2B5EF4-FFF2-40B4-BE49-F238E27FC236}">
                <a16:creationId xmlns:a16="http://schemas.microsoft.com/office/drawing/2014/main" id="{C40EB499-4D9B-4660-A045-0DD97CFF5DE8}"/>
              </a:ext>
            </a:extLst>
          </p:cNvPr>
          <p:cNvGraphicFramePr>
            <a:graphicFrameLocks noGrp="1"/>
          </p:cNvGraphicFramePr>
          <p:nvPr>
            <p:extLst>
              <p:ext uri="{D42A27DB-BD31-4B8C-83A1-F6EECF244321}">
                <p14:modId xmlns:p14="http://schemas.microsoft.com/office/powerpoint/2010/main" val="3224150893"/>
              </p:ext>
            </p:extLst>
          </p:nvPr>
        </p:nvGraphicFramePr>
        <p:xfrm>
          <a:off x="250792" y="4005442"/>
          <a:ext cx="4876800" cy="1828800"/>
        </p:xfrm>
        <a:graphic>
          <a:graphicData uri="http://schemas.openxmlformats.org/drawingml/2006/table">
            <a:tbl>
              <a:tblPr/>
              <a:tblGrid>
                <a:gridCol w="1625600">
                  <a:extLst>
                    <a:ext uri="{9D8B030D-6E8A-4147-A177-3AD203B41FA5}">
                      <a16:colId xmlns:a16="http://schemas.microsoft.com/office/drawing/2014/main" val="2445991528"/>
                    </a:ext>
                  </a:extLst>
                </a:gridCol>
                <a:gridCol w="1625600">
                  <a:extLst>
                    <a:ext uri="{9D8B030D-6E8A-4147-A177-3AD203B41FA5}">
                      <a16:colId xmlns:a16="http://schemas.microsoft.com/office/drawing/2014/main" val="568814507"/>
                    </a:ext>
                  </a:extLst>
                </a:gridCol>
                <a:gridCol w="1625600">
                  <a:extLst>
                    <a:ext uri="{9D8B030D-6E8A-4147-A177-3AD203B41FA5}">
                      <a16:colId xmlns:a16="http://schemas.microsoft.com/office/drawing/2014/main" val="3071477376"/>
                    </a:ext>
                  </a:extLst>
                </a:gridCol>
              </a:tblGrid>
              <a:tr h="0">
                <a:tc>
                  <a:txBody>
                    <a:bodyPr/>
                    <a:lstStyle/>
                    <a:p>
                      <a:pPr algn="ctr" fontAlgn="t"/>
                      <a:r>
                        <a:rPr lang="en-IN" b="1" dirty="0">
                          <a:effectLst/>
                          <a:latin typeface="var(--font-family-body-lesson-markdown,&quot;Droid Serif&quot;)"/>
                        </a:rPr>
                        <a:t>state</a:t>
                      </a:r>
                      <a:endParaRPr lang="en-IN" dirty="0">
                        <a:effectLst/>
                        <a:latin typeface="var(--font-family-body-lesson-markdown,&quot;Droid Serif&quot;)"/>
                      </a:endParaRPr>
                    </a:p>
                  </a:txBody>
                  <a:tcPr>
                    <a:lnL>
                      <a:noFill/>
                    </a:lnL>
                    <a:lnR>
                      <a:noFill/>
                    </a:lnR>
                    <a:lnT>
                      <a:noFill/>
                    </a:lnT>
                    <a:lnB>
                      <a:noFill/>
                    </a:lnB>
                    <a:solidFill>
                      <a:srgbClr val="FFF1EF"/>
                    </a:solidFill>
                  </a:tcPr>
                </a:tc>
                <a:tc>
                  <a:txBody>
                    <a:bodyPr/>
                    <a:lstStyle/>
                    <a:p>
                      <a:pPr algn="ctr" fontAlgn="t"/>
                      <a:r>
                        <a:rPr lang="en-IN" b="1" dirty="0">
                          <a:effectLst/>
                          <a:latin typeface="var(--font-family-body-lesson-markdown,&quot;Droid Serif&quot;)"/>
                        </a:rPr>
                        <a:t>0</a:t>
                      </a:r>
                      <a:endParaRPr lang="en-IN" dirty="0">
                        <a:effectLst/>
                        <a:latin typeface="var(--font-family-body-lesson-markdown,&quot;Droid Serif&quot;)"/>
                      </a:endParaRPr>
                    </a:p>
                  </a:txBody>
                  <a:tcPr>
                    <a:lnL>
                      <a:noFill/>
                    </a:lnL>
                    <a:lnR>
                      <a:noFill/>
                    </a:lnR>
                    <a:lnT>
                      <a:noFill/>
                    </a:lnT>
                    <a:lnB>
                      <a:noFill/>
                    </a:lnB>
                    <a:solidFill>
                      <a:srgbClr val="FFF1EF"/>
                    </a:solidFill>
                  </a:tcPr>
                </a:tc>
                <a:tc>
                  <a:txBody>
                    <a:bodyPr/>
                    <a:lstStyle/>
                    <a:p>
                      <a:pPr algn="ctr" fontAlgn="t"/>
                      <a:r>
                        <a:rPr lang="en-IN" b="1" dirty="0">
                          <a:effectLst/>
                          <a:latin typeface="var(--font-family-body-lesson-markdown,&quot;Droid Serif&quot;)"/>
                        </a:rPr>
                        <a:t>1</a:t>
                      </a:r>
                      <a:endParaRPr lang="en-IN" dirty="0">
                        <a:effectLst/>
                        <a:latin typeface="var(--font-family-body-lesson-markdown,&quot;Droid Serif&quot;)"/>
                      </a:endParaRPr>
                    </a:p>
                  </a:txBody>
                  <a:tcPr>
                    <a:lnL>
                      <a:noFill/>
                    </a:lnL>
                    <a:lnR>
                      <a:noFill/>
                    </a:lnR>
                    <a:lnT>
                      <a:noFill/>
                    </a:lnT>
                    <a:lnB>
                      <a:noFill/>
                    </a:lnB>
                    <a:solidFill>
                      <a:srgbClr val="FFF1EF"/>
                    </a:solidFill>
                  </a:tcPr>
                </a:tc>
                <a:extLst>
                  <a:ext uri="{0D108BD9-81ED-4DB2-BD59-A6C34878D82A}">
                    <a16:rowId xmlns:a16="http://schemas.microsoft.com/office/drawing/2014/main" val="3836520830"/>
                  </a:ext>
                </a:extLst>
              </a:tr>
              <a:tr h="0">
                <a:tc>
                  <a:txBody>
                    <a:bodyPr/>
                    <a:lstStyle/>
                    <a:p>
                      <a:pPr algn="ctr" fontAlgn="t"/>
                      <a:r>
                        <a:rPr lang="en-IN" dirty="0">
                          <a:effectLst/>
                          <a:latin typeface="var(--font-family-body-lesson-markdown,&quot;Droid Serif&quot;)"/>
                        </a:rPr>
                        <a:t>q0</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{q0, q1, q2, q3}</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2606581295"/>
                  </a:ext>
                </a:extLst>
              </a:tr>
              <a:tr h="0">
                <a:tc>
                  <a:txBody>
                    <a:bodyPr/>
                    <a:lstStyle/>
                    <a:p>
                      <a:pPr algn="ctr" fontAlgn="t"/>
                      <a:r>
                        <a:rPr lang="en-IN" dirty="0">
                          <a:effectLst/>
                          <a:latin typeface="var(--font-family-body-lesson-markdown,&quot;Droid Serif&quot;)"/>
                        </a:rPr>
                        <a:t>q1</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{q2, q3}</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4031402538"/>
                  </a:ext>
                </a:extLst>
              </a:tr>
              <a:tr h="0">
                <a:tc>
                  <a:txBody>
                    <a:bodyPr/>
                    <a:lstStyle/>
                    <a:p>
                      <a:pPr algn="ctr" fontAlgn="t"/>
                      <a:r>
                        <a:rPr lang="en-IN" dirty="0">
                          <a:effectLst/>
                          <a:latin typeface="var(--font-family-body-lesson-markdown,&quot;Droid Serif&quot;)"/>
                        </a:rPr>
                        <a:t>q2</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{q1, q3}</a:t>
                      </a:r>
                    </a:p>
                  </a:txBody>
                  <a:tcPr>
                    <a:lnL>
                      <a:noFill/>
                    </a:lnL>
                    <a:lnR>
                      <a:noFill/>
                    </a:lnR>
                    <a:lnT>
                      <a:noFill/>
                    </a:lnT>
                    <a:lnB>
                      <a:noFill/>
                    </a:lnB>
                    <a:solidFill>
                      <a:srgbClr val="FFFFFF"/>
                    </a:solidFill>
                  </a:tcPr>
                </a:tc>
                <a:extLst>
                  <a:ext uri="{0D108BD9-81ED-4DB2-BD59-A6C34878D82A}">
                    <a16:rowId xmlns:a16="http://schemas.microsoft.com/office/drawing/2014/main" val="1220284959"/>
                  </a:ext>
                </a:extLst>
              </a:tr>
              <a:tr h="0">
                <a:tc>
                  <a:txBody>
                    <a:bodyPr/>
                    <a:lstStyle/>
                    <a:p>
                      <a:pPr algn="ctr" fontAlgn="t"/>
                      <a:r>
                        <a:rPr lang="en-IN" dirty="0">
                          <a:effectLst/>
                          <a:latin typeface="var(--font-family-body-lesson-markdown,&quot;Droid Serif&quot;)"/>
                        </a:rPr>
                        <a:t>q3</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{q3}</a:t>
                      </a:r>
                    </a:p>
                  </a:txBody>
                  <a:tcPr>
                    <a:lnL>
                      <a:noFill/>
                    </a:lnL>
                    <a:lnR>
                      <a:noFill/>
                    </a:lnR>
                    <a:lnT>
                      <a:noFill/>
                    </a:lnT>
                    <a:lnB>
                      <a:noFill/>
                    </a:lnB>
                    <a:solidFill>
                      <a:srgbClr val="FFFFFF"/>
                    </a:solidFill>
                  </a:tcPr>
                </a:tc>
                <a:tc>
                  <a:txBody>
                    <a:bodyPr/>
                    <a:lstStyle/>
                    <a:p>
                      <a:pPr algn="ctr" fontAlgn="t"/>
                      <a:r>
                        <a:rPr lang="en-IN" dirty="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3847690438"/>
                  </a:ext>
                </a:extLst>
              </a:tr>
            </a:tbl>
          </a:graphicData>
        </a:graphic>
      </p:graphicFrame>
      <p:pic>
        <p:nvPicPr>
          <p:cNvPr id="13" name="Picture 12">
            <a:extLst>
              <a:ext uri="{FF2B5EF4-FFF2-40B4-BE49-F238E27FC236}">
                <a16:creationId xmlns:a16="http://schemas.microsoft.com/office/drawing/2014/main" id="{240DDA9D-2D05-40D9-A991-05A7C80BBC40}"/>
              </a:ext>
            </a:extLst>
          </p:cNvPr>
          <p:cNvPicPr>
            <a:picLocks noChangeAspect="1"/>
          </p:cNvPicPr>
          <p:nvPr/>
        </p:nvPicPr>
        <p:blipFill>
          <a:blip r:embed="rId3"/>
          <a:stretch>
            <a:fillRect/>
          </a:stretch>
        </p:blipFill>
        <p:spPr>
          <a:xfrm>
            <a:off x="5334000" y="5256310"/>
            <a:ext cx="5053536" cy="1553077"/>
          </a:xfrm>
          <a:prstGeom prst="rect">
            <a:avLst/>
          </a:prstGeom>
        </p:spPr>
      </p:pic>
    </p:spTree>
    <p:extLst>
      <p:ext uri="{BB962C8B-B14F-4D97-AF65-F5344CB8AC3E}">
        <p14:creationId xmlns:p14="http://schemas.microsoft.com/office/powerpoint/2010/main" val="161083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6C18-AACF-4373-B6B3-23FF2B631079}"/>
              </a:ext>
            </a:extLst>
          </p:cNvPr>
          <p:cNvSpPr>
            <a:spLocks noGrp="1"/>
          </p:cNvSpPr>
          <p:nvPr>
            <p:ph type="title"/>
          </p:nvPr>
        </p:nvSpPr>
        <p:spPr/>
        <p:txBody>
          <a:bodyPr/>
          <a:lstStyle/>
          <a:p>
            <a:r>
              <a:rPr lang="en-IN" dirty="0"/>
              <a:t>Converting DFA to regular expression</a:t>
            </a:r>
          </a:p>
        </p:txBody>
      </p:sp>
      <p:sp>
        <p:nvSpPr>
          <p:cNvPr id="3" name="Content Placeholder 2">
            <a:extLst>
              <a:ext uri="{FF2B5EF4-FFF2-40B4-BE49-F238E27FC236}">
                <a16:creationId xmlns:a16="http://schemas.microsoft.com/office/drawing/2014/main" id="{7ED66640-A8DB-443D-B3E4-1AC1CCEF821E}"/>
              </a:ext>
            </a:extLst>
          </p:cNvPr>
          <p:cNvSpPr>
            <a:spLocks noGrp="1"/>
          </p:cNvSpPr>
          <p:nvPr>
            <p:ph idx="1"/>
          </p:nvPr>
        </p:nvSpPr>
        <p:spPr/>
        <p:txBody>
          <a:bodyPr/>
          <a:lstStyle/>
          <a:p>
            <a:r>
              <a:rPr lang="en-US" dirty="0"/>
              <a:t>The two popular methods for converting a given DFA to its regular expression are-</a:t>
            </a:r>
            <a:endParaRPr lang="en-IN" dirty="0"/>
          </a:p>
        </p:txBody>
      </p:sp>
      <p:pic>
        <p:nvPicPr>
          <p:cNvPr id="6146" name="Picture 2">
            <a:extLst>
              <a:ext uri="{FF2B5EF4-FFF2-40B4-BE49-F238E27FC236}">
                <a16:creationId xmlns:a16="http://schemas.microsoft.com/office/drawing/2014/main" id="{E37A09D7-F082-4F80-AF68-E9CBF6537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981200"/>
            <a:ext cx="4867275"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4822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0FE7-6AAC-400C-A46C-3B5DA00CDE12}"/>
              </a:ext>
            </a:extLst>
          </p:cNvPr>
          <p:cNvSpPr>
            <a:spLocks noGrp="1"/>
          </p:cNvSpPr>
          <p:nvPr>
            <p:ph type="title"/>
          </p:nvPr>
        </p:nvSpPr>
        <p:spPr/>
        <p:txBody>
          <a:bodyPr>
            <a:normAutofit/>
          </a:bodyPr>
          <a:lstStyle/>
          <a:p>
            <a:r>
              <a:rPr lang="en-US" dirty="0"/>
              <a:t>Arden’s Theorem-</a:t>
            </a:r>
            <a:endParaRPr lang="en-IN" dirty="0"/>
          </a:p>
        </p:txBody>
      </p:sp>
      <p:sp>
        <p:nvSpPr>
          <p:cNvPr id="3" name="Content Placeholder 2">
            <a:extLst>
              <a:ext uri="{FF2B5EF4-FFF2-40B4-BE49-F238E27FC236}">
                <a16:creationId xmlns:a16="http://schemas.microsoft.com/office/drawing/2014/main" id="{0A885A06-86CF-412D-878D-F0A248B7BA45}"/>
              </a:ext>
            </a:extLst>
          </p:cNvPr>
          <p:cNvSpPr>
            <a:spLocks noGrp="1"/>
          </p:cNvSpPr>
          <p:nvPr>
            <p:ph idx="1"/>
          </p:nvPr>
        </p:nvSpPr>
        <p:spPr/>
        <p:txBody>
          <a:bodyPr>
            <a:normAutofit/>
          </a:bodyPr>
          <a:lstStyle/>
          <a:p>
            <a:pPr marL="0" indent="0">
              <a:buNone/>
            </a:pPr>
            <a:r>
              <a:rPr lang="en-US" dirty="0"/>
              <a:t>Arden’s Theorem is popularly used to convert a given DFA to its regular expression.</a:t>
            </a:r>
          </a:p>
          <a:p>
            <a:pPr marL="0" indent="0">
              <a:buNone/>
            </a:pPr>
            <a:r>
              <a:rPr lang="en-US" dirty="0"/>
              <a:t>It states that-</a:t>
            </a:r>
          </a:p>
          <a:p>
            <a:r>
              <a:rPr lang="en-US" dirty="0"/>
              <a:t>Let </a:t>
            </a:r>
            <a:r>
              <a:rPr lang="en-US" b="1" dirty="0"/>
              <a:t>P</a:t>
            </a:r>
            <a:r>
              <a:rPr lang="en-US" dirty="0"/>
              <a:t> and </a:t>
            </a:r>
            <a:r>
              <a:rPr lang="en-US" b="1" dirty="0"/>
              <a:t>Q</a:t>
            </a:r>
            <a:r>
              <a:rPr lang="en-US" dirty="0"/>
              <a:t> be two regular expressions over ∑.</a:t>
            </a:r>
          </a:p>
          <a:p>
            <a:r>
              <a:rPr lang="en-US" dirty="0"/>
              <a:t>If </a:t>
            </a:r>
            <a:r>
              <a:rPr lang="en-US" b="1" dirty="0"/>
              <a:t>P</a:t>
            </a:r>
            <a:r>
              <a:rPr lang="en-US" dirty="0"/>
              <a:t> does not contain a null string ∈, then-</a:t>
            </a:r>
          </a:p>
          <a:p>
            <a:pPr lvl="2"/>
            <a:r>
              <a:rPr lang="en-US" sz="2400" b="1" dirty="0"/>
              <a:t>R = Q + RP </a:t>
            </a:r>
            <a:r>
              <a:rPr lang="en-US" sz="2400" dirty="0"/>
              <a:t>has a unique solution i.e. </a:t>
            </a:r>
            <a:r>
              <a:rPr lang="en-US" sz="2400" b="1" dirty="0">
                <a:solidFill>
                  <a:srgbClr val="C00000"/>
                </a:solidFill>
              </a:rPr>
              <a:t>R = QP*</a:t>
            </a:r>
          </a:p>
          <a:p>
            <a:pPr lvl="2"/>
            <a:endParaRPr lang="en-US" sz="2400" dirty="0"/>
          </a:p>
          <a:p>
            <a:pPr marL="0" indent="0" algn="l" fontAlgn="base">
              <a:buNone/>
            </a:pPr>
            <a:r>
              <a:rPr lang="en-US" sz="2400" b="1" i="0" u="sng" dirty="0">
                <a:solidFill>
                  <a:srgbClr val="303030"/>
                </a:solidFill>
                <a:effectLst/>
                <a:latin typeface="Roboto Condensed" pitchFamily="2" charset="0"/>
              </a:rPr>
              <a:t>Conditions-</a:t>
            </a:r>
            <a:r>
              <a:rPr lang="en-US" sz="2400" b="0" i="0" dirty="0">
                <a:solidFill>
                  <a:srgbClr val="303030"/>
                </a:solidFill>
                <a:effectLst/>
                <a:latin typeface="Arimo"/>
              </a:rPr>
              <a:t> </a:t>
            </a:r>
          </a:p>
          <a:p>
            <a:pPr marL="0" indent="0" algn="l" fontAlgn="base">
              <a:buNone/>
            </a:pPr>
            <a:r>
              <a:rPr lang="en-US" sz="2400" b="0" i="0" dirty="0">
                <a:solidFill>
                  <a:srgbClr val="303030"/>
                </a:solidFill>
                <a:effectLst/>
                <a:latin typeface="Arimo"/>
              </a:rPr>
              <a:t>To use Arden’s Theorem, following conditions must be satisfied-</a:t>
            </a:r>
          </a:p>
          <a:p>
            <a:pPr algn="l" fontAlgn="base"/>
            <a:r>
              <a:rPr lang="en-US" sz="2400" b="0" i="0" dirty="0">
                <a:solidFill>
                  <a:srgbClr val="303030"/>
                </a:solidFill>
                <a:effectLst/>
                <a:latin typeface="Arimo"/>
              </a:rPr>
              <a:t>The transition diagram </a:t>
            </a:r>
            <a:r>
              <a:rPr lang="en-US" sz="2400" b="0" i="0" dirty="0">
                <a:solidFill>
                  <a:srgbClr val="C00000"/>
                </a:solidFill>
                <a:effectLst/>
                <a:latin typeface="Arimo"/>
              </a:rPr>
              <a:t>must not </a:t>
            </a:r>
            <a:r>
              <a:rPr lang="en-US" sz="2400" b="0" i="0" dirty="0">
                <a:solidFill>
                  <a:srgbClr val="303030"/>
                </a:solidFill>
                <a:effectLst/>
                <a:latin typeface="Arimo"/>
              </a:rPr>
              <a:t>have any </a:t>
            </a:r>
            <a:r>
              <a:rPr lang="en-US" sz="2400" b="0" i="0" dirty="0">
                <a:solidFill>
                  <a:srgbClr val="C00000"/>
                </a:solidFill>
                <a:effectLst/>
                <a:latin typeface="Arimo"/>
              </a:rPr>
              <a:t>∈ transitions</a:t>
            </a:r>
            <a:r>
              <a:rPr lang="en-US" sz="2400" b="0" i="0" dirty="0">
                <a:solidFill>
                  <a:srgbClr val="303030"/>
                </a:solidFill>
                <a:effectLst/>
                <a:latin typeface="Arimo"/>
              </a:rPr>
              <a:t>.</a:t>
            </a:r>
          </a:p>
          <a:p>
            <a:pPr algn="l" fontAlgn="base"/>
            <a:r>
              <a:rPr lang="en-US" sz="2400" b="0" i="0" dirty="0">
                <a:solidFill>
                  <a:srgbClr val="303030"/>
                </a:solidFill>
                <a:effectLst/>
                <a:latin typeface="Arimo"/>
              </a:rPr>
              <a:t>There must be only a </a:t>
            </a:r>
            <a:r>
              <a:rPr lang="en-US" sz="2400" b="0" i="0" dirty="0">
                <a:solidFill>
                  <a:srgbClr val="C00000"/>
                </a:solidFill>
                <a:effectLst/>
                <a:latin typeface="Arimo"/>
              </a:rPr>
              <a:t>single initial state</a:t>
            </a:r>
            <a:r>
              <a:rPr lang="en-US" sz="2400" b="0" i="0" dirty="0">
                <a:solidFill>
                  <a:srgbClr val="303030"/>
                </a:solidFill>
                <a:effectLst/>
                <a:latin typeface="Arimo"/>
              </a:rPr>
              <a:t>.</a:t>
            </a:r>
          </a:p>
          <a:p>
            <a:pPr lvl="2"/>
            <a:endParaRPr lang="en-US" sz="2400" dirty="0"/>
          </a:p>
        </p:txBody>
      </p:sp>
    </p:spTree>
    <p:extLst>
      <p:ext uri="{BB962C8B-B14F-4D97-AF65-F5344CB8AC3E}">
        <p14:creationId xmlns:p14="http://schemas.microsoft.com/office/powerpoint/2010/main" val="399440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47FA-381B-4EAB-83FB-041CA5146543}"/>
              </a:ext>
            </a:extLst>
          </p:cNvPr>
          <p:cNvSpPr>
            <a:spLocks noGrp="1"/>
          </p:cNvSpPr>
          <p:nvPr>
            <p:ph type="title"/>
          </p:nvPr>
        </p:nvSpPr>
        <p:spPr/>
        <p:txBody>
          <a:bodyPr/>
          <a:lstStyle/>
          <a:p>
            <a:r>
              <a:rPr lang="en-IN" dirty="0"/>
              <a:t>Steps-</a:t>
            </a:r>
          </a:p>
        </p:txBody>
      </p:sp>
      <p:sp>
        <p:nvSpPr>
          <p:cNvPr id="3" name="Content Placeholder 2">
            <a:extLst>
              <a:ext uri="{FF2B5EF4-FFF2-40B4-BE49-F238E27FC236}">
                <a16:creationId xmlns:a16="http://schemas.microsoft.com/office/drawing/2014/main" id="{D478D375-AA80-4176-B8EB-C5A768297C35}"/>
              </a:ext>
            </a:extLst>
          </p:cNvPr>
          <p:cNvSpPr>
            <a:spLocks noGrp="1"/>
          </p:cNvSpPr>
          <p:nvPr>
            <p:ph idx="1"/>
          </p:nvPr>
        </p:nvSpPr>
        <p:spPr/>
        <p:txBody>
          <a:bodyPr>
            <a:normAutofit fontScale="92500" lnSpcReduction="10000"/>
          </a:bodyPr>
          <a:lstStyle/>
          <a:p>
            <a:pPr marL="0" indent="0">
              <a:buNone/>
            </a:pPr>
            <a:r>
              <a:rPr lang="en-US" b="0" i="0" dirty="0">
                <a:solidFill>
                  <a:srgbClr val="303030"/>
                </a:solidFill>
                <a:effectLst/>
                <a:latin typeface="Arimo"/>
              </a:rPr>
              <a:t>To convert a given DFA to its regular expression using Arden’s Theorem, following steps are followed-</a:t>
            </a:r>
            <a:endParaRPr lang="en-US" dirty="0"/>
          </a:p>
          <a:p>
            <a:pPr marL="0" indent="0">
              <a:buNone/>
            </a:pPr>
            <a:r>
              <a:rPr lang="en-US" b="1" dirty="0"/>
              <a:t>Step-01:</a:t>
            </a:r>
          </a:p>
          <a:p>
            <a:r>
              <a:rPr lang="en-US" dirty="0"/>
              <a:t>Form a equation for each state considering the transitions which comes towards that state.</a:t>
            </a:r>
          </a:p>
          <a:p>
            <a:r>
              <a:rPr lang="en-US" dirty="0"/>
              <a:t>Add ‘∈’ in the equation of initial state.</a:t>
            </a:r>
          </a:p>
          <a:p>
            <a:pPr marL="0" indent="0">
              <a:buNone/>
            </a:pPr>
            <a:r>
              <a:rPr lang="en-US" b="1" dirty="0"/>
              <a:t>Step-02:</a:t>
            </a:r>
          </a:p>
          <a:p>
            <a:r>
              <a:rPr lang="en-US" dirty="0"/>
              <a:t> Bring final state in the form R = Q + RP to get the required regular expression.</a:t>
            </a:r>
          </a:p>
          <a:p>
            <a:pPr marL="0" indent="0">
              <a:buNone/>
            </a:pPr>
            <a:endParaRPr lang="en-US" dirty="0"/>
          </a:p>
          <a:p>
            <a:pPr marL="0" indent="0" algn="l" fontAlgn="base">
              <a:buNone/>
            </a:pPr>
            <a:r>
              <a:rPr lang="en-US" sz="2200" b="1" i="0" u="sng" dirty="0">
                <a:solidFill>
                  <a:srgbClr val="303030"/>
                </a:solidFill>
                <a:effectLst/>
                <a:latin typeface="Roboto Condensed" pitchFamily="2" charset="0"/>
              </a:rPr>
              <a:t>Important Notes-</a:t>
            </a:r>
            <a:endParaRPr lang="en-US" sz="2200" b="1" i="0" dirty="0">
              <a:solidFill>
                <a:srgbClr val="303030"/>
              </a:solidFill>
              <a:effectLst/>
              <a:latin typeface="Roboto Condensed" pitchFamily="2" charset="0"/>
            </a:endParaRPr>
          </a:p>
          <a:p>
            <a:pPr marL="400050" lvl="1" indent="0" fontAlgn="base">
              <a:buNone/>
            </a:pPr>
            <a:r>
              <a:rPr lang="en-US" sz="1800" b="1" i="0" u="sng" dirty="0">
                <a:solidFill>
                  <a:srgbClr val="303030"/>
                </a:solidFill>
                <a:effectLst/>
                <a:latin typeface="Roboto Condensed" pitchFamily="2" charset="0"/>
              </a:rPr>
              <a:t>Note-01:</a:t>
            </a:r>
            <a:endParaRPr lang="en-US" sz="1800" b="1" i="0" dirty="0">
              <a:solidFill>
                <a:srgbClr val="303030"/>
              </a:solidFill>
              <a:effectLst/>
              <a:latin typeface="Roboto Condensed" pitchFamily="2" charset="0"/>
            </a:endParaRPr>
          </a:p>
          <a:p>
            <a:pPr lvl="1" fontAlgn="base"/>
            <a:r>
              <a:rPr lang="en-US" sz="1800" b="0" i="0" dirty="0">
                <a:solidFill>
                  <a:srgbClr val="303030"/>
                </a:solidFill>
                <a:effectLst/>
                <a:latin typeface="Arimo"/>
              </a:rPr>
              <a:t>Arden’s Theorem can be used to find a regular expression for both DFA and NFA.</a:t>
            </a:r>
          </a:p>
          <a:p>
            <a:pPr marL="400050" lvl="1" indent="0" fontAlgn="base">
              <a:buNone/>
            </a:pPr>
            <a:r>
              <a:rPr lang="en-US" sz="1800" b="1" i="0" u="sng" dirty="0">
                <a:solidFill>
                  <a:srgbClr val="303030"/>
                </a:solidFill>
                <a:effectLst/>
                <a:latin typeface="Roboto Condensed" pitchFamily="2" charset="0"/>
              </a:rPr>
              <a:t>Note-02:</a:t>
            </a:r>
            <a:endParaRPr lang="en-US" sz="1800" b="1" i="0" dirty="0">
              <a:solidFill>
                <a:srgbClr val="303030"/>
              </a:solidFill>
              <a:effectLst/>
              <a:latin typeface="Roboto Condensed" pitchFamily="2" charset="0"/>
            </a:endParaRPr>
          </a:p>
          <a:p>
            <a:pPr lvl="1" fontAlgn="base"/>
            <a:r>
              <a:rPr lang="en-US" sz="1800" b="0" i="0" dirty="0">
                <a:solidFill>
                  <a:srgbClr val="303030"/>
                </a:solidFill>
                <a:effectLst/>
                <a:latin typeface="Arimo"/>
              </a:rPr>
              <a:t>If there exists multiple final states, then-</a:t>
            </a:r>
          </a:p>
          <a:p>
            <a:pPr lvl="2" fontAlgn="base"/>
            <a:r>
              <a:rPr lang="en-US" sz="1700" b="0" i="0" dirty="0">
                <a:solidFill>
                  <a:srgbClr val="303030"/>
                </a:solidFill>
                <a:effectLst/>
                <a:latin typeface="Arimo"/>
              </a:rPr>
              <a:t>Write a regular expression for each final state separately.</a:t>
            </a:r>
          </a:p>
          <a:p>
            <a:pPr lvl="2" fontAlgn="base"/>
            <a:r>
              <a:rPr lang="en-US" sz="1700" b="0" i="0" dirty="0">
                <a:solidFill>
                  <a:srgbClr val="303030"/>
                </a:solidFill>
                <a:effectLst/>
                <a:latin typeface="Arimo"/>
              </a:rPr>
              <a:t>Add all the regular expressions to get the final regular expression.</a:t>
            </a:r>
          </a:p>
          <a:p>
            <a:endParaRPr lang="en-IN" dirty="0"/>
          </a:p>
        </p:txBody>
      </p:sp>
    </p:spTree>
    <p:extLst>
      <p:ext uri="{BB962C8B-B14F-4D97-AF65-F5344CB8AC3E}">
        <p14:creationId xmlns:p14="http://schemas.microsoft.com/office/powerpoint/2010/main" val="20805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EE884-BCD5-4F7C-AE8B-99A9E248BDD2}"/>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16511707-BA2B-4048-B223-352AECC78DD1}"/>
              </a:ext>
            </a:extLst>
          </p:cNvPr>
          <p:cNvSpPr>
            <a:spLocks noGrp="1"/>
          </p:cNvSpPr>
          <p:nvPr>
            <p:ph idx="1"/>
          </p:nvPr>
        </p:nvSpPr>
        <p:spPr/>
        <p:txBody>
          <a:bodyPr>
            <a:normAutofit/>
          </a:bodyPr>
          <a:lstStyle/>
          <a:p>
            <a:r>
              <a:rPr lang="en-US" b="0" i="0" dirty="0">
                <a:solidFill>
                  <a:srgbClr val="303030"/>
                </a:solidFill>
                <a:effectLst/>
                <a:latin typeface="Arimo"/>
              </a:rPr>
              <a:t>Find regular expression for the following DFA using Arden’s Theorem-</a:t>
            </a:r>
          </a:p>
          <a:p>
            <a:pPr marL="0" indent="0" algn="l" fontAlgn="base">
              <a:buNone/>
            </a:pPr>
            <a:r>
              <a:rPr lang="en-US" b="1" i="0" u="sng" dirty="0">
                <a:solidFill>
                  <a:srgbClr val="303030"/>
                </a:solidFill>
                <a:effectLst/>
                <a:latin typeface="Roboto Condensed" pitchFamily="2" charset="0"/>
              </a:rPr>
              <a:t>Step-01:</a:t>
            </a:r>
            <a:r>
              <a:rPr lang="en-US" b="1" i="0" dirty="0">
                <a:solidFill>
                  <a:srgbClr val="303030"/>
                </a:solidFill>
                <a:effectLst/>
                <a:latin typeface="Roboto Condensed" pitchFamily="2" charset="0"/>
              </a:rPr>
              <a:t>  </a:t>
            </a:r>
            <a:r>
              <a:rPr lang="en-US" b="0" i="0" dirty="0">
                <a:solidFill>
                  <a:srgbClr val="303030"/>
                </a:solidFill>
                <a:effectLst/>
                <a:latin typeface="Arimo"/>
              </a:rPr>
              <a:t>Form a equation for each state-</a:t>
            </a:r>
          </a:p>
          <a:p>
            <a:pPr lvl="1" fontAlgn="base"/>
            <a:r>
              <a:rPr lang="en-US" b="0" i="0" dirty="0">
                <a:solidFill>
                  <a:srgbClr val="303030"/>
                </a:solidFill>
                <a:effectLst/>
                <a:latin typeface="Arimo"/>
              </a:rPr>
              <a:t>A = ∈ + B.1     ……(1)</a:t>
            </a:r>
          </a:p>
          <a:p>
            <a:pPr lvl="1" fontAlgn="base"/>
            <a:r>
              <a:rPr lang="en-US" b="0" i="0" dirty="0">
                <a:solidFill>
                  <a:srgbClr val="303030"/>
                </a:solidFill>
                <a:effectLst/>
                <a:latin typeface="Arimo"/>
              </a:rPr>
              <a:t>B = A.0           ……(2)</a:t>
            </a:r>
          </a:p>
          <a:p>
            <a:pPr marL="0" indent="0" algn="l" fontAlgn="base">
              <a:buNone/>
            </a:pPr>
            <a:r>
              <a:rPr lang="en-US" b="1" i="0" u="sng" dirty="0">
                <a:solidFill>
                  <a:srgbClr val="303030"/>
                </a:solidFill>
                <a:effectLst/>
                <a:latin typeface="Roboto Condensed" pitchFamily="2" charset="0"/>
              </a:rPr>
              <a:t>Step-02:</a:t>
            </a:r>
            <a:r>
              <a:rPr lang="en-US" b="1" i="0" dirty="0">
                <a:solidFill>
                  <a:srgbClr val="303030"/>
                </a:solidFill>
                <a:effectLst/>
                <a:latin typeface="Roboto Condensed" pitchFamily="2" charset="0"/>
              </a:rPr>
              <a:t>  </a:t>
            </a:r>
            <a:r>
              <a:rPr lang="en-US" b="0" i="0" dirty="0">
                <a:solidFill>
                  <a:srgbClr val="303030"/>
                </a:solidFill>
                <a:effectLst/>
                <a:latin typeface="Arimo"/>
              </a:rPr>
              <a:t>Bring final state in the form R = Q + RP.</a:t>
            </a:r>
          </a:p>
          <a:p>
            <a:pPr lvl="1" fontAlgn="base"/>
            <a:r>
              <a:rPr lang="en-US" b="0" i="0" dirty="0">
                <a:solidFill>
                  <a:srgbClr val="303030"/>
                </a:solidFill>
                <a:effectLst/>
                <a:latin typeface="Arimo"/>
              </a:rPr>
              <a:t>Using (1) in (2), we get-</a:t>
            </a:r>
          </a:p>
          <a:p>
            <a:pPr lvl="1" fontAlgn="base"/>
            <a:r>
              <a:rPr lang="en-US" b="0" i="0" dirty="0">
                <a:solidFill>
                  <a:srgbClr val="303030"/>
                </a:solidFill>
                <a:effectLst/>
                <a:latin typeface="Arimo"/>
              </a:rPr>
              <a:t>B = (∈ + B.1).0</a:t>
            </a:r>
          </a:p>
          <a:p>
            <a:pPr lvl="1" fontAlgn="base"/>
            <a:r>
              <a:rPr lang="en-US" b="0" i="0" dirty="0">
                <a:solidFill>
                  <a:srgbClr val="303030"/>
                </a:solidFill>
                <a:effectLst/>
                <a:latin typeface="Arimo"/>
              </a:rPr>
              <a:t>B = ∈.0 + B.1.0</a:t>
            </a:r>
          </a:p>
          <a:p>
            <a:pPr lvl="1" fontAlgn="base"/>
            <a:r>
              <a:rPr lang="en-US" b="0" i="0" dirty="0">
                <a:solidFill>
                  <a:srgbClr val="303030"/>
                </a:solidFill>
                <a:effectLst/>
                <a:latin typeface="Arimo"/>
              </a:rPr>
              <a:t>B = 0 + B.(1.0)          ……(3)</a:t>
            </a:r>
          </a:p>
          <a:p>
            <a:pPr lvl="1" fontAlgn="base"/>
            <a:r>
              <a:rPr lang="en-US" dirty="0"/>
              <a:t>Using Arden’s Theorem in (3), we get-</a:t>
            </a:r>
          </a:p>
          <a:p>
            <a:pPr lvl="1" fontAlgn="base"/>
            <a:r>
              <a:rPr lang="en-US" dirty="0"/>
              <a:t>B = 0.(1.0)*</a:t>
            </a:r>
          </a:p>
          <a:p>
            <a:pPr lvl="1" fontAlgn="base"/>
            <a:r>
              <a:rPr lang="en-US" dirty="0"/>
              <a:t>Thus, Regular Expression for the given DFA = 0(10)*</a:t>
            </a:r>
          </a:p>
          <a:p>
            <a:pPr lvl="1" fontAlgn="base"/>
            <a:endParaRPr lang="en-US" b="0" i="0" dirty="0">
              <a:solidFill>
                <a:srgbClr val="303030"/>
              </a:solidFill>
              <a:effectLst/>
              <a:latin typeface="Arimo"/>
            </a:endParaRPr>
          </a:p>
          <a:p>
            <a:pPr algn="l" fontAlgn="base"/>
            <a:endParaRPr lang="en-US" b="0" i="0" dirty="0">
              <a:solidFill>
                <a:srgbClr val="303030"/>
              </a:solidFill>
              <a:effectLst/>
              <a:latin typeface="Arimo"/>
            </a:endParaRPr>
          </a:p>
          <a:p>
            <a:endParaRPr lang="en-IN" dirty="0"/>
          </a:p>
        </p:txBody>
      </p:sp>
      <p:pic>
        <p:nvPicPr>
          <p:cNvPr id="1026" name="Picture 2">
            <a:extLst>
              <a:ext uri="{FF2B5EF4-FFF2-40B4-BE49-F238E27FC236}">
                <a16:creationId xmlns:a16="http://schemas.microsoft.com/office/drawing/2014/main" id="{D5826F89-3708-4227-95B4-23673045DC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1447800"/>
            <a:ext cx="3209925" cy="176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76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E595-4CEB-4B04-994A-E7E10EE308B1}"/>
              </a:ext>
            </a:extLst>
          </p:cNvPr>
          <p:cNvSpPr>
            <a:spLocks noGrp="1"/>
          </p:cNvSpPr>
          <p:nvPr>
            <p:ph type="title"/>
          </p:nvPr>
        </p:nvSpPr>
        <p:spPr/>
        <p:txBody>
          <a:bodyPr/>
          <a:lstStyle/>
          <a:p>
            <a:r>
              <a:rPr lang="en-IN" dirty="0"/>
              <a:t>Example 2</a:t>
            </a:r>
          </a:p>
        </p:txBody>
      </p:sp>
      <p:sp>
        <p:nvSpPr>
          <p:cNvPr id="3" name="Content Placeholder 2">
            <a:extLst>
              <a:ext uri="{FF2B5EF4-FFF2-40B4-BE49-F238E27FC236}">
                <a16:creationId xmlns:a16="http://schemas.microsoft.com/office/drawing/2014/main" id="{CBD87049-DD7E-4DD6-B0CD-5CE4DF3C7B54}"/>
              </a:ext>
            </a:extLst>
          </p:cNvPr>
          <p:cNvSpPr>
            <a:spLocks noGrp="1"/>
          </p:cNvSpPr>
          <p:nvPr>
            <p:ph idx="1"/>
          </p:nvPr>
        </p:nvSpPr>
        <p:spPr/>
        <p:txBody>
          <a:bodyPr>
            <a:normAutofit fontScale="85000" lnSpcReduction="20000"/>
          </a:bodyPr>
          <a:lstStyle/>
          <a:p>
            <a:pPr marL="0" indent="0">
              <a:buNone/>
            </a:pPr>
            <a:r>
              <a:rPr lang="en-US" b="0" i="0" dirty="0">
                <a:solidFill>
                  <a:srgbClr val="303030"/>
                </a:solidFill>
                <a:effectLst/>
                <a:latin typeface="Arimo"/>
              </a:rPr>
              <a:t>Find regular expression for the following DFA using Arden’s Theorem-</a:t>
            </a:r>
          </a:p>
          <a:p>
            <a:pPr algn="l" fontAlgn="base"/>
            <a:r>
              <a:rPr lang="en-IN" b="1" i="0" u="sng" dirty="0">
                <a:solidFill>
                  <a:srgbClr val="303030"/>
                </a:solidFill>
                <a:effectLst/>
                <a:latin typeface="Roboto Condensed" pitchFamily="2" charset="0"/>
              </a:rPr>
              <a:t>Step-01:</a:t>
            </a:r>
            <a:r>
              <a:rPr lang="en-IN" b="0" i="0" dirty="0">
                <a:solidFill>
                  <a:srgbClr val="303030"/>
                </a:solidFill>
                <a:effectLst/>
                <a:latin typeface="Arimo"/>
              </a:rPr>
              <a:t>Form a equation for each state-</a:t>
            </a:r>
          </a:p>
          <a:p>
            <a:pPr lvl="1" fontAlgn="base"/>
            <a:r>
              <a:rPr lang="en-IN" b="0" i="0" dirty="0">
                <a:solidFill>
                  <a:srgbClr val="303030"/>
                </a:solidFill>
                <a:effectLst/>
                <a:latin typeface="Arimo"/>
              </a:rPr>
              <a:t>q1 = ∈                                        ……(1)</a:t>
            </a:r>
          </a:p>
          <a:p>
            <a:pPr lvl="1" fontAlgn="base"/>
            <a:r>
              <a:rPr lang="en-IN" b="0" i="0" dirty="0">
                <a:solidFill>
                  <a:srgbClr val="303030"/>
                </a:solidFill>
                <a:effectLst/>
                <a:latin typeface="Arimo"/>
              </a:rPr>
              <a:t>q2 = q1.a                                   ……(2)</a:t>
            </a:r>
          </a:p>
          <a:p>
            <a:pPr lvl="1" fontAlgn="base"/>
            <a:r>
              <a:rPr lang="en-IN" b="0" i="0" dirty="0">
                <a:solidFill>
                  <a:srgbClr val="303030"/>
                </a:solidFill>
                <a:effectLst/>
                <a:latin typeface="Arimo"/>
              </a:rPr>
              <a:t>q3 = q1.b + q2.a + q3.a            …….(3)</a:t>
            </a:r>
          </a:p>
          <a:p>
            <a:pPr marL="457200" lvl="1" indent="0" fontAlgn="base">
              <a:buNone/>
            </a:pPr>
            <a:endParaRPr lang="en-IN" b="0" i="0" dirty="0">
              <a:solidFill>
                <a:srgbClr val="303030"/>
              </a:solidFill>
              <a:effectLst/>
              <a:latin typeface="Arimo"/>
            </a:endParaRPr>
          </a:p>
          <a:p>
            <a:pPr algn="l" fontAlgn="base"/>
            <a:r>
              <a:rPr lang="en-IN" b="1" i="0" u="sng" dirty="0">
                <a:solidFill>
                  <a:srgbClr val="303030"/>
                </a:solidFill>
                <a:effectLst/>
                <a:latin typeface="Roboto Condensed" pitchFamily="2" charset="0"/>
              </a:rPr>
              <a:t>Step-02:</a:t>
            </a:r>
            <a:r>
              <a:rPr lang="en-IN" b="0" i="0" dirty="0">
                <a:solidFill>
                  <a:srgbClr val="303030"/>
                </a:solidFill>
                <a:effectLst/>
                <a:latin typeface="Arimo"/>
              </a:rPr>
              <a:t>Bring final state in the form R = Q + RP.</a:t>
            </a:r>
          </a:p>
          <a:p>
            <a:pPr lvl="1" fontAlgn="base"/>
            <a:r>
              <a:rPr lang="en-IN" b="0" i="0" dirty="0">
                <a:solidFill>
                  <a:srgbClr val="303030"/>
                </a:solidFill>
                <a:effectLst/>
                <a:latin typeface="Arimo"/>
              </a:rPr>
              <a:t>Using (1) in (2), we get-</a:t>
            </a:r>
          </a:p>
          <a:p>
            <a:pPr lvl="1" fontAlgn="base"/>
            <a:r>
              <a:rPr lang="en-IN" b="0" i="0" dirty="0">
                <a:solidFill>
                  <a:srgbClr val="303030"/>
                </a:solidFill>
                <a:effectLst/>
                <a:latin typeface="Arimo"/>
              </a:rPr>
              <a:t>q2 = ∈.a</a:t>
            </a:r>
          </a:p>
          <a:p>
            <a:pPr lvl="1" fontAlgn="base"/>
            <a:r>
              <a:rPr lang="en-IN" b="0" i="0" dirty="0">
                <a:solidFill>
                  <a:srgbClr val="303030"/>
                </a:solidFill>
                <a:effectLst/>
                <a:latin typeface="Arimo"/>
              </a:rPr>
              <a:t>q2 = a              …….(4) </a:t>
            </a:r>
          </a:p>
          <a:p>
            <a:pPr lvl="1" fontAlgn="base"/>
            <a:r>
              <a:rPr lang="en-IN" b="0" i="0" dirty="0">
                <a:solidFill>
                  <a:srgbClr val="303030"/>
                </a:solidFill>
                <a:effectLst/>
                <a:latin typeface="Arimo"/>
              </a:rPr>
              <a:t>Using (1) and (4) in (3), we get-</a:t>
            </a:r>
          </a:p>
          <a:p>
            <a:pPr lvl="1" fontAlgn="base"/>
            <a:r>
              <a:rPr lang="en-IN" b="0" i="0" dirty="0">
                <a:solidFill>
                  <a:srgbClr val="303030"/>
                </a:solidFill>
                <a:effectLst/>
                <a:latin typeface="Arimo"/>
              </a:rPr>
              <a:t>q3 = q1.b + q2.a + q3.a</a:t>
            </a:r>
          </a:p>
          <a:p>
            <a:pPr lvl="1" fontAlgn="base"/>
            <a:r>
              <a:rPr lang="en-IN" b="0" i="0" dirty="0">
                <a:solidFill>
                  <a:srgbClr val="303030"/>
                </a:solidFill>
                <a:effectLst/>
                <a:latin typeface="Arimo"/>
              </a:rPr>
              <a:t>q3 = ∈.b + </a:t>
            </a:r>
            <a:r>
              <a:rPr lang="en-IN" b="0" i="0" dirty="0" err="1">
                <a:solidFill>
                  <a:srgbClr val="303030"/>
                </a:solidFill>
                <a:effectLst/>
                <a:latin typeface="Arimo"/>
              </a:rPr>
              <a:t>a.a</a:t>
            </a:r>
            <a:r>
              <a:rPr lang="en-IN" b="0" i="0" dirty="0">
                <a:solidFill>
                  <a:srgbClr val="303030"/>
                </a:solidFill>
                <a:effectLst/>
                <a:latin typeface="Arimo"/>
              </a:rPr>
              <a:t> + q3.a</a:t>
            </a:r>
          </a:p>
          <a:p>
            <a:pPr lvl="1" fontAlgn="base"/>
            <a:r>
              <a:rPr lang="en-IN" b="0" i="0" dirty="0">
                <a:solidFill>
                  <a:srgbClr val="303030"/>
                </a:solidFill>
                <a:effectLst/>
                <a:latin typeface="Arimo"/>
              </a:rPr>
              <a:t>q3 = (b + </a:t>
            </a:r>
            <a:r>
              <a:rPr lang="en-IN" b="0" i="0" dirty="0" err="1">
                <a:solidFill>
                  <a:srgbClr val="303030"/>
                </a:solidFill>
                <a:effectLst/>
                <a:latin typeface="Arimo"/>
              </a:rPr>
              <a:t>a.a</a:t>
            </a:r>
            <a:r>
              <a:rPr lang="en-IN" b="0" i="0" dirty="0">
                <a:solidFill>
                  <a:srgbClr val="303030"/>
                </a:solidFill>
                <a:effectLst/>
                <a:latin typeface="Arimo"/>
              </a:rPr>
              <a:t>) + q3.a        …….(5)</a:t>
            </a:r>
          </a:p>
          <a:p>
            <a:pPr lvl="1" fontAlgn="base"/>
            <a:r>
              <a:rPr lang="en-IN" b="0" i="0" dirty="0">
                <a:solidFill>
                  <a:srgbClr val="303030"/>
                </a:solidFill>
                <a:effectLst/>
                <a:latin typeface="Arimo"/>
              </a:rPr>
              <a:t>Using Arden’s Theorem in (5), we get-</a:t>
            </a:r>
          </a:p>
          <a:p>
            <a:pPr lvl="1" fontAlgn="base"/>
            <a:r>
              <a:rPr lang="en-IN" b="0" i="0" dirty="0">
                <a:solidFill>
                  <a:srgbClr val="303030"/>
                </a:solidFill>
                <a:effectLst/>
                <a:latin typeface="Arimo"/>
              </a:rPr>
              <a:t>q3 = (b + </a:t>
            </a:r>
            <a:r>
              <a:rPr lang="en-IN" b="0" i="0" dirty="0" err="1">
                <a:solidFill>
                  <a:srgbClr val="303030"/>
                </a:solidFill>
                <a:effectLst/>
                <a:latin typeface="Arimo"/>
              </a:rPr>
              <a:t>a.a</a:t>
            </a:r>
            <a:r>
              <a:rPr lang="en-IN" b="0" i="0" dirty="0">
                <a:solidFill>
                  <a:srgbClr val="303030"/>
                </a:solidFill>
                <a:effectLst/>
                <a:latin typeface="Arimo"/>
              </a:rPr>
              <a:t>)a*</a:t>
            </a:r>
          </a:p>
          <a:p>
            <a:pPr lvl="1" fontAlgn="base"/>
            <a:r>
              <a:rPr lang="en-IN" b="0" i="0" dirty="0">
                <a:solidFill>
                  <a:srgbClr val="303030"/>
                </a:solidFill>
                <a:effectLst/>
                <a:latin typeface="Arimo"/>
              </a:rPr>
              <a:t>Thus, Regular Expression for the given DFA = (b + aa)a*</a:t>
            </a:r>
          </a:p>
          <a:p>
            <a:pPr marL="0" indent="0">
              <a:buNone/>
            </a:pPr>
            <a:endParaRPr lang="en-IN" dirty="0"/>
          </a:p>
        </p:txBody>
      </p:sp>
      <p:pic>
        <p:nvPicPr>
          <p:cNvPr id="2050" name="Picture 2">
            <a:extLst>
              <a:ext uri="{FF2B5EF4-FFF2-40B4-BE49-F238E27FC236}">
                <a16:creationId xmlns:a16="http://schemas.microsoft.com/office/drawing/2014/main" id="{D40A64A0-9230-4D06-B917-4FB3435CC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251585"/>
            <a:ext cx="3886200" cy="262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46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AD9D0-ADB1-42D5-85A2-07A03627F09C}"/>
              </a:ext>
            </a:extLst>
          </p:cNvPr>
          <p:cNvSpPr>
            <a:spLocks noGrp="1"/>
          </p:cNvSpPr>
          <p:nvPr>
            <p:ph type="title"/>
          </p:nvPr>
        </p:nvSpPr>
        <p:spPr/>
        <p:txBody>
          <a:bodyPr/>
          <a:lstStyle/>
          <a:p>
            <a:r>
              <a:rPr lang="en-IN" dirty="0"/>
              <a:t>Practice problem</a:t>
            </a:r>
          </a:p>
        </p:txBody>
      </p:sp>
      <p:pic>
        <p:nvPicPr>
          <p:cNvPr id="3074" name="Picture 2">
            <a:extLst>
              <a:ext uri="{FF2B5EF4-FFF2-40B4-BE49-F238E27FC236}">
                <a16:creationId xmlns:a16="http://schemas.microsoft.com/office/drawing/2014/main" id="{44F2D2D6-6238-4D73-974A-288A8BAFB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3657600" cy="229789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31051E0-77BB-4DE2-9D08-755A25AC44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914401"/>
            <a:ext cx="4038600" cy="272513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E33BA4B-CDEF-469B-A204-08B30DFCD22B}"/>
              </a:ext>
            </a:extLst>
          </p:cNvPr>
          <p:cNvSpPr txBox="1"/>
          <p:nvPr/>
        </p:nvSpPr>
        <p:spPr>
          <a:xfrm>
            <a:off x="1676400" y="3962400"/>
            <a:ext cx="1905000" cy="461665"/>
          </a:xfrm>
          <a:prstGeom prst="rect">
            <a:avLst/>
          </a:prstGeom>
          <a:noFill/>
        </p:spPr>
        <p:txBody>
          <a:bodyPr wrap="square">
            <a:spAutoFit/>
          </a:bodyPr>
          <a:lstStyle/>
          <a:p>
            <a:r>
              <a:rPr lang="en-IN" sz="2400" b="0" i="0" dirty="0">
                <a:solidFill>
                  <a:srgbClr val="303030"/>
                </a:solidFill>
                <a:effectLst/>
                <a:latin typeface="Arimo"/>
              </a:rPr>
              <a:t>(b + </a:t>
            </a:r>
            <a:r>
              <a:rPr lang="en-IN" sz="2400" b="0" i="0" dirty="0" err="1">
                <a:solidFill>
                  <a:srgbClr val="303030"/>
                </a:solidFill>
                <a:effectLst/>
                <a:latin typeface="Arimo"/>
              </a:rPr>
              <a:t>a.b</a:t>
            </a:r>
            <a:r>
              <a:rPr lang="en-IN" sz="2400" b="0" i="0" dirty="0">
                <a:solidFill>
                  <a:srgbClr val="303030"/>
                </a:solidFill>
                <a:effectLst/>
                <a:latin typeface="Arimo"/>
              </a:rPr>
              <a:t>*.a)*</a:t>
            </a:r>
            <a:endParaRPr lang="en-IN" sz="2400" dirty="0"/>
          </a:p>
        </p:txBody>
      </p:sp>
      <p:sp>
        <p:nvSpPr>
          <p:cNvPr id="9" name="TextBox 8">
            <a:extLst>
              <a:ext uri="{FF2B5EF4-FFF2-40B4-BE49-F238E27FC236}">
                <a16:creationId xmlns:a16="http://schemas.microsoft.com/office/drawing/2014/main" id="{5BE3193F-3EA6-4B69-8251-57F6EFC876C4}"/>
              </a:ext>
            </a:extLst>
          </p:cNvPr>
          <p:cNvSpPr txBox="1"/>
          <p:nvPr/>
        </p:nvSpPr>
        <p:spPr>
          <a:xfrm>
            <a:off x="7772400" y="3985907"/>
            <a:ext cx="2590800" cy="461665"/>
          </a:xfrm>
          <a:prstGeom prst="rect">
            <a:avLst/>
          </a:prstGeom>
          <a:noFill/>
        </p:spPr>
        <p:txBody>
          <a:bodyPr wrap="square">
            <a:spAutoFit/>
          </a:bodyPr>
          <a:lstStyle/>
          <a:p>
            <a:r>
              <a:rPr lang="de-DE" sz="2400" i="0" dirty="0">
                <a:solidFill>
                  <a:srgbClr val="303030"/>
                </a:solidFill>
                <a:effectLst/>
                <a:latin typeface="Arimo"/>
              </a:rPr>
              <a:t>(a + b(b + ab)*aa)*</a:t>
            </a:r>
            <a:endParaRPr lang="en-IN" sz="2400" dirty="0"/>
          </a:p>
        </p:txBody>
      </p:sp>
    </p:spTree>
    <p:extLst>
      <p:ext uri="{BB962C8B-B14F-4D97-AF65-F5344CB8AC3E}">
        <p14:creationId xmlns:p14="http://schemas.microsoft.com/office/powerpoint/2010/main" val="141546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30FDE-4EF0-47B3-B95B-7CC7CE679506}"/>
              </a:ext>
            </a:extLst>
          </p:cNvPr>
          <p:cNvSpPr>
            <a:spLocks noGrp="1"/>
          </p:cNvSpPr>
          <p:nvPr>
            <p:ph type="title"/>
          </p:nvPr>
        </p:nvSpPr>
        <p:spPr/>
        <p:txBody>
          <a:bodyPr/>
          <a:lstStyle/>
          <a:p>
            <a:r>
              <a:rPr lang="en-IN" dirty="0"/>
              <a:t>State elimination method</a:t>
            </a:r>
          </a:p>
        </p:txBody>
      </p:sp>
      <p:sp>
        <p:nvSpPr>
          <p:cNvPr id="3" name="Content Placeholder 2">
            <a:extLst>
              <a:ext uri="{FF2B5EF4-FFF2-40B4-BE49-F238E27FC236}">
                <a16:creationId xmlns:a16="http://schemas.microsoft.com/office/drawing/2014/main" id="{C98B68B8-34B0-4AF4-AC44-3C0203774244}"/>
              </a:ext>
            </a:extLst>
          </p:cNvPr>
          <p:cNvSpPr>
            <a:spLocks noGrp="1"/>
          </p:cNvSpPr>
          <p:nvPr>
            <p:ph idx="1"/>
          </p:nvPr>
        </p:nvSpPr>
        <p:spPr>
          <a:xfrm>
            <a:off x="254000" y="990600"/>
            <a:ext cx="11861800" cy="5334000"/>
          </a:xfrm>
        </p:spPr>
        <p:txBody>
          <a:bodyPr/>
          <a:lstStyle/>
          <a:p>
            <a:pPr marL="0" indent="0">
              <a:buNone/>
            </a:pPr>
            <a:r>
              <a:rPr lang="en-US" b="1" dirty="0"/>
              <a:t>Rule 1 :</a:t>
            </a:r>
            <a:r>
              <a:rPr lang="en-US" dirty="0"/>
              <a:t>There must be only one initial state, and there should not be any incoming edges to it.</a:t>
            </a:r>
          </a:p>
          <a:p>
            <a:pPr lvl="1"/>
            <a:r>
              <a:rPr lang="en-US" dirty="0"/>
              <a:t>If there is more than one initial state, convert all initial states to non-initial states and create a new single initial state.</a:t>
            </a:r>
          </a:p>
          <a:p>
            <a:pPr lvl="1"/>
            <a:r>
              <a:rPr lang="en-US" dirty="0"/>
              <a:t>If there are incoming edges to the initial state, create a new initial state with no incoming edges.</a:t>
            </a:r>
          </a:p>
          <a:p>
            <a:pPr lvl="1"/>
            <a:endParaRPr lang="en-US" dirty="0"/>
          </a:p>
          <a:p>
            <a:pPr lvl="1"/>
            <a:endParaRPr lang="en-US" dirty="0"/>
          </a:p>
          <a:p>
            <a:pPr lvl="1"/>
            <a:endParaRPr lang="en-US" dirty="0"/>
          </a:p>
          <a:p>
            <a:pPr lvl="1"/>
            <a:endParaRPr lang="en-US" dirty="0"/>
          </a:p>
          <a:p>
            <a:pPr marL="0" indent="0" algn="l">
              <a:buNone/>
            </a:pPr>
            <a:r>
              <a:rPr lang="en-US" b="1" i="0" dirty="0">
                <a:solidFill>
                  <a:srgbClr val="000000"/>
                </a:solidFill>
                <a:effectLst/>
                <a:latin typeface="Muli"/>
              </a:rPr>
              <a:t>Rule 2 </a:t>
            </a:r>
            <a:r>
              <a:rPr lang="en-US" b="1" dirty="0">
                <a:solidFill>
                  <a:srgbClr val="616161"/>
                </a:solidFill>
                <a:latin typeface="Muli"/>
              </a:rPr>
              <a:t>:</a:t>
            </a:r>
            <a:r>
              <a:rPr lang="en-US" b="0" i="1" dirty="0">
                <a:solidFill>
                  <a:srgbClr val="000000"/>
                </a:solidFill>
                <a:effectLst/>
                <a:latin typeface="Muli"/>
              </a:rPr>
              <a:t>There must be only one final state.</a:t>
            </a:r>
            <a:endParaRPr lang="en-US" b="0" i="0" dirty="0">
              <a:solidFill>
                <a:srgbClr val="616161"/>
              </a:solidFill>
              <a:effectLst/>
              <a:latin typeface="Muli"/>
            </a:endParaRPr>
          </a:p>
          <a:p>
            <a:pPr lvl="1"/>
            <a:r>
              <a:rPr lang="en-US" b="0" i="0" dirty="0">
                <a:solidFill>
                  <a:srgbClr val="000000"/>
                </a:solidFill>
                <a:effectLst/>
                <a:latin typeface="Muli"/>
              </a:rPr>
              <a:t>If there is more than one final state, convert all final states to non-final states and create a new single final state.</a:t>
            </a:r>
            <a:endParaRPr lang="en-US" b="0" i="0" dirty="0">
              <a:solidFill>
                <a:srgbClr val="616161"/>
              </a:solidFill>
              <a:effectLst/>
              <a:latin typeface="Muli"/>
            </a:endParaRPr>
          </a:p>
          <a:p>
            <a:pPr lvl="1"/>
            <a:endParaRPr lang="en-IN" dirty="0"/>
          </a:p>
        </p:txBody>
      </p:sp>
      <p:pic>
        <p:nvPicPr>
          <p:cNvPr id="6" name="Picture 5">
            <a:extLst>
              <a:ext uri="{FF2B5EF4-FFF2-40B4-BE49-F238E27FC236}">
                <a16:creationId xmlns:a16="http://schemas.microsoft.com/office/drawing/2014/main" id="{662BD768-6C4B-49C7-B635-31FF4D8B2E23}"/>
              </a:ext>
            </a:extLst>
          </p:cNvPr>
          <p:cNvPicPr>
            <a:picLocks noChangeAspect="1"/>
          </p:cNvPicPr>
          <p:nvPr/>
        </p:nvPicPr>
        <p:blipFill>
          <a:blip r:embed="rId2"/>
          <a:stretch>
            <a:fillRect/>
          </a:stretch>
        </p:blipFill>
        <p:spPr>
          <a:xfrm>
            <a:off x="3479281" y="2819400"/>
            <a:ext cx="5233437" cy="1219200"/>
          </a:xfrm>
          <a:prstGeom prst="rect">
            <a:avLst/>
          </a:prstGeom>
        </p:spPr>
      </p:pic>
      <p:pic>
        <p:nvPicPr>
          <p:cNvPr id="8" name="Picture 7">
            <a:extLst>
              <a:ext uri="{FF2B5EF4-FFF2-40B4-BE49-F238E27FC236}">
                <a16:creationId xmlns:a16="http://schemas.microsoft.com/office/drawing/2014/main" id="{D1D8B901-F671-4D04-9D95-E6D7E14459CB}"/>
              </a:ext>
            </a:extLst>
          </p:cNvPr>
          <p:cNvPicPr>
            <a:picLocks noChangeAspect="1"/>
          </p:cNvPicPr>
          <p:nvPr/>
        </p:nvPicPr>
        <p:blipFill>
          <a:blip r:embed="rId3"/>
          <a:stretch>
            <a:fillRect/>
          </a:stretch>
        </p:blipFill>
        <p:spPr>
          <a:xfrm>
            <a:off x="2895600" y="5105400"/>
            <a:ext cx="5488187" cy="1752600"/>
          </a:xfrm>
          <a:prstGeom prst="rect">
            <a:avLst/>
          </a:prstGeom>
        </p:spPr>
      </p:pic>
    </p:spTree>
    <p:extLst>
      <p:ext uri="{BB962C8B-B14F-4D97-AF65-F5344CB8AC3E}">
        <p14:creationId xmlns:p14="http://schemas.microsoft.com/office/powerpoint/2010/main" val="291121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ADBA6-0B58-4523-98FA-EEB3C7B7DE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FFAAF0-2A4B-47CC-88B5-260C411D3568}"/>
              </a:ext>
            </a:extLst>
          </p:cNvPr>
          <p:cNvSpPr>
            <a:spLocks noGrp="1"/>
          </p:cNvSpPr>
          <p:nvPr>
            <p:ph idx="1"/>
          </p:nvPr>
        </p:nvSpPr>
        <p:spPr/>
        <p:txBody>
          <a:bodyPr/>
          <a:lstStyle/>
          <a:p>
            <a:pPr marL="0" indent="0">
              <a:buNone/>
            </a:pPr>
            <a:r>
              <a:rPr lang="en-US" b="1" dirty="0"/>
              <a:t>Rule 3 :</a:t>
            </a:r>
            <a:r>
              <a:rPr lang="en-US" dirty="0"/>
              <a:t>From the final state, there should be no outgoing edges.</a:t>
            </a:r>
          </a:p>
          <a:p>
            <a:pPr lvl="1"/>
            <a:r>
              <a:rPr lang="en-US" dirty="0"/>
              <a:t>If there are outgoing edges from the final state, convert all final states to non-final states and create a new final state having no outgoing edges.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0" indent="0" algn="l">
              <a:buNone/>
            </a:pPr>
            <a:r>
              <a:rPr lang="en-US" b="1" i="0" dirty="0">
                <a:solidFill>
                  <a:srgbClr val="000000"/>
                </a:solidFill>
                <a:effectLst/>
                <a:latin typeface="Muli"/>
              </a:rPr>
              <a:t>Rule 4: </a:t>
            </a:r>
            <a:r>
              <a:rPr lang="en-US" b="0" i="1" dirty="0">
                <a:solidFill>
                  <a:srgbClr val="000000"/>
                </a:solidFill>
                <a:effectLst/>
                <a:latin typeface="Muli"/>
              </a:rPr>
              <a:t>After verifying rules 1 to 3, all intermediate states are eliminated one by one. We can eliminate these intermediate states in any order.</a:t>
            </a:r>
            <a:endParaRPr lang="en-US" b="0" i="0" dirty="0">
              <a:solidFill>
                <a:srgbClr val="616161"/>
              </a:solidFill>
              <a:effectLst/>
              <a:latin typeface="Muli"/>
            </a:endParaRPr>
          </a:p>
          <a:p>
            <a:pPr lvl="1"/>
            <a:endParaRPr lang="en-IN" dirty="0"/>
          </a:p>
        </p:txBody>
      </p:sp>
      <p:pic>
        <p:nvPicPr>
          <p:cNvPr id="5" name="Picture 4">
            <a:extLst>
              <a:ext uri="{FF2B5EF4-FFF2-40B4-BE49-F238E27FC236}">
                <a16:creationId xmlns:a16="http://schemas.microsoft.com/office/drawing/2014/main" id="{23DD84B7-9751-462B-9699-A7AB9CB2FCBD}"/>
              </a:ext>
            </a:extLst>
          </p:cNvPr>
          <p:cNvPicPr>
            <a:picLocks noChangeAspect="1"/>
          </p:cNvPicPr>
          <p:nvPr/>
        </p:nvPicPr>
        <p:blipFill>
          <a:blip r:embed="rId2"/>
          <a:stretch>
            <a:fillRect/>
          </a:stretch>
        </p:blipFill>
        <p:spPr>
          <a:xfrm>
            <a:off x="2743200" y="2514600"/>
            <a:ext cx="6252070" cy="2047906"/>
          </a:xfrm>
          <a:prstGeom prst="rect">
            <a:avLst/>
          </a:prstGeom>
        </p:spPr>
      </p:pic>
    </p:spTree>
    <p:extLst>
      <p:ext uri="{BB962C8B-B14F-4D97-AF65-F5344CB8AC3E}">
        <p14:creationId xmlns:p14="http://schemas.microsoft.com/office/powerpoint/2010/main" val="193296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7D7E-50B7-4ACC-8631-805A6616064C}"/>
              </a:ext>
            </a:extLst>
          </p:cNvPr>
          <p:cNvSpPr>
            <a:spLocks noGrp="1"/>
          </p:cNvSpPr>
          <p:nvPr>
            <p:ph type="title"/>
          </p:nvPr>
        </p:nvSpPr>
        <p:spPr/>
        <p:txBody>
          <a:bodyPr/>
          <a:lstStyle/>
          <a:p>
            <a:r>
              <a:rPr lang="en-IN" dirty="0"/>
              <a:t>Example 1</a:t>
            </a:r>
          </a:p>
        </p:txBody>
      </p:sp>
      <p:pic>
        <p:nvPicPr>
          <p:cNvPr id="5" name="Picture 4">
            <a:extLst>
              <a:ext uri="{FF2B5EF4-FFF2-40B4-BE49-F238E27FC236}">
                <a16:creationId xmlns:a16="http://schemas.microsoft.com/office/drawing/2014/main" id="{64790FF9-FDB0-4054-9DE3-A9997C709035}"/>
              </a:ext>
            </a:extLst>
          </p:cNvPr>
          <p:cNvPicPr>
            <a:picLocks noChangeAspect="1"/>
          </p:cNvPicPr>
          <p:nvPr/>
        </p:nvPicPr>
        <p:blipFill>
          <a:blip r:embed="rId2"/>
          <a:stretch>
            <a:fillRect/>
          </a:stretch>
        </p:blipFill>
        <p:spPr>
          <a:xfrm>
            <a:off x="609600" y="1219199"/>
            <a:ext cx="3624590" cy="2362200"/>
          </a:xfrm>
          <a:prstGeom prst="rect">
            <a:avLst/>
          </a:prstGeom>
        </p:spPr>
      </p:pic>
      <p:pic>
        <p:nvPicPr>
          <p:cNvPr id="7" name="Picture 6">
            <a:extLst>
              <a:ext uri="{FF2B5EF4-FFF2-40B4-BE49-F238E27FC236}">
                <a16:creationId xmlns:a16="http://schemas.microsoft.com/office/drawing/2014/main" id="{B9E74519-47B9-4136-A7C3-C11FD7A3A484}"/>
              </a:ext>
            </a:extLst>
          </p:cNvPr>
          <p:cNvPicPr>
            <a:picLocks noChangeAspect="1"/>
          </p:cNvPicPr>
          <p:nvPr/>
        </p:nvPicPr>
        <p:blipFill>
          <a:blip r:embed="rId3"/>
          <a:stretch>
            <a:fillRect/>
          </a:stretch>
        </p:blipFill>
        <p:spPr>
          <a:xfrm>
            <a:off x="6476999" y="1098270"/>
            <a:ext cx="4507191" cy="2483129"/>
          </a:xfrm>
          <a:prstGeom prst="rect">
            <a:avLst/>
          </a:prstGeom>
        </p:spPr>
      </p:pic>
      <p:pic>
        <p:nvPicPr>
          <p:cNvPr id="9" name="Picture 8">
            <a:extLst>
              <a:ext uri="{FF2B5EF4-FFF2-40B4-BE49-F238E27FC236}">
                <a16:creationId xmlns:a16="http://schemas.microsoft.com/office/drawing/2014/main" id="{AE257005-3CB4-4D0E-9DA0-95B01BD63802}"/>
              </a:ext>
            </a:extLst>
          </p:cNvPr>
          <p:cNvPicPr>
            <a:picLocks noChangeAspect="1"/>
          </p:cNvPicPr>
          <p:nvPr/>
        </p:nvPicPr>
        <p:blipFill>
          <a:blip r:embed="rId4"/>
          <a:stretch>
            <a:fillRect/>
          </a:stretch>
        </p:blipFill>
        <p:spPr>
          <a:xfrm>
            <a:off x="789608" y="4608504"/>
            <a:ext cx="3749381" cy="1511315"/>
          </a:xfrm>
          <a:prstGeom prst="rect">
            <a:avLst/>
          </a:prstGeom>
        </p:spPr>
      </p:pic>
      <p:pic>
        <p:nvPicPr>
          <p:cNvPr id="11" name="Picture 10">
            <a:extLst>
              <a:ext uri="{FF2B5EF4-FFF2-40B4-BE49-F238E27FC236}">
                <a16:creationId xmlns:a16="http://schemas.microsoft.com/office/drawing/2014/main" id="{56D0F726-A4BD-4172-8E6E-41402D8C6AD4}"/>
              </a:ext>
            </a:extLst>
          </p:cNvPr>
          <p:cNvPicPr>
            <a:picLocks noChangeAspect="1"/>
          </p:cNvPicPr>
          <p:nvPr/>
        </p:nvPicPr>
        <p:blipFill>
          <a:blip r:embed="rId5"/>
          <a:stretch>
            <a:fillRect/>
          </a:stretch>
        </p:blipFill>
        <p:spPr>
          <a:xfrm>
            <a:off x="6705600" y="4953000"/>
            <a:ext cx="3263200" cy="685800"/>
          </a:xfrm>
          <a:prstGeom prst="rect">
            <a:avLst/>
          </a:prstGeom>
        </p:spPr>
      </p:pic>
    </p:spTree>
    <p:extLst>
      <p:ext uri="{BB962C8B-B14F-4D97-AF65-F5344CB8AC3E}">
        <p14:creationId xmlns:p14="http://schemas.microsoft.com/office/powerpoint/2010/main" val="19106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4666-E02D-4D25-9455-5445865AA4EF}"/>
              </a:ext>
            </a:extLst>
          </p:cNvPr>
          <p:cNvSpPr>
            <a:spLocks noGrp="1"/>
          </p:cNvSpPr>
          <p:nvPr>
            <p:ph type="title"/>
          </p:nvPr>
        </p:nvSpPr>
        <p:spPr>
          <a:xfrm>
            <a:off x="254000" y="106364"/>
            <a:ext cx="3633710" cy="808037"/>
          </a:xfrm>
        </p:spPr>
        <p:txBody>
          <a:bodyPr/>
          <a:lstStyle/>
          <a:p>
            <a:r>
              <a:rPr lang="en-US" dirty="0"/>
              <a:t>Short trick</a:t>
            </a:r>
            <a:endParaRPr lang="en-IN" dirty="0"/>
          </a:p>
        </p:txBody>
      </p:sp>
      <p:sp>
        <p:nvSpPr>
          <p:cNvPr id="3" name="Content Placeholder 2">
            <a:extLst>
              <a:ext uri="{FF2B5EF4-FFF2-40B4-BE49-F238E27FC236}">
                <a16:creationId xmlns:a16="http://schemas.microsoft.com/office/drawing/2014/main" id="{B4E62CCF-4DBD-4EB6-9070-0D61007B71CE}"/>
              </a:ext>
            </a:extLst>
          </p:cNvPr>
          <p:cNvSpPr>
            <a:spLocks noGrp="1"/>
          </p:cNvSpPr>
          <p:nvPr>
            <p:ph idx="1"/>
          </p:nvPr>
        </p:nvSpPr>
        <p:spPr>
          <a:xfrm>
            <a:off x="254000" y="990600"/>
            <a:ext cx="2032000" cy="5761036"/>
          </a:xfrm>
        </p:spPr>
        <p:txBody>
          <a:bodyPr>
            <a:normAutofit/>
          </a:bodyPr>
          <a:lstStyle/>
          <a:p>
            <a:r>
              <a:rPr lang="az-Cyrl-AZ" dirty="0"/>
              <a:t>Ф</a:t>
            </a:r>
            <a:endParaRPr lang="en-US" dirty="0"/>
          </a:p>
          <a:p>
            <a:endParaRPr lang="en-US" dirty="0"/>
          </a:p>
          <a:p>
            <a:r>
              <a:rPr lang="az-Cyrl-AZ" dirty="0"/>
              <a:t>Є</a:t>
            </a:r>
            <a:endParaRPr lang="en-US" dirty="0"/>
          </a:p>
          <a:p>
            <a:endParaRPr lang="en-US" dirty="0"/>
          </a:p>
          <a:p>
            <a:r>
              <a:rPr lang="en-US" dirty="0"/>
              <a:t>a</a:t>
            </a:r>
          </a:p>
          <a:p>
            <a:endParaRPr lang="en-US" dirty="0"/>
          </a:p>
          <a:p>
            <a:r>
              <a:rPr lang="en-US" dirty="0" err="1"/>
              <a:t>a+b</a:t>
            </a:r>
            <a:endParaRPr lang="en-US" dirty="0"/>
          </a:p>
          <a:p>
            <a:endParaRPr lang="en-IN" dirty="0"/>
          </a:p>
          <a:p>
            <a:r>
              <a:rPr lang="en-IN" dirty="0" err="1"/>
              <a:t>a.b</a:t>
            </a:r>
            <a:endParaRPr lang="en-IN" dirty="0"/>
          </a:p>
          <a:p>
            <a:endParaRPr lang="en-IN" dirty="0"/>
          </a:p>
          <a:p>
            <a:r>
              <a:rPr lang="en-IN" dirty="0"/>
              <a:t>a*</a:t>
            </a:r>
          </a:p>
          <a:p>
            <a:pPr marL="0" indent="0">
              <a:buNone/>
            </a:pPr>
            <a:endParaRPr lang="en-IN" baseline="30000" dirty="0"/>
          </a:p>
        </p:txBody>
      </p:sp>
      <p:sp>
        <p:nvSpPr>
          <p:cNvPr id="4" name="Content Placeholder 2">
            <a:extLst>
              <a:ext uri="{FF2B5EF4-FFF2-40B4-BE49-F238E27FC236}">
                <a16:creationId xmlns:a16="http://schemas.microsoft.com/office/drawing/2014/main" id="{AEC9B387-CBFA-4316-A081-5A9A439B71F1}"/>
              </a:ext>
            </a:extLst>
          </p:cNvPr>
          <p:cNvSpPr txBox="1">
            <a:spLocks/>
          </p:cNvSpPr>
          <p:nvPr/>
        </p:nvSpPr>
        <p:spPr>
          <a:xfrm>
            <a:off x="6324600" y="106364"/>
            <a:ext cx="2032000" cy="6645272"/>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a:t>
            </a:r>
            <a:r>
              <a:rPr lang="en-US" baseline="30000" dirty="0"/>
              <a:t>+</a:t>
            </a:r>
          </a:p>
          <a:p>
            <a:endParaRPr lang="en-US" dirty="0"/>
          </a:p>
          <a:p>
            <a:r>
              <a:rPr lang="en-US" dirty="0"/>
              <a:t>(</a:t>
            </a:r>
            <a:r>
              <a:rPr lang="en-US" dirty="0" err="1"/>
              <a:t>a+b</a:t>
            </a:r>
            <a:r>
              <a:rPr lang="en-US" dirty="0"/>
              <a:t>)*</a:t>
            </a:r>
          </a:p>
          <a:p>
            <a:endParaRPr lang="en-US" dirty="0"/>
          </a:p>
          <a:p>
            <a:r>
              <a:rPr lang="en-US" dirty="0"/>
              <a:t>a*b*</a:t>
            </a:r>
          </a:p>
          <a:p>
            <a:endParaRPr lang="en-US" dirty="0"/>
          </a:p>
          <a:p>
            <a:r>
              <a:rPr lang="en-US" dirty="0"/>
              <a:t>(ab)*</a:t>
            </a:r>
          </a:p>
          <a:p>
            <a:endParaRPr lang="en-IN" dirty="0"/>
          </a:p>
          <a:p>
            <a:r>
              <a:rPr lang="en-IN" dirty="0"/>
              <a:t>a*.b</a:t>
            </a:r>
          </a:p>
          <a:p>
            <a:endParaRPr lang="en-IN" dirty="0"/>
          </a:p>
          <a:p>
            <a:r>
              <a:rPr lang="en-IN" dirty="0" err="1"/>
              <a:t>a.b</a:t>
            </a:r>
            <a:r>
              <a:rPr lang="en-IN" dirty="0"/>
              <a:t>*</a:t>
            </a:r>
          </a:p>
          <a:p>
            <a:pPr marL="0" indent="0">
              <a:buNone/>
            </a:pPr>
            <a:endParaRPr lang="en-IN" dirty="0"/>
          </a:p>
          <a:p>
            <a:r>
              <a:rPr lang="en-IN" dirty="0"/>
              <a:t>a* b c*</a:t>
            </a:r>
          </a:p>
          <a:p>
            <a:pPr marL="0" indent="0">
              <a:buFont typeface="Wingdings" panose="05000000000000000000" pitchFamily="2" charset="2"/>
              <a:buNone/>
            </a:pPr>
            <a:endParaRPr lang="en-IN" baseline="30000" dirty="0"/>
          </a:p>
          <a:p>
            <a:pPr marL="0" indent="0">
              <a:buFont typeface="Wingdings" panose="05000000000000000000" pitchFamily="2" charset="2"/>
              <a:buNone/>
            </a:pPr>
            <a:endParaRPr lang="en-IN" baseline="30000" dirty="0"/>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654EB915-3F45-434E-B1C2-4946E7ED5557}"/>
                  </a:ext>
                </a:extLst>
              </p:cNvPr>
              <p:cNvSpPr/>
              <p:nvPr/>
            </p:nvSpPr>
            <p:spPr>
              <a:xfrm>
                <a:off x="2111141" y="9144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5" name="Oval 4">
                <a:extLst>
                  <a:ext uri="{FF2B5EF4-FFF2-40B4-BE49-F238E27FC236}">
                    <a16:creationId xmlns:a16="http://schemas.microsoft.com/office/drawing/2014/main" id="{654EB915-3F45-434E-B1C2-4946E7ED5557}"/>
                  </a:ext>
                </a:extLst>
              </p:cNvPr>
              <p:cNvSpPr>
                <a:spLocks noRot="1" noChangeAspect="1" noMove="1" noResize="1" noEditPoints="1" noAdjustHandles="1" noChangeArrowheads="1" noChangeShapeType="1" noTextEdit="1"/>
              </p:cNvSpPr>
              <p:nvPr/>
            </p:nvSpPr>
            <p:spPr>
              <a:xfrm>
                <a:off x="2111141" y="914400"/>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A709C49-628A-4A67-82DC-24CEFA1D0795}"/>
                  </a:ext>
                </a:extLst>
              </p:cNvPr>
              <p:cNvSpPr/>
              <p:nvPr/>
            </p:nvSpPr>
            <p:spPr>
              <a:xfrm>
                <a:off x="2084271" y="1905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7" name="Oval 6">
                <a:extLst>
                  <a:ext uri="{FF2B5EF4-FFF2-40B4-BE49-F238E27FC236}">
                    <a16:creationId xmlns:a16="http://schemas.microsoft.com/office/drawing/2014/main" id="{EA709C49-628A-4A67-82DC-24CEFA1D0795}"/>
                  </a:ext>
                </a:extLst>
              </p:cNvPr>
              <p:cNvSpPr>
                <a:spLocks noRot="1" noChangeAspect="1" noMove="1" noResize="1" noEditPoints="1" noAdjustHandles="1" noChangeArrowheads="1" noChangeShapeType="1" noTextEdit="1"/>
              </p:cNvSpPr>
              <p:nvPr/>
            </p:nvSpPr>
            <p:spPr>
              <a:xfrm>
                <a:off x="2084271" y="1905000"/>
                <a:ext cx="609600" cy="609600"/>
              </a:xfrm>
              <a:prstGeom prst="ellipse">
                <a:avLst/>
              </a:prstGeom>
              <a:blipFill>
                <a:blip r:embed="rId3"/>
                <a:stretch>
                  <a:fillRect/>
                </a:stretch>
              </a:blipFill>
            </p:spPr>
            <p:txBody>
              <a:bodyPr/>
              <a:lstStyle/>
              <a:p>
                <a:r>
                  <a:rPr lang="en-IN">
                    <a:noFill/>
                  </a:rPr>
                  <a:t> </a:t>
                </a:r>
              </a:p>
            </p:txBody>
          </p:sp>
        </mc:Fallback>
      </mc:AlternateContent>
      <p:sp>
        <p:nvSpPr>
          <p:cNvPr id="8" name="Oval 7">
            <a:extLst>
              <a:ext uri="{FF2B5EF4-FFF2-40B4-BE49-F238E27FC236}">
                <a16:creationId xmlns:a16="http://schemas.microsoft.com/office/drawing/2014/main" id="{FD2D4A48-2DA4-4F08-A075-01366D853FC4}"/>
              </a:ext>
            </a:extLst>
          </p:cNvPr>
          <p:cNvSpPr/>
          <p:nvPr/>
        </p:nvSpPr>
        <p:spPr>
          <a:xfrm>
            <a:off x="2160471" y="19812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0" name="Straight Arrow Connector 9">
            <a:extLst>
              <a:ext uri="{FF2B5EF4-FFF2-40B4-BE49-F238E27FC236}">
                <a16:creationId xmlns:a16="http://schemas.microsoft.com/office/drawing/2014/main" id="{70226A71-E901-4151-BDBD-083D047B47B0}"/>
              </a:ext>
            </a:extLst>
          </p:cNvPr>
          <p:cNvCxnSpPr>
            <a:endCxn id="5" idx="2"/>
          </p:cNvCxnSpPr>
          <p:nvPr/>
        </p:nvCxnSpPr>
        <p:spPr>
          <a:xfrm>
            <a:off x="1600200" y="12192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9C245A19-74D1-466E-AA11-0041A9DD606B}"/>
              </a:ext>
            </a:extLst>
          </p:cNvPr>
          <p:cNvCxnSpPr/>
          <p:nvPr/>
        </p:nvCxnSpPr>
        <p:spPr>
          <a:xfrm>
            <a:off x="1573330" y="22098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6C1F7603-A386-47C7-9E84-3101A41BE050}"/>
                  </a:ext>
                </a:extLst>
              </p:cNvPr>
              <p:cNvSpPr/>
              <p:nvPr/>
            </p:nvSpPr>
            <p:spPr>
              <a:xfrm>
                <a:off x="2084271" y="282477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2" name="Oval 11">
                <a:extLst>
                  <a:ext uri="{FF2B5EF4-FFF2-40B4-BE49-F238E27FC236}">
                    <a16:creationId xmlns:a16="http://schemas.microsoft.com/office/drawing/2014/main" id="{6C1F7603-A386-47C7-9E84-3101A41BE050}"/>
                  </a:ext>
                </a:extLst>
              </p:cNvPr>
              <p:cNvSpPr>
                <a:spLocks noRot="1" noChangeAspect="1" noMove="1" noResize="1" noEditPoints="1" noAdjustHandles="1" noChangeArrowheads="1" noChangeShapeType="1" noTextEdit="1"/>
              </p:cNvSpPr>
              <p:nvPr/>
            </p:nvSpPr>
            <p:spPr>
              <a:xfrm>
                <a:off x="2084271" y="2824772"/>
                <a:ext cx="609600" cy="609600"/>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8A40D766-72B2-4856-B5E8-26B8201BBC23}"/>
                  </a:ext>
                </a:extLst>
              </p:cNvPr>
              <p:cNvSpPr/>
              <p:nvPr/>
            </p:nvSpPr>
            <p:spPr>
              <a:xfrm>
                <a:off x="3241107" y="284001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3" name="Oval 12">
                <a:extLst>
                  <a:ext uri="{FF2B5EF4-FFF2-40B4-BE49-F238E27FC236}">
                    <a16:creationId xmlns:a16="http://schemas.microsoft.com/office/drawing/2014/main" id="{8A40D766-72B2-4856-B5E8-26B8201BBC23}"/>
                  </a:ext>
                </a:extLst>
              </p:cNvPr>
              <p:cNvSpPr>
                <a:spLocks noRot="1" noChangeAspect="1" noMove="1" noResize="1" noEditPoints="1" noAdjustHandles="1" noChangeArrowheads="1" noChangeShapeType="1" noTextEdit="1"/>
              </p:cNvSpPr>
              <p:nvPr/>
            </p:nvSpPr>
            <p:spPr>
              <a:xfrm>
                <a:off x="3241107" y="2840012"/>
                <a:ext cx="609600" cy="609600"/>
              </a:xfrm>
              <a:prstGeom prst="ellipse">
                <a:avLst/>
              </a:prstGeom>
              <a:blipFill>
                <a:blip r:embed="rId5"/>
                <a:stretch>
                  <a:fillRect/>
                </a:stretch>
              </a:blipFill>
            </p:spPr>
            <p:txBody>
              <a:bodyPr/>
              <a:lstStyle/>
              <a:p>
                <a:r>
                  <a:rPr lang="en-IN">
                    <a:noFill/>
                  </a:rPr>
                  <a:t> </a:t>
                </a:r>
              </a:p>
            </p:txBody>
          </p:sp>
        </mc:Fallback>
      </mc:AlternateContent>
      <p:sp>
        <p:nvSpPr>
          <p:cNvPr id="14" name="Oval 13">
            <a:extLst>
              <a:ext uri="{FF2B5EF4-FFF2-40B4-BE49-F238E27FC236}">
                <a16:creationId xmlns:a16="http://schemas.microsoft.com/office/drawing/2014/main" id="{8D6C379F-316D-4D64-8DF6-FAE76C5BCDB7}"/>
              </a:ext>
            </a:extLst>
          </p:cNvPr>
          <p:cNvSpPr/>
          <p:nvPr/>
        </p:nvSpPr>
        <p:spPr>
          <a:xfrm>
            <a:off x="3317307" y="291621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5" name="Straight Arrow Connector 14">
            <a:extLst>
              <a:ext uri="{FF2B5EF4-FFF2-40B4-BE49-F238E27FC236}">
                <a16:creationId xmlns:a16="http://schemas.microsoft.com/office/drawing/2014/main" id="{0F229BD9-A64D-44C7-B2E9-B1E52B374B2C}"/>
              </a:ext>
            </a:extLst>
          </p:cNvPr>
          <p:cNvCxnSpPr/>
          <p:nvPr/>
        </p:nvCxnSpPr>
        <p:spPr>
          <a:xfrm>
            <a:off x="1600200" y="31242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F12F6461-9D65-4600-BD16-BBA88D5C87DF}"/>
              </a:ext>
            </a:extLst>
          </p:cNvPr>
          <p:cNvCxnSpPr>
            <a:stCxn id="12" idx="6"/>
            <a:endCxn id="13" idx="2"/>
          </p:cNvCxnSpPr>
          <p:nvPr/>
        </p:nvCxnSpPr>
        <p:spPr>
          <a:xfrm>
            <a:off x="2693871" y="3129572"/>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A56E79DB-E72B-42A0-B361-B145F3B5811D}"/>
              </a:ext>
            </a:extLst>
          </p:cNvPr>
          <p:cNvSpPr txBox="1"/>
          <p:nvPr/>
        </p:nvSpPr>
        <p:spPr>
          <a:xfrm>
            <a:off x="2806468" y="2800126"/>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9AF4FFBA-D6B8-4B15-975B-57EF58107694}"/>
                  </a:ext>
                </a:extLst>
              </p:cNvPr>
              <p:cNvSpPr/>
              <p:nvPr/>
            </p:nvSpPr>
            <p:spPr>
              <a:xfrm>
                <a:off x="2064621" y="387633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9" name="Oval 18">
                <a:extLst>
                  <a:ext uri="{FF2B5EF4-FFF2-40B4-BE49-F238E27FC236}">
                    <a16:creationId xmlns:a16="http://schemas.microsoft.com/office/drawing/2014/main" id="{9AF4FFBA-D6B8-4B15-975B-57EF58107694}"/>
                  </a:ext>
                </a:extLst>
              </p:cNvPr>
              <p:cNvSpPr>
                <a:spLocks noRot="1" noChangeAspect="1" noMove="1" noResize="1" noEditPoints="1" noAdjustHandles="1" noChangeArrowheads="1" noChangeShapeType="1" noTextEdit="1"/>
              </p:cNvSpPr>
              <p:nvPr/>
            </p:nvSpPr>
            <p:spPr>
              <a:xfrm>
                <a:off x="2064621" y="3876332"/>
                <a:ext cx="609600" cy="609600"/>
              </a:xfrm>
              <a:prstGeom prst="ellipse">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270CDB05-F51B-4306-BB94-B5142FC41599}"/>
                  </a:ext>
                </a:extLst>
              </p:cNvPr>
              <p:cNvSpPr/>
              <p:nvPr/>
            </p:nvSpPr>
            <p:spPr>
              <a:xfrm>
                <a:off x="3221457" y="389157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20" name="Oval 19">
                <a:extLst>
                  <a:ext uri="{FF2B5EF4-FFF2-40B4-BE49-F238E27FC236}">
                    <a16:creationId xmlns:a16="http://schemas.microsoft.com/office/drawing/2014/main" id="{270CDB05-F51B-4306-BB94-B5142FC41599}"/>
                  </a:ext>
                </a:extLst>
              </p:cNvPr>
              <p:cNvSpPr>
                <a:spLocks noRot="1" noChangeAspect="1" noMove="1" noResize="1" noEditPoints="1" noAdjustHandles="1" noChangeArrowheads="1" noChangeShapeType="1" noTextEdit="1"/>
              </p:cNvSpPr>
              <p:nvPr/>
            </p:nvSpPr>
            <p:spPr>
              <a:xfrm>
                <a:off x="3221457" y="3891572"/>
                <a:ext cx="609600" cy="609600"/>
              </a:xfrm>
              <a:prstGeom prst="ellipse">
                <a:avLst/>
              </a:prstGeom>
              <a:blipFill>
                <a:blip r:embed="rId7"/>
                <a:stretch>
                  <a:fillRect/>
                </a:stretch>
              </a:blipFill>
            </p:spPr>
            <p:txBody>
              <a:bodyPr/>
              <a:lstStyle/>
              <a:p>
                <a:r>
                  <a:rPr lang="en-IN">
                    <a:noFill/>
                  </a:rPr>
                  <a:t> </a:t>
                </a:r>
              </a:p>
            </p:txBody>
          </p:sp>
        </mc:Fallback>
      </mc:AlternateContent>
      <p:sp>
        <p:nvSpPr>
          <p:cNvPr id="21" name="Oval 20">
            <a:extLst>
              <a:ext uri="{FF2B5EF4-FFF2-40B4-BE49-F238E27FC236}">
                <a16:creationId xmlns:a16="http://schemas.microsoft.com/office/drawing/2014/main" id="{B782D0EB-C620-4512-8F26-3F4CB2F88027}"/>
              </a:ext>
            </a:extLst>
          </p:cNvPr>
          <p:cNvSpPr/>
          <p:nvPr/>
        </p:nvSpPr>
        <p:spPr>
          <a:xfrm>
            <a:off x="3297657" y="396777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22" name="Straight Arrow Connector 21">
            <a:extLst>
              <a:ext uri="{FF2B5EF4-FFF2-40B4-BE49-F238E27FC236}">
                <a16:creationId xmlns:a16="http://schemas.microsoft.com/office/drawing/2014/main" id="{4571361C-E7FD-4F8D-BE2F-D8D9C075FEE1}"/>
              </a:ext>
            </a:extLst>
          </p:cNvPr>
          <p:cNvCxnSpPr/>
          <p:nvPr/>
        </p:nvCxnSpPr>
        <p:spPr>
          <a:xfrm>
            <a:off x="1580550" y="417576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5" name="Connector: Curved 24">
            <a:extLst>
              <a:ext uri="{FF2B5EF4-FFF2-40B4-BE49-F238E27FC236}">
                <a16:creationId xmlns:a16="http://schemas.microsoft.com/office/drawing/2014/main" id="{7BFD513A-240F-4BFE-9392-1AB2D6F4922B}"/>
              </a:ext>
            </a:extLst>
          </p:cNvPr>
          <p:cNvCxnSpPr>
            <a:stCxn id="19" idx="7"/>
            <a:endCxn id="20" idx="0"/>
          </p:cNvCxnSpPr>
          <p:nvPr/>
        </p:nvCxnSpPr>
        <p:spPr>
          <a:xfrm rot="5400000" flipH="1" flipV="1">
            <a:off x="3018585" y="3457934"/>
            <a:ext cx="74034" cy="941310"/>
          </a:xfrm>
          <a:prstGeom prst="curvedConnector3">
            <a:avLst>
              <a:gd name="adj1" fmla="val 28635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Connector: Curved 27">
            <a:extLst>
              <a:ext uri="{FF2B5EF4-FFF2-40B4-BE49-F238E27FC236}">
                <a16:creationId xmlns:a16="http://schemas.microsoft.com/office/drawing/2014/main" id="{69A75DD6-715F-4153-A3BD-37D27BD91D8E}"/>
              </a:ext>
            </a:extLst>
          </p:cNvPr>
          <p:cNvCxnSpPr>
            <a:stCxn id="19" idx="5"/>
            <a:endCxn id="20" idx="4"/>
          </p:cNvCxnSpPr>
          <p:nvPr/>
        </p:nvCxnSpPr>
        <p:spPr>
          <a:xfrm rot="16200000" flipH="1">
            <a:off x="3003345" y="3978260"/>
            <a:ext cx="104514" cy="941310"/>
          </a:xfrm>
          <a:prstGeom prst="curvedConnector3">
            <a:avLst>
              <a:gd name="adj1" fmla="val 226631"/>
            </a:avLst>
          </a:prstGeom>
          <a:ln>
            <a:tailEnd type="triangle"/>
          </a:ln>
        </p:spPr>
        <p:style>
          <a:lnRef idx="3">
            <a:schemeClr val="accent1"/>
          </a:lnRef>
          <a:fillRef idx="0">
            <a:schemeClr val="accent1"/>
          </a:fillRef>
          <a:effectRef idx="2">
            <a:schemeClr val="accent1"/>
          </a:effectRef>
          <a:fontRef idx="minor">
            <a:schemeClr val="tx1"/>
          </a:fontRef>
        </p:style>
      </p:cxnSp>
      <p:sp>
        <p:nvSpPr>
          <p:cNvPr id="30" name="TextBox 29">
            <a:extLst>
              <a:ext uri="{FF2B5EF4-FFF2-40B4-BE49-F238E27FC236}">
                <a16:creationId xmlns:a16="http://schemas.microsoft.com/office/drawing/2014/main" id="{8CC8FFE0-D9D0-46C7-9F43-8EF664F5A584}"/>
              </a:ext>
            </a:extLst>
          </p:cNvPr>
          <p:cNvSpPr txBox="1"/>
          <p:nvPr/>
        </p:nvSpPr>
        <p:spPr>
          <a:xfrm>
            <a:off x="2863018" y="3713189"/>
            <a:ext cx="295274" cy="369332"/>
          </a:xfrm>
          <a:prstGeom prst="rect">
            <a:avLst/>
          </a:prstGeom>
          <a:noFill/>
        </p:spPr>
        <p:txBody>
          <a:bodyPr wrap="none" rtlCol="0">
            <a:spAutoFit/>
          </a:bodyPr>
          <a:lstStyle/>
          <a:p>
            <a:r>
              <a:rPr lang="en-US" dirty="0"/>
              <a:t>a</a:t>
            </a:r>
            <a:endParaRPr lang="en-IN" dirty="0"/>
          </a:p>
        </p:txBody>
      </p:sp>
      <p:sp>
        <p:nvSpPr>
          <p:cNvPr id="31" name="TextBox 30">
            <a:extLst>
              <a:ext uri="{FF2B5EF4-FFF2-40B4-BE49-F238E27FC236}">
                <a16:creationId xmlns:a16="http://schemas.microsoft.com/office/drawing/2014/main" id="{49B16407-2BCE-4EA7-A541-F35C8C87B5FA}"/>
              </a:ext>
            </a:extLst>
          </p:cNvPr>
          <p:cNvSpPr txBox="1"/>
          <p:nvPr/>
        </p:nvSpPr>
        <p:spPr>
          <a:xfrm>
            <a:off x="2863018" y="4281566"/>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32" name="Oval 31">
                <a:extLst>
                  <a:ext uri="{FF2B5EF4-FFF2-40B4-BE49-F238E27FC236}">
                    <a16:creationId xmlns:a16="http://schemas.microsoft.com/office/drawing/2014/main" id="{F8A975DB-9691-433B-A6E0-14B6AB9355B0}"/>
                  </a:ext>
                </a:extLst>
              </p:cNvPr>
              <p:cNvSpPr/>
              <p:nvPr/>
            </p:nvSpPr>
            <p:spPr>
              <a:xfrm>
                <a:off x="2084271" y="493776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32" name="Oval 31">
                <a:extLst>
                  <a:ext uri="{FF2B5EF4-FFF2-40B4-BE49-F238E27FC236}">
                    <a16:creationId xmlns:a16="http://schemas.microsoft.com/office/drawing/2014/main" id="{F8A975DB-9691-433B-A6E0-14B6AB9355B0}"/>
                  </a:ext>
                </a:extLst>
              </p:cNvPr>
              <p:cNvSpPr>
                <a:spLocks noRot="1" noChangeAspect="1" noMove="1" noResize="1" noEditPoints="1" noAdjustHandles="1" noChangeArrowheads="1" noChangeShapeType="1" noTextEdit="1"/>
              </p:cNvSpPr>
              <p:nvPr/>
            </p:nvSpPr>
            <p:spPr>
              <a:xfrm>
                <a:off x="2084271" y="4937760"/>
                <a:ext cx="609600" cy="609600"/>
              </a:xfrm>
              <a:prstGeom prst="ellipse">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Oval 32">
                <a:extLst>
                  <a:ext uri="{FF2B5EF4-FFF2-40B4-BE49-F238E27FC236}">
                    <a16:creationId xmlns:a16="http://schemas.microsoft.com/office/drawing/2014/main" id="{436B13A2-6924-4962-A733-FA68CD07911E}"/>
                  </a:ext>
                </a:extLst>
              </p:cNvPr>
              <p:cNvSpPr/>
              <p:nvPr/>
            </p:nvSpPr>
            <p:spPr>
              <a:xfrm>
                <a:off x="3241107" y="4953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33" name="Oval 32">
                <a:extLst>
                  <a:ext uri="{FF2B5EF4-FFF2-40B4-BE49-F238E27FC236}">
                    <a16:creationId xmlns:a16="http://schemas.microsoft.com/office/drawing/2014/main" id="{436B13A2-6924-4962-A733-FA68CD07911E}"/>
                  </a:ext>
                </a:extLst>
              </p:cNvPr>
              <p:cNvSpPr>
                <a:spLocks noRot="1" noChangeAspect="1" noMove="1" noResize="1" noEditPoints="1" noAdjustHandles="1" noChangeArrowheads="1" noChangeShapeType="1" noTextEdit="1"/>
              </p:cNvSpPr>
              <p:nvPr/>
            </p:nvSpPr>
            <p:spPr>
              <a:xfrm>
                <a:off x="3241107" y="4953000"/>
                <a:ext cx="609600" cy="609600"/>
              </a:xfrm>
              <a:prstGeom prst="ellipse">
                <a:avLst/>
              </a:prstGeom>
              <a:blipFill>
                <a:blip r:embed="rId9"/>
                <a:stretch>
                  <a:fillRect/>
                </a:stretch>
              </a:blipFill>
            </p:spPr>
            <p:txBody>
              <a:bodyPr/>
              <a:lstStyle/>
              <a:p>
                <a:r>
                  <a:rPr lang="en-IN">
                    <a:noFill/>
                  </a:rPr>
                  <a:t> </a:t>
                </a:r>
              </a:p>
            </p:txBody>
          </p:sp>
        </mc:Fallback>
      </mc:AlternateContent>
      <p:cxnSp>
        <p:nvCxnSpPr>
          <p:cNvPr id="35" name="Straight Arrow Connector 34">
            <a:extLst>
              <a:ext uri="{FF2B5EF4-FFF2-40B4-BE49-F238E27FC236}">
                <a16:creationId xmlns:a16="http://schemas.microsoft.com/office/drawing/2014/main" id="{5CE80759-B2ED-4F34-A79E-0DC89081CD0E}"/>
              </a:ext>
            </a:extLst>
          </p:cNvPr>
          <p:cNvCxnSpPr/>
          <p:nvPr/>
        </p:nvCxnSpPr>
        <p:spPr>
          <a:xfrm>
            <a:off x="1600200" y="5237188"/>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BA601357-0583-447C-A623-93F3C2486352}"/>
              </a:ext>
            </a:extLst>
          </p:cNvPr>
          <p:cNvCxnSpPr>
            <a:stCxn id="32" idx="6"/>
            <a:endCxn id="33" idx="2"/>
          </p:cNvCxnSpPr>
          <p:nvPr/>
        </p:nvCxnSpPr>
        <p:spPr>
          <a:xfrm>
            <a:off x="2693871" y="5242560"/>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7" name="TextBox 36">
            <a:extLst>
              <a:ext uri="{FF2B5EF4-FFF2-40B4-BE49-F238E27FC236}">
                <a16:creationId xmlns:a16="http://schemas.microsoft.com/office/drawing/2014/main" id="{3326A933-F006-44AA-9DBB-7EED802C5BB3}"/>
              </a:ext>
            </a:extLst>
          </p:cNvPr>
          <p:cNvSpPr txBox="1"/>
          <p:nvPr/>
        </p:nvSpPr>
        <p:spPr>
          <a:xfrm>
            <a:off x="2806468" y="4913114"/>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38" name="Oval 37">
                <a:extLst>
                  <a:ext uri="{FF2B5EF4-FFF2-40B4-BE49-F238E27FC236}">
                    <a16:creationId xmlns:a16="http://schemas.microsoft.com/office/drawing/2014/main" id="{DC931BCE-FD60-42A5-A43B-18C4325518EE}"/>
                  </a:ext>
                </a:extLst>
              </p:cNvPr>
              <p:cNvSpPr/>
              <p:nvPr/>
            </p:nvSpPr>
            <p:spPr>
              <a:xfrm>
                <a:off x="4376084" y="4953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38" name="Oval 37">
                <a:extLst>
                  <a:ext uri="{FF2B5EF4-FFF2-40B4-BE49-F238E27FC236}">
                    <a16:creationId xmlns:a16="http://schemas.microsoft.com/office/drawing/2014/main" id="{DC931BCE-FD60-42A5-A43B-18C4325518EE}"/>
                  </a:ext>
                </a:extLst>
              </p:cNvPr>
              <p:cNvSpPr>
                <a:spLocks noRot="1" noChangeAspect="1" noMove="1" noResize="1" noEditPoints="1" noAdjustHandles="1" noChangeArrowheads="1" noChangeShapeType="1" noTextEdit="1"/>
              </p:cNvSpPr>
              <p:nvPr/>
            </p:nvSpPr>
            <p:spPr>
              <a:xfrm>
                <a:off x="4376084" y="4953000"/>
                <a:ext cx="609600" cy="609600"/>
              </a:xfrm>
              <a:prstGeom prst="ellipse">
                <a:avLst/>
              </a:prstGeom>
              <a:blipFill>
                <a:blip r:embed="rId10"/>
                <a:stretch>
                  <a:fillRect/>
                </a:stretch>
              </a:blipFill>
            </p:spPr>
            <p:txBody>
              <a:bodyPr/>
              <a:lstStyle/>
              <a:p>
                <a:r>
                  <a:rPr lang="en-IN">
                    <a:noFill/>
                  </a:rPr>
                  <a:t> </a:t>
                </a:r>
              </a:p>
            </p:txBody>
          </p:sp>
        </mc:Fallback>
      </mc:AlternateContent>
      <p:sp>
        <p:nvSpPr>
          <p:cNvPr id="39" name="Oval 38">
            <a:extLst>
              <a:ext uri="{FF2B5EF4-FFF2-40B4-BE49-F238E27FC236}">
                <a16:creationId xmlns:a16="http://schemas.microsoft.com/office/drawing/2014/main" id="{C8978B66-398D-48D5-9F8D-3D637E54CBD3}"/>
              </a:ext>
            </a:extLst>
          </p:cNvPr>
          <p:cNvSpPr/>
          <p:nvPr/>
        </p:nvSpPr>
        <p:spPr>
          <a:xfrm>
            <a:off x="4452284" y="50292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40" name="Straight Arrow Connector 39">
            <a:extLst>
              <a:ext uri="{FF2B5EF4-FFF2-40B4-BE49-F238E27FC236}">
                <a16:creationId xmlns:a16="http://schemas.microsoft.com/office/drawing/2014/main" id="{DC971788-E652-4922-9BE8-7762C4CE845E}"/>
              </a:ext>
            </a:extLst>
          </p:cNvPr>
          <p:cNvCxnSpPr>
            <a:endCxn id="38" idx="2"/>
          </p:cNvCxnSpPr>
          <p:nvPr/>
        </p:nvCxnSpPr>
        <p:spPr>
          <a:xfrm>
            <a:off x="3828848" y="5242560"/>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1" name="TextBox 40">
            <a:extLst>
              <a:ext uri="{FF2B5EF4-FFF2-40B4-BE49-F238E27FC236}">
                <a16:creationId xmlns:a16="http://schemas.microsoft.com/office/drawing/2014/main" id="{54E21BE2-1463-413E-BD55-70E02EDDD2AA}"/>
              </a:ext>
            </a:extLst>
          </p:cNvPr>
          <p:cNvSpPr txBox="1"/>
          <p:nvPr/>
        </p:nvSpPr>
        <p:spPr>
          <a:xfrm>
            <a:off x="3941445" y="4913114"/>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44" name="Oval 43">
                <a:extLst>
                  <a:ext uri="{FF2B5EF4-FFF2-40B4-BE49-F238E27FC236}">
                    <a16:creationId xmlns:a16="http://schemas.microsoft.com/office/drawing/2014/main" id="{5C07DFFE-C91A-4C57-8EA4-E0FAA051352B}"/>
                  </a:ext>
                </a:extLst>
              </p:cNvPr>
              <p:cNvSpPr/>
              <p:nvPr/>
            </p:nvSpPr>
            <p:spPr>
              <a:xfrm>
                <a:off x="2111141" y="601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44" name="Oval 43">
                <a:extLst>
                  <a:ext uri="{FF2B5EF4-FFF2-40B4-BE49-F238E27FC236}">
                    <a16:creationId xmlns:a16="http://schemas.microsoft.com/office/drawing/2014/main" id="{5C07DFFE-C91A-4C57-8EA4-E0FAA051352B}"/>
                  </a:ext>
                </a:extLst>
              </p:cNvPr>
              <p:cNvSpPr>
                <a:spLocks noRot="1" noChangeAspect="1" noMove="1" noResize="1" noEditPoints="1" noAdjustHandles="1" noChangeArrowheads="1" noChangeShapeType="1" noTextEdit="1"/>
              </p:cNvSpPr>
              <p:nvPr/>
            </p:nvSpPr>
            <p:spPr>
              <a:xfrm>
                <a:off x="2111141" y="6019800"/>
                <a:ext cx="609600" cy="609600"/>
              </a:xfrm>
              <a:prstGeom prst="ellipse">
                <a:avLst/>
              </a:prstGeom>
              <a:blipFill>
                <a:blip r:embed="rId11"/>
                <a:stretch>
                  <a:fillRect/>
                </a:stretch>
              </a:blipFill>
            </p:spPr>
            <p:txBody>
              <a:bodyPr/>
              <a:lstStyle/>
              <a:p>
                <a:r>
                  <a:rPr lang="en-IN">
                    <a:noFill/>
                  </a:rPr>
                  <a:t> </a:t>
                </a:r>
              </a:p>
            </p:txBody>
          </p:sp>
        </mc:Fallback>
      </mc:AlternateContent>
      <p:sp>
        <p:nvSpPr>
          <p:cNvPr id="45" name="Oval 44">
            <a:extLst>
              <a:ext uri="{FF2B5EF4-FFF2-40B4-BE49-F238E27FC236}">
                <a16:creationId xmlns:a16="http://schemas.microsoft.com/office/drawing/2014/main" id="{731376DD-E180-4FC9-AB19-913A2CA30846}"/>
              </a:ext>
            </a:extLst>
          </p:cNvPr>
          <p:cNvSpPr/>
          <p:nvPr/>
        </p:nvSpPr>
        <p:spPr>
          <a:xfrm>
            <a:off x="2187341" y="60960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46" name="Straight Arrow Connector 45">
            <a:extLst>
              <a:ext uri="{FF2B5EF4-FFF2-40B4-BE49-F238E27FC236}">
                <a16:creationId xmlns:a16="http://schemas.microsoft.com/office/drawing/2014/main" id="{4061D825-762E-45CE-8BC9-C3B8D846C918}"/>
              </a:ext>
            </a:extLst>
          </p:cNvPr>
          <p:cNvCxnSpPr/>
          <p:nvPr/>
        </p:nvCxnSpPr>
        <p:spPr>
          <a:xfrm>
            <a:off x="1600200" y="63246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8" name="Connector: Curved 47">
            <a:extLst>
              <a:ext uri="{FF2B5EF4-FFF2-40B4-BE49-F238E27FC236}">
                <a16:creationId xmlns:a16="http://schemas.microsoft.com/office/drawing/2014/main" id="{48BB67FF-A79E-44FD-8697-DE7B5B7D1A9B}"/>
              </a:ext>
            </a:extLst>
          </p:cNvPr>
          <p:cNvCxnSpPr>
            <a:stCxn id="44" idx="7"/>
            <a:endCxn id="44" idx="5"/>
          </p:cNvCxnSpPr>
          <p:nvPr/>
        </p:nvCxnSpPr>
        <p:spPr>
          <a:xfrm rot="16200000" flipH="1">
            <a:off x="2415941" y="6324600"/>
            <a:ext cx="431052" cy="12700"/>
          </a:xfrm>
          <a:prstGeom prst="curvedConnector5">
            <a:avLst>
              <a:gd name="adj1" fmla="val -21771"/>
              <a:gd name="adj2" fmla="val 4532843"/>
              <a:gd name="adj3" fmla="val 108374"/>
            </a:avLst>
          </a:prstGeom>
          <a:ln>
            <a:tailEnd type="triangle"/>
          </a:ln>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D8C6F953-30CB-49F0-B3C8-C9AA4C20D5A6}"/>
              </a:ext>
            </a:extLst>
          </p:cNvPr>
          <p:cNvSpPr txBox="1"/>
          <p:nvPr/>
        </p:nvSpPr>
        <p:spPr>
          <a:xfrm>
            <a:off x="3055602" y="5784930"/>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B5533241-9C13-406F-A6CB-669561E197BB}"/>
                  </a:ext>
                </a:extLst>
              </p:cNvPr>
              <p:cNvSpPr/>
              <p:nvPr/>
            </p:nvSpPr>
            <p:spPr>
              <a:xfrm>
                <a:off x="10439400" y="76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53" name="Oval 52">
                <a:extLst>
                  <a:ext uri="{FF2B5EF4-FFF2-40B4-BE49-F238E27FC236}">
                    <a16:creationId xmlns:a16="http://schemas.microsoft.com/office/drawing/2014/main" id="{B5533241-9C13-406F-A6CB-669561E197BB}"/>
                  </a:ext>
                </a:extLst>
              </p:cNvPr>
              <p:cNvSpPr>
                <a:spLocks noRot="1" noChangeAspect="1" noMove="1" noResize="1" noEditPoints="1" noAdjustHandles="1" noChangeArrowheads="1" noChangeShapeType="1" noTextEdit="1"/>
              </p:cNvSpPr>
              <p:nvPr/>
            </p:nvSpPr>
            <p:spPr>
              <a:xfrm>
                <a:off x="10439400" y="76200"/>
                <a:ext cx="609600" cy="609600"/>
              </a:xfrm>
              <a:prstGeom prst="ellipse">
                <a:avLst/>
              </a:prstGeom>
              <a:blipFill>
                <a:blip r:embed="rId12"/>
                <a:stretch>
                  <a:fillRect/>
                </a:stretch>
              </a:blipFill>
            </p:spPr>
            <p:txBody>
              <a:bodyPr/>
              <a:lstStyle/>
              <a:p>
                <a:r>
                  <a:rPr lang="en-IN">
                    <a:noFill/>
                  </a:rPr>
                  <a:t> </a:t>
                </a:r>
              </a:p>
            </p:txBody>
          </p:sp>
        </mc:Fallback>
      </mc:AlternateContent>
      <p:sp>
        <p:nvSpPr>
          <p:cNvPr id="54" name="Oval 53">
            <a:extLst>
              <a:ext uri="{FF2B5EF4-FFF2-40B4-BE49-F238E27FC236}">
                <a16:creationId xmlns:a16="http://schemas.microsoft.com/office/drawing/2014/main" id="{098D2E3E-7AD9-4E85-A7D4-D614B16EE604}"/>
              </a:ext>
            </a:extLst>
          </p:cNvPr>
          <p:cNvSpPr/>
          <p:nvPr/>
        </p:nvSpPr>
        <p:spPr>
          <a:xfrm>
            <a:off x="10515600" y="152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55" name="Straight Arrow Connector 54">
            <a:extLst>
              <a:ext uri="{FF2B5EF4-FFF2-40B4-BE49-F238E27FC236}">
                <a16:creationId xmlns:a16="http://schemas.microsoft.com/office/drawing/2014/main" id="{3F71260A-666E-42F5-BE3E-45449836F1AA}"/>
              </a:ext>
            </a:extLst>
          </p:cNvPr>
          <p:cNvCxnSpPr/>
          <p:nvPr/>
        </p:nvCxnSpPr>
        <p:spPr>
          <a:xfrm>
            <a:off x="9928459" y="3810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Connector: Curved 55">
            <a:extLst>
              <a:ext uri="{FF2B5EF4-FFF2-40B4-BE49-F238E27FC236}">
                <a16:creationId xmlns:a16="http://schemas.microsoft.com/office/drawing/2014/main" id="{2518A60B-1227-4BEB-8E30-6F801D4B49EA}"/>
              </a:ext>
            </a:extLst>
          </p:cNvPr>
          <p:cNvCxnSpPr>
            <a:stCxn id="53" idx="7"/>
            <a:endCxn id="53" idx="5"/>
          </p:cNvCxnSpPr>
          <p:nvPr/>
        </p:nvCxnSpPr>
        <p:spPr>
          <a:xfrm rot="16200000" flipH="1">
            <a:off x="10744200" y="381000"/>
            <a:ext cx="431052" cy="12700"/>
          </a:xfrm>
          <a:prstGeom prst="curvedConnector5">
            <a:avLst>
              <a:gd name="adj1" fmla="val -21771"/>
              <a:gd name="adj2" fmla="val 4532843"/>
              <a:gd name="adj3" fmla="val 108374"/>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2A711604-D1C7-44AD-AB6A-3F6984CB8674}"/>
                  </a:ext>
                </a:extLst>
              </p:cNvPr>
              <p:cNvSpPr/>
              <p:nvPr/>
            </p:nvSpPr>
            <p:spPr>
              <a:xfrm>
                <a:off x="9296400" y="76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57" name="Oval 56">
                <a:extLst>
                  <a:ext uri="{FF2B5EF4-FFF2-40B4-BE49-F238E27FC236}">
                    <a16:creationId xmlns:a16="http://schemas.microsoft.com/office/drawing/2014/main" id="{2A711604-D1C7-44AD-AB6A-3F6984CB8674}"/>
                  </a:ext>
                </a:extLst>
              </p:cNvPr>
              <p:cNvSpPr>
                <a:spLocks noRot="1" noChangeAspect="1" noMove="1" noResize="1" noEditPoints="1" noAdjustHandles="1" noChangeArrowheads="1" noChangeShapeType="1" noTextEdit="1"/>
              </p:cNvSpPr>
              <p:nvPr/>
            </p:nvSpPr>
            <p:spPr>
              <a:xfrm>
                <a:off x="9296400" y="76200"/>
                <a:ext cx="609600" cy="609600"/>
              </a:xfrm>
              <a:prstGeom prst="ellipse">
                <a:avLst/>
              </a:prstGeom>
              <a:blipFill>
                <a:blip r:embed="rId13"/>
                <a:stretch>
                  <a:fillRect/>
                </a:stretch>
              </a:blipFill>
            </p:spPr>
            <p:txBody>
              <a:bodyPr/>
              <a:lstStyle/>
              <a:p>
                <a:r>
                  <a:rPr lang="en-IN">
                    <a:noFill/>
                  </a:rPr>
                  <a:t> </a:t>
                </a:r>
              </a:p>
            </p:txBody>
          </p:sp>
        </mc:Fallback>
      </mc:AlternateContent>
      <p:cxnSp>
        <p:nvCxnSpPr>
          <p:cNvPr id="58" name="Straight Arrow Connector 57">
            <a:extLst>
              <a:ext uri="{FF2B5EF4-FFF2-40B4-BE49-F238E27FC236}">
                <a16:creationId xmlns:a16="http://schemas.microsoft.com/office/drawing/2014/main" id="{905605CC-8DB3-4E95-9025-BFB75A24828E}"/>
              </a:ext>
            </a:extLst>
          </p:cNvPr>
          <p:cNvCxnSpPr/>
          <p:nvPr/>
        </p:nvCxnSpPr>
        <p:spPr>
          <a:xfrm>
            <a:off x="8812329" y="375628"/>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9" name="TextBox 58">
            <a:extLst>
              <a:ext uri="{FF2B5EF4-FFF2-40B4-BE49-F238E27FC236}">
                <a16:creationId xmlns:a16="http://schemas.microsoft.com/office/drawing/2014/main" id="{95203DA4-D217-4284-8A1D-25E953355CBE}"/>
              </a:ext>
            </a:extLst>
          </p:cNvPr>
          <p:cNvSpPr txBox="1"/>
          <p:nvPr/>
        </p:nvSpPr>
        <p:spPr>
          <a:xfrm>
            <a:off x="10005716" y="30165"/>
            <a:ext cx="295274" cy="369332"/>
          </a:xfrm>
          <a:prstGeom prst="rect">
            <a:avLst/>
          </a:prstGeom>
          <a:noFill/>
        </p:spPr>
        <p:txBody>
          <a:bodyPr wrap="none" rtlCol="0">
            <a:spAutoFit/>
          </a:bodyPr>
          <a:lstStyle/>
          <a:p>
            <a:r>
              <a:rPr lang="en-US" dirty="0"/>
              <a:t>a</a:t>
            </a:r>
            <a:endParaRPr lang="en-IN" dirty="0"/>
          </a:p>
        </p:txBody>
      </p:sp>
      <p:sp>
        <p:nvSpPr>
          <p:cNvPr id="60" name="TextBox 59">
            <a:extLst>
              <a:ext uri="{FF2B5EF4-FFF2-40B4-BE49-F238E27FC236}">
                <a16:creationId xmlns:a16="http://schemas.microsoft.com/office/drawing/2014/main" id="{C34F8D0E-006E-4371-AB05-FD33CC07BBBB}"/>
              </a:ext>
            </a:extLst>
          </p:cNvPr>
          <p:cNvSpPr txBox="1"/>
          <p:nvPr/>
        </p:nvSpPr>
        <p:spPr>
          <a:xfrm>
            <a:off x="11198226" y="137842"/>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0058B1B2-B7C6-4D3B-A507-F18EE9587391}"/>
                  </a:ext>
                </a:extLst>
              </p:cNvPr>
              <p:cNvSpPr/>
              <p:nvPr/>
            </p:nvSpPr>
            <p:spPr>
              <a:xfrm>
                <a:off x="9273941" y="99687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61" name="Oval 60">
                <a:extLst>
                  <a:ext uri="{FF2B5EF4-FFF2-40B4-BE49-F238E27FC236}">
                    <a16:creationId xmlns:a16="http://schemas.microsoft.com/office/drawing/2014/main" id="{0058B1B2-B7C6-4D3B-A507-F18EE9587391}"/>
                  </a:ext>
                </a:extLst>
              </p:cNvPr>
              <p:cNvSpPr>
                <a:spLocks noRot="1" noChangeAspect="1" noMove="1" noResize="1" noEditPoints="1" noAdjustHandles="1" noChangeArrowheads="1" noChangeShapeType="1" noTextEdit="1"/>
              </p:cNvSpPr>
              <p:nvPr/>
            </p:nvSpPr>
            <p:spPr>
              <a:xfrm>
                <a:off x="9273941" y="996870"/>
                <a:ext cx="609600" cy="609600"/>
              </a:xfrm>
              <a:prstGeom prst="ellipse">
                <a:avLst/>
              </a:prstGeom>
              <a:blipFill>
                <a:blip r:embed="rId14"/>
                <a:stretch>
                  <a:fillRect/>
                </a:stretch>
              </a:blipFill>
            </p:spPr>
            <p:txBody>
              <a:bodyPr/>
              <a:lstStyle/>
              <a:p>
                <a:r>
                  <a:rPr lang="en-IN">
                    <a:noFill/>
                  </a:rPr>
                  <a:t> </a:t>
                </a:r>
              </a:p>
            </p:txBody>
          </p:sp>
        </mc:Fallback>
      </mc:AlternateContent>
      <p:sp>
        <p:nvSpPr>
          <p:cNvPr id="62" name="Oval 61">
            <a:extLst>
              <a:ext uri="{FF2B5EF4-FFF2-40B4-BE49-F238E27FC236}">
                <a16:creationId xmlns:a16="http://schemas.microsoft.com/office/drawing/2014/main" id="{006DF005-A723-4C24-9821-4DB64E05B273}"/>
              </a:ext>
            </a:extLst>
          </p:cNvPr>
          <p:cNvSpPr/>
          <p:nvPr/>
        </p:nvSpPr>
        <p:spPr>
          <a:xfrm>
            <a:off x="9350141" y="107307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63" name="Straight Arrow Connector 62">
            <a:extLst>
              <a:ext uri="{FF2B5EF4-FFF2-40B4-BE49-F238E27FC236}">
                <a16:creationId xmlns:a16="http://schemas.microsoft.com/office/drawing/2014/main" id="{B00E05C7-51EF-422A-B3EF-2FA2F477839D}"/>
              </a:ext>
            </a:extLst>
          </p:cNvPr>
          <p:cNvCxnSpPr/>
          <p:nvPr/>
        </p:nvCxnSpPr>
        <p:spPr>
          <a:xfrm>
            <a:off x="8763000" y="130167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Connector: Curved 63">
            <a:extLst>
              <a:ext uri="{FF2B5EF4-FFF2-40B4-BE49-F238E27FC236}">
                <a16:creationId xmlns:a16="http://schemas.microsoft.com/office/drawing/2014/main" id="{8AB95780-3CB0-4FBD-AC45-18D4C6958BAA}"/>
              </a:ext>
            </a:extLst>
          </p:cNvPr>
          <p:cNvCxnSpPr>
            <a:stCxn id="61" idx="7"/>
            <a:endCxn id="61" idx="5"/>
          </p:cNvCxnSpPr>
          <p:nvPr/>
        </p:nvCxnSpPr>
        <p:spPr>
          <a:xfrm rot="16200000" flipH="1">
            <a:off x="9578741" y="1301670"/>
            <a:ext cx="431052" cy="12700"/>
          </a:xfrm>
          <a:prstGeom prst="curvedConnector5">
            <a:avLst>
              <a:gd name="adj1" fmla="val -21771"/>
              <a:gd name="adj2" fmla="val 4532843"/>
              <a:gd name="adj3" fmla="val 108374"/>
            </a:avLst>
          </a:prstGeom>
          <a:ln>
            <a:tailEnd type="triangle"/>
          </a:ln>
        </p:spPr>
        <p:style>
          <a:lnRef idx="3">
            <a:schemeClr val="accent1"/>
          </a:lnRef>
          <a:fillRef idx="0">
            <a:schemeClr val="accent1"/>
          </a:fillRef>
          <a:effectRef idx="2">
            <a:schemeClr val="accent1"/>
          </a:effectRef>
          <a:fontRef idx="minor">
            <a:schemeClr val="tx1"/>
          </a:fontRef>
        </p:style>
      </p:cxnSp>
      <p:sp>
        <p:nvSpPr>
          <p:cNvPr id="65" name="TextBox 64">
            <a:extLst>
              <a:ext uri="{FF2B5EF4-FFF2-40B4-BE49-F238E27FC236}">
                <a16:creationId xmlns:a16="http://schemas.microsoft.com/office/drawing/2014/main" id="{A544D60C-D916-4350-BDB2-87892B1CCFDB}"/>
              </a:ext>
            </a:extLst>
          </p:cNvPr>
          <p:cNvSpPr txBox="1"/>
          <p:nvPr/>
        </p:nvSpPr>
        <p:spPr>
          <a:xfrm>
            <a:off x="10218402" y="762000"/>
            <a:ext cx="474810" cy="369332"/>
          </a:xfrm>
          <a:prstGeom prst="rect">
            <a:avLst/>
          </a:prstGeom>
          <a:noFill/>
        </p:spPr>
        <p:txBody>
          <a:bodyPr wrap="none" rtlCol="0">
            <a:spAutoFit/>
          </a:bodyPr>
          <a:lstStyle/>
          <a:p>
            <a:r>
              <a:rPr lang="en-US" dirty="0" err="1"/>
              <a:t>a,b</a:t>
            </a:r>
            <a:endParaRPr lang="en-IN" dirty="0"/>
          </a:p>
        </p:txBody>
      </p:sp>
      <mc:AlternateContent xmlns:mc="http://schemas.openxmlformats.org/markup-compatibility/2006" xmlns:a14="http://schemas.microsoft.com/office/drawing/2010/main">
        <mc:Choice Requires="a14">
          <p:sp>
            <p:nvSpPr>
              <p:cNvPr id="66" name="Oval 65">
                <a:extLst>
                  <a:ext uri="{FF2B5EF4-FFF2-40B4-BE49-F238E27FC236}">
                    <a16:creationId xmlns:a16="http://schemas.microsoft.com/office/drawing/2014/main" id="{C1C4CE74-3D3C-4E54-8908-95570357B937}"/>
                  </a:ext>
                </a:extLst>
              </p:cNvPr>
              <p:cNvSpPr/>
              <p:nvPr/>
            </p:nvSpPr>
            <p:spPr>
              <a:xfrm>
                <a:off x="10452100" y="1981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66" name="Oval 65">
                <a:extLst>
                  <a:ext uri="{FF2B5EF4-FFF2-40B4-BE49-F238E27FC236}">
                    <a16:creationId xmlns:a16="http://schemas.microsoft.com/office/drawing/2014/main" id="{C1C4CE74-3D3C-4E54-8908-95570357B937}"/>
                  </a:ext>
                </a:extLst>
              </p:cNvPr>
              <p:cNvSpPr>
                <a:spLocks noRot="1" noChangeAspect="1" noMove="1" noResize="1" noEditPoints="1" noAdjustHandles="1" noChangeArrowheads="1" noChangeShapeType="1" noTextEdit="1"/>
              </p:cNvSpPr>
              <p:nvPr/>
            </p:nvSpPr>
            <p:spPr>
              <a:xfrm>
                <a:off x="10452100" y="1981200"/>
                <a:ext cx="609600" cy="609600"/>
              </a:xfrm>
              <a:prstGeom prst="ellipse">
                <a:avLst/>
              </a:prstGeom>
              <a:blipFill>
                <a:blip r:embed="rId15"/>
                <a:stretch>
                  <a:fillRect/>
                </a:stretch>
              </a:blipFill>
            </p:spPr>
            <p:txBody>
              <a:bodyPr/>
              <a:lstStyle/>
              <a:p>
                <a:r>
                  <a:rPr lang="en-IN">
                    <a:noFill/>
                  </a:rPr>
                  <a:t> </a:t>
                </a:r>
              </a:p>
            </p:txBody>
          </p:sp>
        </mc:Fallback>
      </mc:AlternateContent>
      <p:sp>
        <p:nvSpPr>
          <p:cNvPr id="67" name="Oval 66">
            <a:extLst>
              <a:ext uri="{FF2B5EF4-FFF2-40B4-BE49-F238E27FC236}">
                <a16:creationId xmlns:a16="http://schemas.microsoft.com/office/drawing/2014/main" id="{8D158EAB-D2DE-4FAD-8207-9C80DC738640}"/>
              </a:ext>
            </a:extLst>
          </p:cNvPr>
          <p:cNvSpPr/>
          <p:nvPr/>
        </p:nvSpPr>
        <p:spPr>
          <a:xfrm>
            <a:off x="10528300" y="2057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68" name="Straight Arrow Connector 67">
            <a:extLst>
              <a:ext uri="{FF2B5EF4-FFF2-40B4-BE49-F238E27FC236}">
                <a16:creationId xmlns:a16="http://schemas.microsoft.com/office/drawing/2014/main" id="{158F2C0D-7C7C-4E91-86A2-53849B7C9F9F}"/>
              </a:ext>
            </a:extLst>
          </p:cNvPr>
          <p:cNvCxnSpPr/>
          <p:nvPr/>
        </p:nvCxnSpPr>
        <p:spPr>
          <a:xfrm>
            <a:off x="9941159" y="22860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D3097616-7A80-4E90-A060-1E2A345EDA30}"/>
                  </a:ext>
                </a:extLst>
              </p:cNvPr>
              <p:cNvSpPr/>
              <p:nvPr/>
            </p:nvSpPr>
            <p:spPr>
              <a:xfrm>
                <a:off x="9309100" y="1981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70" name="Oval 69">
                <a:extLst>
                  <a:ext uri="{FF2B5EF4-FFF2-40B4-BE49-F238E27FC236}">
                    <a16:creationId xmlns:a16="http://schemas.microsoft.com/office/drawing/2014/main" id="{D3097616-7A80-4E90-A060-1E2A345EDA30}"/>
                  </a:ext>
                </a:extLst>
              </p:cNvPr>
              <p:cNvSpPr>
                <a:spLocks noRot="1" noChangeAspect="1" noMove="1" noResize="1" noEditPoints="1" noAdjustHandles="1" noChangeArrowheads="1" noChangeShapeType="1" noTextEdit="1"/>
              </p:cNvSpPr>
              <p:nvPr/>
            </p:nvSpPr>
            <p:spPr>
              <a:xfrm>
                <a:off x="9309100" y="1981200"/>
                <a:ext cx="609600" cy="609600"/>
              </a:xfrm>
              <a:prstGeom prst="ellipse">
                <a:avLst/>
              </a:prstGeom>
              <a:blipFill>
                <a:blip r:embed="rId16"/>
                <a:stretch>
                  <a:fillRect/>
                </a:stretch>
              </a:blipFill>
            </p:spPr>
            <p:txBody>
              <a:bodyPr/>
              <a:lstStyle/>
              <a:p>
                <a:r>
                  <a:rPr lang="en-IN">
                    <a:noFill/>
                  </a:rPr>
                  <a:t> </a:t>
                </a:r>
              </a:p>
            </p:txBody>
          </p:sp>
        </mc:Fallback>
      </mc:AlternateContent>
      <p:cxnSp>
        <p:nvCxnSpPr>
          <p:cNvPr id="71" name="Straight Arrow Connector 70">
            <a:extLst>
              <a:ext uri="{FF2B5EF4-FFF2-40B4-BE49-F238E27FC236}">
                <a16:creationId xmlns:a16="http://schemas.microsoft.com/office/drawing/2014/main" id="{7BA18458-2874-46BD-B9F6-6DA8B9F98C08}"/>
              </a:ext>
            </a:extLst>
          </p:cNvPr>
          <p:cNvCxnSpPr/>
          <p:nvPr/>
        </p:nvCxnSpPr>
        <p:spPr>
          <a:xfrm>
            <a:off x="8825029" y="2280628"/>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2" name="TextBox 71">
            <a:extLst>
              <a:ext uri="{FF2B5EF4-FFF2-40B4-BE49-F238E27FC236}">
                <a16:creationId xmlns:a16="http://schemas.microsoft.com/office/drawing/2014/main" id="{7EED38CC-1AE7-485B-A82E-B9B34D45B945}"/>
              </a:ext>
            </a:extLst>
          </p:cNvPr>
          <p:cNvSpPr txBox="1"/>
          <p:nvPr/>
        </p:nvSpPr>
        <p:spPr>
          <a:xfrm>
            <a:off x="10018416" y="1935165"/>
            <a:ext cx="311304" cy="369332"/>
          </a:xfrm>
          <a:prstGeom prst="rect">
            <a:avLst/>
          </a:prstGeom>
          <a:noFill/>
        </p:spPr>
        <p:txBody>
          <a:bodyPr wrap="none" rtlCol="0">
            <a:spAutoFit/>
          </a:bodyPr>
          <a:lstStyle/>
          <a:p>
            <a:r>
              <a:rPr lang="az-Cyrl-AZ" dirty="0"/>
              <a:t>Є</a:t>
            </a:r>
            <a:endParaRPr lang="en-IN" dirty="0"/>
          </a:p>
        </p:txBody>
      </p:sp>
      <p:sp>
        <p:nvSpPr>
          <p:cNvPr id="74" name="Oval 73">
            <a:extLst>
              <a:ext uri="{FF2B5EF4-FFF2-40B4-BE49-F238E27FC236}">
                <a16:creationId xmlns:a16="http://schemas.microsoft.com/office/drawing/2014/main" id="{50CE4A6A-3691-4F45-AC69-329E0B4BE551}"/>
              </a:ext>
            </a:extLst>
          </p:cNvPr>
          <p:cNvSpPr/>
          <p:nvPr/>
        </p:nvSpPr>
        <p:spPr>
          <a:xfrm>
            <a:off x="9372600" y="2057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76" name="Connector: Curved 75">
            <a:extLst>
              <a:ext uri="{FF2B5EF4-FFF2-40B4-BE49-F238E27FC236}">
                <a16:creationId xmlns:a16="http://schemas.microsoft.com/office/drawing/2014/main" id="{3C05376B-B030-4CF4-B299-981A254C315C}"/>
              </a:ext>
            </a:extLst>
          </p:cNvPr>
          <p:cNvCxnSpPr>
            <a:stCxn id="70" idx="1"/>
            <a:endCxn id="70" idx="7"/>
          </p:cNvCxnSpPr>
          <p:nvPr/>
        </p:nvCxnSpPr>
        <p:spPr>
          <a:xfrm rot="5400000" flipH="1" flipV="1">
            <a:off x="9613900" y="1854948"/>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8" name="Connector: Curved 77">
            <a:extLst>
              <a:ext uri="{FF2B5EF4-FFF2-40B4-BE49-F238E27FC236}">
                <a16:creationId xmlns:a16="http://schemas.microsoft.com/office/drawing/2014/main" id="{888C422A-5479-44CE-99D6-63358820778D}"/>
              </a:ext>
            </a:extLst>
          </p:cNvPr>
          <p:cNvCxnSpPr>
            <a:stCxn id="66" idx="1"/>
            <a:endCxn id="66" idx="7"/>
          </p:cNvCxnSpPr>
          <p:nvPr/>
        </p:nvCxnSpPr>
        <p:spPr>
          <a:xfrm rot="5400000" flipH="1" flipV="1">
            <a:off x="10756900" y="1854948"/>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79" name="TextBox 78">
            <a:extLst>
              <a:ext uri="{FF2B5EF4-FFF2-40B4-BE49-F238E27FC236}">
                <a16:creationId xmlns:a16="http://schemas.microsoft.com/office/drawing/2014/main" id="{DA725879-BEC1-4F8D-8780-11CD64231FB0}"/>
              </a:ext>
            </a:extLst>
          </p:cNvPr>
          <p:cNvSpPr txBox="1"/>
          <p:nvPr/>
        </p:nvSpPr>
        <p:spPr>
          <a:xfrm>
            <a:off x="9487019" y="1672597"/>
            <a:ext cx="295274" cy="369332"/>
          </a:xfrm>
          <a:prstGeom prst="rect">
            <a:avLst/>
          </a:prstGeom>
          <a:noFill/>
        </p:spPr>
        <p:txBody>
          <a:bodyPr wrap="none" rtlCol="0">
            <a:spAutoFit/>
          </a:bodyPr>
          <a:lstStyle/>
          <a:p>
            <a:r>
              <a:rPr lang="en-US" dirty="0"/>
              <a:t>a</a:t>
            </a:r>
            <a:endParaRPr lang="en-IN" dirty="0"/>
          </a:p>
        </p:txBody>
      </p:sp>
      <p:sp>
        <p:nvSpPr>
          <p:cNvPr id="80" name="TextBox 79">
            <a:extLst>
              <a:ext uri="{FF2B5EF4-FFF2-40B4-BE49-F238E27FC236}">
                <a16:creationId xmlns:a16="http://schemas.microsoft.com/office/drawing/2014/main" id="{52F01878-DF3F-4FE2-A14F-95C49DDCADE3}"/>
              </a:ext>
            </a:extLst>
          </p:cNvPr>
          <p:cNvSpPr txBox="1"/>
          <p:nvPr/>
        </p:nvSpPr>
        <p:spPr>
          <a:xfrm>
            <a:off x="10612250" y="1707492"/>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F907BF22-7D9A-4C1E-92A0-1986DCA6FBCE}"/>
                  </a:ext>
                </a:extLst>
              </p:cNvPr>
              <p:cNvSpPr/>
              <p:nvPr/>
            </p:nvSpPr>
            <p:spPr>
              <a:xfrm>
                <a:off x="7978541" y="30480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85" name="Oval 84">
                <a:extLst>
                  <a:ext uri="{FF2B5EF4-FFF2-40B4-BE49-F238E27FC236}">
                    <a16:creationId xmlns:a16="http://schemas.microsoft.com/office/drawing/2014/main" id="{F907BF22-7D9A-4C1E-92A0-1986DCA6FBCE}"/>
                  </a:ext>
                </a:extLst>
              </p:cNvPr>
              <p:cNvSpPr>
                <a:spLocks noRot="1" noChangeAspect="1" noMove="1" noResize="1" noEditPoints="1" noAdjustHandles="1" noChangeArrowheads="1" noChangeShapeType="1" noTextEdit="1"/>
              </p:cNvSpPr>
              <p:nvPr/>
            </p:nvSpPr>
            <p:spPr>
              <a:xfrm>
                <a:off x="7978541" y="3048000"/>
                <a:ext cx="609600" cy="609600"/>
              </a:xfrm>
              <a:prstGeom prst="ellipse">
                <a:avLst/>
              </a:prstGeom>
              <a:blipFill>
                <a:blip r:embed="rId17"/>
                <a:stretch>
                  <a:fillRect/>
                </a:stretch>
              </a:blipFill>
            </p:spPr>
            <p:txBody>
              <a:bodyPr/>
              <a:lstStyle/>
              <a:p>
                <a:r>
                  <a:rPr lang="en-IN">
                    <a:noFill/>
                  </a:rPr>
                  <a:t> </a:t>
                </a:r>
              </a:p>
            </p:txBody>
          </p:sp>
        </mc:Fallback>
      </mc:AlternateContent>
      <p:sp>
        <p:nvSpPr>
          <p:cNvPr id="86" name="Oval 85">
            <a:extLst>
              <a:ext uri="{FF2B5EF4-FFF2-40B4-BE49-F238E27FC236}">
                <a16:creationId xmlns:a16="http://schemas.microsoft.com/office/drawing/2014/main" id="{22B75716-706C-495C-B3B1-001F20C6F4BC}"/>
              </a:ext>
            </a:extLst>
          </p:cNvPr>
          <p:cNvSpPr/>
          <p:nvPr/>
        </p:nvSpPr>
        <p:spPr>
          <a:xfrm>
            <a:off x="8054741" y="31242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87" name="Straight Arrow Connector 86">
            <a:extLst>
              <a:ext uri="{FF2B5EF4-FFF2-40B4-BE49-F238E27FC236}">
                <a16:creationId xmlns:a16="http://schemas.microsoft.com/office/drawing/2014/main" id="{0CD89BD0-80DF-488B-B503-55E55909B3C2}"/>
              </a:ext>
            </a:extLst>
          </p:cNvPr>
          <p:cNvCxnSpPr/>
          <p:nvPr/>
        </p:nvCxnSpPr>
        <p:spPr>
          <a:xfrm>
            <a:off x="7467600" y="33528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88" name="Connector: Curved 87">
            <a:extLst>
              <a:ext uri="{FF2B5EF4-FFF2-40B4-BE49-F238E27FC236}">
                <a16:creationId xmlns:a16="http://schemas.microsoft.com/office/drawing/2014/main" id="{37943F43-E132-4FDE-8555-00A1FFDF4625}"/>
              </a:ext>
            </a:extLst>
          </p:cNvPr>
          <p:cNvCxnSpPr>
            <a:stCxn id="85" idx="7"/>
            <a:endCxn id="85" idx="5"/>
          </p:cNvCxnSpPr>
          <p:nvPr/>
        </p:nvCxnSpPr>
        <p:spPr>
          <a:xfrm rot="16200000" flipH="1">
            <a:off x="8283341" y="3352800"/>
            <a:ext cx="431052" cy="12700"/>
          </a:xfrm>
          <a:prstGeom prst="curvedConnector5">
            <a:avLst>
              <a:gd name="adj1" fmla="val -21771"/>
              <a:gd name="adj2" fmla="val 4532843"/>
              <a:gd name="adj3" fmla="val 108374"/>
            </a:avLst>
          </a:prstGeom>
          <a:ln>
            <a:tailEnd type="triangle"/>
          </a:ln>
        </p:spPr>
        <p:style>
          <a:lnRef idx="3">
            <a:schemeClr val="accent1"/>
          </a:lnRef>
          <a:fillRef idx="0">
            <a:schemeClr val="accent1"/>
          </a:fillRef>
          <a:effectRef idx="2">
            <a:schemeClr val="accent1"/>
          </a:effectRef>
          <a:fontRef idx="minor">
            <a:schemeClr val="tx1"/>
          </a:fontRef>
        </p:style>
      </p:cxnSp>
      <p:sp>
        <p:nvSpPr>
          <p:cNvPr id="89" name="TextBox 88">
            <a:extLst>
              <a:ext uri="{FF2B5EF4-FFF2-40B4-BE49-F238E27FC236}">
                <a16:creationId xmlns:a16="http://schemas.microsoft.com/office/drawing/2014/main" id="{C71CE746-5EFA-414E-8359-926D8F8D5414}"/>
              </a:ext>
            </a:extLst>
          </p:cNvPr>
          <p:cNvSpPr txBox="1"/>
          <p:nvPr/>
        </p:nvSpPr>
        <p:spPr>
          <a:xfrm>
            <a:off x="8923002" y="2813130"/>
            <a:ext cx="417102" cy="369332"/>
          </a:xfrm>
          <a:prstGeom prst="rect">
            <a:avLst/>
          </a:prstGeom>
          <a:noFill/>
        </p:spPr>
        <p:txBody>
          <a:bodyPr wrap="none" rtlCol="0">
            <a:spAutoFit/>
          </a:bodyPr>
          <a:lstStyle/>
          <a:p>
            <a:r>
              <a:rPr lang="en-US" dirty="0"/>
              <a:t>ab</a:t>
            </a:r>
            <a:endParaRPr lang="en-IN" dirty="0"/>
          </a:p>
        </p:txBody>
      </p:sp>
      <mc:AlternateContent xmlns:mc="http://schemas.openxmlformats.org/markup-compatibility/2006" xmlns:a14="http://schemas.microsoft.com/office/drawing/2010/main">
        <mc:Choice Requires="a14">
          <p:sp>
            <p:nvSpPr>
              <p:cNvPr id="90" name="Oval 89">
                <a:extLst>
                  <a:ext uri="{FF2B5EF4-FFF2-40B4-BE49-F238E27FC236}">
                    <a16:creationId xmlns:a16="http://schemas.microsoft.com/office/drawing/2014/main" id="{267C91C5-C6E9-4AD2-B4E8-1DB3A7DEED70}"/>
                  </a:ext>
                </a:extLst>
              </p:cNvPr>
              <p:cNvSpPr/>
              <p:nvPr/>
            </p:nvSpPr>
            <p:spPr>
              <a:xfrm>
                <a:off x="10273164" y="305874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90" name="Oval 89">
                <a:extLst>
                  <a:ext uri="{FF2B5EF4-FFF2-40B4-BE49-F238E27FC236}">
                    <a16:creationId xmlns:a16="http://schemas.microsoft.com/office/drawing/2014/main" id="{267C91C5-C6E9-4AD2-B4E8-1DB3A7DEED70}"/>
                  </a:ext>
                </a:extLst>
              </p:cNvPr>
              <p:cNvSpPr>
                <a:spLocks noRot="1" noChangeAspect="1" noMove="1" noResize="1" noEditPoints="1" noAdjustHandles="1" noChangeArrowheads="1" noChangeShapeType="1" noTextEdit="1"/>
              </p:cNvSpPr>
              <p:nvPr/>
            </p:nvSpPr>
            <p:spPr>
              <a:xfrm>
                <a:off x="10273164" y="3058743"/>
                <a:ext cx="609600" cy="609600"/>
              </a:xfrm>
              <a:prstGeom prst="ellipse">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Oval 90">
                <a:extLst>
                  <a:ext uri="{FF2B5EF4-FFF2-40B4-BE49-F238E27FC236}">
                    <a16:creationId xmlns:a16="http://schemas.microsoft.com/office/drawing/2014/main" id="{9FF38559-EBCD-41E0-ABD2-F26823D23102}"/>
                  </a:ext>
                </a:extLst>
              </p:cNvPr>
              <p:cNvSpPr/>
              <p:nvPr/>
            </p:nvSpPr>
            <p:spPr>
              <a:xfrm>
                <a:off x="11430000" y="307398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91" name="Oval 90">
                <a:extLst>
                  <a:ext uri="{FF2B5EF4-FFF2-40B4-BE49-F238E27FC236}">
                    <a16:creationId xmlns:a16="http://schemas.microsoft.com/office/drawing/2014/main" id="{9FF38559-EBCD-41E0-ABD2-F26823D23102}"/>
                  </a:ext>
                </a:extLst>
              </p:cNvPr>
              <p:cNvSpPr>
                <a:spLocks noRot="1" noChangeAspect="1" noMove="1" noResize="1" noEditPoints="1" noAdjustHandles="1" noChangeArrowheads="1" noChangeShapeType="1" noTextEdit="1"/>
              </p:cNvSpPr>
              <p:nvPr/>
            </p:nvSpPr>
            <p:spPr>
              <a:xfrm>
                <a:off x="11430000" y="3073983"/>
                <a:ext cx="609600" cy="609600"/>
              </a:xfrm>
              <a:prstGeom prst="ellipse">
                <a:avLst/>
              </a:prstGeom>
              <a:blipFill>
                <a:blip r:embed="rId19"/>
                <a:stretch>
                  <a:fillRect/>
                </a:stretch>
              </a:blipFill>
            </p:spPr>
            <p:txBody>
              <a:bodyPr/>
              <a:lstStyle/>
              <a:p>
                <a:r>
                  <a:rPr lang="en-IN">
                    <a:noFill/>
                  </a:rPr>
                  <a:t> </a:t>
                </a:r>
              </a:p>
            </p:txBody>
          </p:sp>
        </mc:Fallback>
      </mc:AlternateContent>
      <p:sp>
        <p:nvSpPr>
          <p:cNvPr id="92" name="Oval 91">
            <a:extLst>
              <a:ext uri="{FF2B5EF4-FFF2-40B4-BE49-F238E27FC236}">
                <a16:creationId xmlns:a16="http://schemas.microsoft.com/office/drawing/2014/main" id="{1060E84B-FC8F-4718-90F5-CEF8BAC0F202}"/>
              </a:ext>
            </a:extLst>
          </p:cNvPr>
          <p:cNvSpPr/>
          <p:nvPr/>
        </p:nvSpPr>
        <p:spPr>
          <a:xfrm>
            <a:off x="10340949" y="3143623"/>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93" name="Straight Arrow Connector 92">
            <a:extLst>
              <a:ext uri="{FF2B5EF4-FFF2-40B4-BE49-F238E27FC236}">
                <a16:creationId xmlns:a16="http://schemas.microsoft.com/office/drawing/2014/main" id="{021DE66A-67D1-476A-8D38-0B3C309F57FE}"/>
              </a:ext>
            </a:extLst>
          </p:cNvPr>
          <p:cNvCxnSpPr/>
          <p:nvPr/>
        </p:nvCxnSpPr>
        <p:spPr>
          <a:xfrm>
            <a:off x="9789093" y="3358171"/>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4" name="Connector: Curved 93">
            <a:extLst>
              <a:ext uri="{FF2B5EF4-FFF2-40B4-BE49-F238E27FC236}">
                <a16:creationId xmlns:a16="http://schemas.microsoft.com/office/drawing/2014/main" id="{96A79236-9E58-4DB4-8A08-40F70EEC2802}"/>
              </a:ext>
            </a:extLst>
          </p:cNvPr>
          <p:cNvCxnSpPr>
            <a:stCxn id="90" idx="7"/>
            <a:endCxn id="91" idx="0"/>
          </p:cNvCxnSpPr>
          <p:nvPr/>
        </p:nvCxnSpPr>
        <p:spPr>
          <a:xfrm rot="5400000" flipH="1" flipV="1">
            <a:off x="11227128" y="2640345"/>
            <a:ext cx="74034" cy="941310"/>
          </a:xfrm>
          <a:prstGeom prst="curvedConnector3">
            <a:avLst>
              <a:gd name="adj1" fmla="val 260348"/>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5" name="Connector: Curved 94">
            <a:extLst>
              <a:ext uri="{FF2B5EF4-FFF2-40B4-BE49-F238E27FC236}">
                <a16:creationId xmlns:a16="http://schemas.microsoft.com/office/drawing/2014/main" id="{3480D3FC-1CEA-431D-A9B7-5698716A8B7C}"/>
              </a:ext>
            </a:extLst>
          </p:cNvPr>
          <p:cNvCxnSpPr>
            <a:stCxn id="90" idx="5"/>
            <a:endCxn id="91" idx="4"/>
          </p:cNvCxnSpPr>
          <p:nvPr/>
        </p:nvCxnSpPr>
        <p:spPr>
          <a:xfrm rot="16200000" flipH="1">
            <a:off x="11211888" y="3160671"/>
            <a:ext cx="104514" cy="941310"/>
          </a:xfrm>
          <a:prstGeom prst="curvedConnector3">
            <a:avLst>
              <a:gd name="adj1" fmla="val 152955"/>
            </a:avLst>
          </a:prstGeom>
          <a:ln>
            <a:tailEnd type="triangle"/>
          </a:ln>
        </p:spPr>
        <p:style>
          <a:lnRef idx="3">
            <a:schemeClr val="accent1"/>
          </a:lnRef>
          <a:fillRef idx="0">
            <a:schemeClr val="accent1"/>
          </a:fillRef>
          <a:effectRef idx="2">
            <a:schemeClr val="accent1"/>
          </a:effectRef>
          <a:fontRef idx="minor">
            <a:schemeClr val="tx1"/>
          </a:fontRef>
        </p:style>
      </p:cxnSp>
      <p:sp>
        <p:nvSpPr>
          <p:cNvPr id="96" name="TextBox 95">
            <a:extLst>
              <a:ext uri="{FF2B5EF4-FFF2-40B4-BE49-F238E27FC236}">
                <a16:creationId xmlns:a16="http://schemas.microsoft.com/office/drawing/2014/main" id="{6C0F73C5-5522-45A7-842C-ACA0B01E15D8}"/>
              </a:ext>
            </a:extLst>
          </p:cNvPr>
          <p:cNvSpPr txBox="1"/>
          <p:nvPr/>
        </p:nvSpPr>
        <p:spPr>
          <a:xfrm>
            <a:off x="11071561" y="2895600"/>
            <a:ext cx="295274" cy="369332"/>
          </a:xfrm>
          <a:prstGeom prst="rect">
            <a:avLst/>
          </a:prstGeom>
          <a:noFill/>
        </p:spPr>
        <p:txBody>
          <a:bodyPr wrap="none" rtlCol="0">
            <a:spAutoFit/>
          </a:bodyPr>
          <a:lstStyle/>
          <a:p>
            <a:r>
              <a:rPr lang="en-US" dirty="0"/>
              <a:t>a</a:t>
            </a:r>
            <a:endParaRPr lang="en-IN" dirty="0"/>
          </a:p>
        </p:txBody>
      </p:sp>
      <p:sp>
        <p:nvSpPr>
          <p:cNvPr id="97" name="TextBox 96">
            <a:extLst>
              <a:ext uri="{FF2B5EF4-FFF2-40B4-BE49-F238E27FC236}">
                <a16:creationId xmlns:a16="http://schemas.microsoft.com/office/drawing/2014/main" id="{63F7E2FA-D01A-4897-A398-02176B1DA423}"/>
              </a:ext>
            </a:extLst>
          </p:cNvPr>
          <p:cNvSpPr txBox="1"/>
          <p:nvPr/>
        </p:nvSpPr>
        <p:spPr>
          <a:xfrm>
            <a:off x="11078339" y="3408403"/>
            <a:ext cx="306494" cy="369332"/>
          </a:xfrm>
          <a:prstGeom prst="rect">
            <a:avLst/>
          </a:prstGeom>
          <a:noFill/>
        </p:spPr>
        <p:txBody>
          <a:bodyPr wrap="none" rtlCol="0">
            <a:spAutoFit/>
          </a:bodyPr>
          <a:lstStyle/>
          <a:p>
            <a:r>
              <a:rPr lang="en-US" dirty="0"/>
              <a:t>b</a:t>
            </a:r>
            <a:endParaRPr lang="en-IN" dirty="0"/>
          </a:p>
        </p:txBody>
      </p:sp>
      <p:cxnSp>
        <p:nvCxnSpPr>
          <p:cNvPr id="105" name="Connector: Curved 104">
            <a:extLst>
              <a:ext uri="{FF2B5EF4-FFF2-40B4-BE49-F238E27FC236}">
                <a16:creationId xmlns:a16="http://schemas.microsoft.com/office/drawing/2014/main" id="{5E4FFD1A-8D81-4EAE-AF63-0009B79CDE08}"/>
              </a:ext>
            </a:extLst>
          </p:cNvPr>
          <p:cNvCxnSpPr/>
          <p:nvPr/>
        </p:nvCxnSpPr>
        <p:spPr>
          <a:xfrm>
            <a:off x="9031361" y="3735706"/>
            <a:ext cx="960539" cy="12700"/>
          </a:xfrm>
          <a:prstGeom prst="curvedConnector3">
            <a:avLst>
              <a:gd name="adj1" fmla="val 56012"/>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09" name="Oval 108">
                <a:extLst>
                  <a:ext uri="{FF2B5EF4-FFF2-40B4-BE49-F238E27FC236}">
                    <a16:creationId xmlns:a16="http://schemas.microsoft.com/office/drawing/2014/main" id="{6523F50D-73FA-4FFF-AE1A-A3E600DB85B1}"/>
                  </a:ext>
                </a:extLst>
              </p:cNvPr>
              <p:cNvSpPr/>
              <p:nvPr/>
            </p:nvSpPr>
            <p:spPr>
              <a:xfrm>
                <a:off x="8520564" y="398704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09" name="Oval 108">
                <a:extLst>
                  <a:ext uri="{FF2B5EF4-FFF2-40B4-BE49-F238E27FC236}">
                    <a16:creationId xmlns:a16="http://schemas.microsoft.com/office/drawing/2014/main" id="{6523F50D-73FA-4FFF-AE1A-A3E600DB85B1}"/>
                  </a:ext>
                </a:extLst>
              </p:cNvPr>
              <p:cNvSpPr>
                <a:spLocks noRot="1" noChangeAspect="1" noMove="1" noResize="1" noEditPoints="1" noAdjustHandles="1" noChangeArrowheads="1" noChangeShapeType="1" noTextEdit="1"/>
              </p:cNvSpPr>
              <p:nvPr/>
            </p:nvSpPr>
            <p:spPr>
              <a:xfrm>
                <a:off x="8520564" y="3987046"/>
                <a:ext cx="609600" cy="609600"/>
              </a:xfrm>
              <a:prstGeom prst="ellipse">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Oval 109">
                <a:extLst>
                  <a:ext uri="{FF2B5EF4-FFF2-40B4-BE49-F238E27FC236}">
                    <a16:creationId xmlns:a16="http://schemas.microsoft.com/office/drawing/2014/main" id="{D17FA665-A9BE-40EA-BB96-A63B4AD3B43F}"/>
                  </a:ext>
                </a:extLst>
              </p:cNvPr>
              <p:cNvSpPr/>
              <p:nvPr/>
            </p:nvSpPr>
            <p:spPr>
              <a:xfrm>
                <a:off x="9677400" y="400228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10" name="Oval 109">
                <a:extLst>
                  <a:ext uri="{FF2B5EF4-FFF2-40B4-BE49-F238E27FC236}">
                    <a16:creationId xmlns:a16="http://schemas.microsoft.com/office/drawing/2014/main" id="{D17FA665-A9BE-40EA-BB96-A63B4AD3B43F}"/>
                  </a:ext>
                </a:extLst>
              </p:cNvPr>
              <p:cNvSpPr>
                <a:spLocks noRot="1" noChangeAspect="1" noMove="1" noResize="1" noEditPoints="1" noAdjustHandles="1" noChangeArrowheads="1" noChangeShapeType="1" noTextEdit="1"/>
              </p:cNvSpPr>
              <p:nvPr/>
            </p:nvSpPr>
            <p:spPr>
              <a:xfrm>
                <a:off x="9677400" y="4002286"/>
                <a:ext cx="609600" cy="609600"/>
              </a:xfrm>
              <a:prstGeom prst="ellipse">
                <a:avLst/>
              </a:prstGeom>
              <a:blipFill>
                <a:blip r:embed="rId21"/>
                <a:stretch>
                  <a:fillRect/>
                </a:stretch>
              </a:blipFill>
            </p:spPr>
            <p:txBody>
              <a:bodyPr/>
              <a:lstStyle/>
              <a:p>
                <a:r>
                  <a:rPr lang="en-IN">
                    <a:noFill/>
                  </a:rPr>
                  <a:t> </a:t>
                </a:r>
              </a:p>
            </p:txBody>
          </p:sp>
        </mc:Fallback>
      </mc:AlternateContent>
      <p:sp>
        <p:nvSpPr>
          <p:cNvPr id="111" name="Oval 110">
            <a:extLst>
              <a:ext uri="{FF2B5EF4-FFF2-40B4-BE49-F238E27FC236}">
                <a16:creationId xmlns:a16="http://schemas.microsoft.com/office/drawing/2014/main" id="{E92938A7-6910-49E4-B3CB-FDE49EFED020}"/>
              </a:ext>
            </a:extLst>
          </p:cNvPr>
          <p:cNvSpPr/>
          <p:nvPr/>
        </p:nvSpPr>
        <p:spPr>
          <a:xfrm>
            <a:off x="9753600" y="4078486"/>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12" name="Straight Arrow Connector 111">
            <a:extLst>
              <a:ext uri="{FF2B5EF4-FFF2-40B4-BE49-F238E27FC236}">
                <a16:creationId xmlns:a16="http://schemas.microsoft.com/office/drawing/2014/main" id="{01EF9C27-2D67-4C1B-A17F-EA8C3216DBBD}"/>
              </a:ext>
            </a:extLst>
          </p:cNvPr>
          <p:cNvCxnSpPr/>
          <p:nvPr/>
        </p:nvCxnSpPr>
        <p:spPr>
          <a:xfrm>
            <a:off x="8036493" y="4286474"/>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9361807-83CB-4553-BCB8-A8C3F01FCDA8}"/>
              </a:ext>
            </a:extLst>
          </p:cNvPr>
          <p:cNvCxnSpPr>
            <a:stCxn id="109" idx="6"/>
            <a:endCxn id="110" idx="2"/>
          </p:cNvCxnSpPr>
          <p:nvPr/>
        </p:nvCxnSpPr>
        <p:spPr>
          <a:xfrm>
            <a:off x="9130164" y="4291846"/>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4" name="TextBox 113">
            <a:extLst>
              <a:ext uri="{FF2B5EF4-FFF2-40B4-BE49-F238E27FC236}">
                <a16:creationId xmlns:a16="http://schemas.microsoft.com/office/drawing/2014/main" id="{3C3DA8C6-AE72-4523-9F85-6DC1DA4BED44}"/>
              </a:ext>
            </a:extLst>
          </p:cNvPr>
          <p:cNvSpPr txBox="1"/>
          <p:nvPr/>
        </p:nvSpPr>
        <p:spPr>
          <a:xfrm>
            <a:off x="9242761" y="3962400"/>
            <a:ext cx="306494" cy="369332"/>
          </a:xfrm>
          <a:prstGeom prst="rect">
            <a:avLst/>
          </a:prstGeom>
          <a:noFill/>
        </p:spPr>
        <p:txBody>
          <a:bodyPr wrap="none" rtlCol="0">
            <a:spAutoFit/>
          </a:bodyPr>
          <a:lstStyle/>
          <a:p>
            <a:r>
              <a:rPr lang="en-US" dirty="0"/>
              <a:t>b</a:t>
            </a:r>
            <a:endParaRPr lang="en-IN" dirty="0"/>
          </a:p>
        </p:txBody>
      </p:sp>
      <p:cxnSp>
        <p:nvCxnSpPr>
          <p:cNvPr id="116" name="Connector: Curved 115">
            <a:extLst>
              <a:ext uri="{FF2B5EF4-FFF2-40B4-BE49-F238E27FC236}">
                <a16:creationId xmlns:a16="http://schemas.microsoft.com/office/drawing/2014/main" id="{02BE4950-5A14-4236-9A5A-E4BE4218095E}"/>
              </a:ext>
            </a:extLst>
          </p:cNvPr>
          <p:cNvCxnSpPr>
            <a:stCxn id="109" idx="3"/>
            <a:endCxn id="109" idx="5"/>
          </p:cNvCxnSpPr>
          <p:nvPr/>
        </p:nvCxnSpPr>
        <p:spPr>
          <a:xfrm rot="16200000" flipH="1">
            <a:off x="8825364" y="4291846"/>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117" name="TextBox 116">
            <a:extLst>
              <a:ext uri="{FF2B5EF4-FFF2-40B4-BE49-F238E27FC236}">
                <a16:creationId xmlns:a16="http://schemas.microsoft.com/office/drawing/2014/main" id="{905EC1C1-D28E-45A7-9B0D-B4BC47BDB4A9}"/>
              </a:ext>
            </a:extLst>
          </p:cNvPr>
          <p:cNvSpPr txBox="1"/>
          <p:nvPr/>
        </p:nvSpPr>
        <p:spPr>
          <a:xfrm>
            <a:off x="8696326" y="4507468"/>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118" name="Oval 117">
                <a:extLst>
                  <a:ext uri="{FF2B5EF4-FFF2-40B4-BE49-F238E27FC236}">
                    <a16:creationId xmlns:a16="http://schemas.microsoft.com/office/drawing/2014/main" id="{A439A864-0A0D-40FD-90C8-61AE8058BB45}"/>
                  </a:ext>
                </a:extLst>
              </p:cNvPr>
              <p:cNvSpPr/>
              <p:nvPr/>
            </p:nvSpPr>
            <p:spPr>
              <a:xfrm>
                <a:off x="8485071" y="505384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18" name="Oval 117">
                <a:extLst>
                  <a:ext uri="{FF2B5EF4-FFF2-40B4-BE49-F238E27FC236}">
                    <a16:creationId xmlns:a16="http://schemas.microsoft.com/office/drawing/2014/main" id="{A439A864-0A0D-40FD-90C8-61AE8058BB45}"/>
                  </a:ext>
                </a:extLst>
              </p:cNvPr>
              <p:cNvSpPr>
                <a:spLocks noRot="1" noChangeAspect="1" noMove="1" noResize="1" noEditPoints="1" noAdjustHandles="1" noChangeArrowheads="1" noChangeShapeType="1" noTextEdit="1"/>
              </p:cNvSpPr>
              <p:nvPr/>
            </p:nvSpPr>
            <p:spPr>
              <a:xfrm>
                <a:off x="8485071" y="5053846"/>
                <a:ext cx="609600" cy="609600"/>
              </a:xfrm>
              <a:prstGeom prst="ellipse">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Oval 118">
                <a:extLst>
                  <a:ext uri="{FF2B5EF4-FFF2-40B4-BE49-F238E27FC236}">
                    <a16:creationId xmlns:a16="http://schemas.microsoft.com/office/drawing/2014/main" id="{AA5B8DBC-E146-4573-B6F8-42B16371631A}"/>
                  </a:ext>
                </a:extLst>
              </p:cNvPr>
              <p:cNvSpPr/>
              <p:nvPr/>
            </p:nvSpPr>
            <p:spPr>
              <a:xfrm>
                <a:off x="9641907" y="506908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19" name="Oval 118">
                <a:extLst>
                  <a:ext uri="{FF2B5EF4-FFF2-40B4-BE49-F238E27FC236}">
                    <a16:creationId xmlns:a16="http://schemas.microsoft.com/office/drawing/2014/main" id="{AA5B8DBC-E146-4573-B6F8-42B16371631A}"/>
                  </a:ext>
                </a:extLst>
              </p:cNvPr>
              <p:cNvSpPr>
                <a:spLocks noRot="1" noChangeAspect="1" noMove="1" noResize="1" noEditPoints="1" noAdjustHandles="1" noChangeArrowheads="1" noChangeShapeType="1" noTextEdit="1"/>
              </p:cNvSpPr>
              <p:nvPr/>
            </p:nvSpPr>
            <p:spPr>
              <a:xfrm>
                <a:off x="9641907" y="5069086"/>
                <a:ext cx="609600" cy="609600"/>
              </a:xfrm>
              <a:prstGeom prst="ellipse">
                <a:avLst/>
              </a:prstGeom>
              <a:blipFill>
                <a:blip r:embed="rId23"/>
                <a:stretch>
                  <a:fillRect/>
                </a:stretch>
              </a:blipFill>
            </p:spPr>
            <p:txBody>
              <a:bodyPr/>
              <a:lstStyle/>
              <a:p>
                <a:r>
                  <a:rPr lang="en-IN">
                    <a:noFill/>
                  </a:rPr>
                  <a:t> </a:t>
                </a:r>
              </a:p>
            </p:txBody>
          </p:sp>
        </mc:Fallback>
      </mc:AlternateContent>
      <p:sp>
        <p:nvSpPr>
          <p:cNvPr id="120" name="Oval 119">
            <a:extLst>
              <a:ext uri="{FF2B5EF4-FFF2-40B4-BE49-F238E27FC236}">
                <a16:creationId xmlns:a16="http://schemas.microsoft.com/office/drawing/2014/main" id="{1813AED3-216F-4262-B645-BCB6EC6D9850}"/>
              </a:ext>
            </a:extLst>
          </p:cNvPr>
          <p:cNvSpPr/>
          <p:nvPr/>
        </p:nvSpPr>
        <p:spPr>
          <a:xfrm>
            <a:off x="9718107" y="5145286"/>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21" name="Straight Arrow Connector 120">
            <a:extLst>
              <a:ext uri="{FF2B5EF4-FFF2-40B4-BE49-F238E27FC236}">
                <a16:creationId xmlns:a16="http://schemas.microsoft.com/office/drawing/2014/main" id="{8F85C285-FB22-4692-923B-DDCDB7AC5482}"/>
              </a:ext>
            </a:extLst>
          </p:cNvPr>
          <p:cNvCxnSpPr/>
          <p:nvPr/>
        </p:nvCxnSpPr>
        <p:spPr>
          <a:xfrm>
            <a:off x="8001000" y="5353274"/>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2" name="Straight Arrow Connector 121">
            <a:extLst>
              <a:ext uri="{FF2B5EF4-FFF2-40B4-BE49-F238E27FC236}">
                <a16:creationId xmlns:a16="http://schemas.microsoft.com/office/drawing/2014/main" id="{3CA371D9-3444-4DAD-B8A3-E0F17E9C45A5}"/>
              </a:ext>
            </a:extLst>
          </p:cNvPr>
          <p:cNvCxnSpPr>
            <a:stCxn id="118" idx="6"/>
            <a:endCxn id="119" idx="2"/>
          </p:cNvCxnSpPr>
          <p:nvPr/>
        </p:nvCxnSpPr>
        <p:spPr>
          <a:xfrm>
            <a:off x="9094671" y="5358646"/>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3" name="TextBox 122">
            <a:extLst>
              <a:ext uri="{FF2B5EF4-FFF2-40B4-BE49-F238E27FC236}">
                <a16:creationId xmlns:a16="http://schemas.microsoft.com/office/drawing/2014/main" id="{F47BE5AB-1F3E-4285-985C-831F50E0305E}"/>
              </a:ext>
            </a:extLst>
          </p:cNvPr>
          <p:cNvSpPr txBox="1"/>
          <p:nvPr/>
        </p:nvSpPr>
        <p:spPr>
          <a:xfrm>
            <a:off x="9789093" y="4779162"/>
            <a:ext cx="306494" cy="369332"/>
          </a:xfrm>
          <a:prstGeom prst="rect">
            <a:avLst/>
          </a:prstGeom>
          <a:noFill/>
        </p:spPr>
        <p:txBody>
          <a:bodyPr wrap="none" rtlCol="0">
            <a:spAutoFit/>
          </a:bodyPr>
          <a:lstStyle/>
          <a:p>
            <a:r>
              <a:rPr lang="en-US" dirty="0"/>
              <a:t>b</a:t>
            </a:r>
            <a:endParaRPr lang="en-IN" dirty="0"/>
          </a:p>
        </p:txBody>
      </p:sp>
      <p:cxnSp>
        <p:nvCxnSpPr>
          <p:cNvPr id="124" name="Connector: Curved 123">
            <a:extLst>
              <a:ext uri="{FF2B5EF4-FFF2-40B4-BE49-F238E27FC236}">
                <a16:creationId xmlns:a16="http://schemas.microsoft.com/office/drawing/2014/main" id="{B6D8A5CF-26A4-4D80-9C9A-C84B02F24084}"/>
              </a:ext>
            </a:extLst>
          </p:cNvPr>
          <p:cNvCxnSpPr>
            <a:cxnSpLocks/>
          </p:cNvCxnSpPr>
          <p:nvPr/>
        </p:nvCxnSpPr>
        <p:spPr>
          <a:xfrm rot="16200000" flipH="1">
            <a:off x="9952192" y="4894242"/>
            <a:ext cx="12700" cy="431052"/>
          </a:xfrm>
          <a:prstGeom prst="curvedConnector3">
            <a:avLst>
              <a:gd name="adj1" fmla="val -2120213"/>
            </a:avLst>
          </a:prstGeom>
          <a:ln>
            <a:tailEnd type="triangle"/>
          </a:ln>
        </p:spPr>
        <p:style>
          <a:lnRef idx="3">
            <a:schemeClr val="accent1"/>
          </a:lnRef>
          <a:fillRef idx="0">
            <a:schemeClr val="accent1"/>
          </a:fillRef>
          <a:effectRef idx="2">
            <a:schemeClr val="accent1"/>
          </a:effectRef>
          <a:fontRef idx="minor">
            <a:schemeClr val="tx1"/>
          </a:fontRef>
        </p:style>
      </p:cxnSp>
      <p:sp>
        <p:nvSpPr>
          <p:cNvPr id="125" name="TextBox 124">
            <a:extLst>
              <a:ext uri="{FF2B5EF4-FFF2-40B4-BE49-F238E27FC236}">
                <a16:creationId xmlns:a16="http://schemas.microsoft.com/office/drawing/2014/main" id="{3C6A9D9D-3C3A-4583-9384-EFEC13673098}"/>
              </a:ext>
            </a:extLst>
          </p:cNvPr>
          <p:cNvSpPr txBox="1"/>
          <p:nvPr/>
        </p:nvSpPr>
        <p:spPr>
          <a:xfrm>
            <a:off x="9148763" y="5004554"/>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128" name="Oval 127">
                <a:extLst>
                  <a:ext uri="{FF2B5EF4-FFF2-40B4-BE49-F238E27FC236}">
                    <a16:creationId xmlns:a16="http://schemas.microsoft.com/office/drawing/2014/main" id="{A5610CBF-B5A4-470B-94D8-AB5839DA4412}"/>
                  </a:ext>
                </a:extLst>
              </p:cNvPr>
              <p:cNvSpPr/>
              <p:nvPr/>
            </p:nvSpPr>
            <p:spPr>
              <a:xfrm>
                <a:off x="10287000" y="602360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28" name="Oval 127">
                <a:extLst>
                  <a:ext uri="{FF2B5EF4-FFF2-40B4-BE49-F238E27FC236}">
                    <a16:creationId xmlns:a16="http://schemas.microsoft.com/office/drawing/2014/main" id="{A5610CBF-B5A4-470B-94D8-AB5839DA4412}"/>
                  </a:ext>
                </a:extLst>
              </p:cNvPr>
              <p:cNvSpPr>
                <a:spLocks noRot="1" noChangeAspect="1" noMove="1" noResize="1" noEditPoints="1" noAdjustHandles="1" noChangeArrowheads="1" noChangeShapeType="1" noTextEdit="1"/>
              </p:cNvSpPr>
              <p:nvPr/>
            </p:nvSpPr>
            <p:spPr>
              <a:xfrm>
                <a:off x="10287000" y="6023603"/>
                <a:ext cx="609600" cy="609600"/>
              </a:xfrm>
              <a:prstGeom prst="ellipse">
                <a:avLst/>
              </a:prstGeom>
              <a:blipFill>
                <a:blip r:embed="rId24"/>
                <a:stretch>
                  <a:fillRect/>
                </a:stretch>
              </a:blipFill>
            </p:spPr>
            <p:txBody>
              <a:bodyPr/>
              <a:lstStyle/>
              <a:p>
                <a:r>
                  <a:rPr lang="en-IN">
                    <a:noFill/>
                  </a:rPr>
                  <a:t> </a:t>
                </a:r>
              </a:p>
            </p:txBody>
          </p:sp>
        </mc:Fallback>
      </mc:AlternateContent>
      <p:sp>
        <p:nvSpPr>
          <p:cNvPr id="129" name="Oval 128">
            <a:extLst>
              <a:ext uri="{FF2B5EF4-FFF2-40B4-BE49-F238E27FC236}">
                <a16:creationId xmlns:a16="http://schemas.microsoft.com/office/drawing/2014/main" id="{9D125491-3B7D-441F-AA0E-F0554F803DCA}"/>
              </a:ext>
            </a:extLst>
          </p:cNvPr>
          <p:cNvSpPr/>
          <p:nvPr/>
        </p:nvSpPr>
        <p:spPr>
          <a:xfrm>
            <a:off x="10363200" y="6099803"/>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30" name="Straight Arrow Connector 129">
            <a:extLst>
              <a:ext uri="{FF2B5EF4-FFF2-40B4-BE49-F238E27FC236}">
                <a16:creationId xmlns:a16="http://schemas.microsoft.com/office/drawing/2014/main" id="{5136FFFD-26EF-46E0-BBDD-8C1030F2F518}"/>
              </a:ext>
            </a:extLst>
          </p:cNvPr>
          <p:cNvCxnSpPr/>
          <p:nvPr/>
        </p:nvCxnSpPr>
        <p:spPr>
          <a:xfrm>
            <a:off x="9776059" y="6328403"/>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1" name="Oval 130">
                <a:extLst>
                  <a:ext uri="{FF2B5EF4-FFF2-40B4-BE49-F238E27FC236}">
                    <a16:creationId xmlns:a16="http://schemas.microsoft.com/office/drawing/2014/main" id="{5430C215-E482-4E7F-BBBC-63F770DBF26E}"/>
                  </a:ext>
                </a:extLst>
              </p:cNvPr>
              <p:cNvSpPr/>
              <p:nvPr/>
            </p:nvSpPr>
            <p:spPr>
              <a:xfrm>
                <a:off x="9144000" y="602360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31" name="Oval 130">
                <a:extLst>
                  <a:ext uri="{FF2B5EF4-FFF2-40B4-BE49-F238E27FC236}">
                    <a16:creationId xmlns:a16="http://schemas.microsoft.com/office/drawing/2014/main" id="{5430C215-E482-4E7F-BBBC-63F770DBF26E}"/>
                  </a:ext>
                </a:extLst>
              </p:cNvPr>
              <p:cNvSpPr>
                <a:spLocks noRot="1" noChangeAspect="1" noMove="1" noResize="1" noEditPoints="1" noAdjustHandles="1" noChangeArrowheads="1" noChangeShapeType="1" noTextEdit="1"/>
              </p:cNvSpPr>
              <p:nvPr/>
            </p:nvSpPr>
            <p:spPr>
              <a:xfrm>
                <a:off x="9144000" y="6023603"/>
                <a:ext cx="609600" cy="609600"/>
              </a:xfrm>
              <a:prstGeom prst="ellipse">
                <a:avLst/>
              </a:prstGeom>
              <a:blipFill>
                <a:blip r:embed="rId25"/>
                <a:stretch>
                  <a:fillRect/>
                </a:stretch>
              </a:blipFill>
            </p:spPr>
            <p:txBody>
              <a:bodyPr/>
              <a:lstStyle/>
              <a:p>
                <a:r>
                  <a:rPr lang="en-IN">
                    <a:noFill/>
                  </a:rPr>
                  <a:t> </a:t>
                </a:r>
              </a:p>
            </p:txBody>
          </p:sp>
        </mc:Fallback>
      </mc:AlternateContent>
      <p:cxnSp>
        <p:nvCxnSpPr>
          <p:cNvPr id="132" name="Straight Arrow Connector 131">
            <a:extLst>
              <a:ext uri="{FF2B5EF4-FFF2-40B4-BE49-F238E27FC236}">
                <a16:creationId xmlns:a16="http://schemas.microsoft.com/office/drawing/2014/main" id="{4B0EFC29-F0B3-467D-8789-ADA17856BB67}"/>
              </a:ext>
            </a:extLst>
          </p:cNvPr>
          <p:cNvCxnSpPr/>
          <p:nvPr/>
        </p:nvCxnSpPr>
        <p:spPr>
          <a:xfrm>
            <a:off x="8659929" y="6323031"/>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3" name="TextBox 132">
            <a:extLst>
              <a:ext uri="{FF2B5EF4-FFF2-40B4-BE49-F238E27FC236}">
                <a16:creationId xmlns:a16="http://schemas.microsoft.com/office/drawing/2014/main" id="{31C45B89-64B0-4490-9B7A-3C3984C507DB}"/>
              </a:ext>
            </a:extLst>
          </p:cNvPr>
          <p:cNvSpPr txBox="1"/>
          <p:nvPr/>
        </p:nvSpPr>
        <p:spPr>
          <a:xfrm>
            <a:off x="9853316" y="5977568"/>
            <a:ext cx="306494" cy="369332"/>
          </a:xfrm>
          <a:prstGeom prst="rect">
            <a:avLst/>
          </a:prstGeom>
          <a:noFill/>
        </p:spPr>
        <p:txBody>
          <a:bodyPr wrap="none" rtlCol="0">
            <a:spAutoFit/>
          </a:bodyPr>
          <a:lstStyle/>
          <a:p>
            <a:r>
              <a:rPr lang="en-IN" dirty="0"/>
              <a:t>b</a:t>
            </a:r>
          </a:p>
        </p:txBody>
      </p:sp>
      <p:sp>
        <p:nvSpPr>
          <p:cNvPr id="134" name="Oval 133">
            <a:extLst>
              <a:ext uri="{FF2B5EF4-FFF2-40B4-BE49-F238E27FC236}">
                <a16:creationId xmlns:a16="http://schemas.microsoft.com/office/drawing/2014/main" id="{73D3492C-3FE9-43F3-87C6-B52B21677D0A}"/>
              </a:ext>
            </a:extLst>
          </p:cNvPr>
          <p:cNvSpPr/>
          <p:nvPr/>
        </p:nvSpPr>
        <p:spPr>
          <a:xfrm>
            <a:off x="9207500" y="6099803"/>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35" name="Connector: Curved 134">
            <a:extLst>
              <a:ext uri="{FF2B5EF4-FFF2-40B4-BE49-F238E27FC236}">
                <a16:creationId xmlns:a16="http://schemas.microsoft.com/office/drawing/2014/main" id="{87DC02E7-F488-485C-95F3-079411382C2B}"/>
              </a:ext>
            </a:extLst>
          </p:cNvPr>
          <p:cNvCxnSpPr>
            <a:stCxn id="131" idx="1"/>
            <a:endCxn id="131" idx="7"/>
          </p:cNvCxnSpPr>
          <p:nvPr/>
        </p:nvCxnSpPr>
        <p:spPr>
          <a:xfrm rot="5400000" flipH="1" flipV="1">
            <a:off x="9448800" y="5897351"/>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6" name="Connector: Curved 135">
            <a:extLst>
              <a:ext uri="{FF2B5EF4-FFF2-40B4-BE49-F238E27FC236}">
                <a16:creationId xmlns:a16="http://schemas.microsoft.com/office/drawing/2014/main" id="{A50EF665-D77D-421F-857B-C324E3D50AE8}"/>
              </a:ext>
            </a:extLst>
          </p:cNvPr>
          <p:cNvCxnSpPr>
            <a:stCxn id="128" idx="1"/>
            <a:endCxn id="128" idx="7"/>
          </p:cNvCxnSpPr>
          <p:nvPr/>
        </p:nvCxnSpPr>
        <p:spPr>
          <a:xfrm rot="5400000" flipH="1" flipV="1">
            <a:off x="10591800" y="5897351"/>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137" name="TextBox 136">
            <a:extLst>
              <a:ext uri="{FF2B5EF4-FFF2-40B4-BE49-F238E27FC236}">
                <a16:creationId xmlns:a16="http://schemas.microsoft.com/office/drawing/2014/main" id="{60CF34EF-A3ED-4A7E-A260-78ABC0CD6924}"/>
              </a:ext>
            </a:extLst>
          </p:cNvPr>
          <p:cNvSpPr txBox="1"/>
          <p:nvPr/>
        </p:nvSpPr>
        <p:spPr>
          <a:xfrm>
            <a:off x="9321919" y="5715000"/>
            <a:ext cx="295274" cy="369332"/>
          </a:xfrm>
          <a:prstGeom prst="rect">
            <a:avLst/>
          </a:prstGeom>
          <a:noFill/>
        </p:spPr>
        <p:txBody>
          <a:bodyPr wrap="none" rtlCol="0">
            <a:spAutoFit/>
          </a:bodyPr>
          <a:lstStyle/>
          <a:p>
            <a:r>
              <a:rPr lang="en-US" dirty="0"/>
              <a:t>a</a:t>
            </a:r>
            <a:endParaRPr lang="en-IN" dirty="0"/>
          </a:p>
        </p:txBody>
      </p:sp>
      <p:sp>
        <p:nvSpPr>
          <p:cNvPr id="138" name="TextBox 137">
            <a:extLst>
              <a:ext uri="{FF2B5EF4-FFF2-40B4-BE49-F238E27FC236}">
                <a16:creationId xmlns:a16="http://schemas.microsoft.com/office/drawing/2014/main" id="{84AF295E-9EE2-44E9-BF18-0DCF54A59FAA}"/>
              </a:ext>
            </a:extLst>
          </p:cNvPr>
          <p:cNvSpPr txBox="1"/>
          <p:nvPr/>
        </p:nvSpPr>
        <p:spPr>
          <a:xfrm>
            <a:off x="10447150" y="5715000"/>
            <a:ext cx="282450" cy="369332"/>
          </a:xfrm>
          <a:prstGeom prst="rect">
            <a:avLst/>
          </a:prstGeom>
          <a:noFill/>
        </p:spPr>
        <p:txBody>
          <a:bodyPr wrap="none" rtlCol="0">
            <a:spAutoFit/>
          </a:bodyPr>
          <a:lstStyle/>
          <a:p>
            <a:r>
              <a:rPr lang="en-US" dirty="0"/>
              <a:t>c</a:t>
            </a:r>
            <a:endParaRPr lang="en-IN" dirty="0"/>
          </a:p>
        </p:txBody>
      </p:sp>
    </p:spTree>
    <p:extLst>
      <p:ext uri="{BB962C8B-B14F-4D97-AF65-F5344CB8AC3E}">
        <p14:creationId xmlns:p14="http://schemas.microsoft.com/office/powerpoint/2010/main" val="148430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4">
                                            <p:txEl>
                                              <p:pRg st="0" end="0"/>
                                            </p:txEl>
                                          </p:spTgt>
                                        </p:tgtEl>
                                        <p:attrNameLst>
                                          <p:attrName>style.visibility</p:attrName>
                                        </p:attrNameLst>
                                      </p:cBhvr>
                                      <p:to>
                                        <p:strVal val="visible"/>
                                      </p:to>
                                    </p:set>
                                    <p:animEffect transition="in" filter="fade">
                                      <p:cBhvr>
                                        <p:cTn id="109" dur="500"/>
                                        <p:tgtEl>
                                          <p:spTgt spid="4">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53"/>
                                        </p:tgtEl>
                                        <p:attrNameLst>
                                          <p:attrName>style.visibility</p:attrName>
                                        </p:attrNameLst>
                                      </p:cBhvr>
                                      <p:to>
                                        <p:strVal val="visible"/>
                                      </p:to>
                                    </p:set>
                                    <p:animEffect transition="in" filter="fade">
                                      <p:cBhvr>
                                        <p:cTn id="138" dur="500"/>
                                        <p:tgtEl>
                                          <p:spTgt spid="53"/>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500"/>
                                        <p:tgtEl>
                                          <p:spTgt spid="54"/>
                                        </p:tgtEl>
                                      </p:cBhvr>
                                    </p:animEffect>
                                  </p:childTnLst>
                                </p:cTn>
                              </p:par>
                              <p:par>
                                <p:cTn id="142" presetID="10" presetClass="entr" presetSubtype="0" fill="hold" nodeType="withEffect">
                                  <p:stCondLst>
                                    <p:cond delay="0"/>
                                  </p:stCondLst>
                                  <p:childTnLst>
                                    <p:set>
                                      <p:cBhvr>
                                        <p:cTn id="143" dur="1" fill="hold">
                                          <p:stCondLst>
                                            <p:cond delay="0"/>
                                          </p:stCondLst>
                                        </p:cTn>
                                        <p:tgtEl>
                                          <p:spTgt spid="55"/>
                                        </p:tgtEl>
                                        <p:attrNameLst>
                                          <p:attrName>style.visibility</p:attrName>
                                        </p:attrNameLst>
                                      </p:cBhvr>
                                      <p:to>
                                        <p:strVal val="visible"/>
                                      </p:to>
                                    </p:set>
                                    <p:animEffect transition="in" filter="fade">
                                      <p:cBhvr>
                                        <p:cTn id="144" dur="500"/>
                                        <p:tgtEl>
                                          <p:spTgt spid="55"/>
                                        </p:tgtEl>
                                      </p:cBhvr>
                                    </p:animEffect>
                                  </p:childTnLst>
                                </p:cTn>
                              </p:par>
                              <p:par>
                                <p:cTn id="145" presetID="10" presetClass="entr" presetSubtype="0" fill="hold" nodeType="withEffect">
                                  <p:stCondLst>
                                    <p:cond delay="0"/>
                                  </p:stCondLst>
                                  <p:childTnLst>
                                    <p:set>
                                      <p:cBhvr>
                                        <p:cTn id="146" dur="1" fill="hold">
                                          <p:stCondLst>
                                            <p:cond delay="0"/>
                                          </p:stCondLst>
                                        </p:cTn>
                                        <p:tgtEl>
                                          <p:spTgt spid="56"/>
                                        </p:tgtEl>
                                        <p:attrNameLst>
                                          <p:attrName>style.visibility</p:attrName>
                                        </p:attrNameLst>
                                      </p:cBhvr>
                                      <p:to>
                                        <p:strVal val="visible"/>
                                      </p:to>
                                    </p:set>
                                    <p:animEffect transition="in" filter="fade">
                                      <p:cBhvr>
                                        <p:cTn id="147" dur="500"/>
                                        <p:tgtEl>
                                          <p:spTgt spid="56"/>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7"/>
                                        </p:tgtEl>
                                        <p:attrNameLst>
                                          <p:attrName>style.visibility</p:attrName>
                                        </p:attrNameLst>
                                      </p:cBhvr>
                                      <p:to>
                                        <p:strVal val="visible"/>
                                      </p:to>
                                    </p:set>
                                    <p:animEffect transition="in" filter="fade">
                                      <p:cBhvr>
                                        <p:cTn id="150" dur="500"/>
                                        <p:tgtEl>
                                          <p:spTgt spid="57"/>
                                        </p:tgtEl>
                                      </p:cBhvr>
                                    </p:animEffect>
                                  </p:childTnLst>
                                </p:cTn>
                              </p:par>
                              <p:par>
                                <p:cTn id="151" presetID="10" presetClass="entr" presetSubtype="0" fill="hold" nodeType="withEffect">
                                  <p:stCondLst>
                                    <p:cond delay="0"/>
                                  </p:stCondLst>
                                  <p:childTnLst>
                                    <p:set>
                                      <p:cBhvr>
                                        <p:cTn id="152" dur="1" fill="hold">
                                          <p:stCondLst>
                                            <p:cond delay="0"/>
                                          </p:stCondLst>
                                        </p:cTn>
                                        <p:tgtEl>
                                          <p:spTgt spid="58"/>
                                        </p:tgtEl>
                                        <p:attrNameLst>
                                          <p:attrName>style.visibility</p:attrName>
                                        </p:attrNameLst>
                                      </p:cBhvr>
                                      <p:to>
                                        <p:strVal val="visible"/>
                                      </p:to>
                                    </p:set>
                                    <p:animEffect transition="in" filter="fade">
                                      <p:cBhvr>
                                        <p:cTn id="153" dur="500"/>
                                        <p:tgtEl>
                                          <p:spTgt spid="58"/>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9"/>
                                        </p:tgtEl>
                                        <p:attrNameLst>
                                          <p:attrName>style.visibility</p:attrName>
                                        </p:attrNameLst>
                                      </p:cBhvr>
                                      <p:to>
                                        <p:strVal val="visible"/>
                                      </p:to>
                                    </p:set>
                                    <p:animEffect transition="in" filter="fade">
                                      <p:cBhvr>
                                        <p:cTn id="156" dur="500"/>
                                        <p:tgtEl>
                                          <p:spTgt spid="59"/>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60"/>
                                        </p:tgtEl>
                                        <p:attrNameLst>
                                          <p:attrName>style.visibility</p:attrName>
                                        </p:attrNameLst>
                                      </p:cBhvr>
                                      <p:to>
                                        <p:strVal val="visible"/>
                                      </p:to>
                                    </p:set>
                                    <p:animEffect transition="in" filter="fade">
                                      <p:cBhvr>
                                        <p:cTn id="159" dur="500"/>
                                        <p:tgtEl>
                                          <p:spTgt spid="60"/>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grpId="0" nodeType="clickEffect">
                                  <p:stCondLst>
                                    <p:cond delay="0"/>
                                  </p:stCondLst>
                                  <p:childTnLst>
                                    <p:set>
                                      <p:cBhvr>
                                        <p:cTn id="163" dur="1" fill="hold">
                                          <p:stCondLst>
                                            <p:cond delay="0"/>
                                          </p:stCondLst>
                                        </p:cTn>
                                        <p:tgtEl>
                                          <p:spTgt spid="62"/>
                                        </p:tgtEl>
                                        <p:attrNameLst>
                                          <p:attrName>style.visibility</p:attrName>
                                        </p:attrNameLst>
                                      </p:cBhvr>
                                      <p:to>
                                        <p:strVal val="visible"/>
                                      </p:to>
                                    </p:set>
                                    <p:animEffect transition="in" filter="fade">
                                      <p:cBhvr>
                                        <p:cTn id="164" dur="500"/>
                                        <p:tgtEl>
                                          <p:spTgt spid="62"/>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61"/>
                                        </p:tgtEl>
                                        <p:attrNameLst>
                                          <p:attrName>style.visibility</p:attrName>
                                        </p:attrNameLst>
                                      </p:cBhvr>
                                      <p:to>
                                        <p:strVal val="visible"/>
                                      </p:to>
                                    </p:set>
                                  </p:childTnLst>
                                </p:cTn>
                              </p:par>
                              <p:par>
                                <p:cTn id="169" presetID="10" presetClass="entr" presetSubtype="0" fill="hold"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500"/>
                                        <p:tgtEl>
                                          <p:spTgt spid="63"/>
                                        </p:tgtEl>
                                      </p:cBhvr>
                                    </p:animEffect>
                                  </p:childTnLst>
                                </p:cTn>
                              </p:par>
                              <p:par>
                                <p:cTn id="172" presetID="10" presetClass="entr" presetSubtype="0" fill="hold"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fade">
                                      <p:cBhvr>
                                        <p:cTn id="174" dur="500"/>
                                        <p:tgtEl>
                                          <p:spTgt spid="6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animEffect transition="in" filter="fade">
                                      <p:cBhvr>
                                        <p:cTn id="177" dur="500"/>
                                        <p:tgtEl>
                                          <p:spTgt spid="65"/>
                                        </p:tgtEl>
                                      </p:cBhvr>
                                    </p:animEffec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66"/>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childTnLst>
                                </p:cTn>
                              </p:par>
                              <p:par>
                                <p:cTn id="184" presetID="1" presetClass="entr" presetSubtype="0" fill="hold" nodeType="withEffect">
                                  <p:stCondLst>
                                    <p:cond delay="0"/>
                                  </p:stCondLst>
                                  <p:childTnLst>
                                    <p:set>
                                      <p:cBhvr>
                                        <p:cTn id="185" dur="1" fill="hold">
                                          <p:stCondLst>
                                            <p:cond delay="0"/>
                                          </p:stCondLst>
                                        </p:cTn>
                                        <p:tgtEl>
                                          <p:spTgt spid="68"/>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70"/>
                                        </p:tgtEl>
                                        <p:attrNameLst>
                                          <p:attrName>style.visibility</p:attrName>
                                        </p:attrNameLst>
                                      </p:cBhvr>
                                      <p:to>
                                        <p:strVal val="visible"/>
                                      </p:to>
                                    </p:set>
                                  </p:childTnLst>
                                </p:cTn>
                              </p:par>
                              <p:par>
                                <p:cTn id="188" presetID="1" presetClass="entr" presetSubtype="0" fill="hold" nodeType="withEffect">
                                  <p:stCondLst>
                                    <p:cond delay="0"/>
                                  </p:stCondLst>
                                  <p:childTnLst>
                                    <p:set>
                                      <p:cBhvr>
                                        <p:cTn id="189" dur="1" fill="hold">
                                          <p:stCondLst>
                                            <p:cond delay="0"/>
                                          </p:stCondLst>
                                        </p:cTn>
                                        <p:tgtEl>
                                          <p:spTgt spid="71"/>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72"/>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74"/>
                                        </p:tgtEl>
                                        <p:attrNameLst>
                                          <p:attrName>style.visibility</p:attrName>
                                        </p:attrNameLst>
                                      </p:cBhvr>
                                      <p:to>
                                        <p:strVal val="visible"/>
                                      </p:to>
                                    </p:set>
                                  </p:childTnLst>
                                </p:cTn>
                              </p:par>
                              <p:par>
                                <p:cTn id="194" presetID="1" presetClass="entr" presetSubtype="0" fill="hold" nodeType="withEffect">
                                  <p:stCondLst>
                                    <p:cond delay="0"/>
                                  </p:stCondLst>
                                  <p:childTnLst>
                                    <p:set>
                                      <p:cBhvr>
                                        <p:cTn id="195" dur="1" fill="hold">
                                          <p:stCondLst>
                                            <p:cond delay="0"/>
                                          </p:stCondLst>
                                        </p:cTn>
                                        <p:tgtEl>
                                          <p:spTgt spid="76"/>
                                        </p:tgtEl>
                                        <p:attrNameLst>
                                          <p:attrName>style.visibility</p:attrName>
                                        </p:attrNameLst>
                                      </p:cBhvr>
                                      <p:to>
                                        <p:strVal val="visible"/>
                                      </p:to>
                                    </p:set>
                                  </p:childTnLst>
                                </p:cTn>
                              </p:par>
                              <p:par>
                                <p:cTn id="196" presetID="1" presetClass="entr" presetSubtype="0" fill="hold" nodeType="withEffect">
                                  <p:stCondLst>
                                    <p:cond delay="0"/>
                                  </p:stCondLst>
                                  <p:childTnLst>
                                    <p:set>
                                      <p:cBhvr>
                                        <p:cTn id="197" dur="1" fill="hold">
                                          <p:stCondLst>
                                            <p:cond delay="0"/>
                                          </p:stCondLst>
                                        </p:cTn>
                                        <p:tgtEl>
                                          <p:spTgt spid="78"/>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79"/>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80"/>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grpId="0" nodeType="clickEffect">
                                  <p:stCondLst>
                                    <p:cond delay="0"/>
                                  </p:stCondLst>
                                  <p:childTnLst>
                                    <p:set>
                                      <p:cBhvr>
                                        <p:cTn id="205" dur="1" fill="hold">
                                          <p:stCondLst>
                                            <p:cond delay="0"/>
                                          </p:stCondLst>
                                        </p:cTn>
                                        <p:tgtEl>
                                          <p:spTgt spid="85"/>
                                        </p:tgtEl>
                                        <p:attrNameLst>
                                          <p:attrName>style.visibility</p:attrName>
                                        </p:attrNameLst>
                                      </p:cBhvr>
                                      <p:to>
                                        <p:strVal val="visible"/>
                                      </p:to>
                                    </p:set>
                                    <p:animEffect transition="in" filter="fade">
                                      <p:cBhvr>
                                        <p:cTn id="206" dur="500"/>
                                        <p:tgtEl>
                                          <p:spTgt spid="85"/>
                                        </p:tgtEl>
                                      </p:cBhvr>
                                    </p:animEffect>
                                  </p:childTnLst>
                                </p:cTn>
                              </p:par>
                              <p:par>
                                <p:cTn id="207" presetID="1" presetClass="entr" presetSubtype="0" fill="hold" nodeType="withEffect">
                                  <p:stCondLst>
                                    <p:cond delay="0"/>
                                  </p:stCondLst>
                                  <p:childTnLst>
                                    <p:set>
                                      <p:cBhvr>
                                        <p:cTn id="208" dur="1" fill="hold">
                                          <p:stCondLst>
                                            <p:cond delay="0"/>
                                          </p:stCondLst>
                                        </p:cTn>
                                        <p:tgtEl>
                                          <p:spTgt spid="87"/>
                                        </p:tgtEl>
                                        <p:attrNameLst>
                                          <p:attrName>style.visibility</p:attrName>
                                        </p:attrNameLst>
                                      </p:cBhvr>
                                      <p:to>
                                        <p:strVal val="visible"/>
                                      </p:to>
                                    </p:set>
                                  </p:childTnLst>
                                </p:cTn>
                              </p:par>
                              <p:par>
                                <p:cTn id="209" presetID="10" presetClass="entr" presetSubtype="0" fill="hold" grpId="0" nodeType="withEffect">
                                  <p:stCondLst>
                                    <p:cond delay="0"/>
                                  </p:stCondLst>
                                  <p:childTnLst>
                                    <p:set>
                                      <p:cBhvr>
                                        <p:cTn id="210" dur="1" fill="hold">
                                          <p:stCondLst>
                                            <p:cond delay="0"/>
                                          </p:stCondLst>
                                        </p:cTn>
                                        <p:tgtEl>
                                          <p:spTgt spid="86"/>
                                        </p:tgtEl>
                                        <p:attrNameLst>
                                          <p:attrName>style.visibility</p:attrName>
                                        </p:attrNameLst>
                                      </p:cBhvr>
                                      <p:to>
                                        <p:strVal val="visible"/>
                                      </p:to>
                                    </p:set>
                                    <p:animEffect transition="in" filter="fade">
                                      <p:cBhvr>
                                        <p:cTn id="211" dur="500"/>
                                        <p:tgtEl>
                                          <p:spTgt spid="86"/>
                                        </p:tgtEl>
                                      </p:cBhvr>
                                    </p:animEffect>
                                  </p:childTnLst>
                                </p:cTn>
                              </p:par>
                              <p:par>
                                <p:cTn id="212" presetID="10" presetClass="entr" presetSubtype="0" fill="hold" nodeType="withEffect">
                                  <p:stCondLst>
                                    <p:cond delay="0"/>
                                  </p:stCondLst>
                                  <p:childTnLst>
                                    <p:set>
                                      <p:cBhvr>
                                        <p:cTn id="213" dur="1" fill="hold">
                                          <p:stCondLst>
                                            <p:cond delay="0"/>
                                          </p:stCondLst>
                                        </p:cTn>
                                        <p:tgtEl>
                                          <p:spTgt spid="88"/>
                                        </p:tgtEl>
                                        <p:attrNameLst>
                                          <p:attrName>style.visibility</p:attrName>
                                        </p:attrNameLst>
                                      </p:cBhvr>
                                      <p:to>
                                        <p:strVal val="visible"/>
                                      </p:to>
                                    </p:set>
                                    <p:animEffect transition="in" filter="fade">
                                      <p:cBhvr>
                                        <p:cTn id="214" dur="500"/>
                                        <p:tgtEl>
                                          <p:spTgt spid="88"/>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Effect transition="in" filter="fade">
                                      <p:cBhvr>
                                        <p:cTn id="217" dur="500"/>
                                        <p:tgtEl>
                                          <p:spTgt spid="89"/>
                                        </p:tgtEl>
                                      </p:cBhvr>
                                    </p:animEffec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nodeType="clickEffect">
                                  <p:stCondLst>
                                    <p:cond delay="0"/>
                                  </p:stCondLst>
                                  <p:childTnLst>
                                    <p:set>
                                      <p:cBhvr>
                                        <p:cTn id="221" dur="1" fill="hold">
                                          <p:stCondLst>
                                            <p:cond delay="0"/>
                                          </p:stCondLst>
                                        </p:cTn>
                                        <p:tgtEl>
                                          <p:spTgt spid="105"/>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1" presetClass="entr" presetSubtype="0" fill="hold" grpId="0" nodeType="clickEffect">
                                  <p:stCondLst>
                                    <p:cond delay="0"/>
                                  </p:stCondLst>
                                  <p:childTnLst>
                                    <p:set>
                                      <p:cBhvr>
                                        <p:cTn id="225" dur="1" fill="hold">
                                          <p:stCondLst>
                                            <p:cond delay="0"/>
                                          </p:stCondLst>
                                        </p:cTn>
                                        <p:tgtEl>
                                          <p:spTgt spid="90"/>
                                        </p:tgtEl>
                                        <p:attrNameLst>
                                          <p:attrName>style.visibility</p:attrName>
                                        </p:attrNameLst>
                                      </p:cBhvr>
                                      <p:to>
                                        <p:strVal val="visible"/>
                                      </p:to>
                                    </p:set>
                                  </p:childTnLst>
                                </p:cTn>
                              </p:par>
                              <p:par>
                                <p:cTn id="226" presetID="1" presetClass="entr" presetSubtype="0" fill="hold" grpId="0" nodeType="withEffect">
                                  <p:stCondLst>
                                    <p:cond delay="0"/>
                                  </p:stCondLst>
                                  <p:childTnLst>
                                    <p:set>
                                      <p:cBhvr>
                                        <p:cTn id="227" dur="1" fill="hold">
                                          <p:stCondLst>
                                            <p:cond delay="0"/>
                                          </p:stCondLst>
                                        </p:cTn>
                                        <p:tgtEl>
                                          <p:spTgt spid="91"/>
                                        </p:tgtEl>
                                        <p:attrNameLst>
                                          <p:attrName>style.visibility</p:attrName>
                                        </p:attrNameLst>
                                      </p:cBhvr>
                                      <p:to>
                                        <p:strVal val="visible"/>
                                      </p:to>
                                    </p:set>
                                  </p:childTnLst>
                                </p:cTn>
                              </p:par>
                              <p:par>
                                <p:cTn id="228" presetID="1" presetClass="entr" presetSubtype="0" fill="hold" grpId="0" nodeType="withEffect">
                                  <p:stCondLst>
                                    <p:cond delay="0"/>
                                  </p:stCondLst>
                                  <p:childTnLst>
                                    <p:set>
                                      <p:cBhvr>
                                        <p:cTn id="229" dur="1" fill="hold">
                                          <p:stCondLst>
                                            <p:cond delay="0"/>
                                          </p:stCondLst>
                                        </p:cTn>
                                        <p:tgtEl>
                                          <p:spTgt spid="92"/>
                                        </p:tgtEl>
                                        <p:attrNameLst>
                                          <p:attrName>style.visibility</p:attrName>
                                        </p:attrNameLst>
                                      </p:cBhvr>
                                      <p:to>
                                        <p:strVal val="visible"/>
                                      </p:to>
                                    </p:set>
                                  </p:childTnLst>
                                </p:cTn>
                              </p:par>
                              <p:par>
                                <p:cTn id="230" presetID="1" presetClass="entr" presetSubtype="0" fill="hold" nodeType="withEffect">
                                  <p:stCondLst>
                                    <p:cond delay="0"/>
                                  </p:stCondLst>
                                  <p:childTnLst>
                                    <p:set>
                                      <p:cBhvr>
                                        <p:cTn id="231" dur="1" fill="hold">
                                          <p:stCondLst>
                                            <p:cond delay="0"/>
                                          </p:stCondLst>
                                        </p:cTn>
                                        <p:tgtEl>
                                          <p:spTgt spid="94"/>
                                        </p:tgtEl>
                                        <p:attrNameLst>
                                          <p:attrName>style.visibility</p:attrName>
                                        </p:attrNameLst>
                                      </p:cBhvr>
                                      <p:to>
                                        <p:strVal val="visible"/>
                                      </p:to>
                                    </p:set>
                                  </p:childTnLst>
                                </p:cTn>
                              </p:par>
                              <p:par>
                                <p:cTn id="232" presetID="1" presetClass="entr" presetSubtype="0" fill="hold" nodeType="withEffect">
                                  <p:stCondLst>
                                    <p:cond delay="0"/>
                                  </p:stCondLst>
                                  <p:childTnLst>
                                    <p:set>
                                      <p:cBhvr>
                                        <p:cTn id="233" dur="1" fill="hold">
                                          <p:stCondLst>
                                            <p:cond delay="0"/>
                                          </p:stCondLst>
                                        </p:cTn>
                                        <p:tgtEl>
                                          <p:spTgt spid="95"/>
                                        </p:tgtEl>
                                        <p:attrNameLst>
                                          <p:attrName>style.visibility</p:attrName>
                                        </p:attrNameLst>
                                      </p:cBhvr>
                                      <p:to>
                                        <p:strVal val="visible"/>
                                      </p:to>
                                    </p:set>
                                  </p:childTnLst>
                                </p:cTn>
                              </p:par>
                              <p:par>
                                <p:cTn id="234" presetID="1" presetClass="entr" presetSubtype="0" fill="hold" grpId="0" nodeType="withEffect">
                                  <p:stCondLst>
                                    <p:cond delay="0"/>
                                  </p:stCondLst>
                                  <p:childTnLst>
                                    <p:set>
                                      <p:cBhvr>
                                        <p:cTn id="235" dur="1" fill="hold">
                                          <p:stCondLst>
                                            <p:cond delay="0"/>
                                          </p:stCondLst>
                                        </p:cTn>
                                        <p:tgtEl>
                                          <p:spTgt spid="96"/>
                                        </p:tgtEl>
                                        <p:attrNameLst>
                                          <p:attrName>style.visibility</p:attrName>
                                        </p:attrNameLst>
                                      </p:cBhvr>
                                      <p:to>
                                        <p:strVal val="visible"/>
                                      </p:to>
                                    </p:set>
                                  </p:childTnLst>
                                </p:cTn>
                              </p:par>
                              <p:par>
                                <p:cTn id="236" presetID="1" presetClass="entr" presetSubtype="0" fill="hold" grpId="0" nodeType="withEffect">
                                  <p:stCondLst>
                                    <p:cond delay="0"/>
                                  </p:stCondLst>
                                  <p:childTnLst>
                                    <p:set>
                                      <p:cBhvr>
                                        <p:cTn id="237" dur="1" fill="hold">
                                          <p:stCondLst>
                                            <p:cond delay="0"/>
                                          </p:stCondLst>
                                        </p:cTn>
                                        <p:tgtEl>
                                          <p:spTgt spid="97"/>
                                        </p:tgtEl>
                                        <p:attrNameLst>
                                          <p:attrName>style.visibility</p:attrName>
                                        </p:attrNameLst>
                                      </p:cBhvr>
                                      <p:to>
                                        <p:strVal val="visible"/>
                                      </p:to>
                                    </p:set>
                                  </p:childTnLst>
                                </p:cTn>
                              </p:par>
                              <p:par>
                                <p:cTn id="238" presetID="1" presetClass="entr" presetSubtype="0" fill="hold" nodeType="withEffect">
                                  <p:stCondLst>
                                    <p:cond delay="0"/>
                                  </p:stCondLst>
                                  <p:childTnLst>
                                    <p:set>
                                      <p:cBhvr>
                                        <p:cTn id="239" dur="1" fill="hold">
                                          <p:stCondLst>
                                            <p:cond delay="0"/>
                                          </p:stCondLst>
                                        </p:cTn>
                                        <p:tgtEl>
                                          <p:spTgt spid="93"/>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grpId="0" nodeType="clickEffect">
                                  <p:stCondLst>
                                    <p:cond delay="0"/>
                                  </p:stCondLst>
                                  <p:childTnLst>
                                    <p:set>
                                      <p:cBhvr>
                                        <p:cTn id="243" dur="1" fill="hold">
                                          <p:stCondLst>
                                            <p:cond delay="0"/>
                                          </p:stCondLst>
                                        </p:cTn>
                                        <p:tgtEl>
                                          <p:spTgt spid="109"/>
                                        </p:tgtEl>
                                        <p:attrNameLst>
                                          <p:attrName>style.visibility</p:attrName>
                                        </p:attrNameLst>
                                      </p:cBhvr>
                                      <p:to>
                                        <p:strVal val="visible"/>
                                      </p:to>
                                    </p:set>
                                  </p:childTnLst>
                                </p:cTn>
                              </p:par>
                              <p:par>
                                <p:cTn id="244" presetID="1" presetClass="entr" presetSubtype="0" fill="hold" grpId="0" nodeType="withEffect">
                                  <p:stCondLst>
                                    <p:cond delay="0"/>
                                  </p:stCondLst>
                                  <p:childTnLst>
                                    <p:set>
                                      <p:cBhvr>
                                        <p:cTn id="245" dur="1" fill="hold">
                                          <p:stCondLst>
                                            <p:cond delay="0"/>
                                          </p:stCondLst>
                                        </p:cTn>
                                        <p:tgtEl>
                                          <p:spTgt spid="110"/>
                                        </p:tgtEl>
                                        <p:attrNameLst>
                                          <p:attrName>style.visibility</p:attrName>
                                        </p:attrNameLst>
                                      </p:cBhvr>
                                      <p:to>
                                        <p:strVal val="visible"/>
                                      </p:to>
                                    </p:set>
                                  </p:childTnLst>
                                </p:cTn>
                              </p:par>
                              <p:par>
                                <p:cTn id="246" presetID="1" presetClass="entr" presetSubtype="0" fill="hold" grpId="0" nodeType="withEffect">
                                  <p:stCondLst>
                                    <p:cond delay="0"/>
                                  </p:stCondLst>
                                  <p:childTnLst>
                                    <p:set>
                                      <p:cBhvr>
                                        <p:cTn id="247" dur="1" fill="hold">
                                          <p:stCondLst>
                                            <p:cond delay="0"/>
                                          </p:stCondLst>
                                        </p:cTn>
                                        <p:tgtEl>
                                          <p:spTgt spid="111"/>
                                        </p:tgtEl>
                                        <p:attrNameLst>
                                          <p:attrName>style.visibility</p:attrName>
                                        </p:attrNameLst>
                                      </p:cBhvr>
                                      <p:to>
                                        <p:strVal val="visible"/>
                                      </p:to>
                                    </p:set>
                                  </p:childTnLst>
                                </p:cTn>
                              </p:par>
                              <p:par>
                                <p:cTn id="248" presetID="1" presetClass="entr" presetSubtype="0" fill="hold" nodeType="withEffect">
                                  <p:stCondLst>
                                    <p:cond delay="0"/>
                                  </p:stCondLst>
                                  <p:childTnLst>
                                    <p:set>
                                      <p:cBhvr>
                                        <p:cTn id="249" dur="1" fill="hold">
                                          <p:stCondLst>
                                            <p:cond delay="0"/>
                                          </p:stCondLst>
                                        </p:cTn>
                                        <p:tgtEl>
                                          <p:spTgt spid="112"/>
                                        </p:tgtEl>
                                        <p:attrNameLst>
                                          <p:attrName>style.visibility</p:attrName>
                                        </p:attrNameLst>
                                      </p:cBhvr>
                                      <p:to>
                                        <p:strVal val="visible"/>
                                      </p:to>
                                    </p:set>
                                  </p:childTnLst>
                                </p:cTn>
                              </p:par>
                              <p:par>
                                <p:cTn id="250" presetID="1" presetClass="entr" presetSubtype="0" fill="hold" nodeType="withEffect">
                                  <p:stCondLst>
                                    <p:cond delay="0"/>
                                  </p:stCondLst>
                                  <p:childTnLst>
                                    <p:set>
                                      <p:cBhvr>
                                        <p:cTn id="251" dur="1" fill="hold">
                                          <p:stCondLst>
                                            <p:cond delay="0"/>
                                          </p:stCondLst>
                                        </p:cTn>
                                        <p:tgtEl>
                                          <p:spTgt spid="113"/>
                                        </p:tgtEl>
                                        <p:attrNameLst>
                                          <p:attrName>style.visibility</p:attrName>
                                        </p:attrNameLst>
                                      </p:cBhvr>
                                      <p:to>
                                        <p:strVal val="visible"/>
                                      </p:to>
                                    </p:set>
                                  </p:childTnLst>
                                </p:cTn>
                              </p:par>
                              <p:par>
                                <p:cTn id="252" presetID="1" presetClass="entr" presetSubtype="0" fill="hold" nodeType="withEffect">
                                  <p:stCondLst>
                                    <p:cond delay="0"/>
                                  </p:stCondLst>
                                  <p:childTnLst>
                                    <p:set>
                                      <p:cBhvr>
                                        <p:cTn id="253" dur="1" fill="hold">
                                          <p:stCondLst>
                                            <p:cond delay="0"/>
                                          </p:stCondLst>
                                        </p:cTn>
                                        <p:tgtEl>
                                          <p:spTgt spid="116"/>
                                        </p:tgtEl>
                                        <p:attrNameLst>
                                          <p:attrName>style.visibility</p:attrName>
                                        </p:attrNameLst>
                                      </p:cBhvr>
                                      <p:to>
                                        <p:strVal val="visible"/>
                                      </p:to>
                                    </p:set>
                                  </p:childTnLst>
                                </p:cTn>
                              </p:par>
                              <p:par>
                                <p:cTn id="254" presetID="1" presetClass="entr" presetSubtype="0" fill="hold" grpId="0" nodeType="withEffect">
                                  <p:stCondLst>
                                    <p:cond delay="0"/>
                                  </p:stCondLst>
                                  <p:childTnLst>
                                    <p:set>
                                      <p:cBhvr>
                                        <p:cTn id="255" dur="1" fill="hold">
                                          <p:stCondLst>
                                            <p:cond delay="0"/>
                                          </p:stCondLst>
                                        </p:cTn>
                                        <p:tgtEl>
                                          <p:spTgt spid="114"/>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117"/>
                                        </p:tgtEl>
                                        <p:attrNameLst>
                                          <p:attrName>style.visibility</p:attrName>
                                        </p:attrNameLst>
                                      </p:cBhvr>
                                      <p:to>
                                        <p:strVal val="visible"/>
                                      </p:to>
                                    </p:set>
                                  </p:childTnLst>
                                </p:cTn>
                              </p:par>
                            </p:childTnLst>
                          </p:cTn>
                        </p:par>
                      </p:childTnLst>
                    </p:cTn>
                  </p:par>
                  <p:par>
                    <p:cTn id="258" fill="hold">
                      <p:stCondLst>
                        <p:cond delay="indefinite"/>
                      </p:stCondLst>
                      <p:childTnLst>
                        <p:par>
                          <p:cTn id="259" fill="hold">
                            <p:stCondLst>
                              <p:cond delay="0"/>
                            </p:stCondLst>
                            <p:childTnLst>
                              <p:par>
                                <p:cTn id="260" presetID="1" presetClass="entr" presetSubtype="0" fill="hold" grpId="0" nodeType="clickEffect">
                                  <p:stCondLst>
                                    <p:cond delay="0"/>
                                  </p:stCondLst>
                                  <p:childTnLst>
                                    <p:set>
                                      <p:cBhvr>
                                        <p:cTn id="261" dur="1" fill="hold">
                                          <p:stCondLst>
                                            <p:cond delay="0"/>
                                          </p:stCondLst>
                                        </p:cTn>
                                        <p:tgtEl>
                                          <p:spTgt spid="118"/>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119"/>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120"/>
                                        </p:tgtEl>
                                        <p:attrNameLst>
                                          <p:attrName>style.visibility</p:attrName>
                                        </p:attrNameLst>
                                      </p:cBhvr>
                                      <p:to>
                                        <p:strVal val="visible"/>
                                      </p:to>
                                    </p:set>
                                  </p:childTnLst>
                                </p:cTn>
                              </p:par>
                              <p:par>
                                <p:cTn id="266" presetID="1" presetClass="entr" presetSubtype="0" fill="hold" nodeType="withEffect">
                                  <p:stCondLst>
                                    <p:cond delay="0"/>
                                  </p:stCondLst>
                                  <p:childTnLst>
                                    <p:set>
                                      <p:cBhvr>
                                        <p:cTn id="267" dur="1" fill="hold">
                                          <p:stCondLst>
                                            <p:cond delay="0"/>
                                          </p:stCondLst>
                                        </p:cTn>
                                        <p:tgtEl>
                                          <p:spTgt spid="121"/>
                                        </p:tgtEl>
                                        <p:attrNameLst>
                                          <p:attrName>style.visibility</p:attrName>
                                        </p:attrNameLst>
                                      </p:cBhvr>
                                      <p:to>
                                        <p:strVal val="visible"/>
                                      </p:to>
                                    </p:set>
                                  </p:childTnLst>
                                </p:cTn>
                              </p:par>
                              <p:par>
                                <p:cTn id="268" presetID="1" presetClass="entr" presetSubtype="0" fill="hold" nodeType="withEffect">
                                  <p:stCondLst>
                                    <p:cond delay="0"/>
                                  </p:stCondLst>
                                  <p:childTnLst>
                                    <p:set>
                                      <p:cBhvr>
                                        <p:cTn id="269" dur="1" fill="hold">
                                          <p:stCondLst>
                                            <p:cond delay="0"/>
                                          </p:stCondLst>
                                        </p:cTn>
                                        <p:tgtEl>
                                          <p:spTgt spid="122"/>
                                        </p:tgtEl>
                                        <p:attrNameLst>
                                          <p:attrName>style.visibility</p:attrName>
                                        </p:attrNameLst>
                                      </p:cBhvr>
                                      <p:to>
                                        <p:strVal val="visible"/>
                                      </p:to>
                                    </p:set>
                                  </p:childTnLst>
                                </p:cTn>
                              </p:par>
                              <p:par>
                                <p:cTn id="270" presetID="1" presetClass="entr" presetSubtype="0" fill="hold" grpId="0" nodeType="withEffect">
                                  <p:stCondLst>
                                    <p:cond delay="0"/>
                                  </p:stCondLst>
                                  <p:childTnLst>
                                    <p:set>
                                      <p:cBhvr>
                                        <p:cTn id="271" dur="1" fill="hold">
                                          <p:stCondLst>
                                            <p:cond delay="0"/>
                                          </p:stCondLst>
                                        </p:cTn>
                                        <p:tgtEl>
                                          <p:spTgt spid="125"/>
                                        </p:tgtEl>
                                        <p:attrNameLst>
                                          <p:attrName>style.visibility</p:attrName>
                                        </p:attrNameLst>
                                      </p:cBhvr>
                                      <p:to>
                                        <p:strVal val="visible"/>
                                      </p:to>
                                    </p:set>
                                  </p:childTnLst>
                                </p:cTn>
                              </p:par>
                              <p:par>
                                <p:cTn id="272" presetID="1" presetClass="entr" presetSubtype="0" fill="hold" grpId="0" nodeType="withEffect">
                                  <p:stCondLst>
                                    <p:cond delay="0"/>
                                  </p:stCondLst>
                                  <p:childTnLst>
                                    <p:set>
                                      <p:cBhvr>
                                        <p:cTn id="273" dur="1" fill="hold">
                                          <p:stCondLst>
                                            <p:cond delay="0"/>
                                          </p:stCondLst>
                                        </p:cTn>
                                        <p:tgtEl>
                                          <p:spTgt spid="123"/>
                                        </p:tgtEl>
                                        <p:attrNameLst>
                                          <p:attrName>style.visibility</p:attrName>
                                        </p:attrNameLst>
                                      </p:cBhvr>
                                      <p:to>
                                        <p:strVal val="visible"/>
                                      </p:to>
                                    </p:set>
                                  </p:childTnLst>
                                </p:cTn>
                              </p:par>
                              <p:par>
                                <p:cTn id="274" presetID="1" presetClass="entr" presetSubtype="0" fill="hold" nodeType="withEffect">
                                  <p:stCondLst>
                                    <p:cond delay="0"/>
                                  </p:stCondLst>
                                  <p:childTnLst>
                                    <p:set>
                                      <p:cBhvr>
                                        <p:cTn id="275" dur="1" fill="hold">
                                          <p:stCondLst>
                                            <p:cond delay="0"/>
                                          </p:stCondLst>
                                        </p:cTn>
                                        <p:tgtEl>
                                          <p:spTgt spid="124"/>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presetID="10" presetClass="entr" presetSubtype="0" fill="hold" grpId="0" nodeType="clickEffect">
                                  <p:stCondLst>
                                    <p:cond delay="0"/>
                                  </p:stCondLst>
                                  <p:childTnLst>
                                    <p:set>
                                      <p:cBhvr>
                                        <p:cTn id="279" dur="1" fill="hold">
                                          <p:stCondLst>
                                            <p:cond delay="0"/>
                                          </p:stCondLst>
                                        </p:cTn>
                                        <p:tgtEl>
                                          <p:spTgt spid="128"/>
                                        </p:tgtEl>
                                        <p:attrNameLst>
                                          <p:attrName>style.visibility</p:attrName>
                                        </p:attrNameLst>
                                      </p:cBhvr>
                                      <p:to>
                                        <p:strVal val="visible"/>
                                      </p:to>
                                    </p:set>
                                    <p:animEffect transition="in" filter="fade">
                                      <p:cBhvr>
                                        <p:cTn id="280" dur="500"/>
                                        <p:tgtEl>
                                          <p:spTgt spid="128"/>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129"/>
                                        </p:tgtEl>
                                        <p:attrNameLst>
                                          <p:attrName>style.visibility</p:attrName>
                                        </p:attrNameLst>
                                      </p:cBhvr>
                                      <p:to>
                                        <p:strVal val="visible"/>
                                      </p:to>
                                    </p:set>
                                    <p:animEffect transition="in" filter="fade">
                                      <p:cBhvr>
                                        <p:cTn id="283" dur="500"/>
                                        <p:tgtEl>
                                          <p:spTgt spid="129"/>
                                        </p:tgtEl>
                                      </p:cBhvr>
                                    </p:animEffect>
                                  </p:childTnLst>
                                </p:cTn>
                              </p:par>
                              <p:par>
                                <p:cTn id="284" presetID="10" presetClass="entr" presetSubtype="0" fill="hold" nodeType="withEffect">
                                  <p:stCondLst>
                                    <p:cond delay="0"/>
                                  </p:stCondLst>
                                  <p:childTnLst>
                                    <p:set>
                                      <p:cBhvr>
                                        <p:cTn id="285" dur="1" fill="hold">
                                          <p:stCondLst>
                                            <p:cond delay="0"/>
                                          </p:stCondLst>
                                        </p:cTn>
                                        <p:tgtEl>
                                          <p:spTgt spid="130"/>
                                        </p:tgtEl>
                                        <p:attrNameLst>
                                          <p:attrName>style.visibility</p:attrName>
                                        </p:attrNameLst>
                                      </p:cBhvr>
                                      <p:to>
                                        <p:strVal val="visible"/>
                                      </p:to>
                                    </p:set>
                                    <p:animEffect transition="in" filter="fade">
                                      <p:cBhvr>
                                        <p:cTn id="286" dur="500"/>
                                        <p:tgtEl>
                                          <p:spTgt spid="130"/>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131"/>
                                        </p:tgtEl>
                                        <p:attrNameLst>
                                          <p:attrName>style.visibility</p:attrName>
                                        </p:attrNameLst>
                                      </p:cBhvr>
                                      <p:to>
                                        <p:strVal val="visible"/>
                                      </p:to>
                                    </p:set>
                                    <p:animEffect transition="in" filter="fade">
                                      <p:cBhvr>
                                        <p:cTn id="289" dur="500"/>
                                        <p:tgtEl>
                                          <p:spTgt spid="131"/>
                                        </p:tgtEl>
                                      </p:cBhvr>
                                    </p:animEffect>
                                  </p:childTnLst>
                                </p:cTn>
                              </p:par>
                              <p:par>
                                <p:cTn id="290" presetID="10" presetClass="entr" presetSubtype="0" fill="hold" nodeType="withEffect">
                                  <p:stCondLst>
                                    <p:cond delay="0"/>
                                  </p:stCondLst>
                                  <p:childTnLst>
                                    <p:set>
                                      <p:cBhvr>
                                        <p:cTn id="291" dur="1" fill="hold">
                                          <p:stCondLst>
                                            <p:cond delay="0"/>
                                          </p:stCondLst>
                                        </p:cTn>
                                        <p:tgtEl>
                                          <p:spTgt spid="132"/>
                                        </p:tgtEl>
                                        <p:attrNameLst>
                                          <p:attrName>style.visibility</p:attrName>
                                        </p:attrNameLst>
                                      </p:cBhvr>
                                      <p:to>
                                        <p:strVal val="visible"/>
                                      </p:to>
                                    </p:set>
                                    <p:animEffect transition="in" filter="fade">
                                      <p:cBhvr>
                                        <p:cTn id="292" dur="500"/>
                                        <p:tgtEl>
                                          <p:spTgt spid="132"/>
                                        </p:tgtEl>
                                      </p:cBhvr>
                                    </p:animEffect>
                                  </p:childTnLst>
                                </p:cTn>
                              </p:par>
                              <p:par>
                                <p:cTn id="293" presetID="10" presetClass="entr" presetSubtype="0" fill="hold" grpId="0" nodeType="withEffect">
                                  <p:stCondLst>
                                    <p:cond delay="0"/>
                                  </p:stCondLst>
                                  <p:childTnLst>
                                    <p:set>
                                      <p:cBhvr>
                                        <p:cTn id="294" dur="1" fill="hold">
                                          <p:stCondLst>
                                            <p:cond delay="0"/>
                                          </p:stCondLst>
                                        </p:cTn>
                                        <p:tgtEl>
                                          <p:spTgt spid="133"/>
                                        </p:tgtEl>
                                        <p:attrNameLst>
                                          <p:attrName>style.visibility</p:attrName>
                                        </p:attrNameLst>
                                      </p:cBhvr>
                                      <p:to>
                                        <p:strVal val="visible"/>
                                      </p:to>
                                    </p:set>
                                    <p:animEffect transition="in" filter="fade">
                                      <p:cBhvr>
                                        <p:cTn id="295" dur="500"/>
                                        <p:tgtEl>
                                          <p:spTgt spid="133"/>
                                        </p:tgtEl>
                                      </p:cBhvr>
                                    </p:animEffect>
                                  </p:childTnLst>
                                </p:cTn>
                              </p:par>
                              <p:par>
                                <p:cTn id="296" presetID="10" presetClass="entr" presetSubtype="0" fill="hold" grpId="0" nodeType="withEffect">
                                  <p:stCondLst>
                                    <p:cond delay="0"/>
                                  </p:stCondLst>
                                  <p:childTnLst>
                                    <p:set>
                                      <p:cBhvr>
                                        <p:cTn id="297" dur="1" fill="hold">
                                          <p:stCondLst>
                                            <p:cond delay="0"/>
                                          </p:stCondLst>
                                        </p:cTn>
                                        <p:tgtEl>
                                          <p:spTgt spid="134"/>
                                        </p:tgtEl>
                                        <p:attrNameLst>
                                          <p:attrName>style.visibility</p:attrName>
                                        </p:attrNameLst>
                                      </p:cBhvr>
                                      <p:to>
                                        <p:strVal val="visible"/>
                                      </p:to>
                                    </p:set>
                                    <p:animEffect transition="in" filter="fade">
                                      <p:cBhvr>
                                        <p:cTn id="298" dur="500"/>
                                        <p:tgtEl>
                                          <p:spTgt spid="134"/>
                                        </p:tgtEl>
                                      </p:cBhvr>
                                    </p:animEffect>
                                  </p:childTnLst>
                                </p:cTn>
                              </p:par>
                              <p:par>
                                <p:cTn id="299" presetID="1" presetClass="entr" presetSubtype="0" fill="hold" grpId="0" nodeType="withEffect">
                                  <p:stCondLst>
                                    <p:cond delay="0"/>
                                  </p:stCondLst>
                                  <p:childTnLst>
                                    <p:set>
                                      <p:cBhvr>
                                        <p:cTn id="300" dur="1" fill="hold">
                                          <p:stCondLst>
                                            <p:cond delay="0"/>
                                          </p:stCondLst>
                                        </p:cTn>
                                        <p:tgtEl>
                                          <p:spTgt spid="137"/>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138"/>
                                        </p:tgtEl>
                                        <p:attrNameLst>
                                          <p:attrName>style.visibility</p:attrName>
                                        </p:attrNameLst>
                                      </p:cBhvr>
                                      <p:to>
                                        <p:strVal val="visible"/>
                                      </p:to>
                                    </p:set>
                                  </p:childTnLst>
                                </p:cTn>
                              </p:par>
                              <p:par>
                                <p:cTn id="303" presetID="10" presetClass="entr" presetSubtype="0" fill="hold" nodeType="withEffect">
                                  <p:stCondLst>
                                    <p:cond delay="0"/>
                                  </p:stCondLst>
                                  <p:childTnLst>
                                    <p:set>
                                      <p:cBhvr>
                                        <p:cTn id="304" dur="1" fill="hold">
                                          <p:stCondLst>
                                            <p:cond delay="0"/>
                                          </p:stCondLst>
                                        </p:cTn>
                                        <p:tgtEl>
                                          <p:spTgt spid="135"/>
                                        </p:tgtEl>
                                        <p:attrNameLst>
                                          <p:attrName>style.visibility</p:attrName>
                                        </p:attrNameLst>
                                      </p:cBhvr>
                                      <p:to>
                                        <p:strVal val="visible"/>
                                      </p:to>
                                    </p:set>
                                    <p:animEffect transition="in" filter="fade">
                                      <p:cBhvr>
                                        <p:cTn id="305" dur="500"/>
                                        <p:tgtEl>
                                          <p:spTgt spid="135"/>
                                        </p:tgtEl>
                                      </p:cBhvr>
                                    </p:animEffect>
                                  </p:childTnLst>
                                </p:cTn>
                              </p:par>
                              <p:par>
                                <p:cTn id="306" presetID="10" presetClass="entr" presetSubtype="0" fill="hold" nodeType="withEffect">
                                  <p:stCondLst>
                                    <p:cond delay="0"/>
                                  </p:stCondLst>
                                  <p:childTnLst>
                                    <p:set>
                                      <p:cBhvr>
                                        <p:cTn id="307" dur="1" fill="hold">
                                          <p:stCondLst>
                                            <p:cond delay="0"/>
                                          </p:stCondLst>
                                        </p:cTn>
                                        <p:tgtEl>
                                          <p:spTgt spid="136"/>
                                        </p:tgtEl>
                                        <p:attrNameLst>
                                          <p:attrName>style.visibility</p:attrName>
                                        </p:attrNameLst>
                                      </p:cBhvr>
                                      <p:to>
                                        <p:strVal val="visible"/>
                                      </p:to>
                                    </p:set>
                                    <p:animEffect transition="in" filter="fade">
                                      <p:cBhvr>
                                        <p:cTn id="308"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7" grpId="0" animBg="1"/>
      <p:bldP spid="8" grpId="0" animBg="1"/>
      <p:bldP spid="12" grpId="0" animBg="1"/>
      <p:bldP spid="13" grpId="0" animBg="1"/>
      <p:bldP spid="14" grpId="0" animBg="1"/>
      <p:bldP spid="18" grpId="0"/>
      <p:bldP spid="19" grpId="0" animBg="1"/>
      <p:bldP spid="20" grpId="0" animBg="1"/>
      <p:bldP spid="21" grpId="0" animBg="1"/>
      <p:bldP spid="30" grpId="0"/>
      <p:bldP spid="31" grpId="0"/>
      <p:bldP spid="32" grpId="0" animBg="1"/>
      <p:bldP spid="33" grpId="0" animBg="1"/>
      <p:bldP spid="37" grpId="0"/>
      <p:bldP spid="38" grpId="0" animBg="1"/>
      <p:bldP spid="39" grpId="0" animBg="1"/>
      <p:bldP spid="41" grpId="0"/>
      <p:bldP spid="44" grpId="0" animBg="1"/>
      <p:bldP spid="45" grpId="0" animBg="1"/>
      <p:bldP spid="52" grpId="0"/>
      <p:bldP spid="53" grpId="0" animBg="1"/>
      <p:bldP spid="54" grpId="0" animBg="1"/>
      <p:bldP spid="57" grpId="0" animBg="1"/>
      <p:bldP spid="59" grpId="0"/>
      <p:bldP spid="60" grpId="0"/>
      <p:bldP spid="61" grpId="0" animBg="1"/>
      <p:bldP spid="62" grpId="0" animBg="1"/>
      <p:bldP spid="65" grpId="0"/>
      <p:bldP spid="66" grpId="0" animBg="1"/>
      <p:bldP spid="67" grpId="0" animBg="1"/>
      <p:bldP spid="70" grpId="0" animBg="1"/>
      <p:bldP spid="72" grpId="0"/>
      <p:bldP spid="74" grpId="0" animBg="1"/>
      <p:bldP spid="79" grpId="0"/>
      <p:bldP spid="80" grpId="0"/>
      <p:bldP spid="85" grpId="0" animBg="1"/>
      <p:bldP spid="86" grpId="0" animBg="1"/>
      <p:bldP spid="89" grpId="0"/>
      <p:bldP spid="90" grpId="0" animBg="1"/>
      <p:bldP spid="91" grpId="0" animBg="1"/>
      <p:bldP spid="92" grpId="0" animBg="1"/>
      <p:bldP spid="96" grpId="0"/>
      <p:bldP spid="97" grpId="0"/>
      <p:bldP spid="109" grpId="0" animBg="1"/>
      <p:bldP spid="110" grpId="0" animBg="1"/>
      <p:bldP spid="111" grpId="0" animBg="1"/>
      <p:bldP spid="114" grpId="0"/>
      <p:bldP spid="117" grpId="0"/>
      <p:bldP spid="118" grpId="0" animBg="1"/>
      <p:bldP spid="119" grpId="0" animBg="1"/>
      <p:bldP spid="120" grpId="0" animBg="1"/>
      <p:bldP spid="123" grpId="0"/>
      <p:bldP spid="125" grpId="0"/>
      <p:bldP spid="128" grpId="0" animBg="1"/>
      <p:bldP spid="129" grpId="0" animBg="1"/>
      <p:bldP spid="131" grpId="0" animBg="1"/>
      <p:bldP spid="133" grpId="0"/>
      <p:bldP spid="134" grpId="0" animBg="1"/>
      <p:bldP spid="137" grpId="0"/>
      <p:bldP spid="13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2A217-0FAD-463A-A35C-6DE1F994501D}"/>
              </a:ext>
            </a:extLst>
          </p:cNvPr>
          <p:cNvSpPr>
            <a:spLocks noGrp="1"/>
          </p:cNvSpPr>
          <p:nvPr>
            <p:ph idx="1"/>
          </p:nvPr>
        </p:nvSpPr>
        <p:spPr>
          <a:xfrm>
            <a:off x="254000" y="228600"/>
            <a:ext cx="3403600" cy="6096000"/>
          </a:xfrm>
        </p:spPr>
        <p:txBody>
          <a:bodyPr/>
          <a:lstStyle/>
          <a:p>
            <a:r>
              <a:rPr lang="en-IN" dirty="0"/>
              <a:t>a*b(</a:t>
            </a:r>
            <a:r>
              <a:rPr lang="en-IN" dirty="0" err="1"/>
              <a:t>a+b</a:t>
            </a:r>
            <a:r>
              <a:rPr lang="en-IN" dirty="0"/>
              <a:t>)*</a:t>
            </a:r>
          </a:p>
          <a:p>
            <a:endParaRPr lang="en-IN" dirty="0"/>
          </a:p>
          <a:p>
            <a:endParaRPr lang="en-IN" dirty="0"/>
          </a:p>
          <a:p>
            <a:r>
              <a:rPr lang="en-IN" dirty="0"/>
              <a:t>(ab)* a b*</a:t>
            </a:r>
          </a:p>
          <a:p>
            <a:endParaRPr lang="en-IN" dirty="0"/>
          </a:p>
          <a:p>
            <a:endParaRPr lang="en-IN" dirty="0"/>
          </a:p>
          <a:p>
            <a:r>
              <a:rPr lang="en-IN" dirty="0"/>
              <a:t>(</a:t>
            </a:r>
            <a:r>
              <a:rPr lang="en-IN" dirty="0" err="1"/>
              <a:t>a+ba</a:t>
            </a:r>
            <a:r>
              <a:rPr lang="en-IN" dirty="0"/>
              <a:t>)*</a:t>
            </a:r>
            <a:r>
              <a:rPr lang="en-IN" dirty="0" err="1"/>
              <a:t>ba</a:t>
            </a:r>
            <a:endParaRPr lang="en-IN" dirty="0"/>
          </a:p>
          <a:p>
            <a:endParaRPr lang="en-IN" dirty="0"/>
          </a:p>
          <a:p>
            <a:endParaRPr lang="en-IN" dirty="0"/>
          </a:p>
          <a:p>
            <a:r>
              <a:rPr lang="en-IN" dirty="0"/>
              <a:t>(</a:t>
            </a:r>
            <a:r>
              <a:rPr lang="en-IN" dirty="0" err="1"/>
              <a:t>aa+aaa</a:t>
            </a:r>
            <a:r>
              <a:rPr lang="en-IN" dirty="0"/>
              <a:t>)*</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E6E6A8C2-D382-4B28-82BE-B08250FC5BDC}"/>
                  </a:ext>
                </a:extLst>
              </p:cNvPr>
              <p:cNvSpPr/>
              <p:nvPr/>
            </p:nvSpPr>
            <p:spPr>
              <a:xfrm>
                <a:off x="4294071" y="30860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4" name="Oval 3">
                <a:extLst>
                  <a:ext uri="{FF2B5EF4-FFF2-40B4-BE49-F238E27FC236}">
                    <a16:creationId xmlns:a16="http://schemas.microsoft.com/office/drawing/2014/main" id="{E6E6A8C2-D382-4B28-82BE-B08250FC5BDC}"/>
                  </a:ext>
                </a:extLst>
              </p:cNvPr>
              <p:cNvSpPr>
                <a:spLocks noRot="1" noChangeAspect="1" noMove="1" noResize="1" noEditPoints="1" noAdjustHandles="1" noChangeArrowheads="1" noChangeShapeType="1" noTextEdit="1"/>
              </p:cNvSpPr>
              <p:nvPr/>
            </p:nvSpPr>
            <p:spPr>
              <a:xfrm>
                <a:off x="4294071" y="308603"/>
                <a:ext cx="609600" cy="609600"/>
              </a:xfrm>
              <a:prstGeom prst="ellipse">
                <a:avLst/>
              </a:prstGeom>
              <a:blipFill>
                <a:blip r:embed="rId2"/>
                <a:stretch>
                  <a:fillRect/>
                </a:stretch>
              </a:blipFill>
            </p:spPr>
            <p:txBody>
              <a:bodyPr/>
              <a:lstStyle/>
              <a:p>
                <a:r>
                  <a:rPr lang="en-IN">
                    <a:noFill/>
                  </a:rPr>
                  <a:t> </a:t>
                </a:r>
              </a:p>
            </p:txBody>
          </p:sp>
        </mc:Fallback>
      </mc:AlternateContent>
      <p:sp>
        <p:nvSpPr>
          <p:cNvPr id="5" name="Oval 4">
            <a:extLst>
              <a:ext uri="{FF2B5EF4-FFF2-40B4-BE49-F238E27FC236}">
                <a16:creationId xmlns:a16="http://schemas.microsoft.com/office/drawing/2014/main" id="{A6E57470-22A0-4751-8AE6-B67E944342D2}"/>
              </a:ext>
            </a:extLst>
          </p:cNvPr>
          <p:cNvSpPr/>
          <p:nvPr/>
        </p:nvSpPr>
        <p:spPr>
          <a:xfrm>
            <a:off x="4370271" y="384803"/>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6" name="Straight Arrow Connector 5">
            <a:extLst>
              <a:ext uri="{FF2B5EF4-FFF2-40B4-BE49-F238E27FC236}">
                <a16:creationId xmlns:a16="http://schemas.microsoft.com/office/drawing/2014/main" id="{270BCA71-EA9C-4467-B864-D00EB0425022}"/>
              </a:ext>
            </a:extLst>
          </p:cNvPr>
          <p:cNvCxnSpPr/>
          <p:nvPr/>
        </p:nvCxnSpPr>
        <p:spPr>
          <a:xfrm>
            <a:off x="3783130" y="613403"/>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5FABA1A-0D70-4299-850C-9E6A185602CD}"/>
                  </a:ext>
                </a:extLst>
              </p:cNvPr>
              <p:cNvSpPr/>
              <p:nvPr/>
            </p:nvSpPr>
            <p:spPr>
              <a:xfrm>
                <a:off x="3151071" y="30860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7" name="Oval 6">
                <a:extLst>
                  <a:ext uri="{FF2B5EF4-FFF2-40B4-BE49-F238E27FC236}">
                    <a16:creationId xmlns:a16="http://schemas.microsoft.com/office/drawing/2014/main" id="{F5FABA1A-0D70-4299-850C-9E6A185602CD}"/>
                  </a:ext>
                </a:extLst>
              </p:cNvPr>
              <p:cNvSpPr>
                <a:spLocks noRot="1" noChangeAspect="1" noMove="1" noResize="1" noEditPoints="1" noAdjustHandles="1" noChangeArrowheads="1" noChangeShapeType="1" noTextEdit="1"/>
              </p:cNvSpPr>
              <p:nvPr/>
            </p:nvSpPr>
            <p:spPr>
              <a:xfrm>
                <a:off x="3151071" y="308603"/>
                <a:ext cx="609600" cy="609600"/>
              </a:xfrm>
              <a:prstGeom prst="ellipse">
                <a:avLst/>
              </a:prstGeom>
              <a:blipFill>
                <a:blip r:embed="rId3"/>
                <a:stretch>
                  <a:fillRect/>
                </a:stretch>
              </a:blipFill>
            </p:spPr>
            <p:txBody>
              <a:bodyPr/>
              <a:lstStyle/>
              <a:p>
                <a:r>
                  <a:rPr lang="en-IN">
                    <a:noFill/>
                  </a:rPr>
                  <a:t> </a:t>
                </a:r>
              </a:p>
            </p:txBody>
          </p:sp>
        </mc:Fallback>
      </mc:AlternateContent>
      <p:cxnSp>
        <p:nvCxnSpPr>
          <p:cNvPr id="8" name="Straight Arrow Connector 7">
            <a:extLst>
              <a:ext uri="{FF2B5EF4-FFF2-40B4-BE49-F238E27FC236}">
                <a16:creationId xmlns:a16="http://schemas.microsoft.com/office/drawing/2014/main" id="{03D4773F-1A9B-4EB3-86C5-2DAAFDF1F57A}"/>
              </a:ext>
            </a:extLst>
          </p:cNvPr>
          <p:cNvCxnSpPr/>
          <p:nvPr/>
        </p:nvCxnSpPr>
        <p:spPr>
          <a:xfrm>
            <a:off x="2667000" y="608031"/>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TextBox 8">
            <a:extLst>
              <a:ext uri="{FF2B5EF4-FFF2-40B4-BE49-F238E27FC236}">
                <a16:creationId xmlns:a16="http://schemas.microsoft.com/office/drawing/2014/main" id="{32CB66C9-6F61-487E-A3C0-A69F0F3665A3}"/>
              </a:ext>
            </a:extLst>
          </p:cNvPr>
          <p:cNvSpPr txBox="1"/>
          <p:nvPr/>
        </p:nvSpPr>
        <p:spPr>
          <a:xfrm>
            <a:off x="3860387" y="262568"/>
            <a:ext cx="306494" cy="369332"/>
          </a:xfrm>
          <a:prstGeom prst="rect">
            <a:avLst/>
          </a:prstGeom>
          <a:noFill/>
        </p:spPr>
        <p:txBody>
          <a:bodyPr wrap="none" rtlCol="0">
            <a:spAutoFit/>
          </a:bodyPr>
          <a:lstStyle/>
          <a:p>
            <a:r>
              <a:rPr lang="en-IN" dirty="0"/>
              <a:t>b</a:t>
            </a:r>
          </a:p>
        </p:txBody>
      </p:sp>
      <p:cxnSp>
        <p:nvCxnSpPr>
          <p:cNvPr id="11" name="Connector: Curved 10">
            <a:extLst>
              <a:ext uri="{FF2B5EF4-FFF2-40B4-BE49-F238E27FC236}">
                <a16:creationId xmlns:a16="http://schemas.microsoft.com/office/drawing/2014/main" id="{47348C44-D70D-4E41-AFA6-4F153C6F2226}"/>
              </a:ext>
            </a:extLst>
          </p:cNvPr>
          <p:cNvCxnSpPr>
            <a:stCxn id="7" idx="1"/>
            <a:endCxn id="7" idx="7"/>
          </p:cNvCxnSpPr>
          <p:nvPr/>
        </p:nvCxnSpPr>
        <p:spPr>
          <a:xfrm rot="5400000" flipH="1" flipV="1">
            <a:off x="3455871" y="182351"/>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Connector: Curved 11">
            <a:extLst>
              <a:ext uri="{FF2B5EF4-FFF2-40B4-BE49-F238E27FC236}">
                <a16:creationId xmlns:a16="http://schemas.microsoft.com/office/drawing/2014/main" id="{CF610A06-1818-4EA5-B01C-DC4B4BDE9C83}"/>
              </a:ext>
            </a:extLst>
          </p:cNvPr>
          <p:cNvCxnSpPr>
            <a:stCxn id="4" idx="1"/>
            <a:endCxn id="4" idx="7"/>
          </p:cNvCxnSpPr>
          <p:nvPr/>
        </p:nvCxnSpPr>
        <p:spPr>
          <a:xfrm rot="5400000" flipH="1" flipV="1">
            <a:off x="4598871" y="182351"/>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D6AFDE01-856A-4C56-846D-B6F911918A40}"/>
              </a:ext>
            </a:extLst>
          </p:cNvPr>
          <p:cNvSpPr txBox="1"/>
          <p:nvPr/>
        </p:nvSpPr>
        <p:spPr>
          <a:xfrm>
            <a:off x="3328990" y="0"/>
            <a:ext cx="295274" cy="369332"/>
          </a:xfrm>
          <a:prstGeom prst="rect">
            <a:avLst/>
          </a:prstGeom>
          <a:noFill/>
        </p:spPr>
        <p:txBody>
          <a:bodyPr wrap="none" rtlCol="0">
            <a:spAutoFit/>
          </a:bodyPr>
          <a:lstStyle/>
          <a:p>
            <a:r>
              <a:rPr lang="en-US" dirty="0"/>
              <a:t>a</a:t>
            </a:r>
            <a:endParaRPr lang="en-IN" dirty="0"/>
          </a:p>
        </p:txBody>
      </p:sp>
      <p:sp>
        <p:nvSpPr>
          <p:cNvPr id="14" name="TextBox 13">
            <a:extLst>
              <a:ext uri="{FF2B5EF4-FFF2-40B4-BE49-F238E27FC236}">
                <a16:creationId xmlns:a16="http://schemas.microsoft.com/office/drawing/2014/main" id="{63D66A3F-E3C2-46C5-AF6C-401A971B274E}"/>
              </a:ext>
            </a:extLst>
          </p:cNvPr>
          <p:cNvSpPr txBox="1"/>
          <p:nvPr/>
        </p:nvSpPr>
        <p:spPr>
          <a:xfrm>
            <a:off x="4827471" y="22195"/>
            <a:ext cx="474810" cy="369332"/>
          </a:xfrm>
          <a:prstGeom prst="rect">
            <a:avLst/>
          </a:prstGeom>
          <a:noFill/>
        </p:spPr>
        <p:txBody>
          <a:bodyPr wrap="none" rtlCol="0">
            <a:spAutoFit/>
          </a:bodyPr>
          <a:lstStyle/>
          <a:p>
            <a:r>
              <a:rPr lang="en-US" dirty="0" err="1"/>
              <a:t>a,b</a:t>
            </a:r>
            <a:endParaRPr lang="en-IN" dirty="0"/>
          </a:p>
        </p:txBody>
      </p: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52193772-4977-4B39-9435-81BEFF114977}"/>
                  </a:ext>
                </a:extLst>
              </p:cNvPr>
              <p:cNvSpPr/>
              <p:nvPr/>
            </p:nvSpPr>
            <p:spPr>
              <a:xfrm>
                <a:off x="4294071" y="16764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15" name="Oval 14">
                <a:extLst>
                  <a:ext uri="{FF2B5EF4-FFF2-40B4-BE49-F238E27FC236}">
                    <a16:creationId xmlns:a16="http://schemas.microsoft.com/office/drawing/2014/main" id="{52193772-4977-4B39-9435-81BEFF114977}"/>
                  </a:ext>
                </a:extLst>
              </p:cNvPr>
              <p:cNvSpPr>
                <a:spLocks noRot="1" noChangeAspect="1" noMove="1" noResize="1" noEditPoints="1" noAdjustHandles="1" noChangeArrowheads="1" noChangeShapeType="1" noTextEdit="1"/>
              </p:cNvSpPr>
              <p:nvPr/>
            </p:nvSpPr>
            <p:spPr>
              <a:xfrm>
                <a:off x="4294071" y="1676400"/>
                <a:ext cx="609600" cy="609600"/>
              </a:xfrm>
              <a:prstGeom prst="ellipse">
                <a:avLst/>
              </a:prstGeom>
              <a:blipFill>
                <a:blip r:embed="rId4"/>
                <a:stretch>
                  <a:fillRect/>
                </a:stretch>
              </a:blipFill>
            </p:spPr>
            <p:txBody>
              <a:bodyPr/>
              <a:lstStyle/>
              <a:p>
                <a:r>
                  <a:rPr lang="en-IN">
                    <a:noFill/>
                  </a:rPr>
                  <a:t> </a:t>
                </a:r>
              </a:p>
            </p:txBody>
          </p:sp>
        </mc:Fallback>
      </mc:AlternateContent>
      <p:sp>
        <p:nvSpPr>
          <p:cNvPr id="16" name="Oval 15">
            <a:extLst>
              <a:ext uri="{FF2B5EF4-FFF2-40B4-BE49-F238E27FC236}">
                <a16:creationId xmlns:a16="http://schemas.microsoft.com/office/drawing/2014/main" id="{A45638B4-160A-48A8-A8FE-0202DAB9B63F}"/>
              </a:ext>
            </a:extLst>
          </p:cNvPr>
          <p:cNvSpPr/>
          <p:nvPr/>
        </p:nvSpPr>
        <p:spPr>
          <a:xfrm>
            <a:off x="4370271" y="17526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17" name="Straight Arrow Connector 16">
            <a:extLst>
              <a:ext uri="{FF2B5EF4-FFF2-40B4-BE49-F238E27FC236}">
                <a16:creationId xmlns:a16="http://schemas.microsoft.com/office/drawing/2014/main" id="{C4135A9E-8590-4956-B648-01897B9162D1}"/>
              </a:ext>
            </a:extLst>
          </p:cNvPr>
          <p:cNvCxnSpPr/>
          <p:nvPr/>
        </p:nvCxnSpPr>
        <p:spPr>
          <a:xfrm>
            <a:off x="3783130" y="19812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20F2E439-9986-42BC-AC91-C617B45554D1}"/>
                  </a:ext>
                </a:extLst>
              </p:cNvPr>
              <p:cNvSpPr/>
              <p:nvPr/>
            </p:nvSpPr>
            <p:spPr>
              <a:xfrm>
                <a:off x="3151071" y="16764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18" name="Oval 17">
                <a:extLst>
                  <a:ext uri="{FF2B5EF4-FFF2-40B4-BE49-F238E27FC236}">
                    <a16:creationId xmlns:a16="http://schemas.microsoft.com/office/drawing/2014/main" id="{20F2E439-9986-42BC-AC91-C617B45554D1}"/>
                  </a:ext>
                </a:extLst>
              </p:cNvPr>
              <p:cNvSpPr>
                <a:spLocks noRot="1" noChangeAspect="1" noMove="1" noResize="1" noEditPoints="1" noAdjustHandles="1" noChangeArrowheads="1" noChangeShapeType="1" noTextEdit="1"/>
              </p:cNvSpPr>
              <p:nvPr/>
            </p:nvSpPr>
            <p:spPr>
              <a:xfrm>
                <a:off x="3151071" y="1676400"/>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19" name="Straight Arrow Connector 18">
            <a:extLst>
              <a:ext uri="{FF2B5EF4-FFF2-40B4-BE49-F238E27FC236}">
                <a16:creationId xmlns:a16="http://schemas.microsoft.com/office/drawing/2014/main" id="{C7AD63A1-67C7-4FBC-8909-215C02977ED3}"/>
              </a:ext>
            </a:extLst>
          </p:cNvPr>
          <p:cNvCxnSpPr/>
          <p:nvPr/>
        </p:nvCxnSpPr>
        <p:spPr>
          <a:xfrm>
            <a:off x="2667000" y="1975828"/>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TextBox 19">
            <a:extLst>
              <a:ext uri="{FF2B5EF4-FFF2-40B4-BE49-F238E27FC236}">
                <a16:creationId xmlns:a16="http://schemas.microsoft.com/office/drawing/2014/main" id="{81C636FF-DA91-42BD-B89F-DFAEB5AEB840}"/>
              </a:ext>
            </a:extLst>
          </p:cNvPr>
          <p:cNvSpPr txBox="1"/>
          <p:nvPr/>
        </p:nvSpPr>
        <p:spPr>
          <a:xfrm>
            <a:off x="3860387" y="1630365"/>
            <a:ext cx="306494" cy="369332"/>
          </a:xfrm>
          <a:prstGeom prst="rect">
            <a:avLst/>
          </a:prstGeom>
          <a:noFill/>
        </p:spPr>
        <p:txBody>
          <a:bodyPr wrap="none" rtlCol="0">
            <a:spAutoFit/>
          </a:bodyPr>
          <a:lstStyle/>
          <a:p>
            <a:r>
              <a:rPr lang="en-IN" dirty="0"/>
              <a:t>a</a:t>
            </a:r>
          </a:p>
        </p:txBody>
      </p:sp>
      <p:cxnSp>
        <p:nvCxnSpPr>
          <p:cNvPr id="21" name="Connector: Curved 20">
            <a:extLst>
              <a:ext uri="{FF2B5EF4-FFF2-40B4-BE49-F238E27FC236}">
                <a16:creationId xmlns:a16="http://schemas.microsoft.com/office/drawing/2014/main" id="{CD4E1104-DDC9-4F50-9165-D37ED90C4191}"/>
              </a:ext>
            </a:extLst>
          </p:cNvPr>
          <p:cNvCxnSpPr>
            <a:stCxn id="18" idx="1"/>
            <a:endCxn id="18" idx="7"/>
          </p:cNvCxnSpPr>
          <p:nvPr/>
        </p:nvCxnSpPr>
        <p:spPr>
          <a:xfrm rot="5400000" flipH="1" flipV="1">
            <a:off x="3455871" y="1550148"/>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Connector: Curved 21">
            <a:extLst>
              <a:ext uri="{FF2B5EF4-FFF2-40B4-BE49-F238E27FC236}">
                <a16:creationId xmlns:a16="http://schemas.microsoft.com/office/drawing/2014/main" id="{FA88B4E8-4FF9-4AFF-A45A-C23EA6CCA346}"/>
              </a:ext>
            </a:extLst>
          </p:cNvPr>
          <p:cNvCxnSpPr>
            <a:stCxn id="15" idx="1"/>
            <a:endCxn id="15" idx="7"/>
          </p:cNvCxnSpPr>
          <p:nvPr/>
        </p:nvCxnSpPr>
        <p:spPr>
          <a:xfrm rot="5400000" flipH="1" flipV="1">
            <a:off x="4598871" y="1550148"/>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TextBox 22">
            <a:extLst>
              <a:ext uri="{FF2B5EF4-FFF2-40B4-BE49-F238E27FC236}">
                <a16:creationId xmlns:a16="http://schemas.microsoft.com/office/drawing/2014/main" id="{42638B9D-E686-4108-AA50-6737D26F4651}"/>
              </a:ext>
            </a:extLst>
          </p:cNvPr>
          <p:cNvSpPr txBox="1"/>
          <p:nvPr/>
        </p:nvSpPr>
        <p:spPr>
          <a:xfrm>
            <a:off x="2980178" y="1245348"/>
            <a:ext cx="417102" cy="369332"/>
          </a:xfrm>
          <a:prstGeom prst="rect">
            <a:avLst/>
          </a:prstGeom>
          <a:noFill/>
        </p:spPr>
        <p:txBody>
          <a:bodyPr wrap="none" rtlCol="0">
            <a:spAutoFit/>
          </a:bodyPr>
          <a:lstStyle/>
          <a:p>
            <a:r>
              <a:rPr lang="en-US" dirty="0"/>
              <a:t>ab</a:t>
            </a:r>
            <a:endParaRPr lang="en-IN" dirty="0"/>
          </a:p>
        </p:txBody>
      </p:sp>
      <p:sp>
        <p:nvSpPr>
          <p:cNvPr id="24" name="TextBox 23">
            <a:extLst>
              <a:ext uri="{FF2B5EF4-FFF2-40B4-BE49-F238E27FC236}">
                <a16:creationId xmlns:a16="http://schemas.microsoft.com/office/drawing/2014/main" id="{FC626746-C75E-46CE-82E7-AD213A8FAADD}"/>
              </a:ext>
            </a:extLst>
          </p:cNvPr>
          <p:cNvSpPr txBox="1"/>
          <p:nvPr/>
        </p:nvSpPr>
        <p:spPr>
          <a:xfrm>
            <a:off x="4827471" y="1389992"/>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D3688EC1-9202-4AB7-B55B-397F335FC446}"/>
                  </a:ext>
                </a:extLst>
              </p:cNvPr>
              <p:cNvSpPr/>
              <p:nvPr/>
            </p:nvSpPr>
            <p:spPr>
              <a:xfrm>
                <a:off x="7846906" y="172645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25" name="Oval 24">
                <a:extLst>
                  <a:ext uri="{FF2B5EF4-FFF2-40B4-BE49-F238E27FC236}">
                    <a16:creationId xmlns:a16="http://schemas.microsoft.com/office/drawing/2014/main" id="{D3688EC1-9202-4AB7-B55B-397F335FC446}"/>
                  </a:ext>
                </a:extLst>
              </p:cNvPr>
              <p:cNvSpPr>
                <a:spLocks noRot="1" noChangeAspect="1" noMove="1" noResize="1" noEditPoints="1" noAdjustHandles="1" noChangeArrowheads="1" noChangeShapeType="1" noTextEdit="1"/>
              </p:cNvSpPr>
              <p:nvPr/>
            </p:nvSpPr>
            <p:spPr>
              <a:xfrm>
                <a:off x="7846906" y="1726452"/>
                <a:ext cx="609600" cy="609600"/>
              </a:xfrm>
              <a:prstGeom prst="ellipse">
                <a:avLst/>
              </a:prstGeom>
              <a:blipFill>
                <a:blip r:embed="rId6"/>
                <a:stretch>
                  <a:fillRect/>
                </a:stretch>
              </a:blipFill>
            </p:spPr>
            <p:txBody>
              <a:bodyPr/>
              <a:lstStyle/>
              <a:p>
                <a:r>
                  <a:rPr lang="en-IN">
                    <a:noFill/>
                  </a:rPr>
                  <a:t> </a:t>
                </a:r>
              </a:p>
            </p:txBody>
          </p:sp>
        </mc:Fallback>
      </mc:AlternateContent>
      <p:sp>
        <p:nvSpPr>
          <p:cNvPr id="26" name="Oval 25">
            <a:extLst>
              <a:ext uri="{FF2B5EF4-FFF2-40B4-BE49-F238E27FC236}">
                <a16:creationId xmlns:a16="http://schemas.microsoft.com/office/drawing/2014/main" id="{00860EA1-BCF4-4C01-8D8D-7E4F13B5C506}"/>
              </a:ext>
            </a:extLst>
          </p:cNvPr>
          <p:cNvSpPr/>
          <p:nvPr/>
        </p:nvSpPr>
        <p:spPr>
          <a:xfrm>
            <a:off x="7923106" y="180265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27" name="Straight Arrow Connector 26">
            <a:extLst>
              <a:ext uri="{FF2B5EF4-FFF2-40B4-BE49-F238E27FC236}">
                <a16:creationId xmlns:a16="http://schemas.microsoft.com/office/drawing/2014/main" id="{28F68C2B-13EC-47ED-B20A-AE71A9BE79A6}"/>
              </a:ext>
            </a:extLst>
          </p:cNvPr>
          <p:cNvCxnSpPr/>
          <p:nvPr/>
        </p:nvCxnSpPr>
        <p:spPr>
          <a:xfrm>
            <a:off x="7335965" y="2031252"/>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0441F4EF-F8CA-47BA-B334-0226996D19CB}"/>
                  </a:ext>
                </a:extLst>
              </p:cNvPr>
              <p:cNvSpPr/>
              <p:nvPr/>
            </p:nvSpPr>
            <p:spPr>
              <a:xfrm>
                <a:off x="6703906" y="172645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28" name="Oval 27">
                <a:extLst>
                  <a:ext uri="{FF2B5EF4-FFF2-40B4-BE49-F238E27FC236}">
                    <a16:creationId xmlns:a16="http://schemas.microsoft.com/office/drawing/2014/main" id="{0441F4EF-F8CA-47BA-B334-0226996D19CB}"/>
                  </a:ext>
                </a:extLst>
              </p:cNvPr>
              <p:cNvSpPr>
                <a:spLocks noRot="1" noChangeAspect="1" noMove="1" noResize="1" noEditPoints="1" noAdjustHandles="1" noChangeArrowheads="1" noChangeShapeType="1" noTextEdit="1"/>
              </p:cNvSpPr>
              <p:nvPr/>
            </p:nvSpPr>
            <p:spPr>
              <a:xfrm>
                <a:off x="6703906" y="1726452"/>
                <a:ext cx="609600" cy="609600"/>
              </a:xfrm>
              <a:prstGeom prst="ellipse">
                <a:avLst/>
              </a:prstGeom>
              <a:blipFill>
                <a:blip r:embed="rId7"/>
                <a:stretch>
                  <a:fillRect/>
                </a:stretch>
              </a:blipFill>
            </p:spPr>
            <p:txBody>
              <a:bodyPr/>
              <a:lstStyle/>
              <a:p>
                <a:r>
                  <a:rPr lang="en-IN">
                    <a:noFill/>
                  </a:rPr>
                  <a:t> </a:t>
                </a:r>
              </a:p>
            </p:txBody>
          </p:sp>
        </mc:Fallback>
      </mc:AlternateContent>
      <p:cxnSp>
        <p:nvCxnSpPr>
          <p:cNvPr id="29" name="Straight Arrow Connector 28">
            <a:extLst>
              <a:ext uri="{FF2B5EF4-FFF2-40B4-BE49-F238E27FC236}">
                <a16:creationId xmlns:a16="http://schemas.microsoft.com/office/drawing/2014/main" id="{B44026B7-9EBB-4A35-A461-07DBE719506F}"/>
              </a:ext>
            </a:extLst>
          </p:cNvPr>
          <p:cNvCxnSpPr/>
          <p:nvPr/>
        </p:nvCxnSpPr>
        <p:spPr>
          <a:xfrm>
            <a:off x="6219835" y="202588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0" name="TextBox 29">
            <a:extLst>
              <a:ext uri="{FF2B5EF4-FFF2-40B4-BE49-F238E27FC236}">
                <a16:creationId xmlns:a16="http://schemas.microsoft.com/office/drawing/2014/main" id="{B1505337-8942-4805-A17B-5F8D28DB3ADB}"/>
              </a:ext>
            </a:extLst>
          </p:cNvPr>
          <p:cNvSpPr txBox="1"/>
          <p:nvPr/>
        </p:nvSpPr>
        <p:spPr>
          <a:xfrm>
            <a:off x="7413222" y="1680417"/>
            <a:ext cx="306494" cy="369332"/>
          </a:xfrm>
          <a:prstGeom prst="rect">
            <a:avLst/>
          </a:prstGeom>
          <a:noFill/>
        </p:spPr>
        <p:txBody>
          <a:bodyPr wrap="none" rtlCol="0">
            <a:spAutoFit/>
          </a:bodyPr>
          <a:lstStyle/>
          <a:p>
            <a:r>
              <a:rPr lang="en-IN" dirty="0"/>
              <a:t>a</a:t>
            </a:r>
          </a:p>
        </p:txBody>
      </p:sp>
      <p:cxnSp>
        <p:nvCxnSpPr>
          <p:cNvPr id="31" name="Connector: Curved 30">
            <a:extLst>
              <a:ext uri="{FF2B5EF4-FFF2-40B4-BE49-F238E27FC236}">
                <a16:creationId xmlns:a16="http://schemas.microsoft.com/office/drawing/2014/main" id="{E771361E-C579-428A-832C-993B1BAAC104}"/>
              </a:ext>
            </a:extLst>
          </p:cNvPr>
          <p:cNvCxnSpPr>
            <a:cxnSpLocks/>
            <a:stCxn id="28" idx="1"/>
            <a:endCxn id="35" idx="3"/>
          </p:cNvCxnSpPr>
          <p:nvPr/>
        </p:nvCxnSpPr>
        <p:spPr>
          <a:xfrm rot="5400000" flipH="1" flipV="1">
            <a:off x="6460695" y="1476891"/>
            <a:ext cx="671320" cy="6350"/>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Connector: Curved 31">
            <a:extLst>
              <a:ext uri="{FF2B5EF4-FFF2-40B4-BE49-F238E27FC236}">
                <a16:creationId xmlns:a16="http://schemas.microsoft.com/office/drawing/2014/main" id="{A1EE1F44-BE9D-49E1-9430-586567E464A3}"/>
              </a:ext>
            </a:extLst>
          </p:cNvPr>
          <p:cNvCxnSpPr>
            <a:stCxn id="25" idx="1"/>
            <a:endCxn id="25" idx="7"/>
          </p:cNvCxnSpPr>
          <p:nvPr/>
        </p:nvCxnSpPr>
        <p:spPr>
          <a:xfrm rot="5400000" flipH="1" flipV="1">
            <a:off x="8151706" y="1600200"/>
            <a:ext cx="12700" cy="431052"/>
          </a:xfrm>
          <a:prstGeom prst="curvedConnector3">
            <a:avLst>
              <a:gd name="adj1" fmla="val 2502945"/>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TextBox 32">
            <a:extLst>
              <a:ext uri="{FF2B5EF4-FFF2-40B4-BE49-F238E27FC236}">
                <a16:creationId xmlns:a16="http://schemas.microsoft.com/office/drawing/2014/main" id="{86F46194-8342-4325-BE36-9E3741EED66B}"/>
              </a:ext>
            </a:extLst>
          </p:cNvPr>
          <p:cNvSpPr txBox="1"/>
          <p:nvPr/>
        </p:nvSpPr>
        <p:spPr>
          <a:xfrm>
            <a:off x="6533013" y="1295400"/>
            <a:ext cx="968535" cy="369332"/>
          </a:xfrm>
          <a:prstGeom prst="rect">
            <a:avLst/>
          </a:prstGeom>
          <a:noFill/>
        </p:spPr>
        <p:txBody>
          <a:bodyPr wrap="none" rtlCol="0">
            <a:spAutoFit/>
          </a:bodyPr>
          <a:lstStyle/>
          <a:p>
            <a:r>
              <a:rPr lang="en-US" dirty="0"/>
              <a:t>a          b</a:t>
            </a:r>
            <a:endParaRPr lang="en-IN" dirty="0"/>
          </a:p>
        </p:txBody>
      </p:sp>
      <p:sp>
        <p:nvSpPr>
          <p:cNvPr id="34" name="TextBox 33">
            <a:extLst>
              <a:ext uri="{FF2B5EF4-FFF2-40B4-BE49-F238E27FC236}">
                <a16:creationId xmlns:a16="http://schemas.microsoft.com/office/drawing/2014/main" id="{B7E8B841-7EA5-41C7-92D5-FA1062D58FEF}"/>
              </a:ext>
            </a:extLst>
          </p:cNvPr>
          <p:cNvSpPr txBox="1"/>
          <p:nvPr/>
        </p:nvSpPr>
        <p:spPr>
          <a:xfrm>
            <a:off x="8380306" y="1440044"/>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59223C5F-F006-4A02-8A81-2301E58BAAE7}"/>
                  </a:ext>
                </a:extLst>
              </p:cNvPr>
              <p:cNvSpPr/>
              <p:nvPr/>
            </p:nvSpPr>
            <p:spPr>
              <a:xfrm>
                <a:off x="6710256" y="62408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2</m:t>
                          </m:r>
                        </m:sub>
                      </m:sSub>
                    </m:oMath>
                  </m:oMathPara>
                </a14:m>
                <a:endParaRPr lang="en-US" dirty="0"/>
              </a:p>
            </p:txBody>
          </p:sp>
        </mc:Choice>
        <mc:Fallback xmlns="">
          <p:sp>
            <p:nvSpPr>
              <p:cNvPr id="35" name="Oval 34">
                <a:extLst>
                  <a:ext uri="{FF2B5EF4-FFF2-40B4-BE49-F238E27FC236}">
                    <a16:creationId xmlns:a16="http://schemas.microsoft.com/office/drawing/2014/main" id="{59223C5F-F006-4A02-8A81-2301E58BAAE7}"/>
                  </a:ext>
                </a:extLst>
              </p:cNvPr>
              <p:cNvSpPr>
                <a:spLocks noRot="1" noChangeAspect="1" noMove="1" noResize="1" noEditPoints="1" noAdjustHandles="1" noChangeArrowheads="1" noChangeShapeType="1" noTextEdit="1"/>
              </p:cNvSpPr>
              <p:nvPr/>
            </p:nvSpPr>
            <p:spPr>
              <a:xfrm>
                <a:off x="6710256" y="624080"/>
                <a:ext cx="609600" cy="609600"/>
              </a:xfrm>
              <a:prstGeom prst="ellipse">
                <a:avLst/>
              </a:prstGeom>
              <a:blipFill>
                <a:blip r:embed="rId8"/>
                <a:stretch>
                  <a:fillRect/>
                </a:stretch>
              </a:blipFill>
            </p:spPr>
            <p:txBody>
              <a:bodyPr/>
              <a:lstStyle/>
              <a:p>
                <a:r>
                  <a:rPr lang="en-IN">
                    <a:noFill/>
                  </a:rPr>
                  <a:t> </a:t>
                </a:r>
              </a:p>
            </p:txBody>
          </p:sp>
        </mc:Fallback>
      </mc:AlternateContent>
      <p:cxnSp>
        <p:nvCxnSpPr>
          <p:cNvPr id="38" name="Straight Arrow Connector 37">
            <a:extLst>
              <a:ext uri="{FF2B5EF4-FFF2-40B4-BE49-F238E27FC236}">
                <a16:creationId xmlns:a16="http://schemas.microsoft.com/office/drawing/2014/main" id="{8109751D-D63B-4542-B91A-A4415A5F8A3F}"/>
              </a:ext>
            </a:extLst>
          </p:cNvPr>
          <p:cNvCxnSpPr>
            <a:stCxn id="35" idx="5"/>
            <a:endCxn id="28" idx="7"/>
          </p:cNvCxnSpPr>
          <p:nvPr/>
        </p:nvCxnSpPr>
        <p:spPr>
          <a:xfrm flipH="1">
            <a:off x="7224232" y="1144406"/>
            <a:ext cx="6350" cy="6713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6EA70C36-4DD9-4926-A3A1-4916D8998E6F}"/>
              </a:ext>
            </a:extLst>
          </p:cNvPr>
          <p:cNvCxnSpPr/>
          <p:nvPr/>
        </p:nvCxnSpPr>
        <p:spPr>
          <a:xfrm>
            <a:off x="5181600" y="1865083"/>
            <a:ext cx="8382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41" name="Oval 40">
                <a:extLst>
                  <a:ext uri="{FF2B5EF4-FFF2-40B4-BE49-F238E27FC236}">
                    <a16:creationId xmlns:a16="http://schemas.microsoft.com/office/drawing/2014/main" id="{342ACF96-36ED-494F-9CD5-362EE7553DFF}"/>
                  </a:ext>
                </a:extLst>
              </p:cNvPr>
              <p:cNvSpPr/>
              <p:nvPr/>
            </p:nvSpPr>
            <p:spPr>
              <a:xfrm>
                <a:off x="2889787" y="314884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41" name="Oval 40">
                <a:extLst>
                  <a:ext uri="{FF2B5EF4-FFF2-40B4-BE49-F238E27FC236}">
                    <a16:creationId xmlns:a16="http://schemas.microsoft.com/office/drawing/2014/main" id="{342ACF96-36ED-494F-9CD5-362EE7553DFF}"/>
                  </a:ext>
                </a:extLst>
              </p:cNvPr>
              <p:cNvSpPr>
                <a:spLocks noRot="1" noChangeAspect="1" noMove="1" noResize="1" noEditPoints="1" noAdjustHandles="1" noChangeArrowheads="1" noChangeShapeType="1" noTextEdit="1"/>
              </p:cNvSpPr>
              <p:nvPr/>
            </p:nvSpPr>
            <p:spPr>
              <a:xfrm>
                <a:off x="2889787" y="3148846"/>
                <a:ext cx="609600" cy="609600"/>
              </a:xfrm>
              <a:prstGeom prst="ellipse">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D89665A8-A737-4A30-AD98-07F53764A736}"/>
                  </a:ext>
                </a:extLst>
              </p:cNvPr>
              <p:cNvSpPr/>
              <p:nvPr/>
            </p:nvSpPr>
            <p:spPr>
              <a:xfrm>
                <a:off x="4046623" y="316408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42" name="Oval 41">
                <a:extLst>
                  <a:ext uri="{FF2B5EF4-FFF2-40B4-BE49-F238E27FC236}">
                    <a16:creationId xmlns:a16="http://schemas.microsoft.com/office/drawing/2014/main" id="{D89665A8-A737-4A30-AD98-07F53764A736}"/>
                  </a:ext>
                </a:extLst>
              </p:cNvPr>
              <p:cNvSpPr>
                <a:spLocks noRot="1" noChangeAspect="1" noMove="1" noResize="1" noEditPoints="1" noAdjustHandles="1" noChangeArrowheads="1" noChangeShapeType="1" noTextEdit="1"/>
              </p:cNvSpPr>
              <p:nvPr/>
            </p:nvSpPr>
            <p:spPr>
              <a:xfrm>
                <a:off x="4046623" y="3164086"/>
                <a:ext cx="609600" cy="609600"/>
              </a:xfrm>
              <a:prstGeom prst="ellipse">
                <a:avLst/>
              </a:prstGeom>
              <a:blipFill>
                <a:blip r:embed="rId10"/>
                <a:stretch>
                  <a:fillRect/>
                </a:stretch>
              </a:blipFill>
            </p:spPr>
            <p:txBody>
              <a:bodyPr/>
              <a:lstStyle/>
              <a:p>
                <a:r>
                  <a:rPr lang="en-IN">
                    <a:noFill/>
                  </a:rPr>
                  <a:t> </a:t>
                </a:r>
              </a:p>
            </p:txBody>
          </p:sp>
        </mc:Fallback>
      </mc:AlternateContent>
      <p:cxnSp>
        <p:nvCxnSpPr>
          <p:cNvPr id="43" name="Straight Arrow Connector 42">
            <a:extLst>
              <a:ext uri="{FF2B5EF4-FFF2-40B4-BE49-F238E27FC236}">
                <a16:creationId xmlns:a16="http://schemas.microsoft.com/office/drawing/2014/main" id="{6FA80D98-310A-44D6-92DC-226CCEF40053}"/>
              </a:ext>
            </a:extLst>
          </p:cNvPr>
          <p:cNvCxnSpPr/>
          <p:nvPr/>
        </p:nvCxnSpPr>
        <p:spPr>
          <a:xfrm>
            <a:off x="2405716" y="3448274"/>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4" name="Straight Arrow Connector 43">
            <a:extLst>
              <a:ext uri="{FF2B5EF4-FFF2-40B4-BE49-F238E27FC236}">
                <a16:creationId xmlns:a16="http://schemas.microsoft.com/office/drawing/2014/main" id="{1A7FAD69-9A89-4021-9A8F-AE2F38DE5E92}"/>
              </a:ext>
            </a:extLst>
          </p:cNvPr>
          <p:cNvCxnSpPr>
            <a:stCxn id="41" idx="6"/>
            <a:endCxn id="42" idx="2"/>
          </p:cNvCxnSpPr>
          <p:nvPr/>
        </p:nvCxnSpPr>
        <p:spPr>
          <a:xfrm>
            <a:off x="3499387" y="3453646"/>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5" name="TextBox 44">
            <a:extLst>
              <a:ext uri="{FF2B5EF4-FFF2-40B4-BE49-F238E27FC236}">
                <a16:creationId xmlns:a16="http://schemas.microsoft.com/office/drawing/2014/main" id="{55BD7805-C77A-475C-90DE-FAE3B9F27515}"/>
              </a:ext>
            </a:extLst>
          </p:cNvPr>
          <p:cNvSpPr txBox="1"/>
          <p:nvPr/>
        </p:nvSpPr>
        <p:spPr>
          <a:xfrm>
            <a:off x="3611984" y="3124200"/>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69EEEC07-22DE-4330-B595-0E46257F8936}"/>
                  </a:ext>
                </a:extLst>
              </p:cNvPr>
              <p:cNvSpPr/>
              <p:nvPr/>
            </p:nvSpPr>
            <p:spPr>
              <a:xfrm>
                <a:off x="5181600" y="3164086"/>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46" name="Oval 45">
                <a:extLst>
                  <a:ext uri="{FF2B5EF4-FFF2-40B4-BE49-F238E27FC236}">
                    <a16:creationId xmlns:a16="http://schemas.microsoft.com/office/drawing/2014/main" id="{69EEEC07-22DE-4330-B595-0E46257F8936}"/>
                  </a:ext>
                </a:extLst>
              </p:cNvPr>
              <p:cNvSpPr>
                <a:spLocks noRot="1" noChangeAspect="1" noMove="1" noResize="1" noEditPoints="1" noAdjustHandles="1" noChangeArrowheads="1" noChangeShapeType="1" noTextEdit="1"/>
              </p:cNvSpPr>
              <p:nvPr/>
            </p:nvSpPr>
            <p:spPr>
              <a:xfrm>
                <a:off x="5181600" y="3164086"/>
                <a:ext cx="609600" cy="609600"/>
              </a:xfrm>
              <a:prstGeom prst="ellipse">
                <a:avLst/>
              </a:prstGeom>
              <a:blipFill>
                <a:blip r:embed="rId11"/>
                <a:stretch>
                  <a:fillRect/>
                </a:stretch>
              </a:blipFill>
            </p:spPr>
            <p:txBody>
              <a:bodyPr/>
              <a:lstStyle/>
              <a:p>
                <a:r>
                  <a:rPr lang="en-IN">
                    <a:noFill/>
                  </a:rPr>
                  <a:t> </a:t>
                </a:r>
              </a:p>
            </p:txBody>
          </p:sp>
        </mc:Fallback>
      </mc:AlternateContent>
      <p:sp>
        <p:nvSpPr>
          <p:cNvPr id="47" name="Oval 46">
            <a:extLst>
              <a:ext uri="{FF2B5EF4-FFF2-40B4-BE49-F238E27FC236}">
                <a16:creationId xmlns:a16="http://schemas.microsoft.com/office/drawing/2014/main" id="{7064557D-2A16-4C82-9C48-A9D55B4F1B6C}"/>
              </a:ext>
            </a:extLst>
          </p:cNvPr>
          <p:cNvSpPr/>
          <p:nvPr/>
        </p:nvSpPr>
        <p:spPr>
          <a:xfrm>
            <a:off x="5257800" y="3240286"/>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48" name="Straight Arrow Connector 47">
            <a:extLst>
              <a:ext uri="{FF2B5EF4-FFF2-40B4-BE49-F238E27FC236}">
                <a16:creationId xmlns:a16="http://schemas.microsoft.com/office/drawing/2014/main" id="{2B21F8A4-80B4-46BA-9940-1380E941D41C}"/>
              </a:ext>
            </a:extLst>
          </p:cNvPr>
          <p:cNvCxnSpPr>
            <a:endCxn id="46" idx="2"/>
          </p:cNvCxnSpPr>
          <p:nvPr/>
        </p:nvCxnSpPr>
        <p:spPr>
          <a:xfrm>
            <a:off x="4634364" y="3453646"/>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9" name="TextBox 48">
            <a:extLst>
              <a:ext uri="{FF2B5EF4-FFF2-40B4-BE49-F238E27FC236}">
                <a16:creationId xmlns:a16="http://schemas.microsoft.com/office/drawing/2014/main" id="{C50A838A-3564-4D84-AFE9-E8F49B2E957C}"/>
              </a:ext>
            </a:extLst>
          </p:cNvPr>
          <p:cNvSpPr txBox="1"/>
          <p:nvPr/>
        </p:nvSpPr>
        <p:spPr>
          <a:xfrm>
            <a:off x="4746961" y="3124200"/>
            <a:ext cx="295274" cy="369332"/>
          </a:xfrm>
          <a:prstGeom prst="rect">
            <a:avLst/>
          </a:prstGeom>
          <a:noFill/>
        </p:spPr>
        <p:txBody>
          <a:bodyPr wrap="none" rtlCol="0">
            <a:spAutoFit/>
          </a:bodyPr>
          <a:lstStyle/>
          <a:p>
            <a:r>
              <a:rPr lang="en-US" dirty="0"/>
              <a:t>a</a:t>
            </a:r>
            <a:endParaRPr lang="en-IN" dirty="0"/>
          </a:p>
        </p:txBody>
      </p:sp>
      <p:cxnSp>
        <p:nvCxnSpPr>
          <p:cNvPr id="50" name="Connector: Curved 49">
            <a:extLst>
              <a:ext uri="{FF2B5EF4-FFF2-40B4-BE49-F238E27FC236}">
                <a16:creationId xmlns:a16="http://schemas.microsoft.com/office/drawing/2014/main" id="{2A25FC2B-22CA-4FF5-B743-D3767C3C98E5}"/>
              </a:ext>
            </a:extLst>
          </p:cNvPr>
          <p:cNvCxnSpPr/>
          <p:nvPr/>
        </p:nvCxnSpPr>
        <p:spPr>
          <a:xfrm rot="5400000" flipH="1" flipV="1">
            <a:off x="3207124" y="2991224"/>
            <a:ext cx="12700" cy="431052"/>
          </a:xfrm>
          <a:prstGeom prst="curvedConnector3">
            <a:avLst>
              <a:gd name="adj1" fmla="val 3488205"/>
            </a:avLst>
          </a:prstGeom>
          <a:ln>
            <a:tailEnd type="triangle"/>
          </a:ln>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0AF02AC0-BAFF-49F2-A368-74B17F24D60E}"/>
              </a:ext>
            </a:extLst>
          </p:cNvPr>
          <p:cNvSpPr txBox="1"/>
          <p:nvPr/>
        </p:nvSpPr>
        <p:spPr>
          <a:xfrm>
            <a:off x="2436800" y="2602144"/>
            <a:ext cx="643125" cy="369332"/>
          </a:xfrm>
          <a:prstGeom prst="rect">
            <a:avLst/>
          </a:prstGeom>
          <a:noFill/>
        </p:spPr>
        <p:txBody>
          <a:bodyPr wrap="none" rtlCol="0">
            <a:spAutoFit/>
          </a:bodyPr>
          <a:lstStyle/>
          <a:p>
            <a:r>
              <a:rPr lang="en-US" dirty="0" err="1"/>
              <a:t>a+ba</a:t>
            </a:r>
            <a:endParaRPr lang="en-IN" dirty="0"/>
          </a:p>
        </p:txBody>
      </p:sp>
      <p:cxnSp>
        <p:nvCxnSpPr>
          <p:cNvPr id="54" name="Straight Arrow Connector 53">
            <a:extLst>
              <a:ext uri="{FF2B5EF4-FFF2-40B4-BE49-F238E27FC236}">
                <a16:creationId xmlns:a16="http://schemas.microsoft.com/office/drawing/2014/main" id="{CE0AC327-9DA7-49BF-B472-AD47013062D5}"/>
              </a:ext>
            </a:extLst>
          </p:cNvPr>
          <p:cNvCxnSpPr>
            <a:cxnSpLocks/>
          </p:cNvCxnSpPr>
          <p:nvPr/>
        </p:nvCxnSpPr>
        <p:spPr>
          <a:xfrm flipV="1">
            <a:off x="6614448" y="3452088"/>
            <a:ext cx="661969" cy="54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85AE10FA-D2F9-4FC4-BF59-2DAA54C6CBC8}"/>
                  </a:ext>
                </a:extLst>
              </p:cNvPr>
              <p:cNvSpPr/>
              <p:nvPr/>
            </p:nvSpPr>
            <p:spPr>
              <a:xfrm>
                <a:off x="8833387" y="313750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56" name="Oval 55">
                <a:extLst>
                  <a:ext uri="{FF2B5EF4-FFF2-40B4-BE49-F238E27FC236}">
                    <a16:creationId xmlns:a16="http://schemas.microsoft.com/office/drawing/2014/main" id="{85AE10FA-D2F9-4FC4-BF59-2DAA54C6CBC8}"/>
                  </a:ext>
                </a:extLst>
              </p:cNvPr>
              <p:cNvSpPr>
                <a:spLocks noRot="1" noChangeAspect="1" noMove="1" noResize="1" noEditPoints="1" noAdjustHandles="1" noChangeArrowheads="1" noChangeShapeType="1" noTextEdit="1"/>
              </p:cNvSpPr>
              <p:nvPr/>
            </p:nvSpPr>
            <p:spPr>
              <a:xfrm>
                <a:off x="8833387" y="3137502"/>
                <a:ext cx="609600" cy="609600"/>
              </a:xfrm>
              <a:prstGeom prst="ellipse">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C365B11A-E553-4C44-8776-E56F7421E0B1}"/>
                  </a:ext>
                </a:extLst>
              </p:cNvPr>
              <p:cNvSpPr/>
              <p:nvPr/>
            </p:nvSpPr>
            <p:spPr>
              <a:xfrm>
                <a:off x="9990223" y="31527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57" name="Oval 56">
                <a:extLst>
                  <a:ext uri="{FF2B5EF4-FFF2-40B4-BE49-F238E27FC236}">
                    <a16:creationId xmlns:a16="http://schemas.microsoft.com/office/drawing/2014/main" id="{C365B11A-E553-4C44-8776-E56F7421E0B1}"/>
                  </a:ext>
                </a:extLst>
              </p:cNvPr>
              <p:cNvSpPr>
                <a:spLocks noRot="1" noChangeAspect="1" noMove="1" noResize="1" noEditPoints="1" noAdjustHandles="1" noChangeArrowheads="1" noChangeShapeType="1" noTextEdit="1"/>
              </p:cNvSpPr>
              <p:nvPr/>
            </p:nvSpPr>
            <p:spPr>
              <a:xfrm>
                <a:off x="9990223" y="3152742"/>
                <a:ext cx="609600" cy="609600"/>
              </a:xfrm>
              <a:prstGeom prst="ellipse">
                <a:avLst/>
              </a:prstGeom>
              <a:blipFill>
                <a:blip r:embed="rId13"/>
                <a:stretch>
                  <a:fillRect/>
                </a:stretch>
              </a:blipFill>
            </p:spPr>
            <p:txBody>
              <a:bodyPr/>
              <a:lstStyle/>
              <a:p>
                <a:r>
                  <a:rPr lang="en-IN">
                    <a:noFill/>
                  </a:rPr>
                  <a:t> </a:t>
                </a:r>
              </a:p>
            </p:txBody>
          </p:sp>
        </mc:Fallback>
      </mc:AlternateContent>
      <p:cxnSp>
        <p:nvCxnSpPr>
          <p:cNvPr id="58" name="Straight Arrow Connector 57">
            <a:extLst>
              <a:ext uri="{FF2B5EF4-FFF2-40B4-BE49-F238E27FC236}">
                <a16:creationId xmlns:a16="http://schemas.microsoft.com/office/drawing/2014/main" id="{19EEC7C9-0CDC-4DE8-ACA9-23AF986C37A1}"/>
              </a:ext>
            </a:extLst>
          </p:cNvPr>
          <p:cNvCxnSpPr/>
          <p:nvPr/>
        </p:nvCxnSpPr>
        <p:spPr>
          <a:xfrm>
            <a:off x="8349316" y="343693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9" name="Straight Arrow Connector 58">
            <a:extLst>
              <a:ext uri="{FF2B5EF4-FFF2-40B4-BE49-F238E27FC236}">
                <a16:creationId xmlns:a16="http://schemas.microsoft.com/office/drawing/2014/main" id="{65BE19AA-070D-4736-BD57-E4A21915D691}"/>
              </a:ext>
            </a:extLst>
          </p:cNvPr>
          <p:cNvCxnSpPr>
            <a:stCxn id="56" idx="6"/>
            <a:endCxn id="57" idx="2"/>
          </p:cNvCxnSpPr>
          <p:nvPr/>
        </p:nvCxnSpPr>
        <p:spPr>
          <a:xfrm>
            <a:off x="9442987" y="3442302"/>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898D1F31-A50A-4F94-B571-B8BF00ECE795}"/>
              </a:ext>
            </a:extLst>
          </p:cNvPr>
          <p:cNvSpPr txBox="1"/>
          <p:nvPr/>
        </p:nvSpPr>
        <p:spPr>
          <a:xfrm>
            <a:off x="9555584" y="3112856"/>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7B71AEF4-5396-4A5C-8214-2DAED0F466E0}"/>
                  </a:ext>
                </a:extLst>
              </p:cNvPr>
              <p:cNvSpPr/>
              <p:nvPr/>
            </p:nvSpPr>
            <p:spPr>
              <a:xfrm>
                <a:off x="11125200" y="31527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61" name="Oval 60">
                <a:extLst>
                  <a:ext uri="{FF2B5EF4-FFF2-40B4-BE49-F238E27FC236}">
                    <a16:creationId xmlns:a16="http://schemas.microsoft.com/office/drawing/2014/main" id="{7B71AEF4-5396-4A5C-8214-2DAED0F466E0}"/>
                  </a:ext>
                </a:extLst>
              </p:cNvPr>
              <p:cNvSpPr>
                <a:spLocks noRot="1" noChangeAspect="1" noMove="1" noResize="1" noEditPoints="1" noAdjustHandles="1" noChangeArrowheads="1" noChangeShapeType="1" noTextEdit="1"/>
              </p:cNvSpPr>
              <p:nvPr/>
            </p:nvSpPr>
            <p:spPr>
              <a:xfrm>
                <a:off x="11125200" y="3152742"/>
                <a:ext cx="609600" cy="609600"/>
              </a:xfrm>
              <a:prstGeom prst="ellipse">
                <a:avLst/>
              </a:prstGeom>
              <a:blipFill>
                <a:blip r:embed="rId14"/>
                <a:stretch>
                  <a:fillRect/>
                </a:stretch>
              </a:blipFill>
            </p:spPr>
            <p:txBody>
              <a:bodyPr/>
              <a:lstStyle/>
              <a:p>
                <a:r>
                  <a:rPr lang="en-IN">
                    <a:noFill/>
                  </a:rPr>
                  <a:t> </a:t>
                </a:r>
              </a:p>
            </p:txBody>
          </p:sp>
        </mc:Fallback>
      </mc:AlternateContent>
      <p:sp>
        <p:nvSpPr>
          <p:cNvPr id="62" name="Oval 61">
            <a:extLst>
              <a:ext uri="{FF2B5EF4-FFF2-40B4-BE49-F238E27FC236}">
                <a16:creationId xmlns:a16="http://schemas.microsoft.com/office/drawing/2014/main" id="{DBB56DE2-A86F-434C-9D9F-3FB5BF99DFA4}"/>
              </a:ext>
            </a:extLst>
          </p:cNvPr>
          <p:cNvSpPr/>
          <p:nvPr/>
        </p:nvSpPr>
        <p:spPr>
          <a:xfrm>
            <a:off x="11201400" y="322894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63" name="Straight Arrow Connector 62">
            <a:extLst>
              <a:ext uri="{FF2B5EF4-FFF2-40B4-BE49-F238E27FC236}">
                <a16:creationId xmlns:a16="http://schemas.microsoft.com/office/drawing/2014/main" id="{D4840CC4-599B-4B92-BD45-671776042961}"/>
              </a:ext>
            </a:extLst>
          </p:cNvPr>
          <p:cNvCxnSpPr>
            <a:endCxn id="61" idx="2"/>
          </p:cNvCxnSpPr>
          <p:nvPr/>
        </p:nvCxnSpPr>
        <p:spPr>
          <a:xfrm>
            <a:off x="10577964" y="3442302"/>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4" name="TextBox 63">
            <a:extLst>
              <a:ext uri="{FF2B5EF4-FFF2-40B4-BE49-F238E27FC236}">
                <a16:creationId xmlns:a16="http://schemas.microsoft.com/office/drawing/2014/main" id="{18A465C7-C5AF-4178-A0A1-151C022B3504}"/>
              </a:ext>
            </a:extLst>
          </p:cNvPr>
          <p:cNvSpPr txBox="1"/>
          <p:nvPr/>
        </p:nvSpPr>
        <p:spPr>
          <a:xfrm>
            <a:off x="10690561" y="3112856"/>
            <a:ext cx="295274" cy="369332"/>
          </a:xfrm>
          <a:prstGeom prst="rect">
            <a:avLst/>
          </a:prstGeom>
          <a:noFill/>
        </p:spPr>
        <p:txBody>
          <a:bodyPr wrap="none" rtlCol="0">
            <a:spAutoFit/>
          </a:bodyPr>
          <a:lstStyle/>
          <a:p>
            <a:r>
              <a:rPr lang="en-US" dirty="0"/>
              <a:t>a</a:t>
            </a:r>
            <a:endParaRPr lang="en-IN" dirty="0"/>
          </a:p>
        </p:txBody>
      </p:sp>
      <p:cxnSp>
        <p:nvCxnSpPr>
          <p:cNvPr id="65" name="Connector: Curved 64">
            <a:extLst>
              <a:ext uri="{FF2B5EF4-FFF2-40B4-BE49-F238E27FC236}">
                <a16:creationId xmlns:a16="http://schemas.microsoft.com/office/drawing/2014/main" id="{5DAB419E-BFCF-4D1A-9B4C-532D731220E5}"/>
              </a:ext>
            </a:extLst>
          </p:cNvPr>
          <p:cNvCxnSpPr>
            <a:cxnSpLocks/>
          </p:cNvCxnSpPr>
          <p:nvPr/>
        </p:nvCxnSpPr>
        <p:spPr>
          <a:xfrm rot="5400000" flipH="1" flipV="1">
            <a:off x="9131837" y="3448424"/>
            <a:ext cx="12700" cy="431052"/>
          </a:xfrm>
          <a:prstGeom prst="curvedConnector3">
            <a:avLst>
              <a:gd name="adj1" fmla="val -3029693"/>
            </a:avLst>
          </a:prstGeom>
          <a:ln>
            <a:tailEnd type="triangle"/>
          </a:ln>
        </p:spPr>
        <p:style>
          <a:lnRef idx="3">
            <a:schemeClr val="accent1"/>
          </a:lnRef>
          <a:fillRef idx="0">
            <a:schemeClr val="accent1"/>
          </a:fillRef>
          <a:effectRef idx="2">
            <a:schemeClr val="accent1"/>
          </a:effectRef>
          <a:fontRef idx="minor">
            <a:schemeClr val="tx1"/>
          </a:fontRef>
        </p:style>
      </p:cxnSp>
      <p:sp>
        <p:nvSpPr>
          <p:cNvPr id="66" name="TextBox 65">
            <a:extLst>
              <a:ext uri="{FF2B5EF4-FFF2-40B4-BE49-F238E27FC236}">
                <a16:creationId xmlns:a16="http://schemas.microsoft.com/office/drawing/2014/main" id="{8406882B-A532-44C0-8B6F-98E0878346E8}"/>
              </a:ext>
            </a:extLst>
          </p:cNvPr>
          <p:cNvSpPr txBox="1"/>
          <p:nvPr/>
        </p:nvSpPr>
        <p:spPr>
          <a:xfrm>
            <a:off x="8990550" y="3747102"/>
            <a:ext cx="295274" cy="369332"/>
          </a:xfrm>
          <a:prstGeom prst="rect">
            <a:avLst/>
          </a:prstGeom>
          <a:noFill/>
        </p:spPr>
        <p:txBody>
          <a:bodyPr wrap="none" rtlCol="0">
            <a:spAutoFit/>
          </a:bodyPr>
          <a:lstStyle/>
          <a:p>
            <a:r>
              <a:rPr lang="en-US" dirty="0"/>
              <a:t>a</a:t>
            </a:r>
            <a:endParaRPr lang="en-IN" dirty="0"/>
          </a:p>
        </p:txBody>
      </p:sp>
      <p:cxnSp>
        <p:nvCxnSpPr>
          <p:cNvPr id="70" name="Connector: Curved 69">
            <a:extLst>
              <a:ext uri="{FF2B5EF4-FFF2-40B4-BE49-F238E27FC236}">
                <a16:creationId xmlns:a16="http://schemas.microsoft.com/office/drawing/2014/main" id="{4557EC1C-66F9-4F5D-A3C4-11E4AC1105B8}"/>
              </a:ext>
            </a:extLst>
          </p:cNvPr>
          <p:cNvCxnSpPr>
            <a:cxnSpLocks/>
            <a:endCxn id="72" idx="3"/>
          </p:cNvCxnSpPr>
          <p:nvPr/>
        </p:nvCxnSpPr>
        <p:spPr>
          <a:xfrm rot="5400000" flipH="1" flipV="1">
            <a:off x="8614482" y="2861565"/>
            <a:ext cx="671320" cy="6350"/>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71" name="TextBox 70">
            <a:extLst>
              <a:ext uri="{FF2B5EF4-FFF2-40B4-BE49-F238E27FC236}">
                <a16:creationId xmlns:a16="http://schemas.microsoft.com/office/drawing/2014/main" id="{55BE10F6-4D4C-4CF0-AC64-89703337DCBA}"/>
              </a:ext>
            </a:extLst>
          </p:cNvPr>
          <p:cNvSpPr txBox="1"/>
          <p:nvPr/>
        </p:nvSpPr>
        <p:spPr>
          <a:xfrm>
            <a:off x="8686800" y="2680074"/>
            <a:ext cx="946093" cy="369332"/>
          </a:xfrm>
          <a:prstGeom prst="rect">
            <a:avLst/>
          </a:prstGeom>
          <a:noFill/>
        </p:spPr>
        <p:txBody>
          <a:bodyPr wrap="none" rtlCol="0">
            <a:spAutoFit/>
          </a:bodyPr>
          <a:lstStyle/>
          <a:p>
            <a:r>
              <a:rPr lang="en-US" dirty="0"/>
              <a:t>b          a</a:t>
            </a:r>
            <a:endParaRPr lang="en-IN" dirty="0"/>
          </a:p>
        </p:txBody>
      </p:sp>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310FA805-98DD-47BD-8238-BEC5556A9B47}"/>
                  </a:ext>
                </a:extLst>
              </p:cNvPr>
              <p:cNvSpPr/>
              <p:nvPr/>
            </p:nvSpPr>
            <p:spPr>
              <a:xfrm>
                <a:off x="8864043" y="2008754"/>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US" dirty="0"/>
              </a:p>
            </p:txBody>
          </p:sp>
        </mc:Choice>
        <mc:Fallback xmlns="">
          <p:sp>
            <p:nvSpPr>
              <p:cNvPr id="72" name="Oval 71">
                <a:extLst>
                  <a:ext uri="{FF2B5EF4-FFF2-40B4-BE49-F238E27FC236}">
                    <a16:creationId xmlns:a16="http://schemas.microsoft.com/office/drawing/2014/main" id="{310FA805-98DD-47BD-8238-BEC5556A9B47}"/>
                  </a:ext>
                </a:extLst>
              </p:cNvPr>
              <p:cNvSpPr>
                <a:spLocks noRot="1" noChangeAspect="1" noMove="1" noResize="1" noEditPoints="1" noAdjustHandles="1" noChangeArrowheads="1" noChangeShapeType="1" noTextEdit="1"/>
              </p:cNvSpPr>
              <p:nvPr/>
            </p:nvSpPr>
            <p:spPr>
              <a:xfrm>
                <a:off x="8864043" y="2008754"/>
                <a:ext cx="609600" cy="609600"/>
              </a:xfrm>
              <a:prstGeom prst="ellipse">
                <a:avLst/>
              </a:prstGeom>
              <a:blipFill>
                <a:blip r:embed="rId15"/>
                <a:stretch>
                  <a:fillRect/>
                </a:stretch>
              </a:blipFill>
            </p:spPr>
            <p:txBody>
              <a:bodyPr/>
              <a:lstStyle/>
              <a:p>
                <a:r>
                  <a:rPr lang="en-IN">
                    <a:noFill/>
                  </a:rPr>
                  <a:t> </a:t>
                </a:r>
              </a:p>
            </p:txBody>
          </p:sp>
        </mc:Fallback>
      </mc:AlternateContent>
      <p:cxnSp>
        <p:nvCxnSpPr>
          <p:cNvPr id="73" name="Straight Arrow Connector 72">
            <a:extLst>
              <a:ext uri="{FF2B5EF4-FFF2-40B4-BE49-F238E27FC236}">
                <a16:creationId xmlns:a16="http://schemas.microsoft.com/office/drawing/2014/main" id="{D8DDF5CD-5728-4FF3-BD5C-2406347ABE3C}"/>
              </a:ext>
            </a:extLst>
          </p:cNvPr>
          <p:cNvCxnSpPr>
            <a:stCxn id="72" idx="5"/>
          </p:cNvCxnSpPr>
          <p:nvPr/>
        </p:nvCxnSpPr>
        <p:spPr>
          <a:xfrm flipH="1">
            <a:off x="9378019" y="2529080"/>
            <a:ext cx="6350" cy="6713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74" name="Oval 73">
                <a:extLst>
                  <a:ext uri="{FF2B5EF4-FFF2-40B4-BE49-F238E27FC236}">
                    <a16:creationId xmlns:a16="http://schemas.microsoft.com/office/drawing/2014/main" id="{3C42EDE3-2D37-4AD4-AB88-FD79D1CCF6C9}"/>
                  </a:ext>
                </a:extLst>
              </p:cNvPr>
              <p:cNvSpPr/>
              <p:nvPr/>
            </p:nvSpPr>
            <p:spPr>
              <a:xfrm>
                <a:off x="2438400" y="46482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74" name="Oval 73">
                <a:extLst>
                  <a:ext uri="{FF2B5EF4-FFF2-40B4-BE49-F238E27FC236}">
                    <a16:creationId xmlns:a16="http://schemas.microsoft.com/office/drawing/2014/main" id="{3C42EDE3-2D37-4AD4-AB88-FD79D1CCF6C9}"/>
                  </a:ext>
                </a:extLst>
              </p:cNvPr>
              <p:cNvSpPr>
                <a:spLocks noRot="1" noChangeAspect="1" noMove="1" noResize="1" noEditPoints="1" noAdjustHandles="1" noChangeArrowheads="1" noChangeShapeType="1" noTextEdit="1"/>
              </p:cNvSpPr>
              <p:nvPr/>
            </p:nvSpPr>
            <p:spPr>
              <a:xfrm>
                <a:off x="2438400" y="4648200"/>
                <a:ext cx="609600" cy="609600"/>
              </a:xfrm>
              <a:prstGeom prst="ellipse">
                <a:avLst/>
              </a:prstGeom>
              <a:blipFill>
                <a:blip r:embed="rId16"/>
                <a:stretch>
                  <a:fillRect/>
                </a:stretch>
              </a:blipFill>
            </p:spPr>
            <p:txBody>
              <a:bodyPr/>
              <a:lstStyle/>
              <a:p>
                <a:r>
                  <a:rPr lang="en-IN">
                    <a:noFill/>
                  </a:rPr>
                  <a:t> </a:t>
                </a:r>
              </a:p>
            </p:txBody>
          </p:sp>
        </mc:Fallback>
      </mc:AlternateContent>
      <p:sp>
        <p:nvSpPr>
          <p:cNvPr id="75" name="Oval 74">
            <a:extLst>
              <a:ext uri="{FF2B5EF4-FFF2-40B4-BE49-F238E27FC236}">
                <a16:creationId xmlns:a16="http://schemas.microsoft.com/office/drawing/2014/main" id="{35CC737F-EBF0-4F0D-93B4-617E50BF6320}"/>
              </a:ext>
            </a:extLst>
          </p:cNvPr>
          <p:cNvSpPr/>
          <p:nvPr/>
        </p:nvSpPr>
        <p:spPr>
          <a:xfrm>
            <a:off x="2514600" y="4724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76" name="Connector: Curved 75">
            <a:extLst>
              <a:ext uri="{FF2B5EF4-FFF2-40B4-BE49-F238E27FC236}">
                <a16:creationId xmlns:a16="http://schemas.microsoft.com/office/drawing/2014/main" id="{E1180B2B-D209-48BF-B458-9DED64291549}"/>
              </a:ext>
            </a:extLst>
          </p:cNvPr>
          <p:cNvCxnSpPr>
            <a:stCxn id="74" idx="1"/>
            <a:endCxn id="74" idx="7"/>
          </p:cNvCxnSpPr>
          <p:nvPr/>
        </p:nvCxnSpPr>
        <p:spPr>
          <a:xfrm rot="5400000" flipH="1" flipV="1">
            <a:off x="2743200" y="4521948"/>
            <a:ext cx="12700" cy="431052"/>
          </a:xfrm>
          <a:prstGeom prst="curvedConnector3">
            <a:avLst>
              <a:gd name="adj1" fmla="val 417031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169FFB29-92C2-4332-95E6-F8C7E16CCA6F}"/>
              </a:ext>
            </a:extLst>
          </p:cNvPr>
          <p:cNvCxnSpPr/>
          <p:nvPr/>
        </p:nvCxnSpPr>
        <p:spPr>
          <a:xfrm>
            <a:off x="1981200" y="49530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9" name="TextBox 78">
            <a:extLst>
              <a:ext uri="{FF2B5EF4-FFF2-40B4-BE49-F238E27FC236}">
                <a16:creationId xmlns:a16="http://schemas.microsoft.com/office/drawing/2014/main" id="{E08485CF-7AF2-4BBF-BBAD-3B61BA9EAEE4}"/>
              </a:ext>
            </a:extLst>
          </p:cNvPr>
          <p:cNvSpPr txBox="1"/>
          <p:nvPr/>
        </p:nvSpPr>
        <p:spPr>
          <a:xfrm>
            <a:off x="2938275" y="4202668"/>
            <a:ext cx="853119" cy="369332"/>
          </a:xfrm>
          <a:prstGeom prst="rect">
            <a:avLst/>
          </a:prstGeom>
          <a:noFill/>
        </p:spPr>
        <p:txBody>
          <a:bodyPr wrap="none" rtlCol="0">
            <a:spAutoFit/>
          </a:bodyPr>
          <a:lstStyle/>
          <a:p>
            <a:r>
              <a:rPr lang="en-US" dirty="0" err="1"/>
              <a:t>aa+aaa</a:t>
            </a:r>
            <a:endParaRPr lang="en-IN" dirty="0"/>
          </a:p>
        </p:txBody>
      </p:sp>
      <mc:AlternateContent xmlns:mc="http://schemas.openxmlformats.org/markup-compatibility/2006" xmlns:a14="http://schemas.microsoft.com/office/drawing/2010/main">
        <mc:Choice Requires="a14">
          <p:sp>
            <p:nvSpPr>
              <p:cNvPr id="80" name="Oval 79">
                <a:extLst>
                  <a:ext uri="{FF2B5EF4-FFF2-40B4-BE49-F238E27FC236}">
                    <a16:creationId xmlns:a16="http://schemas.microsoft.com/office/drawing/2014/main" id="{C8D889E4-00E2-432B-A444-164A4D2D6DF4}"/>
                  </a:ext>
                </a:extLst>
              </p:cNvPr>
              <p:cNvSpPr/>
              <p:nvPr/>
            </p:nvSpPr>
            <p:spPr>
              <a:xfrm>
                <a:off x="4572000" y="47244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80" name="Oval 79">
                <a:extLst>
                  <a:ext uri="{FF2B5EF4-FFF2-40B4-BE49-F238E27FC236}">
                    <a16:creationId xmlns:a16="http://schemas.microsoft.com/office/drawing/2014/main" id="{C8D889E4-00E2-432B-A444-164A4D2D6DF4}"/>
                  </a:ext>
                </a:extLst>
              </p:cNvPr>
              <p:cNvSpPr>
                <a:spLocks noRot="1" noChangeAspect="1" noMove="1" noResize="1" noEditPoints="1" noAdjustHandles="1" noChangeArrowheads="1" noChangeShapeType="1" noTextEdit="1"/>
              </p:cNvSpPr>
              <p:nvPr/>
            </p:nvSpPr>
            <p:spPr>
              <a:xfrm>
                <a:off x="4572000" y="4724400"/>
                <a:ext cx="609600" cy="609600"/>
              </a:xfrm>
              <a:prstGeom prst="ellipse">
                <a:avLst/>
              </a:prstGeom>
              <a:blipFill>
                <a:blip r:embed="rId17"/>
                <a:stretch>
                  <a:fillRect/>
                </a:stretch>
              </a:blipFill>
            </p:spPr>
            <p:txBody>
              <a:bodyPr/>
              <a:lstStyle/>
              <a:p>
                <a:r>
                  <a:rPr lang="en-IN">
                    <a:noFill/>
                  </a:rPr>
                  <a:t> </a:t>
                </a:r>
              </a:p>
            </p:txBody>
          </p:sp>
        </mc:Fallback>
      </mc:AlternateContent>
      <p:sp>
        <p:nvSpPr>
          <p:cNvPr id="81" name="Oval 80">
            <a:extLst>
              <a:ext uri="{FF2B5EF4-FFF2-40B4-BE49-F238E27FC236}">
                <a16:creationId xmlns:a16="http://schemas.microsoft.com/office/drawing/2014/main" id="{A728534F-6637-4B61-A047-C807D5D61DCD}"/>
              </a:ext>
            </a:extLst>
          </p:cNvPr>
          <p:cNvSpPr/>
          <p:nvPr/>
        </p:nvSpPr>
        <p:spPr>
          <a:xfrm>
            <a:off x="4648200" y="48006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82" name="Connector: Curved 81">
            <a:extLst>
              <a:ext uri="{FF2B5EF4-FFF2-40B4-BE49-F238E27FC236}">
                <a16:creationId xmlns:a16="http://schemas.microsoft.com/office/drawing/2014/main" id="{3F3B3887-DE0F-4FD2-A93B-DA5BF78FEBF9}"/>
              </a:ext>
            </a:extLst>
          </p:cNvPr>
          <p:cNvCxnSpPr>
            <a:stCxn id="80" idx="1"/>
            <a:endCxn id="80" idx="7"/>
          </p:cNvCxnSpPr>
          <p:nvPr/>
        </p:nvCxnSpPr>
        <p:spPr>
          <a:xfrm rot="5400000" flipH="1" flipV="1">
            <a:off x="4876800" y="4598148"/>
            <a:ext cx="12700" cy="431052"/>
          </a:xfrm>
          <a:prstGeom prst="curvedConnector3">
            <a:avLst>
              <a:gd name="adj1" fmla="val 4170315"/>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49B93C18-7BE2-4867-9147-5790C321EDFC}"/>
              </a:ext>
            </a:extLst>
          </p:cNvPr>
          <p:cNvCxnSpPr/>
          <p:nvPr/>
        </p:nvCxnSpPr>
        <p:spPr>
          <a:xfrm>
            <a:off x="4114800" y="50292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4" name="TextBox 83">
            <a:extLst>
              <a:ext uri="{FF2B5EF4-FFF2-40B4-BE49-F238E27FC236}">
                <a16:creationId xmlns:a16="http://schemas.microsoft.com/office/drawing/2014/main" id="{6BA7A12A-1A6E-407A-98E5-AEC93D23F846}"/>
              </a:ext>
            </a:extLst>
          </p:cNvPr>
          <p:cNvSpPr txBox="1"/>
          <p:nvPr/>
        </p:nvSpPr>
        <p:spPr>
          <a:xfrm>
            <a:off x="5071875" y="4278868"/>
            <a:ext cx="405880" cy="369332"/>
          </a:xfrm>
          <a:prstGeom prst="rect">
            <a:avLst/>
          </a:prstGeom>
          <a:noFill/>
        </p:spPr>
        <p:txBody>
          <a:bodyPr wrap="none" rtlCol="0">
            <a:spAutoFit/>
          </a:bodyPr>
          <a:lstStyle/>
          <a:p>
            <a:r>
              <a:rPr lang="en-US" dirty="0"/>
              <a:t>aa</a:t>
            </a:r>
            <a:endParaRPr lang="en-IN" dirty="0"/>
          </a:p>
        </p:txBody>
      </p:sp>
      <p:cxnSp>
        <p:nvCxnSpPr>
          <p:cNvPr id="86" name="Connector: Curved 85">
            <a:extLst>
              <a:ext uri="{FF2B5EF4-FFF2-40B4-BE49-F238E27FC236}">
                <a16:creationId xmlns:a16="http://schemas.microsoft.com/office/drawing/2014/main" id="{B3977FDF-9000-4179-9E0C-ED6E241C7863}"/>
              </a:ext>
            </a:extLst>
          </p:cNvPr>
          <p:cNvCxnSpPr>
            <a:stCxn id="80" idx="3"/>
            <a:endCxn id="80" idx="5"/>
          </p:cNvCxnSpPr>
          <p:nvPr/>
        </p:nvCxnSpPr>
        <p:spPr>
          <a:xfrm rot="16200000" flipH="1">
            <a:off x="4876800" y="5029200"/>
            <a:ext cx="12700" cy="431052"/>
          </a:xfrm>
          <a:prstGeom prst="curvedConnector3">
            <a:avLst>
              <a:gd name="adj1" fmla="val 4321890"/>
            </a:avLst>
          </a:prstGeom>
          <a:ln>
            <a:tailEnd type="triangle"/>
          </a:ln>
        </p:spPr>
        <p:style>
          <a:lnRef idx="3">
            <a:schemeClr val="accent1"/>
          </a:lnRef>
          <a:fillRef idx="0">
            <a:schemeClr val="accent1"/>
          </a:fillRef>
          <a:effectRef idx="2">
            <a:schemeClr val="accent1"/>
          </a:effectRef>
          <a:fontRef idx="minor">
            <a:schemeClr val="tx1"/>
          </a:fontRef>
        </p:style>
      </p:cxnSp>
      <p:sp>
        <p:nvSpPr>
          <p:cNvPr id="88" name="TextBox 87">
            <a:extLst>
              <a:ext uri="{FF2B5EF4-FFF2-40B4-BE49-F238E27FC236}">
                <a16:creationId xmlns:a16="http://schemas.microsoft.com/office/drawing/2014/main" id="{1EFA1FDA-8D96-4E2B-9D4A-9B3517A4CAA8}"/>
              </a:ext>
            </a:extLst>
          </p:cNvPr>
          <p:cNvSpPr txBox="1"/>
          <p:nvPr/>
        </p:nvSpPr>
        <p:spPr>
          <a:xfrm>
            <a:off x="5098676" y="5331594"/>
            <a:ext cx="516488" cy="369332"/>
          </a:xfrm>
          <a:prstGeom prst="rect">
            <a:avLst/>
          </a:prstGeom>
          <a:noFill/>
        </p:spPr>
        <p:txBody>
          <a:bodyPr wrap="none" rtlCol="0">
            <a:spAutoFit/>
          </a:bodyPr>
          <a:lstStyle/>
          <a:p>
            <a:r>
              <a:rPr lang="en-US" dirty="0" err="1"/>
              <a:t>aaa</a:t>
            </a:r>
            <a:endParaRPr lang="en-IN" dirty="0"/>
          </a:p>
        </p:txBody>
      </p:sp>
      <mc:AlternateContent xmlns:mc="http://schemas.openxmlformats.org/markup-compatibility/2006" xmlns:a14="http://schemas.microsoft.com/office/drawing/2010/main">
        <mc:Choice Requires="a14">
          <p:sp>
            <p:nvSpPr>
              <p:cNvPr id="89" name="Oval 88">
                <a:extLst>
                  <a:ext uri="{FF2B5EF4-FFF2-40B4-BE49-F238E27FC236}">
                    <a16:creationId xmlns:a16="http://schemas.microsoft.com/office/drawing/2014/main" id="{4F800509-4268-455E-B0EF-2F0B1209B4FB}"/>
                  </a:ext>
                </a:extLst>
              </p:cNvPr>
              <p:cNvSpPr/>
              <p:nvPr/>
            </p:nvSpPr>
            <p:spPr>
              <a:xfrm>
                <a:off x="7010400" y="47244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89" name="Oval 88">
                <a:extLst>
                  <a:ext uri="{FF2B5EF4-FFF2-40B4-BE49-F238E27FC236}">
                    <a16:creationId xmlns:a16="http://schemas.microsoft.com/office/drawing/2014/main" id="{4F800509-4268-455E-B0EF-2F0B1209B4FB}"/>
                  </a:ext>
                </a:extLst>
              </p:cNvPr>
              <p:cNvSpPr>
                <a:spLocks noRot="1" noChangeAspect="1" noMove="1" noResize="1" noEditPoints="1" noAdjustHandles="1" noChangeArrowheads="1" noChangeShapeType="1" noTextEdit="1"/>
              </p:cNvSpPr>
              <p:nvPr/>
            </p:nvSpPr>
            <p:spPr>
              <a:xfrm>
                <a:off x="7010400" y="4724400"/>
                <a:ext cx="609600" cy="609600"/>
              </a:xfrm>
              <a:prstGeom prst="ellipse">
                <a:avLst/>
              </a:prstGeom>
              <a:blipFill>
                <a:blip r:embed="rId17"/>
                <a:stretch>
                  <a:fillRect/>
                </a:stretch>
              </a:blipFill>
            </p:spPr>
            <p:txBody>
              <a:bodyPr/>
              <a:lstStyle/>
              <a:p>
                <a:r>
                  <a:rPr lang="en-IN">
                    <a:noFill/>
                  </a:rPr>
                  <a:t> </a:t>
                </a:r>
              </a:p>
            </p:txBody>
          </p:sp>
        </mc:Fallback>
      </mc:AlternateContent>
      <p:sp>
        <p:nvSpPr>
          <p:cNvPr id="90" name="Oval 89">
            <a:extLst>
              <a:ext uri="{FF2B5EF4-FFF2-40B4-BE49-F238E27FC236}">
                <a16:creationId xmlns:a16="http://schemas.microsoft.com/office/drawing/2014/main" id="{65A0AA4F-C2D9-4E0A-AFFE-37DDEF3444BB}"/>
              </a:ext>
            </a:extLst>
          </p:cNvPr>
          <p:cNvSpPr/>
          <p:nvPr/>
        </p:nvSpPr>
        <p:spPr>
          <a:xfrm>
            <a:off x="7086600" y="48006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92" name="Straight Arrow Connector 91">
            <a:extLst>
              <a:ext uri="{FF2B5EF4-FFF2-40B4-BE49-F238E27FC236}">
                <a16:creationId xmlns:a16="http://schemas.microsoft.com/office/drawing/2014/main" id="{11635B1C-B19A-46D3-8B85-D12931DD5ABF}"/>
              </a:ext>
            </a:extLst>
          </p:cNvPr>
          <p:cNvCxnSpPr/>
          <p:nvPr/>
        </p:nvCxnSpPr>
        <p:spPr>
          <a:xfrm>
            <a:off x="6499459" y="5029200"/>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3" name="TextBox 92">
            <a:extLst>
              <a:ext uri="{FF2B5EF4-FFF2-40B4-BE49-F238E27FC236}">
                <a16:creationId xmlns:a16="http://schemas.microsoft.com/office/drawing/2014/main" id="{C7DD5E0A-3D6F-4FCF-9D54-823EB9238E02}"/>
              </a:ext>
            </a:extLst>
          </p:cNvPr>
          <p:cNvSpPr txBox="1"/>
          <p:nvPr/>
        </p:nvSpPr>
        <p:spPr>
          <a:xfrm>
            <a:off x="6826307" y="4355068"/>
            <a:ext cx="946093" cy="369332"/>
          </a:xfrm>
          <a:prstGeom prst="rect">
            <a:avLst/>
          </a:prstGeom>
          <a:noFill/>
        </p:spPr>
        <p:txBody>
          <a:bodyPr wrap="none" rtlCol="0">
            <a:spAutoFit/>
          </a:bodyPr>
          <a:lstStyle/>
          <a:p>
            <a:r>
              <a:rPr lang="en-US" dirty="0"/>
              <a:t>a          a</a:t>
            </a:r>
            <a:endParaRPr lang="en-IN" dirty="0"/>
          </a:p>
        </p:txBody>
      </p:sp>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5D189A4C-AFFC-45A6-884D-92FE982893C1}"/>
                  </a:ext>
                </a:extLst>
              </p:cNvPr>
              <p:cNvSpPr/>
              <p:nvPr/>
            </p:nvSpPr>
            <p:spPr>
              <a:xfrm>
                <a:off x="7003550" y="368374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US" dirty="0"/>
              </a:p>
            </p:txBody>
          </p:sp>
        </mc:Choice>
        <mc:Fallback xmlns="">
          <p:sp>
            <p:nvSpPr>
              <p:cNvPr id="94" name="Oval 93">
                <a:extLst>
                  <a:ext uri="{FF2B5EF4-FFF2-40B4-BE49-F238E27FC236}">
                    <a16:creationId xmlns:a16="http://schemas.microsoft.com/office/drawing/2014/main" id="{5D189A4C-AFFC-45A6-884D-92FE982893C1}"/>
                  </a:ext>
                </a:extLst>
              </p:cNvPr>
              <p:cNvSpPr>
                <a:spLocks noRot="1" noChangeAspect="1" noMove="1" noResize="1" noEditPoints="1" noAdjustHandles="1" noChangeArrowheads="1" noChangeShapeType="1" noTextEdit="1"/>
              </p:cNvSpPr>
              <p:nvPr/>
            </p:nvSpPr>
            <p:spPr>
              <a:xfrm>
                <a:off x="7003550" y="3683748"/>
                <a:ext cx="609600" cy="609600"/>
              </a:xfrm>
              <a:prstGeom prst="ellipse">
                <a:avLst/>
              </a:prstGeom>
              <a:blipFill>
                <a:blip r:embed="rId18"/>
                <a:stretch>
                  <a:fillRect/>
                </a:stretch>
              </a:blipFill>
            </p:spPr>
            <p:txBody>
              <a:bodyPr/>
              <a:lstStyle/>
              <a:p>
                <a:r>
                  <a:rPr lang="en-IN">
                    <a:noFill/>
                  </a:rPr>
                  <a:t> </a:t>
                </a:r>
              </a:p>
            </p:txBody>
          </p:sp>
        </mc:Fallback>
      </mc:AlternateContent>
      <p:cxnSp>
        <p:nvCxnSpPr>
          <p:cNvPr id="95" name="Connector: Curved 94">
            <a:extLst>
              <a:ext uri="{FF2B5EF4-FFF2-40B4-BE49-F238E27FC236}">
                <a16:creationId xmlns:a16="http://schemas.microsoft.com/office/drawing/2014/main" id="{B8B52615-E05A-4ECC-B5BF-30433316E797}"/>
              </a:ext>
            </a:extLst>
          </p:cNvPr>
          <p:cNvCxnSpPr>
            <a:cxnSpLocks/>
          </p:cNvCxnSpPr>
          <p:nvPr/>
        </p:nvCxnSpPr>
        <p:spPr>
          <a:xfrm rot="5400000" flipH="1" flipV="1">
            <a:off x="6773913" y="4537965"/>
            <a:ext cx="671320" cy="6350"/>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6" name="Straight Arrow Connector 95">
            <a:extLst>
              <a:ext uri="{FF2B5EF4-FFF2-40B4-BE49-F238E27FC236}">
                <a16:creationId xmlns:a16="http://schemas.microsoft.com/office/drawing/2014/main" id="{948FD516-E6D5-40FB-8AB9-59FBD02E823B}"/>
              </a:ext>
            </a:extLst>
          </p:cNvPr>
          <p:cNvCxnSpPr/>
          <p:nvPr/>
        </p:nvCxnSpPr>
        <p:spPr>
          <a:xfrm flipH="1">
            <a:off x="7537450" y="4205480"/>
            <a:ext cx="6350" cy="6713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97" name="Oval 96">
                <a:extLst>
                  <a:ext uri="{FF2B5EF4-FFF2-40B4-BE49-F238E27FC236}">
                    <a16:creationId xmlns:a16="http://schemas.microsoft.com/office/drawing/2014/main" id="{E06A3C70-9B97-46BD-87FF-1533925A4DCA}"/>
                  </a:ext>
                </a:extLst>
              </p:cNvPr>
              <p:cNvSpPr/>
              <p:nvPr/>
            </p:nvSpPr>
            <p:spPr>
              <a:xfrm>
                <a:off x="7773412" y="6019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US" dirty="0"/>
              </a:p>
            </p:txBody>
          </p:sp>
        </mc:Choice>
        <mc:Fallback xmlns="">
          <p:sp>
            <p:nvSpPr>
              <p:cNvPr id="97" name="Oval 96">
                <a:extLst>
                  <a:ext uri="{FF2B5EF4-FFF2-40B4-BE49-F238E27FC236}">
                    <a16:creationId xmlns:a16="http://schemas.microsoft.com/office/drawing/2014/main" id="{E06A3C70-9B97-46BD-87FF-1533925A4DCA}"/>
                  </a:ext>
                </a:extLst>
              </p:cNvPr>
              <p:cNvSpPr>
                <a:spLocks noRot="1" noChangeAspect="1" noMove="1" noResize="1" noEditPoints="1" noAdjustHandles="1" noChangeArrowheads="1" noChangeShapeType="1" noTextEdit="1"/>
              </p:cNvSpPr>
              <p:nvPr/>
            </p:nvSpPr>
            <p:spPr>
              <a:xfrm>
                <a:off x="7773412" y="6019800"/>
                <a:ext cx="609600" cy="609600"/>
              </a:xfrm>
              <a:prstGeom prst="ellipse">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Oval 97">
                <a:extLst>
                  <a:ext uri="{FF2B5EF4-FFF2-40B4-BE49-F238E27FC236}">
                    <a16:creationId xmlns:a16="http://schemas.microsoft.com/office/drawing/2014/main" id="{2A8A8252-DFA2-4A2D-975E-88DCB752D6BC}"/>
                  </a:ext>
                </a:extLst>
              </p:cNvPr>
              <p:cNvSpPr/>
              <p:nvPr/>
            </p:nvSpPr>
            <p:spPr>
              <a:xfrm>
                <a:off x="8685750" y="496182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3</m:t>
                          </m:r>
                        </m:sub>
                      </m:sSub>
                    </m:oMath>
                  </m:oMathPara>
                </a14:m>
                <a:endParaRPr lang="en-US" dirty="0"/>
              </a:p>
            </p:txBody>
          </p:sp>
        </mc:Choice>
        <mc:Fallback xmlns="">
          <p:sp>
            <p:nvSpPr>
              <p:cNvPr id="98" name="Oval 97">
                <a:extLst>
                  <a:ext uri="{FF2B5EF4-FFF2-40B4-BE49-F238E27FC236}">
                    <a16:creationId xmlns:a16="http://schemas.microsoft.com/office/drawing/2014/main" id="{2A8A8252-DFA2-4A2D-975E-88DCB752D6BC}"/>
                  </a:ext>
                </a:extLst>
              </p:cNvPr>
              <p:cNvSpPr>
                <a:spLocks noRot="1" noChangeAspect="1" noMove="1" noResize="1" noEditPoints="1" noAdjustHandles="1" noChangeArrowheads="1" noChangeShapeType="1" noTextEdit="1"/>
              </p:cNvSpPr>
              <p:nvPr/>
            </p:nvSpPr>
            <p:spPr>
              <a:xfrm>
                <a:off x="8685750" y="4961823"/>
                <a:ext cx="609600" cy="609600"/>
              </a:xfrm>
              <a:prstGeom prst="ellipse">
                <a:avLst/>
              </a:prstGeom>
              <a:blipFill>
                <a:blip r:embed="rId20"/>
                <a:stretch>
                  <a:fillRect/>
                </a:stretch>
              </a:blipFill>
            </p:spPr>
            <p:txBody>
              <a:bodyPr/>
              <a:lstStyle/>
              <a:p>
                <a:r>
                  <a:rPr lang="en-IN">
                    <a:noFill/>
                  </a:rPr>
                  <a:t> </a:t>
                </a:r>
              </a:p>
            </p:txBody>
          </p:sp>
        </mc:Fallback>
      </mc:AlternateContent>
      <p:cxnSp>
        <p:nvCxnSpPr>
          <p:cNvPr id="100" name="Straight Arrow Connector 99">
            <a:extLst>
              <a:ext uri="{FF2B5EF4-FFF2-40B4-BE49-F238E27FC236}">
                <a16:creationId xmlns:a16="http://schemas.microsoft.com/office/drawing/2014/main" id="{8E582A1D-FB95-4A59-806B-268FFEF7C3E2}"/>
              </a:ext>
            </a:extLst>
          </p:cNvPr>
          <p:cNvCxnSpPr>
            <a:stCxn id="89" idx="4"/>
            <a:endCxn id="97" idx="1"/>
          </p:cNvCxnSpPr>
          <p:nvPr/>
        </p:nvCxnSpPr>
        <p:spPr>
          <a:xfrm>
            <a:off x="7315200" y="5334000"/>
            <a:ext cx="547486" cy="77507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2" name="Straight Arrow Connector 101">
            <a:extLst>
              <a:ext uri="{FF2B5EF4-FFF2-40B4-BE49-F238E27FC236}">
                <a16:creationId xmlns:a16="http://schemas.microsoft.com/office/drawing/2014/main" id="{9D6D0FD7-434E-42C5-9F3B-8A952F407479}"/>
              </a:ext>
            </a:extLst>
          </p:cNvPr>
          <p:cNvCxnSpPr>
            <a:stCxn id="97" idx="7"/>
            <a:endCxn id="98" idx="3"/>
          </p:cNvCxnSpPr>
          <p:nvPr/>
        </p:nvCxnSpPr>
        <p:spPr>
          <a:xfrm flipV="1">
            <a:off x="8293738" y="5482149"/>
            <a:ext cx="481286" cy="62692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003E6CEB-0364-4F1C-AE61-19D281262CE7}"/>
              </a:ext>
            </a:extLst>
          </p:cNvPr>
          <p:cNvCxnSpPr>
            <a:stCxn id="98" idx="2"/>
            <a:endCxn id="89" idx="6"/>
          </p:cNvCxnSpPr>
          <p:nvPr/>
        </p:nvCxnSpPr>
        <p:spPr>
          <a:xfrm flipH="1" flipV="1">
            <a:off x="7620000" y="5029200"/>
            <a:ext cx="1065750" cy="2374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6" name="TextBox 105">
            <a:extLst>
              <a:ext uri="{FF2B5EF4-FFF2-40B4-BE49-F238E27FC236}">
                <a16:creationId xmlns:a16="http://schemas.microsoft.com/office/drawing/2014/main" id="{66E5B2AC-8DC6-4FA1-ADA4-A71EBFFA5851}"/>
              </a:ext>
            </a:extLst>
          </p:cNvPr>
          <p:cNvSpPr txBox="1"/>
          <p:nvPr/>
        </p:nvSpPr>
        <p:spPr>
          <a:xfrm>
            <a:off x="7335965" y="5606534"/>
            <a:ext cx="295274" cy="369332"/>
          </a:xfrm>
          <a:prstGeom prst="rect">
            <a:avLst/>
          </a:prstGeom>
          <a:noFill/>
        </p:spPr>
        <p:txBody>
          <a:bodyPr wrap="none" rtlCol="0">
            <a:spAutoFit/>
          </a:bodyPr>
          <a:lstStyle/>
          <a:p>
            <a:r>
              <a:rPr lang="en-US" dirty="0"/>
              <a:t>a</a:t>
            </a:r>
            <a:endParaRPr lang="en-IN" dirty="0"/>
          </a:p>
        </p:txBody>
      </p:sp>
      <p:sp>
        <p:nvSpPr>
          <p:cNvPr id="107" name="TextBox 106">
            <a:extLst>
              <a:ext uri="{FF2B5EF4-FFF2-40B4-BE49-F238E27FC236}">
                <a16:creationId xmlns:a16="http://schemas.microsoft.com/office/drawing/2014/main" id="{79E901F6-B925-4B00-93CD-0A904A53E21F}"/>
              </a:ext>
            </a:extLst>
          </p:cNvPr>
          <p:cNvSpPr txBox="1"/>
          <p:nvPr/>
        </p:nvSpPr>
        <p:spPr>
          <a:xfrm>
            <a:off x="8469599" y="5678021"/>
            <a:ext cx="295274" cy="369332"/>
          </a:xfrm>
          <a:prstGeom prst="rect">
            <a:avLst/>
          </a:prstGeom>
          <a:noFill/>
        </p:spPr>
        <p:txBody>
          <a:bodyPr wrap="none" rtlCol="0">
            <a:spAutoFit/>
          </a:bodyPr>
          <a:lstStyle/>
          <a:p>
            <a:r>
              <a:rPr lang="en-US" dirty="0"/>
              <a:t>a</a:t>
            </a:r>
            <a:endParaRPr lang="en-IN" dirty="0"/>
          </a:p>
        </p:txBody>
      </p:sp>
      <p:sp>
        <p:nvSpPr>
          <p:cNvPr id="108" name="TextBox 107">
            <a:extLst>
              <a:ext uri="{FF2B5EF4-FFF2-40B4-BE49-F238E27FC236}">
                <a16:creationId xmlns:a16="http://schemas.microsoft.com/office/drawing/2014/main" id="{345AF6E1-FF32-4B77-85F9-E25802FBE1F6}"/>
              </a:ext>
            </a:extLst>
          </p:cNvPr>
          <p:cNvSpPr txBox="1"/>
          <p:nvPr/>
        </p:nvSpPr>
        <p:spPr>
          <a:xfrm>
            <a:off x="8070490" y="4855524"/>
            <a:ext cx="295274" cy="369332"/>
          </a:xfrm>
          <a:prstGeom prst="rect">
            <a:avLst/>
          </a:prstGeom>
          <a:noFill/>
        </p:spPr>
        <p:txBody>
          <a:bodyPr wrap="none" rtlCol="0">
            <a:spAutoFit/>
          </a:bodyPr>
          <a:lstStyle/>
          <a:p>
            <a:r>
              <a:rPr lang="en-US" dirty="0"/>
              <a:t>a</a:t>
            </a:r>
            <a:endParaRPr lang="en-IN" dirty="0"/>
          </a:p>
        </p:txBody>
      </p:sp>
      <p:cxnSp>
        <p:nvCxnSpPr>
          <p:cNvPr id="109" name="Straight Arrow Connector 108">
            <a:extLst>
              <a:ext uri="{FF2B5EF4-FFF2-40B4-BE49-F238E27FC236}">
                <a16:creationId xmlns:a16="http://schemas.microsoft.com/office/drawing/2014/main" id="{0965E4F2-5E56-405B-A959-E27F716E3E5E}"/>
              </a:ext>
            </a:extLst>
          </p:cNvPr>
          <p:cNvCxnSpPr/>
          <p:nvPr/>
        </p:nvCxnSpPr>
        <p:spPr>
          <a:xfrm>
            <a:off x="3080287" y="5482149"/>
            <a:ext cx="8382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0" name="Straight Arrow Connector 109">
            <a:extLst>
              <a:ext uri="{FF2B5EF4-FFF2-40B4-BE49-F238E27FC236}">
                <a16:creationId xmlns:a16="http://schemas.microsoft.com/office/drawing/2014/main" id="{7243CE6E-A7BE-413D-92B6-1E9153AD5BD0}"/>
              </a:ext>
            </a:extLst>
          </p:cNvPr>
          <p:cNvCxnSpPr/>
          <p:nvPr/>
        </p:nvCxnSpPr>
        <p:spPr>
          <a:xfrm>
            <a:off x="5446295" y="5040190"/>
            <a:ext cx="8382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4855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10"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par>
                                <p:cTn id="46" presetID="10"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4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5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6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66"/>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73"/>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58"/>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7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5"/>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76"/>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77"/>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7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09"/>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80"/>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81"/>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83"/>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84"/>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86"/>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88"/>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110"/>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89"/>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90"/>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92"/>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97"/>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98"/>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00"/>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02"/>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05"/>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06"/>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0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08"/>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94"/>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95"/>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93"/>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7" grpId="0" animBg="1"/>
      <p:bldP spid="9" grpId="0"/>
      <p:bldP spid="13" grpId="0"/>
      <p:bldP spid="14" grpId="0"/>
      <p:bldP spid="15" grpId="0" animBg="1"/>
      <p:bldP spid="16" grpId="0" animBg="1"/>
      <p:bldP spid="18" grpId="0" animBg="1"/>
      <p:bldP spid="20" grpId="0"/>
      <p:bldP spid="23" grpId="0"/>
      <p:bldP spid="24" grpId="0"/>
      <p:bldP spid="25" grpId="0" animBg="1"/>
      <p:bldP spid="26" grpId="0" animBg="1"/>
      <p:bldP spid="28" grpId="0" animBg="1"/>
      <p:bldP spid="30" grpId="0"/>
      <p:bldP spid="33" grpId="0"/>
      <p:bldP spid="34" grpId="0"/>
      <p:bldP spid="35" grpId="0" animBg="1"/>
      <p:bldP spid="41" grpId="0" animBg="1"/>
      <p:bldP spid="42" grpId="0" animBg="1"/>
      <p:bldP spid="45" grpId="0"/>
      <p:bldP spid="46" grpId="0" animBg="1"/>
      <p:bldP spid="47" grpId="0" animBg="1"/>
      <p:bldP spid="49" grpId="0"/>
      <p:bldP spid="52" grpId="0"/>
      <p:bldP spid="56" grpId="0" animBg="1"/>
      <p:bldP spid="57" grpId="0" animBg="1"/>
      <p:bldP spid="60" grpId="0"/>
      <p:bldP spid="61" grpId="0" animBg="1"/>
      <p:bldP spid="62" grpId="0" animBg="1"/>
      <p:bldP spid="64" grpId="0"/>
      <p:bldP spid="66" grpId="0"/>
      <p:bldP spid="72" grpId="0" animBg="1"/>
      <p:bldP spid="74" grpId="0" animBg="1"/>
      <p:bldP spid="75" grpId="0" animBg="1"/>
      <p:bldP spid="79" grpId="0"/>
      <p:bldP spid="80" grpId="0" animBg="1"/>
      <p:bldP spid="81" grpId="0" animBg="1"/>
      <p:bldP spid="84" grpId="0"/>
      <p:bldP spid="88" grpId="0"/>
      <p:bldP spid="89" grpId="0" animBg="1"/>
      <p:bldP spid="90" grpId="0" animBg="1"/>
      <p:bldP spid="93" grpId="0"/>
      <p:bldP spid="94" grpId="0" animBg="1"/>
      <p:bldP spid="97" grpId="0" animBg="1"/>
      <p:bldP spid="98" grpId="0" animBg="1"/>
      <p:bldP spid="106" grpId="0"/>
      <p:bldP spid="107" grpId="0"/>
      <p:bldP spid="10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CCFC93-30F4-4E58-8229-F930A3D72CB9}"/>
              </a:ext>
            </a:extLst>
          </p:cNvPr>
          <p:cNvSpPr>
            <a:spLocks noGrp="1"/>
          </p:cNvSpPr>
          <p:nvPr>
            <p:ph idx="1"/>
          </p:nvPr>
        </p:nvSpPr>
        <p:spPr>
          <a:xfrm>
            <a:off x="254000" y="990600"/>
            <a:ext cx="3556000" cy="5334000"/>
          </a:xfrm>
        </p:spPr>
        <p:txBody>
          <a:bodyPr/>
          <a:lstStyle/>
          <a:p>
            <a:r>
              <a:rPr lang="en-IN" dirty="0"/>
              <a:t>(ab)*+(</a:t>
            </a:r>
            <a:r>
              <a:rPr lang="en-IN" dirty="0" err="1"/>
              <a:t>a+ab</a:t>
            </a:r>
            <a:r>
              <a:rPr lang="en-IN" dirty="0"/>
              <a:t>)* b* (</a:t>
            </a:r>
            <a:r>
              <a:rPr lang="en-IN" dirty="0" err="1"/>
              <a:t>a+b</a:t>
            </a:r>
            <a:r>
              <a:rPr lang="en-IN" dirty="0"/>
              <a:t>)*</a:t>
            </a:r>
          </a:p>
          <a:p>
            <a:endParaRPr lang="en-IN" dirty="0"/>
          </a:p>
          <a:p>
            <a:endParaRPr lang="en-IN" dirty="0"/>
          </a:p>
          <a:p>
            <a:endParaRPr lang="en-IN" dirty="0"/>
          </a:p>
          <a:p>
            <a:endParaRPr lang="en-IN" dirty="0"/>
          </a:p>
          <a:p>
            <a:endParaRPr lang="en-IN" dirty="0"/>
          </a:p>
          <a:p>
            <a:endParaRPr lang="en-IN" dirty="0"/>
          </a:p>
          <a:p>
            <a:endParaRPr lang="en-IN" dirty="0"/>
          </a:p>
          <a:p>
            <a:r>
              <a:rPr lang="en-IN" dirty="0"/>
              <a:t>[</a:t>
            </a:r>
            <a:r>
              <a:rPr lang="en-IN" dirty="0" err="1"/>
              <a:t>a+ba</a:t>
            </a:r>
            <a:r>
              <a:rPr lang="en-IN" dirty="0"/>
              <a:t>(</a:t>
            </a:r>
            <a:r>
              <a:rPr lang="en-IN" dirty="0" err="1"/>
              <a:t>a+b</a:t>
            </a:r>
            <a:r>
              <a:rPr lang="en-IN" dirty="0"/>
              <a:t>)]* a (</a:t>
            </a:r>
            <a:r>
              <a:rPr lang="en-IN" dirty="0" err="1"/>
              <a:t>ba</a:t>
            </a:r>
            <a:r>
              <a:rPr lang="en-IN" dirty="0"/>
              <a:t>)* b*</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148FF185-9667-4F4D-8D91-2C59A4C81C45}"/>
                  </a:ext>
                </a:extLst>
              </p:cNvPr>
              <p:cNvSpPr/>
              <p:nvPr/>
            </p:nvSpPr>
            <p:spPr>
              <a:xfrm>
                <a:off x="4864564" y="117245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4" name="Oval 3">
                <a:extLst>
                  <a:ext uri="{FF2B5EF4-FFF2-40B4-BE49-F238E27FC236}">
                    <a16:creationId xmlns:a16="http://schemas.microsoft.com/office/drawing/2014/main" id="{148FF185-9667-4F4D-8D91-2C59A4C81C45}"/>
                  </a:ext>
                </a:extLst>
              </p:cNvPr>
              <p:cNvSpPr>
                <a:spLocks noRot="1" noChangeAspect="1" noMove="1" noResize="1" noEditPoints="1" noAdjustHandles="1" noChangeArrowheads="1" noChangeShapeType="1" noTextEdit="1"/>
              </p:cNvSpPr>
              <p:nvPr/>
            </p:nvSpPr>
            <p:spPr>
              <a:xfrm>
                <a:off x="4864564" y="1172459"/>
                <a:ext cx="609600" cy="609600"/>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3A429357-6991-436F-8A50-668FF1828163}"/>
                  </a:ext>
                </a:extLst>
              </p:cNvPr>
              <p:cNvSpPr/>
              <p:nvPr/>
            </p:nvSpPr>
            <p:spPr>
              <a:xfrm>
                <a:off x="6908052" y="38816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1</m:t>
                          </m:r>
                        </m:sub>
                      </m:sSub>
                    </m:oMath>
                  </m:oMathPara>
                </a14:m>
                <a:endParaRPr lang="en-US" dirty="0"/>
              </a:p>
            </p:txBody>
          </p:sp>
        </mc:Choice>
        <mc:Fallback xmlns="">
          <p:sp>
            <p:nvSpPr>
              <p:cNvPr id="5" name="Oval 4">
                <a:extLst>
                  <a:ext uri="{FF2B5EF4-FFF2-40B4-BE49-F238E27FC236}">
                    <a16:creationId xmlns:a16="http://schemas.microsoft.com/office/drawing/2014/main" id="{3A429357-6991-436F-8A50-668FF1828163}"/>
                  </a:ext>
                </a:extLst>
              </p:cNvPr>
              <p:cNvSpPr>
                <a:spLocks noRot="1" noChangeAspect="1" noMove="1" noResize="1" noEditPoints="1" noAdjustHandles="1" noChangeArrowheads="1" noChangeShapeType="1" noTextEdit="1"/>
              </p:cNvSpPr>
              <p:nvPr/>
            </p:nvSpPr>
            <p:spPr>
              <a:xfrm>
                <a:off x="6908052" y="388169"/>
                <a:ext cx="609600" cy="609600"/>
              </a:xfrm>
              <a:prstGeom prst="ellipse">
                <a:avLst/>
              </a:prstGeom>
              <a:blipFill>
                <a:blip r:embed="rId3"/>
                <a:stretch>
                  <a:fillRect/>
                </a:stretch>
              </a:blipFill>
            </p:spPr>
            <p:txBody>
              <a:bodyPr/>
              <a:lstStyle/>
              <a:p>
                <a:r>
                  <a:rPr lang="en-IN">
                    <a:noFill/>
                  </a:rPr>
                  <a:t> </a:t>
                </a:r>
              </a:p>
            </p:txBody>
          </p:sp>
        </mc:Fallback>
      </mc:AlternateContent>
      <p:sp>
        <p:nvSpPr>
          <p:cNvPr id="6" name="Oval 5">
            <a:extLst>
              <a:ext uri="{FF2B5EF4-FFF2-40B4-BE49-F238E27FC236}">
                <a16:creationId xmlns:a16="http://schemas.microsoft.com/office/drawing/2014/main" id="{B67202BA-0737-4879-9CA4-017C6BDC46E0}"/>
              </a:ext>
            </a:extLst>
          </p:cNvPr>
          <p:cNvSpPr/>
          <p:nvPr/>
        </p:nvSpPr>
        <p:spPr>
          <a:xfrm>
            <a:off x="6096000" y="8382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7" name="Straight Arrow Connector 6">
            <a:extLst>
              <a:ext uri="{FF2B5EF4-FFF2-40B4-BE49-F238E27FC236}">
                <a16:creationId xmlns:a16="http://schemas.microsoft.com/office/drawing/2014/main" id="{35E04140-B68B-464C-B964-EBC9FA99552E}"/>
              </a:ext>
            </a:extLst>
          </p:cNvPr>
          <p:cNvCxnSpPr>
            <a:cxnSpLocks/>
            <a:stCxn id="4" idx="7"/>
            <a:endCxn id="5" idx="2"/>
          </p:cNvCxnSpPr>
          <p:nvPr/>
        </p:nvCxnSpPr>
        <p:spPr>
          <a:xfrm flipV="1">
            <a:off x="5384890" y="692969"/>
            <a:ext cx="1523162" cy="56876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01902DC9-9C06-4EFC-9FCE-20339B7631E3}"/>
              </a:ext>
            </a:extLst>
          </p:cNvPr>
          <p:cNvSpPr txBox="1"/>
          <p:nvPr/>
        </p:nvSpPr>
        <p:spPr>
          <a:xfrm>
            <a:off x="5710301" y="621268"/>
            <a:ext cx="311304" cy="369332"/>
          </a:xfrm>
          <a:prstGeom prst="rect">
            <a:avLst/>
          </a:prstGeom>
          <a:noFill/>
        </p:spPr>
        <p:txBody>
          <a:bodyPr wrap="none" rtlCol="0">
            <a:spAutoFit/>
          </a:bodyPr>
          <a:lstStyle/>
          <a:p>
            <a:r>
              <a:rPr lang="en-US" dirty="0"/>
              <a:t>Є</a:t>
            </a:r>
            <a:endParaRPr lang="en-IN" dirty="0"/>
          </a:p>
        </p:txBody>
      </p:sp>
      <p:cxnSp>
        <p:nvCxnSpPr>
          <p:cNvPr id="13" name="Straight Arrow Connector 12">
            <a:extLst>
              <a:ext uri="{FF2B5EF4-FFF2-40B4-BE49-F238E27FC236}">
                <a16:creationId xmlns:a16="http://schemas.microsoft.com/office/drawing/2014/main" id="{10365392-B5AE-4C9D-971D-E1BED8552954}"/>
              </a:ext>
            </a:extLst>
          </p:cNvPr>
          <p:cNvCxnSpPr>
            <a:cxnSpLocks/>
          </p:cNvCxnSpPr>
          <p:nvPr/>
        </p:nvCxnSpPr>
        <p:spPr>
          <a:xfrm>
            <a:off x="4344505" y="1524000"/>
            <a:ext cx="53801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Curved 15">
            <a:extLst>
              <a:ext uri="{FF2B5EF4-FFF2-40B4-BE49-F238E27FC236}">
                <a16:creationId xmlns:a16="http://schemas.microsoft.com/office/drawing/2014/main" id="{8388E287-2D65-4F3E-82FA-D6533893E2D7}"/>
              </a:ext>
            </a:extLst>
          </p:cNvPr>
          <p:cNvCxnSpPr>
            <a:stCxn id="5" idx="1"/>
            <a:endCxn id="5" idx="7"/>
          </p:cNvCxnSpPr>
          <p:nvPr/>
        </p:nvCxnSpPr>
        <p:spPr>
          <a:xfrm rot="5400000" flipH="1" flipV="1">
            <a:off x="7212852" y="261917"/>
            <a:ext cx="12700" cy="431052"/>
          </a:xfrm>
          <a:prstGeom prst="curvedConnector3">
            <a:avLst>
              <a:gd name="adj1" fmla="val 3715575"/>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6B67FF4D-2957-4AC8-9287-175ED9D62769}"/>
              </a:ext>
            </a:extLst>
          </p:cNvPr>
          <p:cNvSpPr txBox="1"/>
          <p:nvPr/>
        </p:nvSpPr>
        <p:spPr>
          <a:xfrm>
            <a:off x="7349483" y="2389"/>
            <a:ext cx="417102" cy="369332"/>
          </a:xfrm>
          <a:prstGeom prst="rect">
            <a:avLst/>
          </a:prstGeom>
          <a:noFill/>
        </p:spPr>
        <p:txBody>
          <a:bodyPr wrap="none" rtlCol="0">
            <a:spAutoFit/>
          </a:bodyPr>
          <a:lstStyle/>
          <a:p>
            <a:r>
              <a:rPr lang="en-US" dirty="0"/>
              <a:t>ab</a:t>
            </a:r>
            <a:endParaRPr lang="en-IN" dirty="0"/>
          </a:p>
        </p:txBody>
      </p:sp>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172EFF03-2BC9-4D75-B4D5-23C2C629326E}"/>
                  </a:ext>
                </a:extLst>
              </p:cNvPr>
              <p:cNvSpPr/>
              <p:nvPr/>
            </p:nvSpPr>
            <p:spPr>
              <a:xfrm>
                <a:off x="8915400" y="1172459"/>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18" name="Oval 17">
                <a:extLst>
                  <a:ext uri="{FF2B5EF4-FFF2-40B4-BE49-F238E27FC236}">
                    <a16:creationId xmlns:a16="http://schemas.microsoft.com/office/drawing/2014/main" id="{172EFF03-2BC9-4D75-B4D5-23C2C629326E}"/>
                  </a:ext>
                </a:extLst>
              </p:cNvPr>
              <p:cNvSpPr>
                <a:spLocks noRot="1" noChangeAspect="1" noMove="1" noResize="1" noEditPoints="1" noAdjustHandles="1" noChangeArrowheads="1" noChangeShapeType="1" noTextEdit="1"/>
              </p:cNvSpPr>
              <p:nvPr/>
            </p:nvSpPr>
            <p:spPr>
              <a:xfrm>
                <a:off x="8915400" y="1172459"/>
                <a:ext cx="609600" cy="609600"/>
              </a:xfrm>
              <a:prstGeom prst="ellipse">
                <a:avLst/>
              </a:prstGeom>
              <a:blipFill>
                <a:blip r:embed="rId4"/>
                <a:stretch>
                  <a:fillRect/>
                </a:stretch>
              </a:blipFill>
            </p:spPr>
            <p:txBody>
              <a:bodyPr/>
              <a:lstStyle/>
              <a:p>
                <a:r>
                  <a:rPr lang="en-IN">
                    <a:noFill/>
                  </a:rPr>
                  <a:t> </a:t>
                </a:r>
              </a:p>
            </p:txBody>
          </p:sp>
        </mc:Fallback>
      </mc:AlternateContent>
      <p:sp>
        <p:nvSpPr>
          <p:cNvPr id="19" name="Oval 18">
            <a:extLst>
              <a:ext uri="{FF2B5EF4-FFF2-40B4-BE49-F238E27FC236}">
                <a16:creationId xmlns:a16="http://schemas.microsoft.com/office/drawing/2014/main" id="{5C5C7AAE-49E6-4127-948B-5C2BF80C60DB}"/>
              </a:ext>
            </a:extLst>
          </p:cNvPr>
          <p:cNvSpPr/>
          <p:nvPr/>
        </p:nvSpPr>
        <p:spPr>
          <a:xfrm>
            <a:off x="8991600" y="1248659"/>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21" name="Straight Arrow Connector 20">
            <a:extLst>
              <a:ext uri="{FF2B5EF4-FFF2-40B4-BE49-F238E27FC236}">
                <a16:creationId xmlns:a16="http://schemas.microsoft.com/office/drawing/2014/main" id="{AB2F508D-2938-4912-9801-1164E5275327}"/>
              </a:ext>
            </a:extLst>
          </p:cNvPr>
          <p:cNvCxnSpPr>
            <a:stCxn id="5" idx="6"/>
            <a:endCxn id="18" idx="1"/>
          </p:cNvCxnSpPr>
          <p:nvPr/>
        </p:nvCxnSpPr>
        <p:spPr>
          <a:xfrm>
            <a:off x="7517652" y="692969"/>
            <a:ext cx="1487022" cy="56876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10B73E16-1C01-4FDA-B040-147F282965FC}"/>
              </a:ext>
            </a:extLst>
          </p:cNvPr>
          <p:cNvSpPr txBox="1"/>
          <p:nvPr/>
        </p:nvSpPr>
        <p:spPr>
          <a:xfrm>
            <a:off x="8092795" y="642656"/>
            <a:ext cx="311304" cy="369332"/>
          </a:xfrm>
          <a:prstGeom prst="rect">
            <a:avLst/>
          </a:prstGeom>
          <a:noFill/>
        </p:spPr>
        <p:txBody>
          <a:bodyPr wrap="none" rtlCol="0">
            <a:spAutoFit/>
          </a:bodyPr>
          <a:lstStyle/>
          <a:p>
            <a:r>
              <a:rPr lang="en-US" dirty="0"/>
              <a:t>Є</a:t>
            </a:r>
            <a:endParaRPr lang="en-IN" dirty="0"/>
          </a:p>
        </p:txBody>
      </p:sp>
      <mc:AlternateContent xmlns:mc="http://schemas.openxmlformats.org/markup-compatibility/2006" xmlns:a14="http://schemas.microsoft.com/office/drawing/2010/main">
        <mc:Choice Requires="a14">
          <p:sp>
            <p:nvSpPr>
              <p:cNvPr id="31" name="Oval 30">
                <a:extLst>
                  <a:ext uri="{FF2B5EF4-FFF2-40B4-BE49-F238E27FC236}">
                    <a16:creationId xmlns:a16="http://schemas.microsoft.com/office/drawing/2014/main" id="{088B4775-9C78-4650-86A2-D306B225540D}"/>
                  </a:ext>
                </a:extLst>
              </p:cNvPr>
              <p:cNvSpPr/>
              <p:nvPr/>
            </p:nvSpPr>
            <p:spPr>
              <a:xfrm>
                <a:off x="5710301" y="25146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31" name="Oval 30">
                <a:extLst>
                  <a:ext uri="{FF2B5EF4-FFF2-40B4-BE49-F238E27FC236}">
                    <a16:creationId xmlns:a16="http://schemas.microsoft.com/office/drawing/2014/main" id="{088B4775-9C78-4650-86A2-D306B225540D}"/>
                  </a:ext>
                </a:extLst>
              </p:cNvPr>
              <p:cNvSpPr>
                <a:spLocks noRot="1" noChangeAspect="1" noMove="1" noResize="1" noEditPoints="1" noAdjustHandles="1" noChangeArrowheads="1" noChangeShapeType="1" noTextEdit="1"/>
              </p:cNvSpPr>
              <p:nvPr/>
            </p:nvSpPr>
            <p:spPr>
              <a:xfrm>
                <a:off x="5710301" y="2514600"/>
                <a:ext cx="609600" cy="609600"/>
              </a:xfrm>
              <a:prstGeom prst="ellipse">
                <a:avLst/>
              </a:prstGeom>
              <a:blipFill>
                <a:blip r:embed="rId5"/>
                <a:stretch>
                  <a:fillRect/>
                </a:stretch>
              </a:blipFill>
            </p:spPr>
            <p:txBody>
              <a:bodyPr/>
              <a:lstStyle/>
              <a:p>
                <a:r>
                  <a:rPr lang="en-IN">
                    <a:noFill/>
                  </a:rPr>
                  <a:t> </a:t>
                </a:r>
              </a:p>
            </p:txBody>
          </p:sp>
        </mc:Fallback>
      </mc:AlternateContent>
      <p:cxnSp>
        <p:nvCxnSpPr>
          <p:cNvPr id="33" name="Straight Arrow Connector 32">
            <a:extLst>
              <a:ext uri="{FF2B5EF4-FFF2-40B4-BE49-F238E27FC236}">
                <a16:creationId xmlns:a16="http://schemas.microsoft.com/office/drawing/2014/main" id="{0190AD5C-1338-44A5-A34A-E498573B3ED1}"/>
              </a:ext>
            </a:extLst>
          </p:cNvPr>
          <p:cNvCxnSpPr>
            <a:stCxn id="4" idx="4"/>
            <a:endCxn id="31" idx="1"/>
          </p:cNvCxnSpPr>
          <p:nvPr/>
        </p:nvCxnSpPr>
        <p:spPr>
          <a:xfrm>
            <a:off x="5169364" y="1782059"/>
            <a:ext cx="630211" cy="82181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TextBox 34">
            <a:extLst>
              <a:ext uri="{FF2B5EF4-FFF2-40B4-BE49-F238E27FC236}">
                <a16:creationId xmlns:a16="http://schemas.microsoft.com/office/drawing/2014/main" id="{7C0ACC57-EEF4-4DE3-B4BE-3D3B132F3A56}"/>
              </a:ext>
            </a:extLst>
          </p:cNvPr>
          <p:cNvSpPr txBox="1"/>
          <p:nvPr/>
        </p:nvSpPr>
        <p:spPr>
          <a:xfrm>
            <a:off x="5133062" y="3117849"/>
            <a:ext cx="643125" cy="369332"/>
          </a:xfrm>
          <a:prstGeom prst="rect">
            <a:avLst/>
          </a:prstGeom>
          <a:noFill/>
        </p:spPr>
        <p:txBody>
          <a:bodyPr wrap="none" rtlCol="0">
            <a:spAutoFit/>
          </a:bodyPr>
          <a:lstStyle/>
          <a:p>
            <a:r>
              <a:rPr lang="en-US" dirty="0" err="1"/>
              <a:t>a+ab</a:t>
            </a:r>
            <a:endParaRPr lang="en-IN" dirty="0"/>
          </a:p>
        </p:txBody>
      </p:sp>
      <p:cxnSp>
        <p:nvCxnSpPr>
          <p:cNvPr id="37" name="Connector: Curved 36">
            <a:extLst>
              <a:ext uri="{FF2B5EF4-FFF2-40B4-BE49-F238E27FC236}">
                <a16:creationId xmlns:a16="http://schemas.microsoft.com/office/drawing/2014/main" id="{AE70A456-2655-4A45-A879-7EF2BA30AB41}"/>
              </a:ext>
            </a:extLst>
          </p:cNvPr>
          <p:cNvCxnSpPr>
            <a:stCxn id="31" idx="3"/>
            <a:endCxn id="31" idx="5"/>
          </p:cNvCxnSpPr>
          <p:nvPr/>
        </p:nvCxnSpPr>
        <p:spPr>
          <a:xfrm rot="16200000" flipH="1">
            <a:off x="6015101" y="2819400"/>
            <a:ext cx="12700" cy="431052"/>
          </a:xfrm>
          <a:prstGeom prst="curvedConnector3">
            <a:avLst>
              <a:gd name="adj1" fmla="val 4018732"/>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FDA061F9-D02B-4B5D-B522-368AE6544198}"/>
                  </a:ext>
                </a:extLst>
              </p:cNvPr>
              <p:cNvSpPr/>
              <p:nvPr/>
            </p:nvSpPr>
            <p:spPr>
              <a:xfrm>
                <a:off x="6986298" y="2533742"/>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39" name="Oval 38">
                <a:extLst>
                  <a:ext uri="{FF2B5EF4-FFF2-40B4-BE49-F238E27FC236}">
                    <a16:creationId xmlns:a16="http://schemas.microsoft.com/office/drawing/2014/main" id="{FDA061F9-D02B-4B5D-B522-368AE6544198}"/>
                  </a:ext>
                </a:extLst>
              </p:cNvPr>
              <p:cNvSpPr>
                <a:spLocks noRot="1" noChangeAspect="1" noMove="1" noResize="1" noEditPoints="1" noAdjustHandles="1" noChangeArrowheads="1" noChangeShapeType="1" noTextEdit="1"/>
              </p:cNvSpPr>
              <p:nvPr/>
            </p:nvSpPr>
            <p:spPr>
              <a:xfrm>
                <a:off x="6986298" y="2533742"/>
                <a:ext cx="609600" cy="609600"/>
              </a:xfrm>
              <a:prstGeom prst="ellipse">
                <a:avLst/>
              </a:prstGeom>
              <a:blipFill>
                <a:blip r:embed="rId6"/>
                <a:stretch>
                  <a:fillRect/>
                </a:stretch>
              </a:blipFill>
            </p:spPr>
            <p:txBody>
              <a:bodyPr/>
              <a:lstStyle/>
              <a:p>
                <a:r>
                  <a:rPr lang="en-IN">
                    <a:noFill/>
                  </a:rPr>
                  <a:t> </a:t>
                </a:r>
              </a:p>
            </p:txBody>
          </p:sp>
        </mc:Fallback>
      </mc:AlternateContent>
      <p:cxnSp>
        <p:nvCxnSpPr>
          <p:cNvPr id="40" name="Connector: Curved 39">
            <a:extLst>
              <a:ext uri="{FF2B5EF4-FFF2-40B4-BE49-F238E27FC236}">
                <a16:creationId xmlns:a16="http://schemas.microsoft.com/office/drawing/2014/main" id="{11EAF15B-32AE-4D14-B095-695B39F52F28}"/>
              </a:ext>
            </a:extLst>
          </p:cNvPr>
          <p:cNvCxnSpPr/>
          <p:nvPr/>
        </p:nvCxnSpPr>
        <p:spPr>
          <a:xfrm rot="16200000" flipH="1">
            <a:off x="7295776" y="2835400"/>
            <a:ext cx="12700" cy="431052"/>
          </a:xfrm>
          <a:prstGeom prst="curvedConnector3">
            <a:avLst>
              <a:gd name="adj1" fmla="val 401873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23F4F0B6-406C-44E0-9118-9A98031D10A5}"/>
              </a:ext>
            </a:extLst>
          </p:cNvPr>
          <p:cNvCxnSpPr>
            <a:stCxn id="31" idx="6"/>
            <a:endCxn id="39" idx="2"/>
          </p:cNvCxnSpPr>
          <p:nvPr/>
        </p:nvCxnSpPr>
        <p:spPr>
          <a:xfrm>
            <a:off x="6319901" y="2819400"/>
            <a:ext cx="666397" cy="1914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3" name="TextBox 42">
            <a:extLst>
              <a:ext uri="{FF2B5EF4-FFF2-40B4-BE49-F238E27FC236}">
                <a16:creationId xmlns:a16="http://schemas.microsoft.com/office/drawing/2014/main" id="{1DDF851D-0272-446D-83B5-27FF32657BAD}"/>
              </a:ext>
            </a:extLst>
          </p:cNvPr>
          <p:cNvSpPr txBox="1"/>
          <p:nvPr/>
        </p:nvSpPr>
        <p:spPr>
          <a:xfrm>
            <a:off x="6497447" y="2450068"/>
            <a:ext cx="311304" cy="369332"/>
          </a:xfrm>
          <a:prstGeom prst="rect">
            <a:avLst/>
          </a:prstGeom>
          <a:noFill/>
        </p:spPr>
        <p:txBody>
          <a:bodyPr wrap="none" rtlCol="0">
            <a:spAutoFit/>
          </a:bodyPr>
          <a:lstStyle/>
          <a:p>
            <a:r>
              <a:rPr lang="en-US" dirty="0"/>
              <a:t>Є</a:t>
            </a:r>
            <a:endParaRPr lang="en-IN" dirty="0"/>
          </a:p>
        </p:txBody>
      </p:sp>
      <p:sp>
        <p:nvSpPr>
          <p:cNvPr id="44" name="TextBox 43">
            <a:extLst>
              <a:ext uri="{FF2B5EF4-FFF2-40B4-BE49-F238E27FC236}">
                <a16:creationId xmlns:a16="http://schemas.microsoft.com/office/drawing/2014/main" id="{76DBF1DB-1CE9-410E-98C8-482CF84776B0}"/>
              </a:ext>
            </a:extLst>
          </p:cNvPr>
          <p:cNvSpPr txBox="1"/>
          <p:nvPr/>
        </p:nvSpPr>
        <p:spPr>
          <a:xfrm>
            <a:off x="7431614" y="3284843"/>
            <a:ext cx="306494" cy="369332"/>
          </a:xfrm>
          <a:prstGeom prst="rect">
            <a:avLst/>
          </a:prstGeom>
          <a:noFill/>
        </p:spPr>
        <p:txBody>
          <a:bodyPr wrap="non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07B5D4CC-80D2-4D33-979B-0444BB5AF6FB}"/>
                  </a:ext>
                </a:extLst>
              </p:cNvPr>
              <p:cNvSpPr/>
              <p:nvPr/>
            </p:nvSpPr>
            <p:spPr>
              <a:xfrm>
                <a:off x="8305802" y="2542631"/>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IN" b="0" i="1" smtClean="0">
                              <a:latin typeface="Cambria Math" panose="02040503050406030204" pitchFamily="18" charset="0"/>
                            </a:rPr>
                            <m:t>0</m:t>
                          </m:r>
                        </m:sub>
                      </m:sSub>
                    </m:oMath>
                  </m:oMathPara>
                </a14:m>
                <a:endParaRPr lang="en-US" dirty="0"/>
              </a:p>
            </p:txBody>
          </p:sp>
        </mc:Choice>
        <mc:Fallback xmlns="">
          <p:sp>
            <p:nvSpPr>
              <p:cNvPr id="46" name="Oval 45">
                <a:extLst>
                  <a:ext uri="{FF2B5EF4-FFF2-40B4-BE49-F238E27FC236}">
                    <a16:creationId xmlns:a16="http://schemas.microsoft.com/office/drawing/2014/main" id="{07B5D4CC-80D2-4D33-979B-0444BB5AF6FB}"/>
                  </a:ext>
                </a:extLst>
              </p:cNvPr>
              <p:cNvSpPr>
                <a:spLocks noRot="1" noChangeAspect="1" noMove="1" noResize="1" noEditPoints="1" noAdjustHandles="1" noChangeArrowheads="1" noChangeShapeType="1" noTextEdit="1"/>
              </p:cNvSpPr>
              <p:nvPr/>
            </p:nvSpPr>
            <p:spPr>
              <a:xfrm>
                <a:off x="8305802" y="2542631"/>
                <a:ext cx="609600" cy="609600"/>
              </a:xfrm>
              <a:prstGeom prst="ellipse">
                <a:avLst/>
              </a:prstGeom>
              <a:blipFill>
                <a:blip r:embed="rId7"/>
                <a:stretch>
                  <a:fillRect/>
                </a:stretch>
              </a:blipFill>
            </p:spPr>
            <p:txBody>
              <a:bodyPr/>
              <a:lstStyle/>
              <a:p>
                <a:r>
                  <a:rPr lang="en-IN">
                    <a:noFill/>
                  </a:rPr>
                  <a:t> </a:t>
                </a:r>
              </a:p>
            </p:txBody>
          </p:sp>
        </mc:Fallback>
      </mc:AlternateContent>
      <p:cxnSp>
        <p:nvCxnSpPr>
          <p:cNvPr id="47" name="Straight Arrow Connector 46">
            <a:extLst>
              <a:ext uri="{FF2B5EF4-FFF2-40B4-BE49-F238E27FC236}">
                <a16:creationId xmlns:a16="http://schemas.microsoft.com/office/drawing/2014/main" id="{93232807-23CF-4447-9EAE-75E007DA943D}"/>
              </a:ext>
            </a:extLst>
          </p:cNvPr>
          <p:cNvCxnSpPr/>
          <p:nvPr/>
        </p:nvCxnSpPr>
        <p:spPr>
          <a:xfrm>
            <a:off x="7623103" y="2847431"/>
            <a:ext cx="666397" cy="1914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TextBox 47">
            <a:extLst>
              <a:ext uri="{FF2B5EF4-FFF2-40B4-BE49-F238E27FC236}">
                <a16:creationId xmlns:a16="http://schemas.microsoft.com/office/drawing/2014/main" id="{3D24D2C7-26AF-415F-9270-55F5508596FA}"/>
              </a:ext>
            </a:extLst>
          </p:cNvPr>
          <p:cNvSpPr txBox="1"/>
          <p:nvPr/>
        </p:nvSpPr>
        <p:spPr>
          <a:xfrm>
            <a:off x="7766585" y="2514600"/>
            <a:ext cx="311304" cy="369332"/>
          </a:xfrm>
          <a:prstGeom prst="rect">
            <a:avLst/>
          </a:prstGeom>
          <a:noFill/>
        </p:spPr>
        <p:txBody>
          <a:bodyPr wrap="none" rtlCol="0">
            <a:spAutoFit/>
          </a:bodyPr>
          <a:lstStyle/>
          <a:p>
            <a:r>
              <a:rPr lang="en-US" dirty="0"/>
              <a:t>Є</a:t>
            </a:r>
            <a:endParaRPr lang="en-IN" dirty="0"/>
          </a:p>
        </p:txBody>
      </p:sp>
      <p:cxnSp>
        <p:nvCxnSpPr>
          <p:cNvPr id="49" name="Connector: Curved 48">
            <a:extLst>
              <a:ext uri="{FF2B5EF4-FFF2-40B4-BE49-F238E27FC236}">
                <a16:creationId xmlns:a16="http://schemas.microsoft.com/office/drawing/2014/main" id="{498899B2-C7F3-4C44-A2B7-BD12BFB047D4}"/>
              </a:ext>
            </a:extLst>
          </p:cNvPr>
          <p:cNvCxnSpPr/>
          <p:nvPr/>
        </p:nvCxnSpPr>
        <p:spPr>
          <a:xfrm rot="16200000" flipH="1">
            <a:off x="8617324" y="2838824"/>
            <a:ext cx="12700" cy="431052"/>
          </a:xfrm>
          <a:prstGeom prst="curvedConnector3">
            <a:avLst>
              <a:gd name="adj1" fmla="val 4018732"/>
            </a:avLst>
          </a:prstGeom>
          <a:ln>
            <a:tailEnd type="triangle"/>
          </a:ln>
        </p:spPr>
        <p:style>
          <a:lnRef idx="3">
            <a:schemeClr val="accent1"/>
          </a:lnRef>
          <a:fillRef idx="0">
            <a:schemeClr val="accent1"/>
          </a:fillRef>
          <a:effectRef idx="2">
            <a:schemeClr val="accent1"/>
          </a:effectRef>
          <a:fontRef idx="minor">
            <a:schemeClr val="tx1"/>
          </a:fontRef>
        </p:style>
      </p:cxnSp>
      <p:sp>
        <p:nvSpPr>
          <p:cNvPr id="50" name="TextBox 49">
            <a:extLst>
              <a:ext uri="{FF2B5EF4-FFF2-40B4-BE49-F238E27FC236}">
                <a16:creationId xmlns:a16="http://schemas.microsoft.com/office/drawing/2014/main" id="{1158E790-F582-4B8D-9C8C-CD9EE845644C}"/>
              </a:ext>
            </a:extLst>
          </p:cNvPr>
          <p:cNvSpPr txBox="1"/>
          <p:nvPr/>
        </p:nvSpPr>
        <p:spPr>
          <a:xfrm>
            <a:off x="8762155" y="3228019"/>
            <a:ext cx="532518" cy="369332"/>
          </a:xfrm>
          <a:prstGeom prst="rect">
            <a:avLst/>
          </a:prstGeom>
          <a:noFill/>
        </p:spPr>
        <p:txBody>
          <a:bodyPr wrap="none" rtlCol="0">
            <a:spAutoFit/>
          </a:bodyPr>
          <a:lstStyle/>
          <a:p>
            <a:r>
              <a:rPr lang="en-US" dirty="0" err="1"/>
              <a:t>a+b</a:t>
            </a:r>
            <a:endParaRPr lang="en-IN" dirty="0"/>
          </a:p>
        </p:txBody>
      </p:sp>
      <p:cxnSp>
        <p:nvCxnSpPr>
          <p:cNvPr id="52" name="Straight Arrow Connector 51">
            <a:extLst>
              <a:ext uri="{FF2B5EF4-FFF2-40B4-BE49-F238E27FC236}">
                <a16:creationId xmlns:a16="http://schemas.microsoft.com/office/drawing/2014/main" id="{576B34C3-29AA-4CEA-B07C-1D8610F7E256}"/>
              </a:ext>
            </a:extLst>
          </p:cNvPr>
          <p:cNvCxnSpPr>
            <a:cxnSpLocks/>
            <a:stCxn id="46" idx="7"/>
            <a:endCxn id="18" idx="4"/>
          </p:cNvCxnSpPr>
          <p:nvPr/>
        </p:nvCxnSpPr>
        <p:spPr>
          <a:xfrm flipV="1">
            <a:off x="8826128" y="1782059"/>
            <a:ext cx="394072" cy="8498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3" name="TextBox 52">
            <a:extLst>
              <a:ext uri="{FF2B5EF4-FFF2-40B4-BE49-F238E27FC236}">
                <a16:creationId xmlns:a16="http://schemas.microsoft.com/office/drawing/2014/main" id="{8B702281-D016-45EC-B556-758FD4FB8DA8}"/>
              </a:ext>
            </a:extLst>
          </p:cNvPr>
          <p:cNvSpPr txBox="1"/>
          <p:nvPr/>
        </p:nvSpPr>
        <p:spPr>
          <a:xfrm>
            <a:off x="8711860" y="1955688"/>
            <a:ext cx="311304" cy="369332"/>
          </a:xfrm>
          <a:prstGeom prst="rect">
            <a:avLst/>
          </a:prstGeom>
          <a:noFill/>
        </p:spPr>
        <p:txBody>
          <a:bodyPr wrap="none" rtlCol="0">
            <a:spAutoFit/>
          </a:bodyPr>
          <a:lstStyle/>
          <a:p>
            <a:r>
              <a:rPr lang="en-US" dirty="0"/>
              <a:t>Є</a:t>
            </a:r>
            <a:endParaRPr lang="en-IN" dirty="0"/>
          </a:p>
        </p:txBody>
      </p:sp>
      <p:sp>
        <p:nvSpPr>
          <p:cNvPr id="60" name="TextBox 59">
            <a:extLst>
              <a:ext uri="{FF2B5EF4-FFF2-40B4-BE49-F238E27FC236}">
                <a16:creationId xmlns:a16="http://schemas.microsoft.com/office/drawing/2014/main" id="{DBD1CB76-2462-4654-B8EA-5A96E3C01499}"/>
              </a:ext>
            </a:extLst>
          </p:cNvPr>
          <p:cNvSpPr txBox="1"/>
          <p:nvPr/>
        </p:nvSpPr>
        <p:spPr>
          <a:xfrm>
            <a:off x="356569" y="4058036"/>
            <a:ext cx="7102329" cy="369332"/>
          </a:xfrm>
          <a:prstGeom prst="rect">
            <a:avLst/>
          </a:prstGeom>
          <a:noFill/>
        </p:spPr>
        <p:txBody>
          <a:bodyPr wrap="none" rtlCol="0">
            <a:spAutoFit/>
          </a:bodyPr>
          <a:lstStyle/>
          <a:p>
            <a:r>
              <a:rPr lang="en-IN" dirty="0"/>
              <a:t>And now we know how to break </a:t>
            </a:r>
            <a:r>
              <a:rPr lang="en-IN" dirty="0" err="1"/>
              <a:t>a+ab</a:t>
            </a:r>
            <a:r>
              <a:rPr lang="en-IN" dirty="0"/>
              <a:t>, ab, </a:t>
            </a:r>
            <a:r>
              <a:rPr lang="en-IN" dirty="0" err="1"/>
              <a:t>a+b</a:t>
            </a:r>
            <a:r>
              <a:rPr lang="en-IN" dirty="0"/>
              <a:t> to make it appropriate NFA</a:t>
            </a:r>
          </a:p>
        </p:txBody>
      </p:sp>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CCC59C4E-914C-43C9-BF66-5C3E55192048}"/>
                  </a:ext>
                </a:extLst>
              </p:cNvPr>
              <p:cNvSpPr/>
              <p:nvPr/>
            </p:nvSpPr>
            <p:spPr>
              <a:xfrm>
                <a:off x="4794787" y="524256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0</m:t>
                          </m:r>
                        </m:sub>
                      </m:sSub>
                    </m:oMath>
                  </m:oMathPara>
                </a14:m>
                <a:endParaRPr lang="en-US" dirty="0"/>
              </a:p>
            </p:txBody>
          </p:sp>
        </mc:Choice>
        <mc:Fallback xmlns="">
          <p:sp>
            <p:nvSpPr>
              <p:cNvPr id="61" name="Oval 60">
                <a:extLst>
                  <a:ext uri="{FF2B5EF4-FFF2-40B4-BE49-F238E27FC236}">
                    <a16:creationId xmlns:a16="http://schemas.microsoft.com/office/drawing/2014/main" id="{CCC59C4E-914C-43C9-BF66-5C3E55192048}"/>
                  </a:ext>
                </a:extLst>
              </p:cNvPr>
              <p:cNvSpPr>
                <a:spLocks noRot="1" noChangeAspect="1" noMove="1" noResize="1" noEditPoints="1" noAdjustHandles="1" noChangeArrowheads="1" noChangeShapeType="1" noTextEdit="1"/>
              </p:cNvSpPr>
              <p:nvPr/>
            </p:nvSpPr>
            <p:spPr>
              <a:xfrm>
                <a:off x="4794787" y="5242560"/>
                <a:ext cx="609600" cy="609600"/>
              </a:xfrm>
              <a:prstGeom prst="ellipse">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Oval 61">
                <a:extLst>
                  <a:ext uri="{FF2B5EF4-FFF2-40B4-BE49-F238E27FC236}">
                    <a16:creationId xmlns:a16="http://schemas.microsoft.com/office/drawing/2014/main" id="{95C9EF93-5627-4655-96C3-7ED6A44C0CFE}"/>
                  </a:ext>
                </a:extLst>
              </p:cNvPr>
              <p:cNvSpPr/>
              <p:nvPr/>
            </p:nvSpPr>
            <p:spPr>
              <a:xfrm>
                <a:off x="5951623" y="5257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62" name="Oval 61">
                <a:extLst>
                  <a:ext uri="{FF2B5EF4-FFF2-40B4-BE49-F238E27FC236}">
                    <a16:creationId xmlns:a16="http://schemas.microsoft.com/office/drawing/2014/main" id="{95C9EF93-5627-4655-96C3-7ED6A44C0CFE}"/>
                  </a:ext>
                </a:extLst>
              </p:cNvPr>
              <p:cNvSpPr>
                <a:spLocks noRot="1" noChangeAspect="1" noMove="1" noResize="1" noEditPoints="1" noAdjustHandles="1" noChangeArrowheads="1" noChangeShapeType="1" noTextEdit="1"/>
              </p:cNvSpPr>
              <p:nvPr/>
            </p:nvSpPr>
            <p:spPr>
              <a:xfrm>
                <a:off x="5951623" y="5257800"/>
                <a:ext cx="609600" cy="609600"/>
              </a:xfrm>
              <a:prstGeom prst="ellipse">
                <a:avLst/>
              </a:prstGeom>
              <a:blipFill>
                <a:blip r:embed="rId9"/>
                <a:stretch>
                  <a:fillRect/>
                </a:stretch>
              </a:blipFill>
            </p:spPr>
            <p:txBody>
              <a:bodyPr/>
              <a:lstStyle/>
              <a:p>
                <a:r>
                  <a:rPr lang="en-IN">
                    <a:noFill/>
                  </a:rPr>
                  <a:t> </a:t>
                </a:r>
              </a:p>
            </p:txBody>
          </p:sp>
        </mc:Fallback>
      </mc:AlternateContent>
      <p:cxnSp>
        <p:nvCxnSpPr>
          <p:cNvPr id="63" name="Straight Arrow Connector 62">
            <a:extLst>
              <a:ext uri="{FF2B5EF4-FFF2-40B4-BE49-F238E27FC236}">
                <a16:creationId xmlns:a16="http://schemas.microsoft.com/office/drawing/2014/main" id="{58055232-95C5-427B-B323-448913DA4A50}"/>
              </a:ext>
            </a:extLst>
          </p:cNvPr>
          <p:cNvCxnSpPr/>
          <p:nvPr/>
        </p:nvCxnSpPr>
        <p:spPr>
          <a:xfrm>
            <a:off x="4310716" y="5541988"/>
            <a:ext cx="51094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Straight Arrow Connector 63">
            <a:extLst>
              <a:ext uri="{FF2B5EF4-FFF2-40B4-BE49-F238E27FC236}">
                <a16:creationId xmlns:a16="http://schemas.microsoft.com/office/drawing/2014/main" id="{E640C318-9999-42ED-9C85-799845A2CA7C}"/>
              </a:ext>
            </a:extLst>
          </p:cNvPr>
          <p:cNvCxnSpPr>
            <a:stCxn id="61" idx="6"/>
            <a:endCxn id="62" idx="2"/>
          </p:cNvCxnSpPr>
          <p:nvPr/>
        </p:nvCxnSpPr>
        <p:spPr>
          <a:xfrm>
            <a:off x="5404387" y="5547360"/>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5" name="TextBox 64">
            <a:extLst>
              <a:ext uri="{FF2B5EF4-FFF2-40B4-BE49-F238E27FC236}">
                <a16:creationId xmlns:a16="http://schemas.microsoft.com/office/drawing/2014/main" id="{01484D86-AE31-41AA-8DA6-7B19B877DBD6}"/>
              </a:ext>
            </a:extLst>
          </p:cNvPr>
          <p:cNvSpPr txBox="1"/>
          <p:nvPr/>
        </p:nvSpPr>
        <p:spPr>
          <a:xfrm>
            <a:off x="5516984" y="5217914"/>
            <a:ext cx="295274" cy="369332"/>
          </a:xfrm>
          <a:prstGeom prst="rect">
            <a:avLst/>
          </a:prstGeom>
          <a:noFill/>
        </p:spPr>
        <p:txBody>
          <a:bodyPr wrap="none" rtlCol="0">
            <a:spAutoFit/>
          </a:bodyPr>
          <a:lstStyle/>
          <a:p>
            <a:r>
              <a:rPr lang="en-US" dirty="0"/>
              <a:t>a</a:t>
            </a:r>
            <a:endParaRPr lang="en-IN" dirty="0"/>
          </a:p>
        </p:txBody>
      </p:sp>
      <mc:AlternateContent xmlns:mc="http://schemas.openxmlformats.org/markup-compatibility/2006" xmlns:a14="http://schemas.microsoft.com/office/drawing/2010/main">
        <mc:Choice Requires="a14">
          <p:sp>
            <p:nvSpPr>
              <p:cNvPr id="66" name="Oval 65">
                <a:extLst>
                  <a:ext uri="{FF2B5EF4-FFF2-40B4-BE49-F238E27FC236}">
                    <a16:creationId xmlns:a16="http://schemas.microsoft.com/office/drawing/2014/main" id="{579538F0-F069-4F16-8424-03C3CADE27E9}"/>
                  </a:ext>
                </a:extLst>
              </p:cNvPr>
              <p:cNvSpPr/>
              <p:nvPr/>
            </p:nvSpPr>
            <p:spPr>
              <a:xfrm>
                <a:off x="7086600" y="5257800"/>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66" name="Oval 65">
                <a:extLst>
                  <a:ext uri="{FF2B5EF4-FFF2-40B4-BE49-F238E27FC236}">
                    <a16:creationId xmlns:a16="http://schemas.microsoft.com/office/drawing/2014/main" id="{579538F0-F069-4F16-8424-03C3CADE27E9}"/>
                  </a:ext>
                </a:extLst>
              </p:cNvPr>
              <p:cNvSpPr>
                <a:spLocks noRot="1" noChangeAspect="1" noMove="1" noResize="1" noEditPoints="1" noAdjustHandles="1" noChangeArrowheads="1" noChangeShapeType="1" noTextEdit="1"/>
              </p:cNvSpPr>
              <p:nvPr/>
            </p:nvSpPr>
            <p:spPr>
              <a:xfrm>
                <a:off x="7086600" y="5257800"/>
                <a:ext cx="609600" cy="609600"/>
              </a:xfrm>
              <a:prstGeom prst="ellipse">
                <a:avLst/>
              </a:prstGeom>
              <a:blipFill>
                <a:blip r:embed="rId10"/>
                <a:stretch>
                  <a:fillRect/>
                </a:stretch>
              </a:blipFill>
            </p:spPr>
            <p:txBody>
              <a:bodyPr/>
              <a:lstStyle/>
              <a:p>
                <a:r>
                  <a:rPr lang="en-IN">
                    <a:noFill/>
                  </a:rPr>
                  <a:t> </a:t>
                </a:r>
              </a:p>
            </p:txBody>
          </p:sp>
        </mc:Fallback>
      </mc:AlternateContent>
      <p:sp>
        <p:nvSpPr>
          <p:cNvPr id="67" name="Oval 66">
            <a:extLst>
              <a:ext uri="{FF2B5EF4-FFF2-40B4-BE49-F238E27FC236}">
                <a16:creationId xmlns:a16="http://schemas.microsoft.com/office/drawing/2014/main" id="{9485E9E2-B362-4BF0-89E1-C2D327621E2B}"/>
              </a:ext>
            </a:extLst>
          </p:cNvPr>
          <p:cNvSpPr/>
          <p:nvPr/>
        </p:nvSpPr>
        <p:spPr>
          <a:xfrm>
            <a:off x="7162800" y="53340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t> </a:t>
            </a:r>
          </a:p>
        </p:txBody>
      </p:sp>
      <p:cxnSp>
        <p:nvCxnSpPr>
          <p:cNvPr id="68" name="Straight Arrow Connector 67">
            <a:extLst>
              <a:ext uri="{FF2B5EF4-FFF2-40B4-BE49-F238E27FC236}">
                <a16:creationId xmlns:a16="http://schemas.microsoft.com/office/drawing/2014/main" id="{0561D7F9-6BDD-4080-96AF-7669D9CECDD0}"/>
              </a:ext>
            </a:extLst>
          </p:cNvPr>
          <p:cNvCxnSpPr>
            <a:endCxn id="66" idx="2"/>
          </p:cNvCxnSpPr>
          <p:nvPr/>
        </p:nvCxnSpPr>
        <p:spPr>
          <a:xfrm>
            <a:off x="6539364" y="5547360"/>
            <a:ext cx="547236" cy="15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9" name="TextBox 68">
            <a:extLst>
              <a:ext uri="{FF2B5EF4-FFF2-40B4-BE49-F238E27FC236}">
                <a16:creationId xmlns:a16="http://schemas.microsoft.com/office/drawing/2014/main" id="{5A75FFBA-E829-4A27-84D7-6E0CAC04F83E}"/>
              </a:ext>
            </a:extLst>
          </p:cNvPr>
          <p:cNvSpPr txBox="1"/>
          <p:nvPr/>
        </p:nvSpPr>
        <p:spPr>
          <a:xfrm>
            <a:off x="6651961" y="5217914"/>
            <a:ext cx="311304" cy="369332"/>
          </a:xfrm>
          <a:prstGeom prst="rect">
            <a:avLst/>
          </a:prstGeom>
          <a:noFill/>
        </p:spPr>
        <p:txBody>
          <a:bodyPr wrap="none" rtlCol="0">
            <a:spAutoFit/>
          </a:bodyPr>
          <a:lstStyle/>
          <a:p>
            <a:r>
              <a:rPr lang="en-US" dirty="0"/>
              <a:t>Є</a:t>
            </a:r>
            <a:endParaRPr lang="en-IN" dirty="0"/>
          </a:p>
        </p:txBody>
      </p:sp>
      <p:cxnSp>
        <p:nvCxnSpPr>
          <p:cNvPr id="70" name="Connector: Curved 69">
            <a:extLst>
              <a:ext uri="{FF2B5EF4-FFF2-40B4-BE49-F238E27FC236}">
                <a16:creationId xmlns:a16="http://schemas.microsoft.com/office/drawing/2014/main" id="{C72DCA94-A7DC-4B78-90FF-7C22F6E8EBCD}"/>
              </a:ext>
            </a:extLst>
          </p:cNvPr>
          <p:cNvCxnSpPr/>
          <p:nvPr/>
        </p:nvCxnSpPr>
        <p:spPr>
          <a:xfrm rot="5400000" flipH="1" flipV="1">
            <a:off x="5112124" y="5084938"/>
            <a:ext cx="12700" cy="431052"/>
          </a:xfrm>
          <a:prstGeom prst="curvedConnector3">
            <a:avLst>
              <a:gd name="adj1" fmla="val 3488205"/>
            </a:avLst>
          </a:prstGeom>
          <a:ln>
            <a:tailEnd type="triangle"/>
          </a:ln>
        </p:spPr>
        <p:style>
          <a:lnRef idx="3">
            <a:schemeClr val="accent1"/>
          </a:lnRef>
          <a:fillRef idx="0">
            <a:schemeClr val="accent1"/>
          </a:fillRef>
          <a:effectRef idx="2">
            <a:schemeClr val="accent1"/>
          </a:effectRef>
          <a:fontRef idx="minor">
            <a:schemeClr val="tx1"/>
          </a:fontRef>
        </p:style>
      </p:cxnSp>
      <p:sp>
        <p:nvSpPr>
          <p:cNvPr id="71" name="TextBox 70">
            <a:extLst>
              <a:ext uri="{FF2B5EF4-FFF2-40B4-BE49-F238E27FC236}">
                <a16:creationId xmlns:a16="http://schemas.microsoft.com/office/drawing/2014/main" id="{C1AC87E2-FEFE-41AD-B3B4-61B8AE1B12D0}"/>
              </a:ext>
            </a:extLst>
          </p:cNvPr>
          <p:cNvSpPr txBox="1"/>
          <p:nvPr/>
        </p:nvSpPr>
        <p:spPr>
          <a:xfrm>
            <a:off x="3810000" y="4664829"/>
            <a:ext cx="1132041" cy="369332"/>
          </a:xfrm>
          <a:prstGeom prst="rect">
            <a:avLst/>
          </a:prstGeom>
          <a:noFill/>
        </p:spPr>
        <p:txBody>
          <a:bodyPr wrap="none" rtlCol="0">
            <a:spAutoFit/>
          </a:bodyPr>
          <a:lstStyle/>
          <a:p>
            <a:r>
              <a:rPr lang="en-US" dirty="0" err="1"/>
              <a:t>a+ba</a:t>
            </a:r>
            <a:r>
              <a:rPr lang="en-US" dirty="0"/>
              <a:t>(</a:t>
            </a:r>
            <a:r>
              <a:rPr lang="en-US" dirty="0" err="1"/>
              <a:t>a+b</a:t>
            </a:r>
            <a:r>
              <a:rPr lang="en-US" dirty="0"/>
              <a:t>)</a:t>
            </a:r>
            <a:endParaRPr lang="en-IN" dirty="0"/>
          </a:p>
        </p:txBody>
      </p:sp>
      <p:cxnSp>
        <p:nvCxnSpPr>
          <p:cNvPr id="73" name="Connector: Curved 72">
            <a:extLst>
              <a:ext uri="{FF2B5EF4-FFF2-40B4-BE49-F238E27FC236}">
                <a16:creationId xmlns:a16="http://schemas.microsoft.com/office/drawing/2014/main" id="{3B8A0ABC-8E69-4B3D-9060-AABDBA66FB82}"/>
              </a:ext>
            </a:extLst>
          </p:cNvPr>
          <p:cNvCxnSpPr>
            <a:stCxn id="62" idx="1"/>
            <a:endCxn id="62" idx="7"/>
          </p:cNvCxnSpPr>
          <p:nvPr/>
        </p:nvCxnSpPr>
        <p:spPr>
          <a:xfrm rot="5400000" flipH="1" flipV="1">
            <a:off x="6256423" y="5131548"/>
            <a:ext cx="12700" cy="431052"/>
          </a:xfrm>
          <a:prstGeom prst="curvedConnector3">
            <a:avLst>
              <a:gd name="adj1" fmla="val 401873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75" name="Connector: Curved 74">
            <a:extLst>
              <a:ext uri="{FF2B5EF4-FFF2-40B4-BE49-F238E27FC236}">
                <a16:creationId xmlns:a16="http://schemas.microsoft.com/office/drawing/2014/main" id="{11F7DF86-0E2B-4DDA-A4A7-59080E2038A7}"/>
              </a:ext>
            </a:extLst>
          </p:cNvPr>
          <p:cNvCxnSpPr/>
          <p:nvPr/>
        </p:nvCxnSpPr>
        <p:spPr>
          <a:xfrm rot="5400000" flipH="1" flipV="1">
            <a:off x="7377832" y="5111377"/>
            <a:ext cx="12700" cy="431052"/>
          </a:xfrm>
          <a:prstGeom prst="curvedConnector3">
            <a:avLst>
              <a:gd name="adj1" fmla="val 4018732"/>
            </a:avLst>
          </a:prstGeom>
          <a:ln>
            <a:tailEnd type="triangle"/>
          </a:ln>
        </p:spPr>
        <p:style>
          <a:lnRef idx="3">
            <a:schemeClr val="accent1"/>
          </a:lnRef>
          <a:fillRef idx="0">
            <a:schemeClr val="accent1"/>
          </a:fillRef>
          <a:effectRef idx="2">
            <a:schemeClr val="accent1"/>
          </a:effectRef>
          <a:fontRef idx="minor">
            <a:schemeClr val="tx1"/>
          </a:fontRef>
        </p:style>
      </p:cxnSp>
      <p:sp>
        <p:nvSpPr>
          <p:cNvPr id="76" name="TextBox 75">
            <a:extLst>
              <a:ext uri="{FF2B5EF4-FFF2-40B4-BE49-F238E27FC236}">
                <a16:creationId xmlns:a16="http://schemas.microsoft.com/office/drawing/2014/main" id="{449E46F9-ED46-4FB9-9842-DF152AA4C824}"/>
              </a:ext>
            </a:extLst>
          </p:cNvPr>
          <p:cNvSpPr txBox="1"/>
          <p:nvPr/>
        </p:nvSpPr>
        <p:spPr>
          <a:xfrm>
            <a:off x="6356687" y="4618032"/>
            <a:ext cx="417102" cy="369332"/>
          </a:xfrm>
          <a:prstGeom prst="rect">
            <a:avLst/>
          </a:prstGeom>
          <a:noFill/>
        </p:spPr>
        <p:txBody>
          <a:bodyPr wrap="none" rtlCol="0">
            <a:spAutoFit/>
          </a:bodyPr>
          <a:lstStyle/>
          <a:p>
            <a:r>
              <a:rPr lang="en-US" dirty="0" err="1"/>
              <a:t>ba</a:t>
            </a:r>
            <a:endParaRPr lang="en-IN" dirty="0"/>
          </a:p>
        </p:txBody>
      </p:sp>
      <p:sp>
        <p:nvSpPr>
          <p:cNvPr id="77" name="TextBox 76">
            <a:extLst>
              <a:ext uri="{FF2B5EF4-FFF2-40B4-BE49-F238E27FC236}">
                <a16:creationId xmlns:a16="http://schemas.microsoft.com/office/drawing/2014/main" id="{C575C3C9-621B-42BB-A4F7-DEC697AAB4C7}"/>
              </a:ext>
            </a:extLst>
          </p:cNvPr>
          <p:cNvSpPr txBox="1"/>
          <p:nvPr/>
        </p:nvSpPr>
        <p:spPr>
          <a:xfrm>
            <a:off x="7522819" y="4618032"/>
            <a:ext cx="306494" cy="369332"/>
          </a:xfrm>
          <a:prstGeom prst="rect">
            <a:avLst/>
          </a:prstGeom>
          <a:noFill/>
        </p:spPr>
        <p:txBody>
          <a:bodyPr wrap="none" rtlCol="0">
            <a:spAutoFit/>
          </a:bodyPr>
          <a:lstStyle/>
          <a:p>
            <a:r>
              <a:rPr lang="en-US" dirty="0"/>
              <a:t>b</a:t>
            </a:r>
            <a:endParaRPr lang="en-IN" dirty="0"/>
          </a:p>
        </p:txBody>
      </p:sp>
      <p:sp>
        <p:nvSpPr>
          <p:cNvPr id="78" name="TextBox 77">
            <a:extLst>
              <a:ext uri="{FF2B5EF4-FFF2-40B4-BE49-F238E27FC236}">
                <a16:creationId xmlns:a16="http://schemas.microsoft.com/office/drawing/2014/main" id="{B6E948C4-EA8C-4C84-823E-67FCFE635AC4}"/>
              </a:ext>
            </a:extLst>
          </p:cNvPr>
          <p:cNvSpPr txBox="1"/>
          <p:nvPr/>
        </p:nvSpPr>
        <p:spPr>
          <a:xfrm>
            <a:off x="354150" y="6096769"/>
            <a:ext cx="7487050" cy="369332"/>
          </a:xfrm>
          <a:prstGeom prst="rect">
            <a:avLst/>
          </a:prstGeom>
          <a:noFill/>
        </p:spPr>
        <p:txBody>
          <a:bodyPr wrap="none" rtlCol="0">
            <a:spAutoFit/>
          </a:bodyPr>
          <a:lstStyle/>
          <a:p>
            <a:r>
              <a:rPr lang="en-IN" dirty="0"/>
              <a:t>And now we know how to break </a:t>
            </a:r>
            <a:r>
              <a:rPr lang="en-IN" dirty="0" err="1"/>
              <a:t>a+ba</a:t>
            </a:r>
            <a:r>
              <a:rPr lang="en-IN" dirty="0"/>
              <a:t>(</a:t>
            </a:r>
            <a:r>
              <a:rPr lang="en-IN" dirty="0" err="1"/>
              <a:t>a+b</a:t>
            </a:r>
            <a:r>
              <a:rPr lang="en-IN" dirty="0"/>
              <a:t>),and  </a:t>
            </a:r>
            <a:r>
              <a:rPr lang="en-IN" dirty="0" err="1"/>
              <a:t>ba</a:t>
            </a:r>
            <a:r>
              <a:rPr lang="en-IN" dirty="0"/>
              <a:t> to make it appropriate NFA</a:t>
            </a:r>
          </a:p>
        </p:txBody>
      </p:sp>
    </p:spTree>
    <p:extLst>
      <p:ext uri="{BB962C8B-B14F-4D97-AF65-F5344CB8AC3E}">
        <p14:creationId xmlns:p14="http://schemas.microsoft.com/office/powerpoint/2010/main" val="57438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0"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0" presetClass="entr" presetSubtype="0"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par>
                                <p:cTn id="58" presetID="10" presetClass="entr" presetSubtype="0" fill="hold"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par>
                                <p:cTn id="64" presetID="10" presetClass="entr" presetSubtype="0"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500"/>
                                        <p:tgtEl>
                                          <p:spTgt spid="40"/>
                                        </p:tgtEl>
                                      </p:cBhvr>
                                    </p:animEffect>
                                  </p:childTnLst>
                                </p:cTn>
                              </p:par>
                              <p:par>
                                <p:cTn id="67" presetID="10"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46"/>
                                        </p:tgtEl>
                                        <p:attrNameLst>
                                          <p:attrName>style.visibility</p:attrName>
                                        </p:attrNameLst>
                                      </p:cBhvr>
                                      <p:to>
                                        <p:strVal val="visible"/>
                                      </p:to>
                                    </p:se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500"/>
                                        <p:tgtEl>
                                          <p:spTgt spid="50"/>
                                        </p:tgtEl>
                                      </p:cBhvr>
                                    </p:animEffect>
                                  </p:childTnLst>
                                </p:cTn>
                              </p:par>
                              <p:par>
                                <p:cTn id="80" presetID="10" presetClass="entr" presetSubtype="0" fill="hold"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500"/>
                                        <p:tgtEl>
                                          <p:spTgt spid="49"/>
                                        </p:tgtEl>
                                      </p:cBhvr>
                                    </p:animEffect>
                                  </p:childTnLst>
                                </p:cTn>
                              </p:par>
                              <p:par>
                                <p:cTn id="83" presetID="10" presetClass="entr" presetSubtype="0"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500"/>
                                        <p:tgtEl>
                                          <p:spTgt spid="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fade">
                                      <p:cBhvr>
                                        <p:cTn id="88" dur="500"/>
                                        <p:tgtEl>
                                          <p:spTgt spid="53"/>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fade">
                                      <p:cBhvr>
                                        <p:cTn id="93" dur="500"/>
                                        <p:tgtEl>
                                          <p:spTgt spid="5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60"/>
                                        </p:tgtEl>
                                        <p:attrNameLst>
                                          <p:attrName>style.visibility</p:attrName>
                                        </p:attrNameLst>
                                      </p:cBhvr>
                                      <p:to>
                                        <p:strVal val="visible"/>
                                      </p:to>
                                    </p:set>
                                    <p:animEffect transition="in" filter="fade">
                                      <p:cBhvr>
                                        <p:cTn id="98" dur="500"/>
                                        <p:tgtEl>
                                          <p:spTgt spid="60"/>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73"/>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7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7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78"/>
                                        </p:tgtEl>
                                        <p:attrNameLst>
                                          <p:attrName>style.visibility</p:attrName>
                                        </p:attrNameLst>
                                      </p:cBhvr>
                                      <p:to>
                                        <p:strVal val="visible"/>
                                      </p:to>
                                    </p:set>
                                    <p:animEffect transition="in" filter="fade">
                                      <p:cBhvr>
                                        <p:cTn id="135"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17" grpId="0"/>
      <p:bldP spid="18" grpId="0" animBg="1"/>
      <p:bldP spid="22" grpId="0"/>
      <p:bldP spid="31" grpId="0" animBg="1"/>
      <p:bldP spid="35" grpId="0"/>
      <p:bldP spid="39" grpId="0" animBg="1"/>
      <p:bldP spid="43" grpId="0"/>
      <p:bldP spid="44" grpId="0"/>
      <p:bldP spid="46" grpId="0" animBg="1"/>
      <p:bldP spid="48" grpId="0"/>
      <p:bldP spid="50" grpId="0"/>
      <p:bldP spid="53" grpId="0"/>
      <p:bldP spid="60" grpId="0"/>
      <p:bldP spid="61" grpId="0" animBg="1"/>
      <p:bldP spid="62" grpId="0" animBg="1"/>
      <p:bldP spid="65" grpId="0"/>
      <p:bldP spid="66" grpId="0" animBg="1"/>
      <p:bldP spid="67" grpId="0" animBg="1"/>
      <p:bldP spid="69" grpId="0"/>
      <p:bldP spid="71" grpId="0"/>
      <p:bldP spid="76" grpId="0"/>
      <p:bldP spid="77" grpId="0"/>
      <p:bldP spid="7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DD45C-629A-44E6-808E-02C8BEF939BD}"/>
              </a:ext>
            </a:extLst>
          </p:cNvPr>
          <p:cNvSpPr>
            <a:spLocks noGrp="1"/>
          </p:cNvSpPr>
          <p:nvPr>
            <p:ph type="title"/>
          </p:nvPr>
        </p:nvSpPr>
        <p:spPr/>
        <p:txBody>
          <a:bodyPr/>
          <a:lstStyle/>
          <a:p>
            <a:r>
              <a:rPr lang="en-IN" dirty="0"/>
              <a:t>Grammar</a:t>
            </a:r>
          </a:p>
        </p:txBody>
      </p:sp>
      <p:sp>
        <p:nvSpPr>
          <p:cNvPr id="3" name="Content Placeholder 2">
            <a:extLst>
              <a:ext uri="{FF2B5EF4-FFF2-40B4-BE49-F238E27FC236}">
                <a16:creationId xmlns:a16="http://schemas.microsoft.com/office/drawing/2014/main" id="{E5D3CD22-B816-41A2-85E5-968C6C3C7CE8}"/>
              </a:ext>
            </a:extLst>
          </p:cNvPr>
          <p:cNvSpPr>
            <a:spLocks noGrp="1"/>
          </p:cNvSpPr>
          <p:nvPr>
            <p:ph idx="1"/>
          </p:nvPr>
        </p:nvSpPr>
        <p:spPr/>
        <p:txBody>
          <a:bodyPr/>
          <a:lstStyle/>
          <a:p>
            <a:r>
              <a:rPr lang="en-IN" dirty="0"/>
              <a:t>Set of rules used to describe strings of a language is called as Grammar. Hence for every language grammar exist.</a:t>
            </a:r>
          </a:p>
          <a:p>
            <a:r>
              <a:rPr lang="en-IN" dirty="0"/>
              <a:t>  </a:t>
            </a:r>
            <a:r>
              <a:rPr lang="en-US" dirty="0"/>
              <a:t>A Grammar is a 4-tuple such that-</a:t>
            </a:r>
          </a:p>
          <a:p>
            <a:pPr marL="0" indent="0">
              <a:buNone/>
            </a:pPr>
            <a:r>
              <a:rPr lang="en-US" dirty="0"/>
              <a:t>                                G = (V , T , P , S)</a:t>
            </a:r>
          </a:p>
          <a:p>
            <a:r>
              <a:rPr lang="en-US" dirty="0"/>
              <a:t>where-</a:t>
            </a:r>
          </a:p>
          <a:p>
            <a:pPr lvl="1" fontAlgn="base"/>
            <a:r>
              <a:rPr lang="en-US" b="0" i="0" dirty="0">
                <a:solidFill>
                  <a:srgbClr val="303030"/>
                </a:solidFill>
                <a:effectLst/>
                <a:latin typeface="Arimo"/>
              </a:rPr>
              <a:t>V = Finite non-empty set of non-terminal symbols or </a:t>
            </a:r>
            <a:r>
              <a:rPr lang="en-US" b="1" i="0" dirty="0">
                <a:solidFill>
                  <a:srgbClr val="303030"/>
                </a:solidFill>
                <a:effectLst/>
                <a:latin typeface="Arimo"/>
              </a:rPr>
              <a:t>variables</a:t>
            </a:r>
          </a:p>
          <a:p>
            <a:pPr lvl="1" fontAlgn="base"/>
            <a:r>
              <a:rPr lang="en-US" b="0" i="0" dirty="0">
                <a:solidFill>
                  <a:srgbClr val="303030"/>
                </a:solidFill>
                <a:effectLst/>
                <a:latin typeface="Arimo"/>
              </a:rPr>
              <a:t>T = Finite set of </a:t>
            </a:r>
            <a:r>
              <a:rPr lang="en-US" b="1" i="0" dirty="0">
                <a:solidFill>
                  <a:srgbClr val="303030"/>
                </a:solidFill>
                <a:effectLst/>
                <a:latin typeface="Arimo"/>
              </a:rPr>
              <a:t>terminal</a:t>
            </a:r>
            <a:r>
              <a:rPr lang="en-US" b="0" i="0" dirty="0">
                <a:solidFill>
                  <a:srgbClr val="303030"/>
                </a:solidFill>
                <a:effectLst/>
                <a:latin typeface="Arimo"/>
              </a:rPr>
              <a:t> symbols</a:t>
            </a:r>
          </a:p>
          <a:p>
            <a:pPr lvl="1" fontAlgn="base"/>
            <a:r>
              <a:rPr lang="en-US" b="0" i="0" dirty="0">
                <a:solidFill>
                  <a:srgbClr val="303030"/>
                </a:solidFill>
                <a:effectLst/>
                <a:latin typeface="Arimo"/>
              </a:rPr>
              <a:t>P = Finite non-empty set of </a:t>
            </a:r>
            <a:r>
              <a:rPr lang="en-US" b="1" i="0" dirty="0">
                <a:solidFill>
                  <a:srgbClr val="303030"/>
                </a:solidFill>
                <a:effectLst/>
                <a:latin typeface="Arimo"/>
              </a:rPr>
              <a:t>production</a:t>
            </a:r>
            <a:r>
              <a:rPr lang="en-US" b="0" i="0" dirty="0">
                <a:solidFill>
                  <a:srgbClr val="303030"/>
                </a:solidFill>
                <a:effectLst/>
                <a:latin typeface="Arimo"/>
              </a:rPr>
              <a:t> rules</a:t>
            </a:r>
          </a:p>
          <a:p>
            <a:pPr lvl="1" fontAlgn="base"/>
            <a:r>
              <a:rPr lang="en-US" b="0" i="0" dirty="0">
                <a:solidFill>
                  <a:srgbClr val="303030"/>
                </a:solidFill>
                <a:effectLst/>
                <a:latin typeface="Arimo"/>
              </a:rPr>
              <a:t>S = </a:t>
            </a:r>
            <a:r>
              <a:rPr lang="en-US" b="1" i="0" dirty="0">
                <a:solidFill>
                  <a:srgbClr val="303030"/>
                </a:solidFill>
                <a:effectLst/>
                <a:latin typeface="Arimo"/>
              </a:rPr>
              <a:t>Start</a:t>
            </a:r>
            <a:r>
              <a:rPr lang="en-US" b="0" i="0" dirty="0">
                <a:solidFill>
                  <a:srgbClr val="303030"/>
                </a:solidFill>
                <a:effectLst/>
                <a:latin typeface="Arimo"/>
              </a:rPr>
              <a:t> symbol</a:t>
            </a:r>
          </a:p>
          <a:p>
            <a:pPr marL="0" indent="0" algn="l" fontAlgn="base">
              <a:buNone/>
            </a:pPr>
            <a:endParaRPr lang="en-US" b="0" i="0" dirty="0">
              <a:solidFill>
                <a:srgbClr val="303030"/>
              </a:solidFill>
              <a:effectLst/>
              <a:latin typeface="Arimo"/>
            </a:endParaRPr>
          </a:p>
        </p:txBody>
      </p:sp>
    </p:spTree>
    <p:extLst>
      <p:ext uri="{BB962C8B-B14F-4D97-AF65-F5344CB8AC3E}">
        <p14:creationId xmlns:p14="http://schemas.microsoft.com/office/powerpoint/2010/main" val="20972073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F4977-3821-4C00-BDD5-3C034D0A7DF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AE064C8-9206-4580-8B01-B24964BBC6DB}"/>
              </a:ext>
            </a:extLst>
          </p:cNvPr>
          <p:cNvSpPr>
            <a:spLocks noGrp="1"/>
          </p:cNvSpPr>
          <p:nvPr>
            <p:ph idx="1"/>
          </p:nvPr>
        </p:nvSpPr>
        <p:spPr>
          <a:xfrm>
            <a:off x="254000" y="990600"/>
            <a:ext cx="11684000" cy="5562600"/>
          </a:xfrm>
        </p:spPr>
        <p:txBody>
          <a:bodyPr>
            <a:normAutofit fontScale="92500" lnSpcReduction="10000"/>
          </a:bodyPr>
          <a:lstStyle/>
          <a:p>
            <a:pPr marL="0" indent="0">
              <a:buNone/>
            </a:pPr>
            <a:r>
              <a:rPr lang="en-IN" b="1" dirty="0"/>
              <a:t>Grammar constituents: </a:t>
            </a:r>
            <a:r>
              <a:rPr lang="en-US" b="0" i="0" dirty="0">
                <a:solidFill>
                  <a:srgbClr val="303030"/>
                </a:solidFill>
                <a:effectLst/>
                <a:latin typeface="Arimo"/>
              </a:rPr>
              <a:t>A Grammar is mainly composed of two basic elements-</a:t>
            </a:r>
          </a:p>
          <a:p>
            <a:pPr marL="400050" lvl="1" indent="0" fontAlgn="base">
              <a:buNone/>
            </a:pPr>
            <a:r>
              <a:rPr lang="en-US" b="1" i="0" u="sng" dirty="0">
                <a:solidFill>
                  <a:srgbClr val="303030"/>
                </a:solidFill>
                <a:effectLst/>
                <a:latin typeface="Roboto Condensed" pitchFamily="2" charset="0"/>
              </a:rPr>
              <a:t>1. Terminal Symbols-</a:t>
            </a:r>
            <a:endParaRPr lang="en-US" b="1" i="0" dirty="0">
              <a:solidFill>
                <a:srgbClr val="303030"/>
              </a:solidFill>
              <a:effectLst/>
              <a:latin typeface="Roboto Condensed" pitchFamily="2" charset="0"/>
            </a:endParaRPr>
          </a:p>
          <a:p>
            <a:pPr lvl="1" fontAlgn="base"/>
            <a:r>
              <a:rPr lang="en-US" b="0" i="0" dirty="0">
                <a:solidFill>
                  <a:srgbClr val="303030"/>
                </a:solidFill>
                <a:effectLst/>
                <a:latin typeface="Arimo"/>
              </a:rPr>
              <a:t>Terminal symbols are those which are the constituents of the sentence generated using a grammar.</a:t>
            </a:r>
          </a:p>
          <a:p>
            <a:pPr lvl="1" fontAlgn="base"/>
            <a:r>
              <a:rPr lang="en-US" b="0" i="0" dirty="0">
                <a:solidFill>
                  <a:srgbClr val="303030"/>
                </a:solidFill>
                <a:effectLst/>
                <a:latin typeface="Arimo"/>
              </a:rPr>
              <a:t>Terminal symbols are denoted by using </a:t>
            </a:r>
            <a:r>
              <a:rPr lang="en-US" b="1" i="0" dirty="0">
                <a:solidFill>
                  <a:srgbClr val="C00000"/>
                </a:solidFill>
                <a:effectLst/>
                <a:latin typeface="Arimo"/>
              </a:rPr>
              <a:t>small case letters </a:t>
            </a:r>
            <a:r>
              <a:rPr lang="en-US" b="0" i="0" dirty="0">
                <a:solidFill>
                  <a:srgbClr val="303030"/>
                </a:solidFill>
                <a:effectLst/>
                <a:latin typeface="Arimo"/>
              </a:rPr>
              <a:t>such as a, b, c etc.</a:t>
            </a:r>
          </a:p>
          <a:p>
            <a:pPr marL="400050" lvl="1" indent="0" fontAlgn="base">
              <a:buNone/>
            </a:pPr>
            <a:r>
              <a:rPr lang="en-US" b="1" i="0" u="sng" dirty="0">
                <a:solidFill>
                  <a:srgbClr val="303030"/>
                </a:solidFill>
                <a:effectLst/>
                <a:latin typeface="Roboto Condensed" pitchFamily="2" charset="0"/>
              </a:rPr>
              <a:t>2. Non-Terminal Symbols-</a:t>
            </a:r>
            <a:endParaRPr lang="en-US" b="1" i="0" dirty="0">
              <a:solidFill>
                <a:srgbClr val="303030"/>
              </a:solidFill>
              <a:effectLst/>
              <a:latin typeface="Roboto Condensed" pitchFamily="2" charset="0"/>
            </a:endParaRPr>
          </a:p>
          <a:p>
            <a:pPr lvl="1" fontAlgn="base"/>
            <a:r>
              <a:rPr lang="en-US" b="0" i="0" dirty="0">
                <a:solidFill>
                  <a:srgbClr val="303030"/>
                </a:solidFill>
                <a:effectLst/>
                <a:latin typeface="Arimo"/>
              </a:rPr>
              <a:t>Non-Terminal symbols are those which take part in the generation of the sentence but are not part of it.</a:t>
            </a:r>
          </a:p>
          <a:p>
            <a:pPr lvl="1" fontAlgn="base"/>
            <a:r>
              <a:rPr lang="en-US" b="0" i="0" dirty="0">
                <a:solidFill>
                  <a:srgbClr val="303030"/>
                </a:solidFill>
                <a:effectLst/>
                <a:latin typeface="Arimo"/>
              </a:rPr>
              <a:t>Non-Terminal symbols are also called as </a:t>
            </a:r>
            <a:r>
              <a:rPr lang="en-US" b="1" i="0" dirty="0">
                <a:solidFill>
                  <a:srgbClr val="303030"/>
                </a:solidFill>
                <a:effectLst/>
                <a:latin typeface="Arimo"/>
              </a:rPr>
              <a:t>auxiliary symbols</a:t>
            </a:r>
            <a:r>
              <a:rPr lang="en-US" b="0" i="0" dirty="0">
                <a:solidFill>
                  <a:srgbClr val="303030"/>
                </a:solidFill>
                <a:effectLst/>
                <a:latin typeface="Arimo"/>
              </a:rPr>
              <a:t> or </a:t>
            </a:r>
            <a:r>
              <a:rPr lang="en-US" b="1" i="0" dirty="0">
                <a:solidFill>
                  <a:srgbClr val="303030"/>
                </a:solidFill>
                <a:effectLst/>
                <a:latin typeface="Arimo"/>
              </a:rPr>
              <a:t>variables</a:t>
            </a:r>
            <a:r>
              <a:rPr lang="en-US" b="0" i="0" dirty="0">
                <a:solidFill>
                  <a:srgbClr val="303030"/>
                </a:solidFill>
                <a:effectLst/>
                <a:latin typeface="Arimo"/>
              </a:rPr>
              <a:t>.</a:t>
            </a:r>
          </a:p>
          <a:p>
            <a:pPr lvl="1" fontAlgn="base"/>
            <a:r>
              <a:rPr lang="en-US" b="0" i="0" dirty="0">
                <a:solidFill>
                  <a:srgbClr val="303030"/>
                </a:solidFill>
                <a:effectLst/>
                <a:latin typeface="Arimo"/>
              </a:rPr>
              <a:t>Non-Terminal symbols are denoted by using </a:t>
            </a:r>
            <a:r>
              <a:rPr lang="en-US" b="1" i="0" dirty="0">
                <a:solidFill>
                  <a:srgbClr val="C00000"/>
                </a:solidFill>
                <a:effectLst/>
                <a:latin typeface="Arimo"/>
              </a:rPr>
              <a:t>capital letters </a:t>
            </a:r>
            <a:r>
              <a:rPr lang="en-US" b="0" i="0" dirty="0">
                <a:solidFill>
                  <a:srgbClr val="303030"/>
                </a:solidFill>
                <a:effectLst/>
                <a:latin typeface="Arimo"/>
              </a:rPr>
              <a:t>such as A, B, C etc.</a:t>
            </a:r>
          </a:p>
          <a:p>
            <a:pPr marL="0" indent="0">
              <a:buNone/>
            </a:pPr>
            <a:endParaRPr lang="en-US" b="1" i="0" dirty="0">
              <a:effectLst/>
              <a:latin typeface="urw-din"/>
            </a:endParaRPr>
          </a:p>
          <a:p>
            <a:pPr marL="0" indent="0">
              <a:buNone/>
            </a:pPr>
            <a:r>
              <a:rPr lang="en-US" b="1" i="0" dirty="0">
                <a:effectLst/>
                <a:latin typeface="urw-din"/>
              </a:rPr>
              <a:t>Production Rules :</a:t>
            </a:r>
            <a:br>
              <a:rPr lang="en-US" dirty="0"/>
            </a:br>
            <a:r>
              <a:rPr lang="en-US" b="0" i="0" dirty="0">
                <a:effectLst/>
                <a:latin typeface="urw-din"/>
              </a:rPr>
              <a:t>A production or production rule is a rule specifying a symbol substitution that can be recursively performed to generate new symbol sequences. </a:t>
            </a:r>
          </a:p>
          <a:p>
            <a:pPr marL="0" indent="0">
              <a:buNone/>
            </a:pPr>
            <a:r>
              <a:rPr lang="en-US" b="0" i="0" dirty="0">
                <a:effectLst/>
                <a:latin typeface="urw-din"/>
              </a:rPr>
              <a:t>It is of the form </a:t>
            </a:r>
            <a:r>
              <a:rPr lang="en-US" b="1" i="0" dirty="0">
                <a:solidFill>
                  <a:srgbClr val="C00000"/>
                </a:solidFill>
                <a:effectLst/>
                <a:latin typeface="urw-din"/>
              </a:rPr>
              <a:t>α </a:t>
            </a:r>
            <a:r>
              <a:rPr lang="en-US" b="1" i="0" dirty="0">
                <a:solidFill>
                  <a:srgbClr val="C00000"/>
                </a:solidFill>
                <a:effectLst/>
                <a:latin typeface="urw-din"/>
                <a:sym typeface="Wingdings" panose="05000000000000000000" pitchFamily="2" charset="2"/>
              </a:rPr>
              <a:t></a:t>
            </a:r>
            <a:r>
              <a:rPr lang="en-US" b="1" i="0" dirty="0">
                <a:solidFill>
                  <a:srgbClr val="C00000"/>
                </a:solidFill>
                <a:effectLst/>
                <a:latin typeface="urw-din"/>
              </a:rPr>
              <a:t> β </a:t>
            </a:r>
            <a:r>
              <a:rPr lang="en-US" b="0" i="0" dirty="0">
                <a:effectLst/>
                <a:latin typeface="urw-din"/>
              </a:rPr>
              <a:t>where  </a:t>
            </a:r>
            <a:r>
              <a:rPr lang="en-US" b="1" i="0" dirty="0">
                <a:solidFill>
                  <a:srgbClr val="C00000"/>
                </a:solidFill>
                <a:effectLst/>
                <a:latin typeface="urw-din"/>
              </a:rPr>
              <a:t>α</a:t>
            </a:r>
            <a:r>
              <a:rPr lang="en-US" b="0" i="0" dirty="0">
                <a:effectLst/>
                <a:latin typeface="urw-din"/>
              </a:rPr>
              <a:t> is a Non-Terminal Symbol which can be replaced by </a:t>
            </a:r>
            <a:r>
              <a:rPr lang="en-US" b="1" i="0" dirty="0">
                <a:solidFill>
                  <a:srgbClr val="C00000"/>
                </a:solidFill>
                <a:effectLst/>
                <a:latin typeface="urw-din"/>
              </a:rPr>
              <a:t>β</a:t>
            </a:r>
            <a:r>
              <a:rPr lang="en-US" b="0" i="0" dirty="0">
                <a:effectLst/>
                <a:latin typeface="urw-din"/>
              </a:rPr>
              <a:t> which is a string of </a:t>
            </a:r>
            <a:r>
              <a:rPr lang="en-US" b="1" i="0" dirty="0">
                <a:solidFill>
                  <a:srgbClr val="C00000"/>
                </a:solidFill>
                <a:effectLst/>
                <a:latin typeface="urw-din"/>
              </a:rPr>
              <a:t>Terminal Symbols </a:t>
            </a:r>
            <a:r>
              <a:rPr lang="en-US" b="0" i="0" dirty="0">
                <a:effectLst/>
                <a:latin typeface="urw-din"/>
              </a:rPr>
              <a:t>or </a:t>
            </a:r>
            <a:r>
              <a:rPr lang="en-US" b="1" i="0" dirty="0">
                <a:solidFill>
                  <a:srgbClr val="C00000"/>
                </a:solidFill>
                <a:effectLst/>
                <a:latin typeface="urw-din"/>
              </a:rPr>
              <a:t>Non-Terminal Symbols</a:t>
            </a:r>
            <a:r>
              <a:rPr lang="en-US" b="0" i="0" dirty="0">
                <a:effectLst/>
                <a:latin typeface="urw-din"/>
              </a:rPr>
              <a:t>.</a:t>
            </a:r>
            <a:endParaRPr lang="en-IN" b="1" dirty="0"/>
          </a:p>
        </p:txBody>
      </p:sp>
    </p:spTree>
    <p:extLst>
      <p:ext uri="{BB962C8B-B14F-4D97-AF65-F5344CB8AC3E}">
        <p14:creationId xmlns:p14="http://schemas.microsoft.com/office/powerpoint/2010/main" val="24617776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77311-7DC1-4A6D-B74D-50507CC4C7EB}"/>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D9412F67-A906-458E-9250-725989910B9C}"/>
              </a:ext>
            </a:extLst>
          </p:cNvPr>
          <p:cNvSpPr>
            <a:spLocks noGrp="1"/>
          </p:cNvSpPr>
          <p:nvPr>
            <p:ph idx="1"/>
          </p:nvPr>
        </p:nvSpPr>
        <p:spPr/>
        <p:txBody>
          <a:bodyPr>
            <a:normAutofit fontScale="92500" lnSpcReduction="20000"/>
          </a:bodyPr>
          <a:lstStyle/>
          <a:p>
            <a:pPr marL="0" indent="0" algn="l" fontAlgn="base">
              <a:buNone/>
            </a:pPr>
            <a:r>
              <a:rPr lang="en-US" b="1" i="0" dirty="0">
                <a:solidFill>
                  <a:srgbClr val="303030"/>
                </a:solidFill>
                <a:effectLst/>
                <a:latin typeface="Arimo"/>
              </a:rPr>
              <a:t>Example-01:</a:t>
            </a:r>
          </a:p>
          <a:p>
            <a:pPr marL="0" indent="0" algn="l" fontAlgn="base">
              <a:buNone/>
            </a:pPr>
            <a:r>
              <a:rPr lang="en-US" b="0" i="0" dirty="0">
                <a:solidFill>
                  <a:srgbClr val="303030"/>
                </a:solidFill>
                <a:effectLst/>
                <a:latin typeface="Arimo"/>
              </a:rPr>
              <a:t>Consider a grammar G = (V , T , P , S) where-</a:t>
            </a:r>
          </a:p>
          <a:p>
            <a:pPr lvl="1" fontAlgn="base"/>
            <a:r>
              <a:rPr lang="en-US" b="0" i="0" dirty="0">
                <a:solidFill>
                  <a:srgbClr val="303030"/>
                </a:solidFill>
                <a:effectLst/>
                <a:latin typeface="Arimo"/>
              </a:rPr>
              <a:t>V = { S }                                                  // Set of Non-Terminal symbols</a:t>
            </a:r>
          </a:p>
          <a:p>
            <a:pPr lvl="1" fontAlgn="base"/>
            <a:r>
              <a:rPr lang="en-US" b="0" i="0" dirty="0">
                <a:solidFill>
                  <a:srgbClr val="303030"/>
                </a:solidFill>
                <a:effectLst/>
                <a:latin typeface="Arimo"/>
              </a:rPr>
              <a:t>T = { a , b }                                              // Set of Terminal symbols</a:t>
            </a:r>
          </a:p>
          <a:p>
            <a:pPr lvl="1" fontAlgn="base"/>
            <a:r>
              <a:rPr lang="en-US" b="0" i="0" dirty="0">
                <a:solidFill>
                  <a:srgbClr val="303030"/>
                </a:solidFill>
                <a:effectLst/>
                <a:latin typeface="Arimo"/>
              </a:rPr>
              <a:t>P = { S → </a:t>
            </a:r>
            <a:r>
              <a:rPr lang="en-US" b="0" i="0" dirty="0" err="1">
                <a:solidFill>
                  <a:srgbClr val="303030"/>
                </a:solidFill>
                <a:effectLst/>
                <a:latin typeface="Arimo"/>
              </a:rPr>
              <a:t>aSbS</a:t>
            </a:r>
            <a:r>
              <a:rPr lang="en-US" b="0" i="0" dirty="0">
                <a:solidFill>
                  <a:srgbClr val="303030"/>
                </a:solidFill>
                <a:effectLst/>
                <a:latin typeface="Arimo"/>
              </a:rPr>
              <a:t> , S → </a:t>
            </a:r>
            <a:r>
              <a:rPr lang="en-US" b="0" i="0" dirty="0" err="1">
                <a:solidFill>
                  <a:srgbClr val="303030"/>
                </a:solidFill>
                <a:effectLst/>
                <a:latin typeface="Arimo"/>
              </a:rPr>
              <a:t>bSaS</a:t>
            </a:r>
            <a:r>
              <a:rPr lang="en-US" b="0" i="0" dirty="0">
                <a:solidFill>
                  <a:srgbClr val="303030"/>
                </a:solidFill>
                <a:effectLst/>
                <a:latin typeface="Arimo"/>
              </a:rPr>
              <a:t> , S → ∈ }   // Set of production rules</a:t>
            </a:r>
          </a:p>
          <a:p>
            <a:pPr lvl="1" fontAlgn="base"/>
            <a:r>
              <a:rPr lang="en-US" b="0" i="0" dirty="0">
                <a:solidFill>
                  <a:srgbClr val="303030"/>
                </a:solidFill>
                <a:effectLst/>
                <a:latin typeface="Arimo"/>
              </a:rPr>
              <a:t>S = { S }                                                   // Start symbol</a:t>
            </a:r>
          </a:p>
          <a:p>
            <a:r>
              <a:rPr lang="en-US" b="0" i="0" dirty="0">
                <a:solidFill>
                  <a:srgbClr val="303030"/>
                </a:solidFill>
                <a:effectLst/>
                <a:latin typeface="Arimo"/>
              </a:rPr>
              <a:t>This grammar generates the strings having equal number of a’s and b’s</a:t>
            </a:r>
          </a:p>
          <a:p>
            <a:endParaRPr lang="en-US" dirty="0">
              <a:solidFill>
                <a:srgbClr val="303030"/>
              </a:solidFill>
              <a:latin typeface="Arimo"/>
            </a:endParaRPr>
          </a:p>
          <a:p>
            <a:pPr marL="0" indent="0">
              <a:buNone/>
            </a:pPr>
            <a:r>
              <a:rPr lang="en-IN" b="1" dirty="0"/>
              <a:t>Example-02:</a:t>
            </a:r>
          </a:p>
          <a:p>
            <a:pPr marL="0" indent="0">
              <a:buNone/>
            </a:pPr>
            <a:r>
              <a:rPr lang="en-IN" dirty="0"/>
              <a:t>Consider a grammar G = (V , T , P , S) where-</a:t>
            </a:r>
          </a:p>
          <a:p>
            <a:pPr lvl="1"/>
            <a:r>
              <a:rPr lang="en-IN" dirty="0"/>
              <a:t>V = { S , A , B }                                                  // Set of Non-Terminal symbols</a:t>
            </a:r>
          </a:p>
          <a:p>
            <a:pPr lvl="1"/>
            <a:r>
              <a:rPr lang="en-IN" dirty="0"/>
              <a:t>T = { a , b }                                                        // Set of Terminal symbols</a:t>
            </a:r>
          </a:p>
          <a:p>
            <a:pPr lvl="1"/>
            <a:r>
              <a:rPr lang="en-IN" dirty="0"/>
              <a:t>P = { S → </a:t>
            </a:r>
            <a:r>
              <a:rPr lang="en-IN" dirty="0" err="1"/>
              <a:t>ABa</a:t>
            </a:r>
            <a:r>
              <a:rPr lang="en-IN" dirty="0"/>
              <a:t> , A → BB , B → ab , AA → b }  // Set of production rules</a:t>
            </a:r>
          </a:p>
          <a:p>
            <a:pPr lvl="1"/>
            <a:r>
              <a:rPr lang="en-IN" dirty="0"/>
              <a:t>S = { S }                                                            // Start symbol</a:t>
            </a:r>
          </a:p>
        </p:txBody>
      </p:sp>
    </p:spTree>
    <p:extLst>
      <p:ext uri="{BB962C8B-B14F-4D97-AF65-F5344CB8AC3E}">
        <p14:creationId xmlns:p14="http://schemas.microsoft.com/office/powerpoint/2010/main" val="12551107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B64BDF-4E80-4906-A029-9821E2BECF1F}"/>
              </a:ext>
            </a:extLst>
          </p:cNvPr>
          <p:cNvSpPr>
            <a:spLocks noGrp="1"/>
          </p:cNvSpPr>
          <p:nvPr>
            <p:ph idx="1"/>
          </p:nvPr>
        </p:nvSpPr>
        <p:spPr>
          <a:xfrm>
            <a:off x="254000" y="0"/>
            <a:ext cx="11684000" cy="6751636"/>
          </a:xfrm>
        </p:spPr>
        <p:txBody>
          <a:bodyPr/>
          <a:lstStyle/>
          <a:p>
            <a:pPr marL="0" indent="0">
              <a:buNone/>
            </a:pPr>
            <a:r>
              <a:rPr lang="en-IN" dirty="0"/>
              <a:t>Identify language represented by following grammar</a:t>
            </a:r>
          </a:p>
          <a:p>
            <a:pPr marL="0" indent="0">
              <a:buNone/>
            </a:pPr>
            <a:r>
              <a:rPr lang="en-IN" dirty="0"/>
              <a:t> S </a:t>
            </a:r>
            <a:r>
              <a:rPr lang="en-IN" dirty="0">
                <a:sym typeface="Wingdings" panose="05000000000000000000" pitchFamily="2" charset="2"/>
              </a:rPr>
              <a:t> </a:t>
            </a:r>
            <a:r>
              <a:rPr lang="en-IN" dirty="0" err="1">
                <a:sym typeface="Wingdings" panose="05000000000000000000" pitchFamily="2" charset="2"/>
              </a:rPr>
              <a:t>aS|bS</a:t>
            </a:r>
            <a:r>
              <a:rPr lang="en-IN" dirty="0">
                <a:sym typeface="Wingdings" panose="05000000000000000000" pitchFamily="2" charset="2"/>
              </a:rPr>
              <a:t>|</a:t>
            </a:r>
            <a:r>
              <a:rPr lang="en-US" b="0" i="0" dirty="0">
                <a:solidFill>
                  <a:srgbClr val="303030"/>
                </a:solidFill>
                <a:effectLst/>
                <a:latin typeface="Arimo"/>
              </a:rPr>
              <a:t>∈</a:t>
            </a:r>
          </a:p>
          <a:p>
            <a:pPr marL="0" indent="0">
              <a:buNone/>
            </a:pPr>
            <a:r>
              <a:rPr lang="en-US" dirty="0">
                <a:solidFill>
                  <a:srgbClr val="303030"/>
                </a:solidFill>
                <a:latin typeface="Arimo"/>
              </a:rPr>
              <a:t>Sol: L={</a:t>
            </a:r>
            <a:r>
              <a:rPr lang="en-US" b="0" i="0" dirty="0">
                <a:solidFill>
                  <a:srgbClr val="303030"/>
                </a:solidFill>
                <a:effectLst/>
                <a:latin typeface="Arimo"/>
              </a:rPr>
              <a:t>∈, a, b, aa, bb, ab, </a:t>
            </a:r>
            <a:r>
              <a:rPr lang="en-US" b="0" i="0" dirty="0" err="1">
                <a:solidFill>
                  <a:srgbClr val="303030"/>
                </a:solidFill>
                <a:effectLst/>
                <a:latin typeface="Arimo"/>
              </a:rPr>
              <a:t>ba</a:t>
            </a:r>
            <a:r>
              <a:rPr lang="en-US" b="0" i="0" dirty="0">
                <a:solidFill>
                  <a:srgbClr val="303030"/>
                </a:solidFill>
                <a:effectLst/>
                <a:latin typeface="Arimo"/>
              </a:rPr>
              <a:t>, …</a:t>
            </a:r>
            <a:r>
              <a:rPr lang="en-US" dirty="0">
                <a:solidFill>
                  <a:srgbClr val="303030"/>
                </a:solidFill>
                <a:latin typeface="Arimo"/>
              </a:rPr>
              <a:t>} = (</a:t>
            </a:r>
            <a:r>
              <a:rPr lang="en-US" dirty="0" err="1">
                <a:solidFill>
                  <a:srgbClr val="303030"/>
                </a:solidFill>
                <a:latin typeface="Arimo"/>
              </a:rPr>
              <a:t>a+b</a:t>
            </a:r>
            <a:r>
              <a:rPr lang="en-US" dirty="0">
                <a:solidFill>
                  <a:srgbClr val="303030"/>
                </a:solidFill>
                <a:latin typeface="Arimo"/>
              </a:rPr>
              <a:t>)*</a:t>
            </a:r>
          </a:p>
          <a:p>
            <a:pPr marL="0" indent="0">
              <a:buNone/>
            </a:pPr>
            <a:endParaRPr lang="en-US" dirty="0">
              <a:solidFill>
                <a:srgbClr val="303030"/>
              </a:solidFill>
              <a:latin typeface="Arimo"/>
            </a:endParaRPr>
          </a:p>
          <a:p>
            <a:pPr marL="0" indent="0">
              <a:buNone/>
            </a:pPr>
            <a:r>
              <a:rPr lang="en-US" dirty="0">
                <a:solidFill>
                  <a:srgbClr val="303030"/>
                </a:solidFill>
                <a:latin typeface="Arimo"/>
              </a:rPr>
              <a:t>S </a:t>
            </a:r>
            <a:r>
              <a:rPr lang="en-US" dirty="0">
                <a:solidFill>
                  <a:srgbClr val="303030"/>
                </a:solidFill>
                <a:latin typeface="Arimo"/>
                <a:sym typeface="Wingdings" panose="05000000000000000000" pitchFamily="2" charset="2"/>
              </a:rPr>
              <a:t> </a:t>
            </a:r>
            <a:r>
              <a:rPr lang="en-US" dirty="0" err="1">
                <a:solidFill>
                  <a:srgbClr val="303030"/>
                </a:solidFill>
                <a:latin typeface="Arimo"/>
                <a:sym typeface="Wingdings" panose="05000000000000000000" pitchFamily="2" charset="2"/>
              </a:rPr>
              <a:t>aS</a:t>
            </a:r>
            <a:r>
              <a:rPr lang="en-US" dirty="0">
                <a:solidFill>
                  <a:srgbClr val="303030"/>
                </a:solidFill>
                <a:latin typeface="Arimo"/>
                <a:sym typeface="Wingdings" panose="05000000000000000000" pitchFamily="2" charset="2"/>
              </a:rPr>
              <a:t> | </a:t>
            </a:r>
            <a:r>
              <a:rPr lang="en-US" dirty="0" err="1">
                <a:solidFill>
                  <a:srgbClr val="303030"/>
                </a:solidFill>
                <a:latin typeface="Arimo"/>
                <a:sym typeface="Wingdings" panose="05000000000000000000" pitchFamily="2" charset="2"/>
              </a:rPr>
              <a:t>bS</a:t>
            </a:r>
            <a:r>
              <a:rPr lang="en-US" dirty="0">
                <a:solidFill>
                  <a:srgbClr val="303030"/>
                </a:solidFill>
                <a:latin typeface="Arimo"/>
                <a:sym typeface="Wingdings" panose="05000000000000000000" pitchFamily="2" charset="2"/>
              </a:rPr>
              <a:t> |a</a:t>
            </a:r>
          </a:p>
          <a:p>
            <a:pPr marL="0" indent="0">
              <a:buNone/>
            </a:pPr>
            <a:r>
              <a:rPr lang="en-US" dirty="0">
                <a:solidFill>
                  <a:srgbClr val="303030"/>
                </a:solidFill>
                <a:latin typeface="Arimo"/>
                <a:sym typeface="Wingdings" panose="05000000000000000000" pitchFamily="2" charset="2"/>
              </a:rPr>
              <a:t>Sol: (</a:t>
            </a:r>
            <a:r>
              <a:rPr lang="en-US" dirty="0" err="1">
                <a:solidFill>
                  <a:srgbClr val="303030"/>
                </a:solidFill>
                <a:latin typeface="Arimo"/>
                <a:sym typeface="Wingdings" panose="05000000000000000000" pitchFamily="2" charset="2"/>
              </a:rPr>
              <a:t>a+b</a:t>
            </a:r>
            <a:r>
              <a:rPr lang="en-US" dirty="0">
                <a:solidFill>
                  <a:srgbClr val="303030"/>
                </a:solidFill>
                <a:latin typeface="Arimo"/>
                <a:sym typeface="Wingdings" panose="05000000000000000000" pitchFamily="2" charset="2"/>
              </a:rPr>
              <a:t>)* a</a:t>
            </a:r>
          </a:p>
          <a:p>
            <a:pPr marL="0" indent="0">
              <a:buNone/>
            </a:pPr>
            <a:endParaRPr lang="en-US" dirty="0">
              <a:solidFill>
                <a:srgbClr val="303030"/>
              </a:solidFill>
              <a:latin typeface="Arimo"/>
              <a:sym typeface="Wingdings" panose="05000000000000000000" pitchFamily="2" charset="2"/>
            </a:endParaRPr>
          </a:p>
          <a:p>
            <a:pPr marL="0" indent="0">
              <a:buNone/>
            </a:pPr>
            <a:r>
              <a:rPr lang="en-US" dirty="0">
                <a:solidFill>
                  <a:srgbClr val="303030"/>
                </a:solidFill>
                <a:latin typeface="Arimo"/>
                <a:sym typeface="Wingdings" panose="05000000000000000000" pitchFamily="2" charset="2"/>
              </a:rPr>
              <a:t>S  </a:t>
            </a:r>
            <a:r>
              <a:rPr lang="en-US" dirty="0" err="1">
                <a:solidFill>
                  <a:srgbClr val="303030"/>
                </a:solidFill>
                <a:latin typeface="Arimo"/>
                <a:sym typeface="Wingdings" panose="05000000000000000000" pitchFamily="2" charset="2"/>
              </a:rPr>
              <a:t>aSb</a:t>
            </a:r>
            <a:r>
              <a:rPr lang="en-US" dirty="0">
                <a:solidFill>
                  <a:srgbClr val="303030"/>
                </a:solidFill>
                <a:latin typeface="Arimo"/>
                <a:sym typeface="Wingdings" panose="05000000000000000000" pitchFamily="2" charset="2"/>
              </a:rPr>
              <a:t> |</a:t>
            </a:r>
            <a:r>
              <a:rPr lang="en-US" b="0" i="0" dirty="0">
                <a:solidFill>
                  <a:srgbClr val="303030"/>
                </a:solidFill>
                <a:effectLst/>
                <a:latin typeface="Arimo"/>
              </a:rPr>
              <a:t>∈</a:t>
            </a:r>
          </a:p>
          <a:p>
            <a:pPr marL="0" indent="0">
              <a:buNone/>
            </a:pPr>
            <a:r>
              <a:rPr lang="en-IN" dirty="0"/>
              <a:t>Sol: L= {</a:t>
            </a:r>
            <a:r>
              <a:rPr lang="en-US" b="0" i="0" dirty="0">
                <a:solidFill>
                  <a:srgbClr val="303030"/>
                </a:solidFill>
                <a:effectLst/>
                <a:latin typeface="Arimo"/>
              </a:rPr>
              <a:t>∈, ab, </a:t>
            </a:r>
            <a:r>
              <a:rPr lang="en-US" b="0" i="0" dirty="0" err="1">
                <a:solidFill>
                  <a:srgbClr val="303030"/>
                </a:solidFill>
                <a:effectLst/>
                <a:latin typeface="Arimo"/>
              </a:rPr>
              <a:t>aabb</a:t>
            </a:r>
            <a:r>
              <a:rPr lang="en-US" b="0" i="0" dirty="0">
                <a:solidFill>
                  <a:srgbClr val="303030"/>
                </a:solidFill>
                <a:effectLst/>
                <a:latin typeface="Arimo"/>
              </a:rPr>
              <a:t>,…</a:t>
            </a:r>
            <a:r>
              <a:rPr lang="en-IN" dirty="0"/>
              <a:t>} = </a:t>
            </a:r>
            <a:r>
              <a:rPr lang="en-IN" dirty="0" err="1"/>
              <a:t>a</a:t>
            </a:r>
            <a:r>
              <a:rPr lang="en-IN" baseline="30000" dirty="0" err="1"/>
              <a:t>n</a:t>
            </a:r>
            <a:r>
              <a:rPr lang="en-IN" dirty="0" err="1"/>
              <a:t>b</a:t>
            </a:r>
            <a:r>
              <a:rPr lang="en-IN" baseline="30000" dirty="0" err="1"/>
              <a:t>n</a:t>
            </a:r>
            <a:r>
              <a:rPr lang="en-IN" baseline="30000" dirty="0"/>
              <a:t> </a:t>
            </a:r>
            <a:r>
              <a:rPr lang="en-IN" dirty="0"/>
              <a:t>,n&gt;=0</a:t>
            </a:r>
          </a:p>
          <a:p>
            <a:pPr marL="0" indent="0">
              <a:buNone/>
            </a:pPr>
            <a:endParaRPr lang="en-IN" baseline="30000" dirty="0"/>
          </a:p>
          <a:p>
            <a:pPr marL="0" indent="0">
              <a:buNone/>
            </a:pPr>
            <a:r>
              <a:rPr lang="en-IN" dirty="0"/>
              <a:t>S </a:t>
            </a:r>
            <a:r>
              <a:rPr lang="en-IN" dirty="0">
                <a:sym typeface="Wingdings" panose="05000000000000000000" pitchFamily="2" charset="2"/>
              </a:rPr>
              <a:t> </a:t>
            </a:r>
            <a:r>
              <a:rPr lang="en-IN" dirty="0" err="1">
                <a:sym typeface="Wingdings" panose="05000000000000000000" pitchFamily="2" charset="2"/>
              </a:rPr>
              <a:t>aSa</a:t>
            </a:r>
            <a:r>
              <a:rPr lang="en-IN" dirty="0">
                <a:sym typeface="Wingdings" panose="05000000000000000000" pitchFamily="2" charset="2"/>
              </a:rPr>
              <a:t> | </a:t>
            </a:r>
            <a:r>
              <a:rPr lang="en-IN" dirty="0" err="1">
                <a:sym typeface="Wingdings" panose="05000000000000000000" pitchFamily="2" charset="2"/>
              </a:rPr>
              <a:t>bSb</a:t>
            </a:r>
            <a:r>
              <a:rPr lang="en-IN" dirty="0">
                <a:sym typeface="Wingdings" panose="05000000000000000000" pitchFamily="2" charset="2"/>
              </a:rPr>
              <a:t> | </a:t>
            </a:r>
            <a:r>
              <a:rPr lang="en-US" b="0" i="0" dirty="0">
                <a:solidFill>
                  <a:srgbClr val="303030"/>
                </a:solidFill>
                <a:effectLst/>
                <a:latin typeface="Arimo"/>
              </a:rPr>
              <a:t>∈</a:t>
            </a:r>
          </a:p>
          <a:p>
            <a:pPr marL="0" indent="0">
              <a:buNone/>
            </a:pPr>
            <a:r>
              <a:rPr lang="en-US" dirty="0">
                <a:solidFill>
                  <a:srgbClr val="303030"/>
                </a:solidFill>
                <a:latin typeface="Arimo"/>
              </a:rPr>
              <a:t>L= {aa, bb, abba, </a:t>
            </a:r>
            <a:r>
              <a:rPr lang="en-US" dirty="0" err="1">
                <a:solidFill>
                  <a:srgbClr val="303030"/>
                </a:solidFill>
                <a:latin typeface="Arimo"/>
              </a:rPr>
              <a:t>baab</a:t>
            </a:r>
            <a:r>
              <a:rPr lang="en-US" dirty="0">
                <a:solidFill>
                  <a:srgbClr val="303030"/>
                </a:solidFill>
                <a:latin typeface="Arimo"/>
              </a:rPr>
              <a:t>..} = L={even length palindrome}</a:t>
            </a:r>
          </a:p>
          <a:p>
            <a:pPr marL="0" indent="0">
              <a:buNone/>
            </a:pPr>
            <a:r>
              <a:rPr lang="en-US" dirty="0">
                <a:solidFill>
                  <a:srgbClr val="303030"/>
                </a:solidFill>
                <a:latin typeface="Arimo"/>
              </a:rPr>
              <a:t>S </a:t>
            </a:r>
            <a:r>
              <a:rPr lang="en-US" dirty="0">
                <a:solidFill>
                  <a:srgbClr val="303030"/>
                </a:solidFill>
                <a:latin typeface="Arimo"/>
                <a:sym typeface="Wingdings" panose="05000000000000000000" pitchFamily="2" charset="2"/>
              </a:rPr>
              <a:t> </a:t>
            </a:r>
            <a:r>
              <a:rPr lang="en-IN" dirty="0" err="1">
                <a:sym typeface="Wingdings" panose="05000000000000000000" pitchFamily="2" charset="2"/>
              </a:rPr>
              <a:t>aSa</a:t>
            </a:r>
            <a:r>
              <a:rPr lang="en-IN" dirty="0">
                <a:sym typeface="Wingdings" panose="05000000000000000000" pitchFamily="2" charset="2"/>
              </a:rPr>
              <a:t> | </a:t>
            </a:r>
            <a:r>
              <a:rPr lang="en-IN" dirty="0" err="1">
                <a:sym typeface="Wingdings" panose="05000000000000000000" pitchFamily="2" charset="2"/>
              </a:rPr>
              <a:t>bSb</a:t>
            </a:r>
            <a:r>
              <a:rPr lang="en-IN" dirty="0">
                <a:sym typeface="Wingdings" panose="05000000000000000000" pitchFamily="2" charset="2"/>
              </a:rPr>
              <a:t> | </a:t>
            </a:r>
            <a:r>
              <a:rPr lang="en-US" dirty="0" err="1">
                <a:solidFill>
                  <a:srgbClr val="303030"/>
                </a:solidFill>
                <a:latin typeface="Arimo"/>
                <a:sym typeface="Wingdings" panose="05000000000000000000" pitchFamily="2" charset="2"/>
              </a:rPr>
              <a:t>a|b</a:t>
            </a:r>
            <a:endParaRPr lang="en-US" dirty="0">
              <a:solidFill>
                <a:srgbClr val="303030"/>
              </a:solidFill>
              <a:latin typeface="Arimo"/>
              <a:sym typeface="Wingdings" panose="05000000000000000000" pitchFamily="2" charset="2"/>
            </a:endParaRPr>
          </a:p>
          <a:p>
            <a:pPr marL="0" indent="0">
              <a:buNone/>
            </a:pPr>
            <a:r>
              <a:rPr lang="en-US" dirty="0">
                <a:solidFill>
                  <a:srgbClr val="303030"/>
                </a:solidFill>
                <a:latin typeface="Arimo"/>
                <a:sym typeface="Wingdings" panose="05000000000000000000" pitchFamily="2" charset="2"/>
              </a:rPr>
              <a:t>L={odd length palindrome}</a:t>
            </a:r>
            <a:endParaRPr lang="en-US" dirty="0">
              <a:solidFill>
                <a:srgbClr val="303030"/>
              </a:solidFill>
              <a:latin typeface="Arimo"/>
            </a:endParaRPr>
          </a:p>
          <a:p>
            <a:pPr marL="0" indent="0">
              <a:buNone/>
            </a:pPr>
            <a:endParaRPr lang="en-IN" dirty="0"/>
          </a:p>
        </p:txBody>
      </p:sp>
    </p:spTree>
    <p:extLst>
      <p:ext uri="{BB962C8B-B14F-4D97-AF65-F5344CB8AC3E}">
        <p14:creationId xmlns:p14="http://schemas.microsoft.com/office/powerpoint/2010/main" val="86047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7D453-9ED6-41E5-A073-12FCCE0DC6C0}"/>
              </a:ext>
            </a:extLst>
          </p:cNvPr>
          <p:cNvSpPr>
            <a:spLocks noGrp="1"/>
          </p:cNvSpPr>
          <p:nvPr>
            <p:ph idx="1"/>
          </p:nvPr>
        </p:nvSpPr>
        <p:spPr>
          <a:xfrm>
            <a:off x="254000" y="152400"/>
            <a:ext cx="11684000" cy="6553200"/>
          </a:xfrm>
        </p:spPr>
        <p:txBody>
          <a:bodyPr>
            <a:normAutofit lnSpcReduction="10000"/>
          </a:bodyPr>
          <a:lstStyle/>
          <a:p>
            <a:r>
              <a:rPr lang="en-IN" dirty="0"/>
              <a:t>S </a:t>
            </a:r>
            <a:r>
              <a:rPr lang="en-IN" dirty="0">
                <a:sym typeface="Wingdings" panose="05000000000000000000" pitchFamily="2" charset="2"/>
              </a:rPr>
              <a:t> </a:t>
            </a:r>
            <a:r>
              <a:rPr lang="en-IN" dirty="0" err="1">
                <a:sym typeface="Wingdings" panose="05000000000000000000" pitchFamily="2" charset="2"/>
              </a:rPr>
              <a:t>aSbS</a:t>
            </a:r>
            <a:r>
              <a:rPr lang="en-IN" dirty="0">
                <a:sym typeface="Wingdings" panose="05000000000000000000" pitchFamily="2" charset="2"/>
              </a:rPr>
              <a:t> | </a:t>
            </a:r>
            <a:r>
              <a:rPr lang="en-IN" dirty="0" err="1">
                <a:sym typeface="Wingdings" panose="05000000000000000000" pitchFamily="2" charset="2"/>
              </a:rPr>
              <a:t>bSaS</a:t>
            </a:r>
            <a:r>
              <a:rPr lang="en-IN" dirty="0">
                <a:sym typeface="Wingdings" panose="05000000000000000000" pitchFamily="2" charset="2"/>
              </a:rPr>
              <a:t> |</a:t>
            </a:r>
            <a:r>
              <a:rPr lang="en-US" b="0" i="0" dirty="0">
                <a:solidFill>
                  <a:srgbClr val="303030"/>
                </a:solidFill>
                <a:effectLst/>
                <a:latin typeface="Arimo"/>
              </a:rPr>
              <a:t>∈</a:t>
            </a:r>
          </a:p>
          <a:p>
            <a:r>
              <a:rPr lang="en-IN" dirty="0"/>
              <a:t>Sol: L={ equal number of a and b}</a:t>
            </a:r>
          </a:p>
          <a:p>
            <a:endParaRPr lang="en-IN" dirty="0"/>
          </a:p>
          <a:p>
            <a:r>
              <a:rPr lang="en-IN" dirty="0"/>
              <a:t>S </a:t>
            </a:r>
            <a:r>
              <a:rPr lang="en-IN" dirty="0">
                <a:sym typeface="Wingdings" panose="05000000000000000000" pitchFamily="2" charset="2"/>
              </a:rPr>
              <a:t></a:t>
            </a:r>
            <a:r>
              <a:rPr lang="en-IN" dirty="0" err="1">
                <a:sym typeface="Wingdings" panose="05000000000000000000" pitchFamily="2" charset="2"/>
              </a:rPr>
              <a:t>aSb|aAb</a:t>
            </a:r>
            <a:r>
              <a:rPr lang="en-IN" dirty="0">
                <a:sym typeface="Wingdings" panose="05000000000000000000" pitchFamily="2" charset="2"/>
              </a:rPr>
              <a:t>             (a)</a:t>
            </a:r>
            <a:r>
              <a:rPr lang="en-IN" dirty="0" err="1">
                <a:sym typeface="Wingdings" panose="05000000000000000000" pitchFamily="2" charset="2"/>
              </a:rPr>
              <a:t>aabb</a:t>
            </a:r>
            <a:r>
              <a:rPr lang="en-IN" dirty="0">
                <a:sym typeface="Wingdings" panose="05000000000000000000" pitchFamily="2" charset="2"/>
              </a:rPr>
              <a:t>  (b) </a:t>
            </a:r>
            <a:r>
              <a:rPr lang="en-IN" dirty="0" err="1">
                <a:sym typeface="Wingdings" panose="05000000000000000000" pitchFamily="2" charset="2"/>
              </a:rPr>
              <a:t>aaabb</a:t>
            </a:r>
            <a:endParaRPr lang="en-IN" dirty="0">
              <a:sym typeface="Wingdings" panose="05000000000000000000" pitchFamily="2" charset="2"/>
            </a:endParaRPr>
          </a:p>
          <a:p>
            <a:r>
              <a:rPr lang="en-IN" dirty="0">
                <a:sym typeface="Wingdings" panose="05000000000000000000" pitchFamily="2" charset="2"/>
              </a:rPr>
              <a:t>A </a:t>
            </a:r>
            <a:r>
              <a:rPr lang="en-IN" dirty="0" err="1">
                <a:sym typeface="Wingdings" panose="05000000000000000000" pitchFamily="2" charset="2"/>
              </a:rPr>
              <a:t>bA|b</a:t>
            </a:r>
            <a:r>
              <a:rPr lang="en-IN" dirty="0">
                <a:sym typeface="Wingdings" panose="05000000000000000000" pitchFamily="2" charset="2"/>
              </a:rPr>
              <a:t>                   (c)</a:t>
            </a:r>
            <a:r>
              <a:rPr lang="en-IN" dirty="0" err="1">
                <a:sym typeface="Wingdings" panose="05000000000000000000" pitchFamily="2" charset="2"/>
              </a:rPr>
              <a:t>aabbb</a:t>
            </a:r>
            <a:r>
              <a:rPr lang="en-IN" dirty="0">
                <a:sym typeface="Wingdings" panose="05000000000000000000" pitchFamily="2" charset="2"/>
              </a:rPr>
              <a:t>  (d)</a:t>
            </a:r>
            <a:r>
              <a:rPr lang="en-IN" dirty="0" err="1">
                <a:sym typeface="Wingdings" panose="05000000000000000000" pitchFamily="2" charset="2"/>
              </a:rPr>
              <a:t>aaaabbb</a:t>
            </a:r>
            <a:endParaRPr lang="en-IN" dirty="0">
              <a:sym typeface="Wingdings" panose="05000000000000000000" pitchFamily="2" charset="2"/>
            </a:endParaRPr>
          </a:p>
          <a:p>
            <a:endParaRPr lang="en-IN" dirty="0">
              <a:sym typeface="Wingdings" panose="05000000000000000000" pitchFamily="2" charset="2"/>
            </a:endParaRPr>
          </a:p>
          <a:p>
            <a:r>
              <a:rPr lang="en-IN" dirty="0">
                <a:sym typeface="Wingdings" panose="05000000000000000000" pitchFamily="2" charset="2"/>
              </a:rPr>
              <a:t>Find the grammar that generates all strings that’s starts with a and ends with b.</a:t>
            </a:r>
          </a:p>
          <a:p>
            <a:r>
              <a:rPr lang="en-IN" dirty="0">
                <a:sym typeface="Wingdings" panose="05000000000000000000" pitchFamily="2" charset="2"/>
              </a:rPr>
              <a:t>Sol:</a:t>
            </a:r>
          </a:p>
          <a:p>
            <a:pPr lvl="1"/>
            <a:r>
              <a:rPr lang="en-IN" sz="2400" dirty="0" err="1">
                <a:sym typeface="Wingdings" panose="05000000000000000000" pitchFamily="2" charset="2"/>
              </a:rPr>
              <a:t>SaAb</a:t>
            </a:r>
            <a:endParaRPr lang="en-IN" sz="2400" dirty="0">
              <a:sym typeface="Wingdings" panose="05000000000000000000" pitchFamily="2" charset="2"/>
            </a:endParaRPr>
          </a:p>
          <a:p>
            <a:pPr lvl="1"/>
            <a:r>
              <a:rPr lang="en-IN" sz="2400" dirty="0" err="1">
                <a:sym typeface="Wingdings" panose="05000000000000000000" pitchFamily="2" charset="2"/>
              </a:rPr>
              <a:t>AaA</a:t>
            </a:r>
            <a:r>
              <a:rPr lang="en-IN" sz="2400" dirty="0">
                <a:sym typeface="Wingdings" panose="05000000000000000000" pitchFamily="2" charset="2"/>
              </a:rPr>
              <a:t> | </a:t>
            </a:r>
            <a:r>
              <a:rPr lang="en-IN" sz="2400" dirty="0" err="1">
                <a:sym typeface="Wingdings" panose="05000000000000000000" pitchFamily="2" charset="2"/>
              </a:rPr>
              <a:t>bA</a:t>
            </a:r>
            <a:r>
              <a:rPr lang="en-IN" sz="2400" dirty="0">
                <a:sym typeface="Wingdings" panose="05000000000000000000" pitchFamily="2" charset="2"/>
              </a:rPr>
              <a:t> | </a:t>
            </a:r>
            <a:r>
              <a:rPr lang="en-US" sz="2400" b="0" i="0" dirty="0">
                <a:solidFill>
                  <a:srgbClr val="303030"/>
                </a:solidFill>
                <a:effectLst/>
                <a:latin typeface="Arimo"/>
              </a:rPr>
              <a:t>∈</a:t>
            </a:r>
          </a:p>
          <a:p>
            <a:r>
              <a:rPr lang="en-IN" dirty="0"/>
              <a:t>Find the grammar for which length of each string is exactly 3</a:t>
            </a:r>
          </a:p>
          <a:p>
            <a:r>
              <a:rPr lang="en-IN" dirty="0"/>
              <a:t>Sol: 	</a:t>
            </a:r>
          </a:p>
          <a:p>
            <a:pPr lvl="1"/>
            <a:r>
              <a:rPr lang="en-IN" sz="2400" dirty="0"/>
              <a:t>S</a:t>
            </a:r>
            <a:r>
              <a:rPr lang="en-IN" sz="2400" dirty="0">
                <a:sym typeface="Wingdings" panose="05000000000000000000" pitchFamily="2" charset="2"/>
              </a:rPr>
              <a:t> AAA</a:t>
            </a:r>
          </a:p>
          <a:p>
            <a:pPr lvl="1"/>
            <a:r>
              <a:rPr lang="en-IN" sz="2400" dirty="0" err="1">
                <a:sym typeface="Wingdings" panose="05000000000000000000" pitchFamily="2" charset="2"/>
              </a:rPr>
              <a:t>Aa|b</a:t>
            </a:r>
            <a:endParaRPr lang="en-IN" sz="2400" dirty="0"/>
          </a:p>
          <a:p>
            <a:pPr marL="0" indent="0">
              <a:buNone/>
            </a:pPr>
            <a:endParaRPr lang="en-IN" dirty="0"/>
          </a:p>
        </p:txBody>
      </p:sp>
    </p:spTree>
    <p:extLst>
      <p:ext uri="{BB962C8B-B14F-4D97-AF65-F5344CB8AC3E}">
        <p14:creationId xmlns:p14="http://schemas.microsoft.com/office/powerpoint/2010/main" val="29148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500"/>
                                        <p:tgtEl>
                                          <p:spTgt spid="3">
                                            <p:txEl>
                                              <p:pRg st="12" end="12"/>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A8B39-5678-4AD3-8675-883629219A6D}"/>
              </a:ext>
            </a:extLst>
          </p:cNvPr>
          <p:cNvSpPr>
            <a:spLocks noGrp="1"/>
          </p:cNvSpPr>
          <p:nvPr>
            <p:ph idx="1"/>
          </p:nvPr>
        </p:nvSpPr>
        <p:spPr>
          <a:xfrm>
            <a:off x="254000" y="228600"/>
            <a:ext cx="11684000" cy="6096000"/>
          </a:xfrm>
        </p:spPr>
        <p:txBody>
          <a:bodyPr>
            <a:normAutofit fontScale="92500" lnSpcReduction="10000"/>
          </a:bodyPr>
          <a:lstStyle/>
          <a:p>
            <a:pPr marL="0" indent="0">
              <a:buNone/>
            </a:pPr>
            <a:r>
              <a:rPr lang="en-IN" dirty="0"/>
              <a:t>Find the grammar that generates the words whose length </a:t>
            </a:r>
            <a:r>
              <a:rPr lang="en-IN" dirty="0" err="1"/>
              <a:t>atmost</a:t>
            </a:r>
            <a:r>
              <a:rPr lang="en-IN" dirty="0"/>
              <a:t> 4.</a:t>
            </a:r>
          </a:p>
          <a:p>
            <a:r>
              <a:rPr lang="en-IN" dirty="0"/>
              <a:t>S</a:t>
            </a:r>
            <a:r>
              <a:rPr lang="en-IN" dirty="0">
                <a:sym typeface="Wingdings" panose="05000000000000000000" pitchFamily="2" charset="2"/>
              </a:rPr>
              <a:t> AAAA</a:t>
            </a:r>
          </a:p>
          <a:p>
            <a:r>
              <a:rPr lang="en-IN" dirty="0">
                <a:sym typeface="Wingdings" panose="05000000000000000000" pitchFamily="2" charset="2"/>
              </a:rPr>
              <a:t>A </a:t>
            </a:r>
            <a:r>
              <a:rPr lang="en-IN" dirty="0" err="1">
                <a:sym typeface="Wingdings" panose="05000000000000000000" pitchFamily="2" charset="2"/>
              </a:rPr>
              <a:t>a|b</a:t>
            </a:r>
            <a:r>
              <a:rPr lang="en-IN" dirty="0">
                <a:sym typeface="Wingdings" panose="05000000000000000000" pitchFamily="2" charset="2"/>
              </a:rPr>
              <a:t>|</a:t>
            </a:r>
            <a:r>
              <a:rPr lang="en-US" b="0" i="0" dirty="0">
                <a:solidFill>
                  <a:srgbClr val="303030"/>
                </a:solidFill>
                <a:effectLst/>
                <a:latin typeface="Arimo"/>
              </a:rPr>
              <a:t>∈</a:t>
            </a:r>
          </a:p>
          <a:p>
            <a:endParaRPr lang="en-IN" dirty="0"/>
          </a:p>
          <a:p>
            <a:pPr marL="0" indent="0">
              <a:buNone/>
            </a:pPr>
            <a:r>
              <a:rPr lang="en-IN" dirty="0"/>
              <a:t>Find the grammar that generates the words whose length divisible by 3.</a:t>
            </a:r>
          </a:p>
          <a:p>
            <a:r>
              <a:rPr lang="en-IN" dirty="0"/>
              <a:t>S</a:t>
            </a:r>
            <a:r>
              <a:rPr lang="en-IN" dirty="0">
                <a:sym typeface="Wingdings" panose="05000000000000000000" pitchFamily="2" charset="2"/>
              </a:rPr>
              <a:t> AS |</a:t>
            </a:r>
            <a:r>
              <a:rPr lang="en-US" b="0" i="0" dirty="0">
                <a:solidFill>
                  <a:srgbClr val="303030"/>
                </a:solidFill>
                <a:effectLst/>
                <a:latin typeface="Arimo"/>
              </a:rPr>
              <a:t>∈</a:t>
            </a:r>
          </a:p>
          <a:p>
            <a:r>
              <a:rPr lang="en-US" dirty="0">
                <a:solidFill>
                  <a:srgbClr val="303030"/>
                </a:solidFill>
                <a:latin typeface="Arimo"/>
              </a:rPr>
              <a:t>A </a:t>
            </a:r>
            <a:r>
              <a:rPr lang="en-US" dirty="0">
                <a:solidFill>
                  <a:srgbClr val="303030"/>
                </a:solidFill>
                <a:latin typeface="Arimo"/>
                <a:sym typeface="Wingdings" panose="05000000000000000000" pitchFamily="2" charset="2"/>
              </a:rPr>
              <a:t>BBB</a:t>
            </a:r>
          </a:p>
          <a:p>
            <a:r>
              <a:rPr lang="en-US" b="0" i="0" dirty="0">
                <a:solidFill>
                  <a:srgbClr val="303030"/>
                </a:solidFill>
                <a:effectLst/>
                <a:latin typeface="Arimo"/>
                <a:sym typeface="Wingdings" panose="05000000000000000000" pitchFamily="2" charset="2"/>
              </a:rPr>
              <a:t>B  </a:t>
            </a:r>
            <a:r>
              <a:rPr lang="en-US" b="0" i="0" dirty="0" err="1">
                <a:solidFill>
                  <a:srgbClr val="303030"/>
                </a:solidFill>
                <a:effectLst/>
                <a:latin typeface="Arimo"/>
                <a:sym typeface="Wingdings" panose="05000000000000000000" pitchFamily="2" charset="2"/>
              </a:rPr>
              <a:t>a|b</a:t>
            </a:r>
            <a:endParaRPr lang="en-US" b="0" i="0" dirty="0">
              <a:solidFill>
                <a:srgbClr val="303030"/>
              </a:solidFill>
              <a:effectLst/>
              <a:latin typeface="Arimo"/>
            </a:endParaRPr>
          </a:p>
          <a:p>
            <a:endParaRPr lang="en-IN" dirty="0"/>
          </a:p>
          <a:p>
            <a:pPr marL="0" indent="0">
              <a:buNone/>
            </a:pPr>
            <a:r>
              <a:rPr lang="en-IN" dirty="0"/>
              <a:t>Find the grammar that generates the words contains 0, 1 where number of 0 are divisible by 3</a:t>
            </a:r>
          </a:p>
          <a:p>
            <a:r>
              <a:rPr lang="en-IN" dirty="0"/>
              <a:t>(1*0 1*0 1*0 1*)*+1*</a:t>
            </a:r>
          </a:p>
          <a:p>
            <a:r>
              <a:rPr lang="en-IN" dirty="0"/>
              <a:t>S</a:t>
            </a:r>
            <a:r>
              <a:rPr lang="en-IN" dirty="0">
                <a:sym typeface="Wingdings" panose="05000000000000000000" pitchFamily="2" charset="2"/>
              </a:rPr>
              <a:t> AS|B|</a:t>
            </a:r>
            <a:r>
              <a:rPr lang="en-US" b="0" i="0" dirty="0">
                <a:solidFill>
                  <a:srgbClr val="303030"/>
                </a:solidFill>
                <a:effectLst/>
                <a:latin typeface="Arimo"/>
              </a:rPr>
              <a:t>∈</a:t>
            </a:r>
          </a:p>
          <a:p>
            <a:r>
              <a:rPr lang="en-US" dirty="0">
                <a:solidFill>
                  <a:srgbClr val="303030"/>
                </a:solidFill>
                <a:latin typeface="Arimo"/>
              </a:rPr>
              <a:t>A</a:t>
            </a:r>
            <a:r>
              <a:rPr lang="en-US" dirty="0">
                <a:solidFill>
                  <a:srgbClr val="303030"/>
                </a:solidFill>
                <a:latin typeface="Arimo"/>
                <a:sym typeface="Wingdings" panose="05000000000000000000" pitchFamily="2" charset="2"/>
              </a:rPr>
              <a:t> B0B0B0B</a:t>
            </a:r>
          </a:p>
          <a:p>
            <a:r>
              <a:rPr lang="en-US" b="0" i="0" dirty="0">
                <a:solidFill>
                  <a:srgbClr val="303030"/>
                </a:solidFill>
                <a:effectLst/>
                <a:latin typeface="Arimo"/>
                <a:sym typeface="Wingdings" panose="05000000000000000000" pitchFamily="2" charset="2"/>
              </a:rPr>
              <a:t>B 1B|</a:t>
            </a:r>
            <a:r>
              <a:rPr lang="en-US" b="0" i="0" dirty="0">
                <a:solidFill>
                  <a:srgbClr val="303030"/>
                </a:solidFill>
                <a:effectLst/>
                <a:latin typeface="Arimo"/>
              </a:rPr>
              <a:t>∈</a:t>
            </a:r>
          </a:p>
          <a:p>
            <a:pPr marL="0" indent="0">
              <a:buNone/>
            </a:pPr>
            <a:endParaRPr lang="en-US" b="0" i="0" dirty="0">
              <a:solidFill>
                <a:srgbClr val="303030"/>
              </a:solidFill>
              <a:effectLst/>
              <a:latin typeface="Arimo"/>
            </a:endParaRPr>
          </a:p>
          <a:p>
            <a:endParaRPr lang="en-IN" dirty="0"/>
          </a:p>
        </p:txBody>
      </p:sp>
    </p:spTree>
    <p:extLst>
      <p:ext uri="{BB962C8B-B14F-4D97-AF65-F5344CB8AC3E}">
        <p14:creationId xmlns:p14="http://schemas.microsoft.com/office/powerpoint/2010/main" val="231819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B70B1-B7FC-41EE-9B55-329F0E71C053}"/>
              </a:ext>
            </a:extLst>
          </p:cNvPr>
          <p:cNvSpPr>
            <a:spLocks noGrp="1"/>
          </p:cNvSpPr>
          <p:nvPr>
            <p:ph idx="1"/>
          </p:nvPr>
        </p:nvSpPr>
        <p:spPr>
          <a:xfrm>
            <a:off x="254000" y="228600"/>
            <a:ext cx="11684000" cy="6096000"/>
          </a:xfrm>
        </p:spPr>
        <p:txBody>
          <a:bodyPr/>
          <a:lstStyle/>
          <a:p>
            <a:pPr marL="0" indent="0">
              <a:buNone/>
            </a:pPr>
            <a:r>
              <a:rPr lang="en-IN" dirty="0"/>
              <a:t>L={</a:t>
            </a:r>
            <a:r>
              <a:rPr lang="en-IN" dirty="0" err="1"/>
              <a:t>a</a:t>
            </a:r>
            <a:r>
              <a:rPr lang="en-IN" baseline="30000" dirty="0" err="1"/>
              <a:t>n</a:t>
            </a:r>
            <a:r>
              <a:rPr lang="en-IN" dirty="0" err="1"/>
              <a:t>b</a:t>
            </a:r>
            <a:r>
              <a:rPr lang="en-IN" baseline="30000" dirty="0" err="1"/>
              <a:t>m</a:t>
            </a:r>
            <a:r>
              <a:rPr lang="en-IN" dirty="0" err="1"/>
              <a:t>c</a:t>
            </a:r>
            <a:r>
              <a:rPr lang="en-IN" baseline="30000" dirty="0" err="1"/>
              <a:t>m</a:t>
            </a:r>
            <a:r>
              <a:rPr lang="en-IN" dirty="0" err="1"/>
              <a:t>d</a:t>
            </a:r>
            <a:r>
              <a:rPr lang="en-IN" baseline="30000" dirty="0" err="1"/>
              <a:t>n</a:t>
            </a:r>
            <a:r>
              <a:rPr lang="en-IN" dirty="0" err="1"/>
              <a:t>|n,m</a:t>
            </a:r>
            <a:r>
              <a:rPr lang="en-IN" dirty="0"/>
              <a:t>&gt;=1}</a:t>
            </a:r>
          </a:p>
          <a:p>
            <a:r>
              <a:rPr lang="en-IN" dirty="0" err="1"/>
              <a:t>S</a:t>
            </a:r>
            <a:r>
              <a:rPr lang="en-IN" dirty="0" err="1">
                <a:sym typeface="Wingdings" panose="05000000000000000000" pitchFamily="2" charset="2"/>
              </a:rPr>
              <a:t>aAd|aSd</a:t>
            </a:r>
            <a:endParaRPr lang="en-IN" dirty="0">
              <a:sym typeface="Wingdings" panose="05000000000000000000" pitchFamily="2" charset="2"/>
            </a:endParaRPr>
          </a:p>
          <a:p>
            <a:r>
              <a:rPr lang="en-IN" dirty="0" err="1">
                <a:sym typeface="Wingdings" panose="05000000000000000000" pitchFamily="2" charset="2"/>
              </a:rPr>
              <a:t>AbAc|bc</a:t>
            </a:r>
            <a:endParaRPr lang="en-IN" dirty="0">
              <a:sym typeface="Wingdings" panose="05000000000000000000" pitchFamily="2" charset="2"/>
            </a:endParaRPr>
          </a:p>
          <a:p>
            <a:endParaRPr lang="en-IN" dirty="0">
              <a:sym typeface="Wingdings" panose="05000000000000000000" pitchFamily="2" charset="2"/>
            </a:endParaRPr>
          </a:p>
          <a:p>
            <a:pPr marL="0" indent="0">
              <a:buNone/>
            </a:pPr>
            <a:r>
              <a:rPr lang="en-IN" dirty="0">
                <a:sym typeface="Wingdings" panose="05000000000000000000" pitchFamily="2" charset="2"/>
              </a:rPr>
              <a:t>L={</a:t>
            </a:r>
            <a:r>
              <a:rPr lang="en-IN" dirty="0" err="1">
                <a:sym typeface="Wingdings" panose="05000000000000000000" pitchFamily="2" charset="2"/>
              </a:rPr>
              <a:t>a</a:t>
            </a:r>
            <a:r>
              <a:rPr lang="en-IN" baseline="30000" dirty="0" err="1">
                <a:sym typeface="Wingdings" panose="05000000000000000000" pitchFamily="2" charset="2"/>
              </a:rPr>
              <a:t>m+n</a:t>
            </a:r>
            <a:r>
              <a:rPr lang="en-IN" dirty="0" err="1">
                <a:sym typeface="Wingdings" panose="05000000000000000000" pitchFamily="2" charset="2"/>
              </a:rPr>
              <a:t>b</a:t>
            </a:r>
            <a:r>
              <a:rPr lang="en-IN" baseline="30000" dirty="0" err="1">
                <a:sym typeface="Wingdings" panose="05000000000000000000" pitchFamily="2" charset="2"/>
              </a:rPr>
              <a:t>n</a:t>
            </a:r>
            <a:r>
              <a:rPr lang="en-IN" dirty="0" err="1">
                <a:sym typeface="Wingdings" panose="05000000000000000000" pitchFamily="2" charset="2"/>
              </a:rPr>
              <a:t>c</a:t>
            </a:r>
            <a:r>
              <a:rPr lang="en-IN" baseline="30000" dirty="0" err="1">
                <a:sym typeface="Wingdings" panose="05000000000000000000" pitchFamily="2" charset="2"/>
              </a:rPr>
              <a:t>m</a:t>
            </a:r>
            <a:r>
              <a:rPr lang="en-IN" dirty="0" err="1">
                <a:sym typeface="Wingdings" panose="05000000000000000000" pitchFamily="2" charset="2"/>
              </a:rPr>
              <a:t>|n,m</a:t>
            </a:r>
            <a:r>
              <a:rPr lang="en-IN" dirty="0">
                <a:sym typeface="Wingdings" panose="05000000000000000000" pitchFamily="2" charset="2"/>
              </a:rPr>
              <a:t>&gt;=1}</a:t>
            </a:r>
          </a:p>
          <a:p>
            <a:r>
              <a:rPr lang="en-IN" dirty="0" err="1">
                <a:sym typeface="Wingdings" panose="05000000000000000000" pitchFamily="2" charset="2"/>
              </a:rPr>
              <a:t>SaAc</a:t>
            </a:r>
            <a:r>
              <a:rPr lang="en-IN" dirty="0">
                <a:sym typeface="Wingdings" panose="05000000000000000000" pitchFamily="2" charset="2"/>
              </a:rPr>
              <a:t>| </a:t>
            </a:r>
            <a:r>
              <a:rPr lang="en-IN" dirty="0" err="1">
                <a:sym typeface="Wingdings" panose="05000000000000000000" pitchFamily="2" charset="2"/>
              </a:rPr>
              <a:t>aSc</a:t>
            </a:r>
            <a:endParaRPr lang="en-IN" dirty="0">
              <a:sym typeface="Wingdings" panose="05000000000000000000" pitchFamily="2" charset="2"/>
            </a:endParaRPr>
          </a:p>
          <a:p>
            <a:r>
              <a:rPr lang="en-IN" dirty="0">
                <a:sym typeface="Wingdings" panose="05000000000000000000" pitchFamily="2" charset="2"/>
              </a:rPr>
              <a:t>A </a:t>
            </a:r>
            <a:r>
              <a:rPr lang="en-IN" dirty="0" err="1">
                <a:sym typeface="Wingdings" panose="05000000000000000000" pitchFamily="2" charset="2"/>
              </a:rPr>
              <a:t>aAb|ab</a:t>
            </a:r>
            <a:endParaRPr lang="en-IN" dirty="0">
              <a:sym typeface="Wingdings" panose="05000000000000000000" pitchFamily="2" charset="2"/>
            </a:endParaRPr>
          </a:p>
          <a:p>
            <a:endParaRPr lang="en-IN" dirty="0">
              <a:sym typeface="Wingdings" panose="05000000000000000000" pitchFamily="2" charset="2"/>
            </a:endParaRPr>
          </a:p>
          <a:p>
            <a:pPr marL="0" indent="0">
              <a:buNone/>
            </a:pPr>
            <a:r>
              <a:rPr lang="en-IN" dirty="0">
                <a:sym typeface="Wingdings" panose="05000000000000000000" pitchFamily="2" charset="2"/>
              </a:rPr>
              <a:t>L={</a:t>
            </a:r>
            <a:r>
              <a:rPr lang="en-IN" dirty="0" err="1">
                <a:sym typeface="Wingdings" panose="05000000000000000000" pitchFamily="2" charset="2"/>
              </a:rPr>
              <a:t>a</a:t>
            </a:r>
            <a:r>
              <a:rPr lang="en-IN" baseline="30000" dirty="0" err="1">
                <a:sym typeface="Wingdings" panose="05000000000000000000" pitchFamily="2" charset="2"/>
              </a:rPr>
              <a:t>m</a:t>
            </a:r>
            <a:r>
              <a:rPr lang="en-IN" dirty="0" err="1">
                <a:sym typeface="Wingdings" panose="05000000000000000000" pitchFamily="2" charset="2"/>
              </a:rPr>
              <a:t>b</a:t>
            </a:r>
            <a:r>
              <a:rPr lang="en-IN" baseline="30000" dirty="0" err="1">
                <a:sym typeface="Wingdings" panose="05000000000000000000" pitchFamily="2" charset="2"/>
              </a:rPr>
              <a:t>m+n</a:t>
            </a:r>
            <a:r>
              <a:rPr lang="en-IN" dirty="0" err="1">
                <a:sym typeface="Wingdings" panose="05000000000000000000" pitchFamily="2" charset="2"/>
              </a:rPr>
              <a:t>c</a:t>
            </a:r>
            <a:r>
              <a:rPr lang="en-IN" baseline="30000" dirty="0" err="1">
                <a:sym typeface="Wingdings" panose="05000000000000000000" pitchFamily="2" charset="2"/>
              </a:rPr>
              <a:t>n</a:t>
            </a:r>
            <a:r>
              <a:rPr lang="en-IN" dirty="0" err="1">
                <a:sym typeface="Wingdings" panose="05000000000000000000" pitchFamily="2" charset="2"/>
              </a:rPr>
              <a:t>|n,m</a:t>
            </a:r>
            <a:r>
              <a:rPr lang="en-IN" dirty="0">
                <a:sym typeface="Wingdings" panose="05000000000000000000" pitchFamily="2" charset="2"/>
              </a:rPr>
              <a:t>&gt;=1}</a:t>
            </a:r>
          </a:p>
          <a:p>
            <a:r>
              <a:rPr lang="en-IN" dirty="0"/>
              <a:t>S</a:t>
            </a:r>
            <a:r>
              <a:rPr lang="en-IN" dirty="0">
                <a:sym typeface="Wingdings" panose="05000000000000000000" pitchFamily="2" charset="2"/>
              </a:rPr>
              <a:t>AB</a:t>
            </a:r>
          </a:p>
          <a:p>
            <a:r>
              <a:rPr lang="en-IN" dirty="0" err="1">
                <a:sym typeface="Wingdings" panose="05000000000000000000" pitchFamily="2" charset="2"/>
              </a:rPr>
              <a:t>AaAb|ab</a:t>
            </a:r>
            <a:endParaRPr lang="en-IN" dirty="0">
              <a:sym typeface="Wingdings" panose="05000000000000000000" pitchFamily="2" charset="2"/>
            </a:endParaRPr>
          </a:p>
          <a:p>
            <a:r>
              <a:rPr lang="en-IN" dirty="0" err="1">
                <a:sym typeface="Wingdings" panose="05000000000000000000" pitchFamily="2" charset="2"/>
              </a:rPr>
              <a:t>BbBc|bc</a:t>
            </a:r>
            <a:endParaRPr lang="en-IN" dirty="0"/>
          </a:p>
        </p:txBody>
      </p:sp>
    </p:spTree>
    <p:extLst>
      <p:ext uri="{BB962C8B-B14F-4D97-AF65-F5344CB8AC3E}">
        <p14:creationId xmlns:p14="http://schemas.microsoft.com/office/powerpoint/2010/main" val="412555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80B87-56DE-4A39-8A16-19EE39BACE20}"/>
              </a:ext>
            </a:extLst>
          </p:cNvPr>
          <p:cNvSpPr>
            <a:spLocks noGrp="1"/>
          </p:cNvSpPr>
          <p:nvPr>
            <p:ph type="title"/>
          </p:nvPr>
        </p:nvSpPr>
        <p:spPr/>
        <p:txBody>
          <a:bodyPr/>
          <a:lstStyle/>
          <a:p>
            <a:r>
              <a:rPr lang="en-IN" dirty="0"/>
              <a:t>Left most and right most derivation</a:t>
            </a:r>
          </a:p>
        </p:txBody>
      </p:sp>
      <p:sp>
        <p:nvSpPr>
          <p:cNvPr id="3" name="Content Placeholder 2">
            <a:extLst>
              <a:ext uri="{FF2B5EF4-FFF2-40B4-BE49-F238E27FC236}">
                <a16:creationId xmlns:a16="http://schemas.microsoft.com/office/drawing/2014/main" id="{16B9C390-2336-4D9E-A2A4-129E498FC7AB}"/>
              </a:ext>
            </a:extLst>
          </p:cNvPr>
          <p:cNvSpPr>
            <a:spLocks noGrp="1"/>
          </p:cNvSpPr>
          <p:nvPr>
            <p:ph idx="1"/>
          </p:nvPr>
        </p:nvSpPr>
        <p:spPr/>
        <p:txBody>
          <a:bodyPr>
            <a:normAutofit/>
          </a:bodyPr>
          <a:lstStyle/>
          <a:p>
            <a:r>
              <a:rPr lang="en-US" dirty="0"/>
              <a:t>A derivation in which leftmost non terminal is replaced by terminal at each step is called as </a:t>
            </a:r>
            <a:r>
              <a:rPr lang="en-US" b="1" dirty="0">
                <a:solidFill>
                  <a:srgbClr val="C00000"/>
                </a:solidFill>
              </a:rPr>
              <a:t>leftmost derivation </a:t>
            </a:r>
            <a:r>
              <a:rPr lang="en-US" dirty="0"/>
              <a:t>in Automata.</a:t>
            </a:r>
          </a:p>
          <a:p>
            <a:r>
              <a:rPr lang="en-US" dirty="0"/>
              <a:t>A derivation in which rightmost non terminal is replaced by terminal at each step is called as </a:t>
            </a:r>
            <a:r>
              <a:rPr lang="en-US" b="1" dirty="0">
                <a:solidFill>
                  <a:srgbClr val="C00000"/>
                </a:solidFill>
              </a:rPr>
              <a:t>rightmost derivation </a:t>
            </a:r>
            <a:r>
              <a:rPr lang="en-US" dirty="0"/>
              <a:t>in Automata.</a:t>
            </a:r>
          </a:p>
          <a:p>
            <a:r>
              <a:rPr lang="en-US" dirty="0"/>
              <a:t>The representation of leftmost derivation in the form of tree is called as a leftmost derivation tree.</a:t>
            </a:r>
          </a:p>
          <a:p>
            <a:r>
              <a:rPr lang="en-US" dirty="0"/>
              <a:t>In the leftmost derivation tree, we read the given input string (W) from left to right.</a:t>
            </a:r>
          </a:p>
        </p:txBody>
      </p:sp>
    </p:spTree>
    <p:extLst>
      <p:ext uri="{BB962C8B-B14F-4D97-AF65-F5344CB8AC3E}">
        <p14:creationId xmlns:p14="http://schemas.microsoft.com/office/powerpoint/2010/main" val="12248534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B0C19-B968-4597-8B22-092A0491EC6D}"/>
              </a:ext>
            </a:extLst>
          </p:cNvPr>
          <p:cNvSpPr>
            <a:spLocks noGrp="1"/>
          </p:cNvSpPr>
          <p:nvPr>
            <p:ph idx="1"/>
          </p:nvPr>
        </p:nvSpPr>
        <p:spPr>
          <a:xfrm>
            <a:off x="254000" y="76200"/>
            <a:ext cx="11684000" cy="6553200"/>
          </a:xfrm>
        </p:spPr>
        <p:txBody>
          <a:bodyPr>
            <a:normAutofit/>
          </a:bodyPr>
          <a:lstStyle/>
          <a:p>
            <a:pPr marL="0" indent="0">
              <a:buNone/>
            </a:pPr>
            <a:r>
              <a:rPr lang="en-US" sz="2000" dirty="0"/>
              <a:t>Consider the following production rules for the grammar (G)</a:t>
            </a:r>
          </a:p>
          <a:p>
            <a:r>
              <a:rPr lang="en-US" sz="2000" dirty="0"/>
              <a:t>S → </a:t>
            </a:r>
            <a:r>
              <a:rPr lang="en-US" sz="2000" dirty="0" err="1"/>
              <a:t>xB</a:t>
            </a:r>
            <a:r>
              <a:rPr lang="en-US" sz="2000" dirty="0"/>
              <a:t> / </a:t>
            </a:r>
            <a:r>
              <a:rPr lang="en-US" sz="2000" dirty="0" err="1"/>
              <a:t>yA</a:t>
            </a:r>
            <a:endParaRPr lang="en-US" sz="2000" dirty="0"/>
          </a:p>
          <a:p>
            <a:r>
              <a:rPr lang="en-US" sz="2000" dirty="0"/>
              <a:t>S → </a:t>
            </a:r>
            <a:r>
              <a:rPr lang="en-US" sz="2000" dirty="0" err="1"/>
              <a:t>xS</a:t>
            </a:r>
            <a:r>
              <a:rPr lang="en-US" sz="2000" dirty="0"/>
              <a:t> / </a:t>
            </a:r>
            <a:r>
              <a:rPr lang="en-US" sz="2000" dirty="0" err="1"/>
              <a:t>yAA</a:t>
            </a:r>
            <a:r>
              <a:rPr lang="en-US" sz="2000" dirty="0"/>
              <a:t> / x</a:t>
            </a:r>
          </a:p>
          <a:p>
            <a:r>
              <a:rPr lang="en-US" sz="2000" dirty="0"/>
              <a:t>B → </a:t>
            </a:r>
            <a:r>
              <a:rPr lang="en-US" sz="2000" dirty="0" err="1"/>
              <a:t>yS</a:t>
            </a:r>
            <a:r>
              <a:rPr lang="en-US" sz="2000" dirty="0"/>
              <a:t> / </a:t>
            </a:r>
            <a:r>
              <a:rPr lang="en-US" sz="2000" dirty="0" err="1"/>
              <a:t>xBB</a:t>
            </a:r>
            <a:r>
              <a:rPr lang="en-US" sz="2000" dirty="0"/>
              <a:t> / y</a:t>
            </a:r>
          </a:p>
          <a:p>
            <a:pPr marL="0" indent="0">
              <a:buNone/>
            </a:pPr>
            <a:r>
              <a:rPr lang="en-IN" sz="1800" b="1" i="0" dirty="0">
                <a:solidFill>
                  <a:srgbClr val="242424"/>
                </a:solidFill>
                <a:effectLst/>
                <a:latin typeface="arial" panose="020B0604020202020204" pitchFamily="34" charset="0"/>
              </a:rPr>
              <a:t>Consider a string W = </a:t>
            </a:r>
            <a:r>
              <a:rPr lang="en-IN" sz="1800" b="1" i="0" dirty="0" err="1">
                <a:solidFill>
                  <a:srgbClr val="242424"/>
                </a:solidFill>
                <a:effectLst/>
                <a:latin typeface="arial" panose="020B0604020202020204" pitchFamily="34" charset="0"/>
              </a:rPr>
              <a:t>xxxyyxyyyx</a:t>
            </a:r>
            <a:endParaRPr lang="en-IN" sz="1800" b="1" i="0" dirty="0">
              <a:solidFill>
                <a:srgbClr val="242424"/>
              </a:solidFill>
              <a:effectLst/>
              <a:latin typeface="arial" panose="020B0604020202020204" pitchFamily="34" charset="0"/>
            </a:endParaRPr>
          </a:p>
          <a:p>
            <a:pPr marL="0" indent="0">
              <a:buNone/>
            </a:pPr>
            <a:r>
              <a:rPr lang="en-US" sz="2000" b="0" i="0" dirty="0">
                <a:solidFill>
                  <a:srgbClr val="242424"/>
                </a:solidFill>
                <a:effectLst/>
                <a:latin typeface="arial" panose="020B0604020202020204" pitchFamily="34" charset="0"/>
              </a:rPr>
              <a:t>Let us derive the given string </a:t>
            </a:r>
            <a:r>
              <a:rPr lang="en-US" sz="2000" b="1" i="0" dirty="0">
                <a:solidFill>
                  <a:srgbClr val="242424"/>
                </a:solidFill>
                <a:effectLst/>
                <a:latin typeface="arial" panose="020B0604020202020204" pitchFamily="34" charset="0"/>
              </a:rPr>
              <a:t>(W= </a:t>
            </a:r>
            <a:r>
              <a:rPr lang="en-US" sz="2000" b="1" i="0" dirty="0" err="1">
                <a:solidFill>
                  <a:srgbClr val="242424"/>
                </a:solidFill>
                <a:effectLst/>
                <a:latin typeface="arial" panose="020B0604020202020204" pitchFamily="34" charset="0"/>
              </a:rPr>
              <a:t>xxxyyxyyyx</a:t>
            </a:r>
            <a:r>
              <a:rPr lang="en-US" sz="2000" b="1" i="0" dirty="0">
                <a:solidFill>
                  <a:srgbClr val="242424"/>
                </a:solidFill>
                <a:effectLst/>
                <a:latin typeface="arial" panose="020B0604020202020204" pitchFamily="34" charset="0"/>
              </a:rPr>
              <a:t>)</a:t>
            </a:r>
            <a:r>
              <a:rPr lang="en-US" sz="2000" b="0" i="0" dirty="0">
                <a:solidFill>
                  <a:srgbClr val="242424"/>
                </a:solidFill>
                <a:effectLst/>
                <a:latin typeface="arial" panose="020B0604020202020204" pitchFamily="34" charset="0"/>
              </a:rPr>
              <a:t> by using given production rules of grammar. And will also draw the derivation tree of each step as given below</a:t>
            </a:r>
            <a:endParaRPr lang="en-IN" sz="2000" dirty="0"/>
          </a:p>
        </p:txBody>
      </p:sp>
      <p:pic>
        <p:nvPicPr>
          <p:cNvPr id="5" name="Picture 4">
            <a:extLst>
              <a:ext uri="{FF2B5EF4-FFF2-40B4-BE49-F238E27FC236}">
                <a16:creationId xmlns:a16="http://schemas.microsoft.com/office/drawing/2014/main" id="{3622108C-F2FC-4406-996A-8E7983AE4CDC}"/>
              </a:ext>
            </a:extLst>
          </p:cNvPr>
          <p:cNvPicPr>
            <a:picLocks noChangeAspect="1"/>
          </p:cNvPicPr>
          <p:nvPr/>
        </p:nvPicPr>
        <p:blipFill>
          <a:blip r:embed="rId2"/>
          <a:stretch>
            <a:fillRect/>
          </a:stretch>
        </p:blipFill>
        <p:spPr>
          <a:xfrm>
            <a:off x="3124199" y="2895600"/>
            <a:ext cx="4578585" cy="1530429"/>
          </a:xfrm>
          <a:prstGeom prst="rect">
            <a:avLst/>
          </a:prstGeom>
        </p:spPr>
      </p:pic>
      <p:pic>
        <p:nvPicPr>
          <p:cNvPr id="7" name="Picture 6">
            <a:extLst>
              <a:ext uri="{FF2B5EF4-FFF2-40B4-BE49-F238E27FC236}">
                <a16:creationId xmlns:a16="http://schemas.microsoft.com/office/drawing/2014/main" id="{7793E4E3-4A35-46BD-8E7B-C431261FAB8C}"/>
              </a:ext>
            </a:extLst>
          </p:cNvPr>
          <p:cNvPicPr>
            <a:picLocks noChangeAspect="1"/>
          </p:cNvPicPr>
          <p:nvPr/>
        </p:nvPicPr>
        <p:blipFill>
          <a:blip r:embed="rId3"/>
          <a:stretch>
            <a:fillRect/>
          </a:stretch>
        </p:blipFill>
        <p:spPr>
          <a:xfrm>
            <a:off x="3124199" y="2900413"/>
            <a:ext cx="5162815" cy="2121009"/>
          </a:xfrm>
          <a:prstGeom prst="rect">
            <a:avLst/>
          </a:prstGeom>
        </p:spPr>
      </p:pic>
      <p:pic>
        <p:nvPicPr>
          <p:cNvPr id="9" name="Picture 8">
            <a:extLst>
              <a:ext uri="{FF2B5EF4-FFF2-40B4-BE49-F238E27FC236}">
                <a16:creationId xmlns:a16="http://schemas.microsoft.com/office/drawing/2014/main" id="{FB8ED09B-A46F-4A7F-B9C6-747B69234A78}"/>
              </a:ext>
            </a:extLst>
          </p:cNvPr>
          <p:cNvPicPr>
            <a:picLocks noChangeAspect="1"/>
          </p:cNvPicPr>
          <p:nvPr/>
        </p:nvPicPr>
        <p:blipFill>
          <a:blip r:embed="rId4"/>
          <a:stretch>
            <a:fillRect/>
          </a:stretch>
        </p:blipFill>
        <p:spPr>
          <a:xfrm>
            <a:off x="3124199" y="2895600"/>
            <a:ext cx="5086611" cy="2800494"/>
          </a:xfrm>
          <a:prstGeom prst="rect">
            <a:avLst/>
          </a:prstGeom>
        </p:spPr>
      </p:pic>
      <p:pic>
        <p:nvPicPr>
          <p:cNvPr id="11" name="Picture 10">
            <a:extLst>
              <a:ext uri="{FF2B5EF4-FFF2-40B4-BE49-F238E27FC236}">
                <a16:creationId xmlns:a16="http://schemas.microsoft.com/office/drawing/2014/main" id="{DAAB9E66-6BFE-43C2-95FC-BDC6283AB8A8}"/>
              </a:ext>
            </a:extLst>
          </p:cNvPr>
          <p:cNvPicPr>
            <a:picLocks noChangeAspect="1"/>
          </p:cNvPicPr>
          <p:nvPr/>
        </p:nvPicPr>
        <p:blipFill>
          <a:blip r:embed="rId5"/>
          <a:stretch>
            <a:fillRect/>
          </a:stretch>
        </p:blipFill>
        <p:spPr>
          <a:xfrm>
            <a:off x="3124199" y="2895600"/>
            <a:ext cx="5029458" cy="3321221"/>
          </a:xfrm>
          <a:prstGeom prst="rect">
            <a:avLst/>
          </a:prstGeom>
        </p:spPr>
      </p:pic>
      <p:pic>
        <p:nvPicPr>
          <p:cNvPr id="13" name="Picture 12">
            <a:extLst>
              <a:ext uri="{FF2B5EF4-FFF2-40B4-BE49-F238E27FC236}">
                <a16:creationId xmlns:a16="http://schemas.microsoft.com/office/drawing/2014/main" id="{D36DCB47-3C72-4490-B46A-E52C9479CE2F}"/>
              </a:ext>
            </a:extLst>
          </p:cNvPr>
          <p:cNvPicPr>
            <a:picLocks noChangeAspect="1"/>
          </p:cNvPicPr>
          <p:nvPr/>
        </p:nvPicPr>
        <p:blipFill>
          <a:blip r:embed="rId6"/>
          <a:stretch>
            <a:fillRect/>
          </a:stretch>
        </p:blipFill>
        <p:spPr>
          <a:xfrm>
            <a:off x="3124199" y="2886074"/>
            <a:ext cx="5010407" cy="3340272"/>
          </a:xfrm>
          <a:prstGeom prst="rect">
            <a:avLst/>
          </a:prstGeom>
        </p:spPr>
      </p:pic>
      <p:pic>
        <p:nvPicPr>
          <p:cNvPr id="15" name="Picture 14">
            <a:extLst>
              <a:ext uri="{FF2B5EF4-FFF2-40B4-BE49-F238E27FC236}">
                <a16:creationId xmlns:a16="http://schemas.microsoft.com/office/drawing/2014/main" id="{F3A414BB-2B65-4B7E-A513-2F5ACC312B9E}"/>
              </a:ext>
            </a:extLst>
          </p:cNvPr>
          <p:cNvPicPr>
            <a:picLocks noChangeAspect="1"/>
          </p:cNvPicPr>
          <p:nvPr/>
        </p:nvPicPr>
        <p:blipFill>
          <a:blip r:embed="rId7"/>
          <a:stretch>
            <a:fillRect/>
          </a:stretch>
        </p:blipFill>
        <p:spPr>
          <a:xfrm>
            <a:off x="3124199" y="2876548"/>
            <a:ext cx="5550185" cy="3359323"/>
          </a:xfrm>
          <a:prstGeom prst="rect">
            <a:avLst/>
          </a:prstGeom>
        </p:spPr>
      </p:pic>
      <p:pic>
        <p:nvPicPr>
          <p:cNvPr id="17" name="Picture 16">
            <a:extLst>
              <a:ext uri="{FF2B5EF4-FFF2-40B4-BE49-F238E27FC236}">
                <a16:creationId xmlns:a16="http://schemas.microsoft.com/office/drawing/2014/main" id="{22BBA503-F193-48DC-85D0-FA52E26E1F99}"/>
              </a:ext>
            </a:extLst>
          </p:cNvPr>
          <p:cNvPicPr>
            <a:picLocks noChangeAspect="1"/>
          </p:cNvPicPr>
          <p:nvPr/>
        </p:nvPicPr>
        <p:blipFill>
          <a:blip r:embed="rId8"/>
          <a:stretch>
            <a:fillRect/>
          </a:stretch>
        </p:blipFill>
        <p:spPr>
          <a:xfrm>
            <a:off x="3124199" y="2862110"/>
            <a:ext cx="5588287" cy="3340272"/>
          </a:xfrm>
          <a:prstGeom prst="rect">
            <a:avLst/>
          </a:prstGeom>
        </p:spPr>
      </p:pic>
      <p:pic>
        <p:nvPicPr>
          <p:cNvPr id="19" name="Picture 18">
            <a:extLst>
              <a:ext uri="{FF2B5EF4-FFF2-40B4-BE49-F238E27FC236}">
                <a16:creationId xmlns:a16="http://schemas.microsoft.com/office/drawing/2014/main" id="{5B6F77D8-DD63-47FE-A9E5-B19825B2AE55}"/>
              </a:ext>
            </a:extLst>
          </p:cNvPr>
          <p:cNvPicPr>
            <a:picLocks noChangeAspect="1"/>
          </p:cNvPicPr>
          <p:nvPr/>
        </p:nvPicPr>
        <p:blipFill>
          <a:blip r:embed="rId9"/>
          <a:stretch>
            <a:fillRect/>
          </a:stretch>
        </p:blipFill>
        <p:spPr>
          <a:xfrm>
            <a:off x="3096305" y="2855599"/>
            <a:ext cx="6045511" cy="3340272"/>
          </a:xfrm>
          <a:prstGeom prst="rect">
            <a:avLst/>
          </a:prstGeom>
        </p:spPr>
      </p:pic>
      <p:pic>
        <p:nvPicPr>
          <p:cNvPr id="21" name="Picture 20">
            <a:extLst>
              <a:ext uri="{FF2B5EF4-FFF2-40B4-BE49-F238E27FC236}">
                <a16:creationId xmlns:a16="http://schemas.microsoft.com/office/drawing/2014/main" id="{1A2CEEBD-56DC-4723-B0B3-33D3C0983BE3}"/>
              </a:ext>
            </a:extLst>
          </p:cNvPr>
          <p:cNvPicPr>
            <a:picLocks noChangeAspect="1"/>
          </p:cNvPicPr>
          <p:nvPr/>
        </p:nvPicPr>
        <p:blipFill>
          <a:blip r:embed="rId10"/>
          <a:stretch>
            <a:fillRect/>
          </a:stretch>
        </p:blipFill>
        <p:spPr>
          <a:xfrm>
            <a:off x="3096305" y="2869999"/>
            <a:ext cx="6172517" cy="3911801"/>
          </a:xfrm>
          <a:prstGeom prst="rect">
            <a:avLst/>
          </a:prstGeom>
        </p:spPr>
      </p:pic>
      <p:pic>
        <p:nvPicPr>
          <p:cNvPr id="23" name="Picture 22">
            <a:extLst>
              <a:ext uri="{FF2B5EF4-FFF2-40B4-BE49-F238E27FC236}">
                <a16:creationId xmlns:a16="http://schemas.microsoft.com/office/drawing/2014/main" id="{99FFC54F-411B-4C6E-86A3-EB777E74B6ED}"/>
              </a:ext>
            </a:extLst>
          </p:cNvPr>
          <p:cNvPicPr>
            <a:picLocks noChangeAspect="1"/>
          </p:cNvPicPr>
          <p:nvPr/>
        </p:nvPicPr>
        <p:blipFill>
          <a:blip r:embed="rId11"/>
          <a:stretch>
            <a:fillRect/>
          </a:stretch>
        </p:blipFill>
        <p:spPr>
          <a:xfrm>
            <a:off x="3738934" y="2862110"/>
            <a:ext cx="5150115" cy="4019757"/>
          </a:xfrm>
          <a:prstGeom prst="rect">
            <a:avLst/>
          </a:prstGeom>
        </p:spPr>
      </p:pic>
    </p:spTree>
    <p:extLst>
      <p:ext uri="{BB962C8B-B14F-4D97-AF65-F5344CB8AC3E}">
        <p14:creationId xmlns:p14="http://schemas.microsoft.com/office/powerpoint/2010/main" val="48184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FB1-0037-4A8F-B74B-D9846A7531E3}"/>
              </a:ext>
            </a:extLst>
          </p:cNvPr>
          <p:cNvSpPr>
            <a:spLocks noGrp="1"/>
          </p:cNvSpPr>
          <p:nvPr>
            <p:ph type="title"/>
          </p:nvPr>
        </p:nvSpPr>
        <p:spPr/>
        <p:txBody>
          <a:bodyPr/>
          <a:lstStyle/>
          <a:p>
            <a:r>
              <a:rPr lang="en-IN" dirty="0"/>
              <a:t>Types of grammar</a:t>
            </a:r>
          </a:p>
        </p:txBody>
      </p:sp>
      <p:pic>
        <p:nvPicPr>
          <p:cNvPr id="2050" name="Picture 2">
            <a:extLst>
              <a:ext uri="{FF2B5EF4-FFF2-40B4-BE49-F238E27FC236}">
                <a16:creationId xmlns:a16="http://schemas.microsoft.com/office/drawing/2014/main" id="{D53EDFBC-9ADA-452A-AF2D-13DFC48A24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295400"/>
            <a:ext cx="8078079" cy="4805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8010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201EC-6E5A-4C73-981A-A4D9F98EAD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B4AFA1-4CE3-448E-AEFF-5C1805444A6B}"/>
              </a:ext>
            </a:extLst>
          </p:cNvPr>
          <p:cNvSpPr>
            <a:spLocks noGrp="1"/>
          </p:cNvSpPr>
          <p:nvPr>
            <p:ph idx="1"/>
          </p:nvPr>
        </p:nvSpPr>
        <p:spPr/>
        <p:txBody>
          <a:bodyPr/>
          <a:lstStyle/>
          <a:p>
            <a:r>
              <a:rPr lang="en-US" b="0" i="0" dirty="0">
                <a:solidFill>
                  <a:srgbClr val="000000"/>
                </a:solidFill>
                <a:effectLst/>
                <a:latin typeface="Muli"/>
              </a:rPr>
              <a:t>According to the given hierarchy, Grammar is divided into four types</a:t>
            </a:r>
          </a:p>
          <a:p>
            <a:endParaRPr lang="en-IN" dirty="0"/>
          </a:p>
        </p:txBody>
      </p:sp>
      <p:graphicFrame>
        <p:nvGraphicFramePr>
          <p:cNvPr id="4" name="Table 3">
            <a:extLst>
              <a:ext uri="{FF2B5EF4-FFF2-40B4-BE49-F238E27FC236}">
                <a16:creationId xmlns:a16="http://schemas.microsoft.com/office/drawing/2014/main" id="{4A50A42E-EA7A-43D0-8CE9-8A96E744D099}"/>
              </a:ext>
            </a:extLst>
          </p:cNvPr>
          <p:cNvGraphicFramePr>
            <a:graphicFrameLocks noGrp="1"/>
          </p:cNvGraphicFramePr>
          <p:nvPr>
            <p:extLst>
              <p:ext uri="{D42A27DB-BD31-4B8C-83A1-F6EECF244321}">
                <p14:modId xmlns:p14="http://schemas.microsoft.com/office/powerpoint/2010/main" val="2979043701"/>
              </p:ext>
            </p:extLst>
          </p:nvPr>
        </p:nvGraphicFramePr>
        <p:xfrm>
          <a:off x="609600" y="3048000"/>
          <a:ext cx="5361518" cy="1605280"/>
        </p:xfrm>
        <a:graphic>
          <a:graphicData uri="http://schemas.openxmlformats.org/drawingml/2006/table">
            <a:tbl>
              <a:tblPr/>
              <a:tblGrid>
                <a:gridCol w="2680759">
                  <a:extLst>
                    <a:ext uri="{9D8B030D-6E8A-4147-A177-3AD203B41FA5}">
                      <a16:colId xmlns:a16="http://schemas.microsoft.com/office/drawing/2014/main" val="378692968"/>
                    </a:ext>
                  </a:extLst>
                </a:gridCol>
                <a:gridCol w="2680759">
                  <a:extLst>
                    <a:ext uri="{9D8B030D-6E8A-4147-A177-3AD203B41FA5}">
                      <a16:colId xmlns:a16="http://schemas.microsoft.com/office/drawing/2014/main" val="371536402"/>
                    </a:ext>
                  </a:extLst>
                </a:gridCol>
              </a:tblGrid>
              <a:tr h="0">
                <a:tc>
                  <a:txBody>
                    <a:bodyPr/>
                    <a:lstStyle/>
                    <a:p>
                      <a:pPr fontAlgn="t"/>
                      <a:r>
                        <a:rPr lang="en-IN">
                          <a:solidFill>
                            <a:srgbClr val="000000"/>
                          </a:solidFill>
                          <a:effectLst/>
                        </a:rPr>
                        <a:t>Type 0</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fontAlgn="t"/>
                      <a:r>
                        <a:rPr lang="en-IN">
                          <a:solidFill>
                            <a:srgbClr val="000000"/>
                          </a:solidFill>
                          <a:effectLst/>
                        </a:rPr>
                        <a:t>Unrestricted Grammar</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55865793"/>
                  </a:ext>
                </a:extLst>
              </a:tr>
              <a:tr h="0">
                <a:tc>
                  <a:txBody>
                    <a:bodyPr/>
                    <a:lstStyle/>
                    <a:p>
                      <a:pPr fontAlgn="t"/>
                      <a:r>
                        <a:rPr lang="en-IN">
                          <a:solidFill>
                            <a:srgbClr val="000000"/>
                          </a:solidFill>
                          <a:effectLst/>
                        </a:rPr>
                        <a:t>Type 1</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fontAlgn="t"/>
                      <a:r>
                        <a:rPr lang="en-IN">
                          <a:solidFill>
                            <a:srgbClr val="000000"/>
                          </a:solidFill>
                          <a:effectLst/>
                        </a:rPr>
                        <a:t>Context-Sensitive Grammar</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85528105"/>
                  </a:ext>
                </a:extLst>
              </a:tr>
              <a:tr h="0">
                <a:tc>
                  <a:txBody>
                    <a:bodyPr/>
                    <a:lstStyle/>
                    <a:p>
                      <a:pPr fontAlgn="t"/>
                      <a:r>
                        <a:rPr lang="en-IN">
                          <a:solidFill>
                            <a:srgbClr val="000000"/>
                          </a:solidFill>
                          <a:effectLst/>
                        </a:rPr>
                        <a:t>Type 2</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fontAlgn="t"/>
                      <a:r>
                        <a:rPr lang="en-IN">
                          <a:solidFill>
                            <a:srgbClr val="000000"/>
                          </a:solidFill>
                          <a:effectLst/>
                        </a:rPr>
                        <a:t>Context-Free Grammar</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0664047"/>
                  </a:ext>
                </a:extLst>
              </a:tr>
              <a:tr h="0">
                <a:tc>
                  <a:txBody>
                    <a:bodyPr/>
                    <a:lstStyle/>
                    <a:p>
                      <a:pPr fontAlgn="t"/>
                      <a:r>
                        <a:rPr lang="en-IN">
                          <a:solidFill>
                            <a:srgbClr val="000000"/>
                          </a:solidFill>
                          <a:effectLst/>
                        </a:rPr>
                        <a:t>Type 3</a:t>
                      </a:r>
                      <a:endParaRPr lang="en-IN">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fontAlgn="t"/>
                      <a:r>
                        <a:rPr lang="en-IN" dirty="0">
                          <a:solidFill>
                            <a:srgbClr val="000000"/>
                          </a:solidFill>
                          <a:effectLst/>
                        </a:rPr>
                        <a:t>Regular Grammar</a:t>
                      </a:r>
                      <a:endParaRPr lang="en-IN"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7461866"/>
                  </a:ext>
                </a:extLst>
              </a:tr>
            </a:tbl>
          </a:graphicData>
        </a:graphic>
      </p:graphicFrame>
      <p:pic>
        <p:nvPicPr>
          <p:cNvPr id="6" name="Picture 5">
            <a:extLst>
              <a:ext uri="{FF2B5EF4-FFF2-40B4-BE49-F238E27FC236}">
                <a16:creationId xmlns:a16="http://schemas.microsoft.com/office/drawing/2014/main" id="{FDF1A4AC-DFF6-47A0-BE40-6F6708D1F3AD}"/>
              </a:ext>
            </a:extLst>
          </p:cNvPr>
          <p:cNvPicPr>
            <a:picLocks noChangeAspect="1"/>
          </p:cNvPicPr>
          <p:nvPr/>
        </p:nvPicPr>
        <p:blipFill>
          <a:blip r:embed="rId2"/>
          <a:stretch>
            <a:fillRect/>
          </a:stretch>
        </p:blipFill>
        <p:spPr>
          <a:xfrm>
            <a:off x="6220884" y="2194208"/>
            <a:ext cx="5546009" cy="2936943"/>
          </a:xfrm>
          <a:prstGeom prst="rect">
            <a:avLst/>
          </a:prstGeom>
        </p:spPr>
      </p:pic>
    </p:spTree>
    <p:extLst>
      <p:ext uri="{BB962C8B-B14F-4D97-AF65-F5344CB8AC3E}">
        <p14:creationId xmlns:p14="http://schemas.microsoft.com/office/powerpoint/2010/main" val="3811647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1C56C-A967-49B1-AF2A-5AFA2636BF48}"/>
              </a:ext>
            </a:extLst>
          </p:cNvPr>
          <p:cNvSpPr>
            <a:spLocks noGrp="1"/>
          </p:cNvSpPr>
          <p:nvPr>
            <p:ph type="title"/>
          </p:nvPr>
        </p:nvSpPr>
        <p:spPr/>
        <p:txBody>
          <a:bodyPr>
            <a:normAutofit/>
          </a:bodyPr>
          <a:lstStyle/>
          <a:p>
            <a:r>
              <a:rPr lang="en-IN" b="1" i="0" dirty="0">
                <a:solidFill>
                  <a:srgbClr val="000000"/>
                </a:solidFill>
                <a:effectLst/>
                <a:latin typeface="Muli"/>
              </a:rPr>
              <a:t>Type 0: Unrestricted Grammar</a:t>
            </a:r>
            <a:endParaRPr lang="en-IN" dirty="0"/>
          </a:p>
        </p:txBody>
      </p:sp>
      <p:sp>
        <p:nvSpPr>
          <p:cNvPr id="3" name="Content Placeholder 2">
            <a:extLst>
              <a:ext uri="{FF2B5EF4-FFF2-40B4-BE49-F238E27FC236}">
                <a16:creationId xmlns:a16="http://schemas.microsoft.com/office/drawing/2014/main" id="{A5A4E15E-5651-4643-9D41-6AB067E2837B}"/>
              </a:ext>
            </a:extLst>
          </p:cNvPr>
          <p:cNvSpPr>
            <a:spLocks noGrp="1"/>
          </p:cNvSpPr>
          <p:nvPr>
            <p:ph idx="1"/>
          </p:nvPr>
        </p:nvSpPr>
        <p:spPr/>
        <p:txBody>
          <a:bodyPr/>
          <a:lstStyle/>
          <a:p>
            <a:pPr marL="0" indent="0" algn="l">
              <a:buNone/>
            </a:pPr>
            <a:r>
              <a:rPr lang="en-US" b="0" i="0" dirty="0">
                <a:solidFill>
                  <a:srgbClr val="000000"/>
                </a:solidFill>
                <a:effectLst/>
                <a:latin typeface="Muli"/>
              </a:rPr>
              <a:t>Language recognized by Turing Machine is known as Type 0 Grammar. They are also known as Recursively Enumerable Languages.</a:t>
            </a:r>
            <a:endParaRPr lang="en-US" b="0" i="0" dirty="0">
              <a:solidFill>
                <a:srgbClr val="616161"/>
              </a:solidFill>
              <a:effectLst/>
              <a:latin typeface="Muli"/>
            </a:endParaRPr>
          </a:p>
          <a:p>
            <a:pPr marL="0" indent="0" algn="l">
              <a:buNone/>
            </a:pPr>
            <a:r>
              <a:rPr lang="en-US" b="0" i="0" dirty="0">
                <a:solidFill>
                  <a:srgbClr val="000000"/>
                </a:solidFill>
                <a:effectLst/>
                <a:latin typeface="Muli"/>
              </a:rPr>
              <a:t>Grammar Production for Type 0 is given by</a:t>
            </a:r>
            <a:endParaRPr lang="en-US" b="0" i="0" dirty="0">
              <a:solidFill>
                <a:srgbClr val="616161"/>
              </a:solidFill>
              <a:effectLst/>
              <a:latin typeface="Muli"/>
            </a:endParaRPr>
          </a:p>
          <a:p>
            <a:pPr marL="0" indent="0" algn="l">
              <a:buNone/>
            </a:pPr>
            <a:r>
              <a:rPr lang="en-US" b="1" i="0" dirty="0">
                <a:solidFill>
                  <a:srgbClr val="C00000"/>
                </a:solidFill>
                <a:effectLst/>
                <a:latin typeface="Muli"/>
              </a:rPr>
              <a:t>                                α —&gt; β</a:t>
            </a:r>
            <a:endParaRPr lang="en-US" b="0" i="0" dirty="0">
              <a:solidFill>
                <a:srgbClr val="C00000"/>
              </a:solidFill>
              <a:effectLst/>
              <a:latin typeface="Muli"/>
            </a:endParaRPr>
          </a:p>
          <a:p>
            <a:pPr marL="0" indent="0" algn="l">
              <a:buNone/>
            </a:pPr>
            <a:r>
              <a:rPr lang="en-US" b="0" i="0" dirty="0">
                <a:solidFill>
                  <a:srgbClr val="202124"/>
                </a:solidFill>
                <a:effectLst/>
                <a:latin typeface="Muli"/>
              </a:rPr>
              <a:t>For Example:</a:t>
            </a:r>
            <a:endParaRPr lang="en-US" b="0" i="0" dirty="0">
              <a:solidFill>
                <a:srgbClr val="616161"/>
              </a:solidFill>
              <a:effectLst/>
              <a:latin typeface="Muli"/>
            </a:endParaRPr>
          </a:p>
          <a:p>
            <a:pPr algn="l"/>
            <a:r>
              <a:rPr lang="en-US" b="0" i="0" dirty="0" err="1">
                <a:solidFill>
                  <a:srgbClr val="202124"/>
                </a:solidFill>
                <a:effectLst/>
                <a:latin typeface="Muli"/>
              </a:rPr>
              <a:t>Sba</a:t>
            </a:r>
            <a:r>
              <a:rPr lang="en-US" b="0" i="0" dirty="0">
                <a:solidFill>
                  <a:srgbClr val="202124"/>
                </a:solidFill>
                <a:effectLst/>
                <a:latin typeface="Muli"/>
              </a:rPr>
              <a:t> —&gt; a</a:t>
            </a:r>
            <a:endParaRPr lang="en-US" b="0" i="0" dirty="0">
              <a:solidFill>
                <a:srgbClr val="616161"/>
              </a:solidFill>
              <a:effectLst/>
              <a:latin typeface="Muli"/>
            </a:endParaRPr>
          </a:p>
          <a:p>
            <a:pPr algn="l"/>
            <a:r>
              <a:rPr lang="en-US" b="0" i="0" dirty="0">
                <a:solidFill>
                  <a:srgbClr val="202124"/>
                </a:solidFill>
                <a:effectLst/>
                <a:latin typeface="Muli"/>
              </a:rPr>
              <a:t>S —&gt; B</a:t>
            </a:r>
            <a:endParaRPr lang="en-US" b="0" i="0" dirty="0">
              <a:solidFill>
                <a:srgbClr val="616161"/>
              </a:solidFill>
              <a:effectLst/>
              <a:latin typeface="Muli"/>
            </a:endParaRPr>
          </a:p>
          <a:p>
            <a:pPr algn="l"/>
            <a:r>
              <a:rPr lang="en-US" b="0" i="0" dirty="0">
                <a:solidFill>
                  <a:srgbClr val="202124"/>
                </a:solidFill>
                <a:effectLst/>
                <a:latin typeface="Muli"/>
              </a:rPr>
              <a:t>Where S and B are Variables.</a:t>
            </a:r>
            <a:endParaRPr lang="en-US" b="0" i="0" dirty="0">
              <a:solidFill>
                <a:srgbClr val="616161"/>
              </a:solidFill>
              <a:effectLst/>
              <a:latin typeface="Muli"/>
            </a:endParaRPr>
          </a:p>
          <a:p>
            <a:pPr algn="l"/>
            <a:r>
              <a:rPr lang="en-US" b="0" i="0" dirty="0">
                <a:solidFill>
                  <a:srgbClr val="202124"/>
                </a:solidFill>
                <a:effectLst/>
                <a:latin typeface="Muli"/>
              </a:rPr>
              <a:t>And a and b are Terminals.</a:t>
            </a:r>
            <a:endParaRPr lang="en-US" b="0" i="0" dirty="0">
              <a:solidFill>
                <a:srgbClr val="616161"/>
              </a:solidFill>
              <a:effectLst/>
              <a:latin typeface="Muli"/>
            </a:endParaRPr>
          </a:p>
          <a:p>
            <a:endParaRPr lang="en-IN" dirty="0"/>
          </a:p>
        </p:txBody>
      </p:sp>
    </p:spTree>
    <p:extLst>
      <p:ext uri="{BB962C8B-B14F-4D97-AF65-F5344CB8AC3E}">
        <p14:creationId xmlns:p14="http://schemas.microsoft.com/office/powerpoint/2010/main" val="328483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5E87-D551-42F2-A636-B98E2DA524C5}"/>
              </a:ext>
            </a:extLst>
          </p:cNvPr>
          <p:cNvSpPr>
            <a:spLocks noGrp="1"/>
          </p:cNvSpPr>
          <p:nvPr>
            <p:ph type="title"/>
          </p:nvPr>
        </p:nvSpPr>
        <p:spPr/>
        <p:txBody>
          <a:bodyPr>
            <a:normAutofit/>
          </a:bodyPr>
          <a:lstStyle/>
          <a:p>
            <a:r>
              <a:rPr lang="en-IN" dirty="0"/>
              <a:t>Type 1: Context-Sensitive Grammar</a:t>
            </a:r>
          </a:p>
        </p:txBody>
      </p:sp>
      <p:sp>
        <p:nvSpPr>
          <p:cNvPr id="3" name="Content Placeholder 2">
            <a:extLst>
              <a:ext uri="{FF2B5EF4-FFF2-40B4-BE49-F238E27FC236}">
                <a16:creationId xmlns:a16="http://schemas.microsoft.com/office/drawing/2014/main" id="{EBB6209E-8DEE-4AC9-A3CB-B5E4D2FDCE46}"/>
              </a:ext>
            </a:extLst>
          </p:cNvPr>
          <p:cNvSpPr>
            <a:spLocks noGrp="1"/>
          </p:cNvSpPr>
          <p:nvPr>
            <p:ph idx="1"/>
          </p:nvPr>
        </p:nvSpPr>
        <p:spPr/>
        <p:txBody>
          <a:bodyPr/>
          <a:lstStyle/>
          <a:p>
            <a:pPr marL="0" indent="0">
              <a:buNone/>
            </a:pPr>
            <a:r>
              <a:rPr lang="en-US" dirty="0"/>
              <a:t>Languages recognized by Linear Bound Automata are known as </a:t>
            </a:r>
            <a:r>
              <a:rPr lang="en-US" b="1" dirty="0"/>
              <a:t>Type 1 Grammar</a:t>
            </a:r>
            <a:r>
              <a:rPr lang="en-US" dirty="0"/>
              <a:t>. Context-sensitive grammar represents context-sensitive languages.</a:t>
            </a:r>
          </a:p>
          <a:p>
            <a:r>
              <a:rPr lang="en-US" dirty="0"/>
              <a:t>For grammar to be context-sensitive, it must be unrestricted. Grammar Production for Type 1 is given by</a:t>
            </a:r>
          </a:p>
          <a:p>
            <a:pPr marL="0" indent="0">
              <a:buNone/>
            </a:pPr>
            <a:r>
              <a:rPr lang="en-US" b="1" dirty="0">
                <a:solidFill>
                  <a:srgbClr val="C00000"/>
                </a:solidFill>
              </a:rPr>
              <a:t>              α —&gt; β </a:t>
            </a:r>
            <a:r>
              <a:rPr lang="en-US" dirty="0"/>
              <a:t>(</a:t>
            </a:r>
            <a:r>
              <a:rPr lang="en-US" sz="1800" b="1" dirty="0">
                <a:solidFill>
                  <a:srgbClr val="C00000"/>
                </a:solidFill>
              </a:rPr>
              <a:t>|α|&lt;| β|</a:t>
            </a:r>
            <a:r>
              <a:rPr lang="en-US" b="1" dirty="0">
                <a:solidFill>
                  <a:srgbClr val="C00000"/>
                </a:solidFill>
              </a:rPr>
              <a:t> </a:t>
            </a:r>
            <a:r>
              <a:rPr lang="en-US" sz="1800" dirty="0"/>
              <a:t>ensuring count symbol in LHS must be less than or equal to RHS</a:t>
            </a:r>
            <a:r>
              <a:rPr lang="en-US" dirty="0"/>
              <a:t>)</a:t>
            </a:r>
          </a:p>
          <a:p>
            <a:endParaRPr lang="en-US" dirty="0"/>
          </a:p>
          <a:p>
            <a:r>
              <a:rPr lang="en-US" dirty="0"/>
              <a:t>For Example,</a:t>
            </a:r>
          </a:p>
          <a:p>
            <a:r>
              <a:rPr lang="en-US" dirty="0"/>
              <a:t>S —&gt; BA</a:t>
            </a:r>
          </a:p>
          <a:p>
            <a:r>
              <a:rPr lang="en-US" dirty="0"/>
              <a:t>BA —&gt; </a:t>
            </a:r>
            <a:r>
              <a:rPr lang="en-US" dirty="0" err="1"/>
              <a:t>bca</a:t>
            </a:r>
            <a:endParaRPr lang="en-US" dirty="0"/>
          </a:p>
          <a:p>
            <a:r>
              <a:rPr lang="en-US" dirty="0"/>
              <a:t>B —&gt; b</a:t>
            </a:r>
          </a:p>
          <a:p>
            <a:pPr marL="0" indent="0">
              <a:buNone/>
            </a:pPr>
            <a:endParaRPr lang="en-IN" dirty="0"/>
          </a:p>
        </p:txBody>
      </p:sp>
    </p:spTree>
    <p:extLst>
      <p:ext uri="{BB962C8B-B14F-4D97-AF65-F5344CB8AC3E}">
        <p14:creationId xmlns:p14="http://schemas.microsoft.com/office/powerpoint/2010/main" val="342633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A8E51-D841-42FD-B96F-88324E661273}"/>
              </a:ext>
            </a:extLst>
          </p:cNvPr>
          <p:cNvSpPr>
            <a:spLocks noGrp="1"/>
          </p:cNvSpPr>
          <p:nvPr>
            <p:ph type="title"/>
          </p:nvPr>
        </p:nvSpPr>
        <p:spPr/>
        <p:txBody>
          <a:bodyPr>
            <a:normAutofit/>
          </a:bodyPr>
          <a:lstStyle/>
          <a:p>
            <a:r>
              <a:rPr lang="en-IN" b="1" i="0" dirty="0">
                <a:solidFill>
                  <a:srgbClr val="000000"/>
                </a:solidFill>
                <a:effectLst/>
                <a:latin typeface="Muli"/>
              </a:rPr>
              <a:t>Type 2: Context-Free Grammar</a:t>
            </a:r>
            <a:endParaRPr lang="en-IN" dirty="0"/>
          </a:p>
        </p:txBody>
      </p:sp>
      <p:sp>
        <p:nvSpPr>
          <p:cNvPr id="3" name="Content Placeholder 2">
            <a:extLst>
              <a:ext uri="{FF2B5EF4-FFF2-40B4-BE49-F238E27FC236}">
                <a16:creationId xmlns:a16="http://schemas.microsoft.com/office/drawing/2014/main" id="{76546242-97F0-4C7F-88D3-376EF5909BA8}"/>
              </a:ext>
            </a:extLst>
          </p:cNvPr>
          <p:cNvSpPr>
            <a:spLocks noGrp="1"/>
          </p:cNvSpPr>
          <p:nvPr>
            <p:ph idx="1"/>
          </p:nvPr>
        </p:nvSpPr>
        <p:spPr/>
        <p:txBody>
          <a:bodyPr/>
          <a:lstStyle/>
          <a:p>
            <a:pPr algn="l"/>
            <a:r>
              <a:rPr lang="en-US" b="0" i="0" dirty="0">
                <a:solidFill>
                  <a:srgbClr val="000000"/>
                </a:solidFill>
                <a:effectLst/>
                <a:latin typeface="Muli"/>
              </a:rPr>
              <a:t>Languages recognized by Pushdown Automata are known as </a:t>
            </a:r>
            <a:r>
              <a:rPr lang="en-US" b="1" i="0" dirty="0">
                <a:solidFill>
                  <a:srgbClr val="000000"/>
                </a:solidFill>
                <a:effectLst/>
                <a:latin typeface="Muli"/>
              </a:rPr>
              <a:t>Type 2 Grammar</a:t>
            </a:r>
            <a:r>
              <a:rPr lang="en-US" b="0" i="0" dirty="0">
                <a:solidFill>
                  <a:srgbClr val="000000"/>
                </a:solidFill>
                <a:effectLst/>
                <a:latin typeface="Muli"/>
              </a:rPr>
              <a:t>. </a:t>
            </a:r>
            <a:r>
              <a:rPr lang="en-US" b="0" i="0" u="none" strike="noStrike" dirty="0">
                <a:solidFill>
                  <a:srgbClr val="1155CC"/>
                </a:solidFill>
                <a:effectLst/>
                <a:latin typeface="Muli"/>
              </a:rPr>
              <a:t>Context-free grammar</a:t>
            </a:r>
            <a:r>
              <a:rPr lang="en-US" b="0" i="0" dirty="0">
                <a:solidFill>
                  <a:srgbClr val="000000"/>
                </a:solidFill>
                <a:effectLst/>
                <a:latin typeface="Muli"/>
              </a:rPr>
              <a:t> represents context-free languages.</a:t>
            </a:r>
            <a:endParaRPr lang="en-US" b="0" i="0" dirty="0">
              <a:solidFill>
                <a:srgbClr val="616161"/>
              </a:solidFill>
              <a:effectLst/>
              <a:latin typeface="Muli"/>
            </a:endParaRPr>
          </a:p>
          <a:p>
            <a:pPr algn="l"/>
            <a:r>
              <a:rPr lang="en-US" b="0" i="0" dirty="0">
                <a:solidFill>
                  <a:srgbClr val="000000"/>
                </a:solidFill>
                <a:effectLst/>
                <a:latin typeface="Muli"/>
              </a:rPr>
              <a:t>For grammar to be context-free, it must be context-sensitive. Grammar Production for Type 2 is given by</a:t>
            </a:r>
            <a:endParaRPr lang="en-US" b="0" i="0" dirty="0">
              <a:solidFill>
                <a:srgbClr val="616161"/>
              </a:solidFill>
              <a:effectLst/>
              <a:latin typeface="Muli"/>
            </a:endParaRPr>
          </a:p>
          <a:p>
            <a:pPr marL="0" indent="0" algn="l">
              <a:buNone/>
            </a:pPr>
            <a:r>
              <a:rPr lang="en-US" b="1" i="0" dirty="0">
                <a:solidFill>
                  <a:srgbClr val="000000"/>
                </a:solidFill>
                <a:effectLst/>
                <a:latin typeface="Muli"/>
              </a:rPr>
              <a:t>                               </a:t>
            </a:r>
            <a:r>
              <a:rPr lang="en-US" b="1" i="0" dirty="0">
                <a:solidFill>
                  <a:srgbClr val="C00000"/>
                </a:solidFill>
                <a:effectLst/>
                <a:latin typeface="Muli"/>
              </a:rPr>
              <a:t>A —&gt; α</a:t>
            </a:r>
          </a:p>
          <a:p>
            <a:pPr marL="0" indent="0" algn="l">
              <a:buNone/>
            </a:pPr>
            <a:r>
              <a:rPr lang="en-US" b="0" i="0" dirty="0">
                <a:solidFill>
                  <a:srgbClr val="202124"/>
                </a:solidFill>
                <a:effectLst/>
                <a:latin typeface="Muli"/>
              </a:rPr>
              <a:t>Where A is a single non-terminal.</a:t>
            </a:r>
            <a:endParaRPr lang="en-US" b="0" i="0" dirty="0">
              <a:solidFill>
                <a:srgbClr val="616161"/>
              </a:solidFill>
              <a:effectLst/>
              <a:latin typeface="Muli"/>
            </a:endParaRPr>
          </a:p>
          <a:p>
            <a:pPr algn="l"/>
            <a:r>
              <a:rPr lang="en-US" b="0" i="0" dirty="0">
                <a:solidFill>
                  <a:srgbClr val="202124"/>
                </a:solidFill>
                <a:effectLst/>
                <a:latin typeface="Muli"/>
              </a:rPr>
              <a:t>For Example,</a:t>
            </a:r>
            <a:endParaRPr lang="en-US" b="0" i="0" dirty="0">
              <a:solidFill>
                <a:srgbClr val="616161"/>
              </a:solidFill>
              <a:effectLst/>
              <a:latin typeface="Muli"/>
            </a:endParaRPr>
          </a:p>
          <a:p>
            <a:pPr algn="l"/>
            <a:r>
              <a:rPr lang="en-US" b="0" i="0" dirty="0">
                <a:solidFill>
                  <a:srgbClr val="202124"/>
                </a:solidFill>
                <a:effectLst/>
                <a:latin typeface="Muli"/>
              </a:rPr>
              <a:t>A —&gt; </a:t>
            </a:r>
            <a:r>
              <a:rPr lang="en-US" b="0" i="0" dirty="0" err="1">
                <a:solidFill>
                  <a:srgbClr val="202124"/>
                </a:solidFill>
                <a:effectLst/>
                <a:latin typeface="Muli"/>
              </a:rPr>
              <a:t>aB</a:t>
            </a:r>
            <a:endParaRPr lang="en-US" b="0" i="0" dirty="0">
              <a:solidFill>
                <a:srgbClr val="616161"/>
              </a:solidFill>
              <a:effectLst/>
              <a:latin typeface="Muli"/>
            </a:endParaRPr>
          </a:p>
          <a:p>
            <a:pPr algn="l"/>
            <a:r>
              <a:rPr lang="en-US" b="0" i="0" dirty="0">
                <a:solidFill>
                  <a:srgbClr val="202124"/>
                </a:solidFill>
                <a:effectLst/>
                <a:latin typeface="Muli"/>
              </a:rPr>
              <a:t>B —&gt; b</a:t>
            </a:r>
            <a:endParaRPr lang="en-US" b="0" i="0" dirty="0">
              <a:solidFill>
                <a:srgbClr val="616161"/>
              </a:solidFill>
              <a:effectLst/>
              <a:latin typeface="Muli"/>
            </a:endParaRPr>
          </a:p>
          <a:p>
            <a:pPr marL="0" indent="0">
              <a:buNone/>
            </a:pPr>
            <a:endParaRPr lang="en-IN" dirty="0"/>
          </a:p>
        </p:txBody>
      </p:sp>
    </p:spTree>
    <p:extLst>
      <p:ext uri="{BB962C8B-B14F-4D97-AF65-F5344CB8AC3E}">
        <p14:creationId xmlns:p14="http://schemas.microsoft.com/office/powerpoint/2010/main" val="9291370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92F0-EF14-4791-B618-E7407C7DF9E5}"/>
              </a:ext>
            </a:extLst>
          </p:cNvPr>
          <p:cNvSpPr>
            <a:spLocks noGrp="1"/>
          </p:cNvSpPr>
          <p:nvPr>
            <p:ph type="title"/>
          </p:nvPr>
        </p:nvSpPr>
        <p:spPr/>
        <p:txBody>
          <a:bodyPr>
            <a:normAutofit/>
          </a:bodyPr>
          <a:lstStyle/>
          <a:p>
            <a:r>
              <a:rPr lang="en-IN" b="1" i="0" dirty="0">
                <a:solidFill>
                  <a:srgbClr val="000000"/>
                </a:solidFill>
                <a:effectLst/>
                <a:latin typeface="Muli"/>
              </a:rPr>
              <a:t>Type 3: Regular Grammar</a:t>
            </a:r>
            <a:endParaRPr lang="en-IN" dirty="0"/>
          </a:p>
        </p:txBody>
      </p:sp>
      <p:sp>
        <p:nvSpPr>
          <p:cNvPr id="3" name="Content Placeholder 2">
            <a:extLst>
              <a:ext uri="{FF2B5EF4-FFF2-40B4-BE49-F238E27FC236}">
                <a16:creationId xmlns:a16="http://schemas.microsoft.com/office/drawing/2014/main" id="{D853ABAD-64B9-4B92-8788-1F00A6E7651F}"/>
              </a:ext>
            </a:extLst>
          </p:cNvPr>
          <p:cNvSpPr>
            <a:spLocks noGrp="1"/>
          </p:cNvSpPr>
          <p:nvPr>
            <p:ph idx="1"/>
          </p:nvPr>
        </p:nvSpPr>
        <p:spPr/>
        <p:txBody>
          <a:bodyPr/>
          <a:lstStyle/>
          <a:p>
            <a:pPr marL="0" indent="0" algn="l">
              <a:buNone/>
            </a:pPr>
            <a:r>
              <a:rPr lang="en-US" b="0" i="0" dirty="0">
                <a:solidFill>
                  <a:srgbClr val="000000"/>
                </a:solidFill>
                <a:effectLst/>
                <a:latin typeface="Muli"/>
              </a:rPr>
              <a:t>Languages recognized by Finite Automata are known as </a:t>
            </a:r>
            <a:r>
              <a:rPr lang="en-US" b="1" i="0" dirty="0">
                <a:solidFill>
                  <a:srgbClr val="000000"/>
                </a:solidFill>
                <a:effectLst/>
                <a:latin typeface="Muli"/>
              </a:rPr>
              <a:t>Type 3 Grammar</a:t>
            </a:r>
            <a:r>
              <a:rPr lang="en-US" b="0" i="0" dirty="0">
                <a:solidFill>
                  <a:srgbClr val="000000"/>
                </a:solidFill>
                <a:effectLst/>
                <a:latin typeface="Muli"/>
              </a:rPr>
              <a:t>. Regular grammar represents regular languages.</a:t>
            </a:r>
            <a:endParaRPr lang="en-US" b="0" i="0" dirty="0">
              <a:solidFill>
                <a:srgbClr val="616161"/>
              </a:solidFill>
              <a:effectLst/>
              <a:latin typeface="Muli"/>
            </a:endParaRPr>
          </a:p>
          <a:p>
            <a:pPr algn="l"/>
            <a:r>
              <a:rPr lang="en-US" b="0" i="0" dirty="0">
                <a:solidFill>
                  <a:srgbClr val="000000"/>
                </a:solidFill>
                <a:effectLst/>
                <a:latin typeface="Muli"/>
              </a:rPr>
              <a:t>They have a single non-terminal symbol on the left-hand side, a single terminal on the right-hand side, or a single terminal followed by a non-terminal.</a:t>
            </a:r>
            <a:endParaRPr lang="en-US" b="0" i="0" dirty="0">
              <a:solidFill>
                <a:srgbClr val="616161"/>
              </a:solidFill>
              <a:effectLst/>
              <a:latin typeface="Muli"/>
            </a:endParaRPr>
          </a:p>
          <a:p>
            <a:pPr algn="l"/>
            <a:r>
              <a:rPr lang="en-US" b="0" i="0" dirty="0">
                <a:solidFill>
                  <a:srgbClr val="000000"/>
                </a:solidFill>
                <a:effectLst/>
                <a:latin typeface="Muli"/>
              </a:rPr>
              <a:t>Regular Grammar accepts and generates regular languages.</a:t>
            </a:r>
            <a:endParaRPr lang="en-US" b="0" i="0" dirty="0">
              <a:solidFill>
                <a:srgbClr val="616161"/>
              </a:solidFill>
              <a:effectLst/>
              <a:latin typeface="Muli"/>
            </a:endParaRPr>
          </a:p>
          <a:p>
            <a:pPr marL="0" indent="0" algn="l">
              <a:buNone/>
            </a:pPr>
            <a:r>
              <a:rPr lang="en-US" b="1" i="0" dirty="0">
                <a:solidFill>
                  <a:srgbClr val="000000"/>
                </a:solidFill>
                <a:effectLst/>
                <a:latin typeface="Muli"/>
              </a:rPr>
              <a:t>All the productions should be in the form of:</a:t>
            </a:r>
          </a:p>
          <a:p>
            <a:pPr marL="400050" lvl="1" indent="0">
              <a:buNone/>
            </a:pPr>
            <a:r>
              <a:rPr lang="en-US" sz="2400" b="1" i="0" dirty="0">
                <a:solidFill>
                  <a:srgbClr val="C00000"/>
                </a:solidFill>
                <a:effectLst/>
                <a:latin typeface="Muli"/>
              </a:rPr>
              <a:t>A –&gt; </a:t>
            </a:r>
            <a:r>
              <a:rPr lang="en-US" sz="2400" b="1" i="0" dirty="0" err="1">
                <a:solidFill>
                  <a:srgbClr val="C00000"/>
                </a:solidFill>
                <a:effectLst/>
                <a:latin typeface="Muli"/>
              </a:rPr>
              <a:t>xB</a:t>
            </a:r>
            <a:endParaRPr lang="en-US" sz="2400" b="1" i="0" dirty="0">
              <a:solidFill>
                <a:srgbClr val="C00000"/>
              </a:solidFill>
              <a:effectLst/>
              <a:latin typeface="Muli"/>
            </a:endParaRPr>
          </a:p>
          <a:p>
            <a:pPr marL="400050" lvl="1" indent="0">
              <a:buNone/>
            </a:pPr>
            <a:r>
              <a:rPr lang="en-US" sz="2400" b="1" i="0" dirty="0">
                <a:solidFill>
                  <a:srgbClr val="C00000"/>
                </a:solidFill>
                <a:effectLst/>
                <a:latin typeface="Muli"/>
              </a:rPr>
              <a:t>A –&gt; x</a:t>
            </a:r>
          </a:p>
          <a:p>
            <a:pPr marL="400050" lvl="1" indent="0">
              <a:buNone/>
            </a:pPr>
            <a:r>
              <a:rPr lang="en-US" sz="2400" b="1" i="0" dirty="0">
                <a:solidFill>
                  <a:srgbClr val="C00000"/>
                </a:solidFill>
                <a:effectLst/>
                <a:latin typeface="Muli"/>
              </a:rPr>
              <a:t>A –&gt; Bx</a:t>
            </a:r>
          </a:p>
          <a:p>
            <a:pPr marL="0" indent="0" algn="l">
              <a:buNone/>
            </a:pPr>
            <a:r>
              <a:rPr lang="en-US" b="0" i="0" dirty="0">
                <a:solidFill>
                  <a:srgbClr val="000000"/>
                </a:solidFill>
                <a:effectLst/>
                <a:latin typeface="Muli"/>
              </a:rPr>
              <a:t>where A, B ∈ V (Set of Variables), and x ∈ T*, i.e., the string of terminals.</a:t>
            </a:r>
            <a:endParaRPr lang="en-IN" dirty="0"/>
          </a:p>
        </p:txBody>
      </p:sp>
    </p:spTree>
    <p:extLst>
      <p:ext uri="{BB962C8B-B14F-4D97-AF65-F5344CB8AC3E}">
        <p14:creationId xmlns:p14="http://schemas.microsoft.com/office/powerpoint/2010/main" val="33700514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59E0E-04FE-4BF2-BAE6-5F9D4A26C4F0}"/>
              </a:ext>
            </a:extLst>
          </p:cNvPr>
          <p:cNvSpPr>
            <a:spLocks noGrp="1"/>
          </p:cNvSpPr>
          <p:nvPr>
            <p:ph type="title"/>
          </p:nvPr>
        </p:nvSpPr>
        <p:spPr/>
        <p:txBody>
          <a:bodyPr/>
          <a:lstStyle/>
          <a:p>
            <a:endParaRPr lang="en-IN"/>
          </a:p>
        </p:txBody>
      </p:sp>
      <p:graphicFrame>
        <p:nvGraphicFramePr>
          <p:cNvPr id="4" name="Table 4">
            <a:extLst>
              <a:ext uri="{FF2B5EF4-FFF2-40B4-BE49-F238E27FC236}">
                <a16:creationId xmlns:a16="http://schemas.microsoft.com/office/drawing/2014/main" id="{35BEF9C0-FC4D-406A-A3D8-6DDE8177EEB3}"/>
              </a:ext>
            </a:extLst>
          </p:cNvPr>
          <p:cNvGraphicFramePr>
            <a:graphicFrameLocks noGrp="1"/>
          </p:cNvGraphicFramePr>
          <p:nvPr>
            <p:extLst>
              <p:ext uri="{D42A27DB-BD31-4B8C-83A1-F6EECF244321}">
                <p14:modId xmlns:p14="http://schemas.microsoft.com/office/powerpoint/2010/main" val="4131417013"/>
              </p:ext>
            </p:extLst>
          </p:nvPr>
        </p:nvGraphicFramePr>
        <p:xfrm>
          <a:off x="254000" y="1066800"/>
          <a:ext cx="11684000" cy="5196840"/>
        </p:xfrm>
        <a:graphic>
          <a:graphicData uri="http://schemas.openxmlformats.org/drawingml/2006/table">
            <a:tbl>
              <a:tblPr firstRow="1" bandRow="1">
                <a:tableStyleId>{5C22544A-7EE6-4342-B048-85BDC9FD1C3A}</a:tableStyleId>
              </a:tblPr>
              <a:tblGrid>
                <a:gridCol w="1574800">
                  <a:extLst>
                    <a:ext uri="{9D8B030D-6E8A-4147-A177-3AD203B41FA5}">
                      <a16:colId xmlns:a16="http://schemas.microsoft.com/office/drawing/2014/main" val="3212047043"/>
                    </a:ext>
                  </a:extLst>
                </a:gridCol>
                <a:gridCol w="1752600">
                  <a:extLst>
                    <a:ext uri="{9D8B030D-6E8A-4147-A177-3AD203B41FA5}">
                      <a16:colId xmlns:a16="http://schemas.microsoft.com/office/drawing/2014/main" val="1148932097"/>
                    </a:ext>
                  </a:extLst>
                </a:gridCol>
                <a:gridCol w="2895600">
                  <a:extLst>
                    <a:ext uri="{9D8B030D-6E8A-4147-A177-3AD203B41FA5}">
                      <a16:colId xmlns:a16="http://schemas.microsoft.com/office/drawing/2014/main" val="1021035291"/>
                    </a:ext>
                  </a:extLst>
                </a:gridCol>
                <a:gridCol w="5461000">
                  <a:extLst>
                    <a:ext uri="{9D8B030D-6E8A-4147-A177-3AD203B41FA5}">
                      <a16:colId xmlns:a16="http://schemas.microsoft.com/office/drawing/2014/main" val="1091182413"/>
                    </a:ext>
                  </a:extLst>
                </a:gridCol>
              </a:tblGrid>
              <a:tr h="685800">
                <a:tc>
                  <a:txBody>
                    <a:bodyPr/>
                    <a:lstStyle/>
                    <a:p>
                      <a:r>
                        <a:rPr lang="en-IN" sz="2400" dirty="0"/>
                        <a:t>Grammar</a:t>
                      </a:r>
                    </a:p>
                  </a:txBody>
                  <a:tcPr/>
                </a:tc>
                <a:tc>
                  <a:txBody>
                    <a:bodyPr/>
                    <a:lstStyle/>
                    <a:p>
                      <a:r>
                        <a:rPr lang="en-IN" sz="2400" dirty="0"/>
                        <a:t>Language</a:t>
                      </a:r>
                    </a:p>
                  </a:txBody>
                  <a:tcPr/>
                </a:tc>
                <a:tc>
                  <a:txBody>
                    <a:bodyPr/>
                    <a:lstStyle/>
                    <a:p>
                      <a:r>
                        <a:rPr lang="en-IN" sz="2400" dirty="0"/>
                        <a:t>Automata</a:t>
                      </a:r>
                    </a:p>
                  </a:txBody>
                  <a:tcPr/>
                </a:tc>
                <a:tc>
                  <a:txBody>
                    <a:bodyPr/>
                    <a:lstStyle/>
                    <a:p>
                      <a:r>
                        <a:rPr lang="en-IN" sz="2400" dirty="0"/>
                        <a:t>Production Rule</a:t>
                      </a:r>
                    </a:p>
                  </a:txBody>
                  <a:tcPr/>
                </a:tc>
                <a:extLst>
                  <a:ext uri="{0D108BD9-81ED-4DB2-BD59-A6C34878D82A}">
                    <a16:rowId xmlns:a16="http://schemas.microsoft.com/office/drawing/2014/main" val="3356941630"/>
                  </a:ext>
                </a:extLst>
              </a:tr>
              <a:tr h="1097280">
                <a:tc>
                  <a:txBody>
                    <a:bodyPr/>
                    <a:lstStyle/>
                    <a:p>
                      <a:r>
                        <a:rPr lang="en-IN" sz="2000" dirty="0"/>
                        <a:t>Type 0</a:t>
                      </a:r>
                    </a:p>
                  </a:txBody>
                  <a:tcPr/>
                </a:tc>
                <a:tc>
                  <a:txBody>
                    <a:bodyPr/>
                    <a:lstStyle/>
                    <a:p>
                      <a:r>
                        <a:rPr lang="en-IN" sz="2000" dirty="0"/>
                        <a:t>Recursive Enumerable </a:t>
                      </a:r>
                    </a:p>
                  </a:txBody>
                  <a:tcPr/>
                </a:tc>
                <a:tc>
                  <a:txBody>
                    <a:bodyPr/>
                    <a:lstStyle/>
                    <a:p>
                      <a:r>
                        <a:rPr lang="en-IN" sz="2000" dirty="0"/>
                        <a:t>Turing machine</a:t>
                      </a:r>
                    </a:p>
                  </a:txBody>
                  <a:tcPr/>
                </a:tc>
                <a:tc>
                  <a:txBody>
                    <a:bodyPr/>
                    <a:lstStyle/>
                    <a:p>
                      <a:r>
                        <a:rPr lang="en-IN" sz="2000" dirty="0"/>
                        <a:t>No restriction</a:t>
                      </a:r>
                    </a:p>
                    <a:p>
                      <a:r>
                        <a:rPr lang="en-US" sz="2400" b="1" dirty="0">
                          <a:solidFill>
                            <a:srgbClr val="C00000"/>
                          </a:solidFill>
                        </a:rPr>
                        <a:t>α —&gt; β </a:t>
                      </a:r>
                      <a:r>
                        <a:rPr lang="en-US" sz="2800" b="1" dirty="0">
                          <a:solidFill>
                            <a:srgbClr val="C00000"/>
                          </a:solidFill>
                        </a:rPr>
                        <a:t> </a:t>
                      </a:r>
                      <a:r>
                        <a:rPr lang="en-US" sz="2000" b="1" dirty="0">
                          <a:solidFill>
                            <a:srgbClr val="C00000"/>
                          </a:solidFill>
                        </a:rPr>
                        <a:t>α, β </a:t>
                      </a:r>
                      <a:r>
                        <a:rPr lang="az-Cyrl-AZ" sz="2000" b="1" dirty="0">
                          <a:solidFill>
                            <a:srgbClr val="C00000"/>
                          </a:solidFill>
                        </a:rPr>
                        <a:t>Є</a:t>
                      </a:r>
                      <a:r>
                        <a:rPr lang="en-US" sz="2000" b="1" dirty="0">
                          <a:solidFill>
                            <a:srgbClr val="C00000"/>
                          </a:solidFill>
                        </a:rPr>
                        <a:t> (V+T)</a:t>
                      </a:r>
                      <a:r>
                        <a:rPr lang="en-US" sz="2000" b="1" baseline="30000" dirty="0">
                          <a:solidFill>
                            <a:srgbClr val="C00000"/>
                          </a:solidFill>
                        </a:rPr>
                        <a:t>+</a:t>
                      </a:r>
                      <a:endParaRPr lang="en-IN" sz="2400" baseline="30000" dirty="0"/>
                    </a:p>
                    <a:p>
                      <a:endParaRPr lang="en-IN" sz="2000" dirty="0"/>
                    </a:p>
                  </a:txBody>
                  <a:tcPr/>
                </a:tc>
                <a:extLst>
                  <a:ext uri="{0D108BD9-81ED-4DB2-BD59-A6C34878D82A}">
                    <a16:rowId xmlns:a16="http://schemas.microsoft.com/office/drawing/2014/main" val="259983843"/>
                  </a:ext>
                </a:extLst>
              </a:tr>
              <a:tr h="1097280">
                <a:tc>
                  <a:txBody>
                    <a:bodyPr/>
                    <a:lstStyle/>
                    <a:p>
                      <a:r>
                        <a:rPr lang="en-IN" sz="2000" dirty="0"/>
                        <a:t>Type 1</a:t>
                      </a:r>
                    </a:p>
                  </a:txBody>
                  <a:tcPr/>
                </a:tc>
                <a:tc>
                  <a:txBody>
                    <a:bodyPr/>
                    <a:lstStyle/>
                    <a:p>
                      <a:r>
                        <a:rPr lang="en-IN" sz="2000" dirty="0"/>
                        <a:t>Context sensitive</a:t>
                      </a:r>
                    </a:p>
                  </a:txBody>
                  <a:tcPr/>
                </a:tc>
                <a:tc>
                  <a:txBody>
                    <a:bodyPr/>
                    <a:lstStyle/>
                    <a:p>
                      <a:r>
                        <a:rPr lang="en-IN" sz="2000" dirty="0"/>
                        <a:t>Linear bounded automata</a:t>
                      </a:r>
                    </a:p>
                  </a:txBody>
                  <a:tcPr/>
                </a:tc>
                <a:tc>
                  <a:txBody>
                    <a:bodyPr/>
                    <a:lstStyle/>
                    <a:p>
                      <a:r>
                        <a:rPr lang="en-US" sz="2400" b="1" dirty="0">
                          <a:solidFill>
                            <a:srgbClr val="C00000"/>
                          </a:solidFill>
                        </a:rPr>
                        <a:t>α —&gt; β  where </a:t>
                      </a:r>
                      <a:r>
                        <a:rPr lang="en-US" sz="2000" b="1" dirty="0">
                          <a:solidFill>
                            <a:srgbClr val="C00000"/>
                          </a:solidFill>
                        </a:rPr>
                        <a:t>|α|&lt;=| β|</a:t>
                      </a:r>
                    </a:p>
                    <a:p>
                      <a:r>
                        <a:rPr lang="en-US" sz="2800" b="1" dirty="0">
                          <a:solidFill>
                            <a:srgbClr val="C00000"/>
                          </a:solidFill>
                        </a:rPr>
                        <a:t> </a:t>
                      </a:r>
                      <a:r>
                        <a:rPr lang="en-US" sz="2000" b="1" dirty="0">
                          <a:solidFill>
                            <a:srgbClr val="C00000"/>
                          </a:solidFill>
                        </a:rPr>
                        <a:t>α, β </a:t>
                      </a:r>
                      <a:r>
                        <a:rPr lang="az-Cyrl-AZ" sz="2000" b="1" dirty="0">
                          <a:solidFill>
                            <a:srgbClr val="C00000"/>
                          </a:solidFill>
                        </a:rPr>
                        <a:t>Є</a:t>
                      </a:r>
                      <a:r>
                        <a:rPr lang="en-US" sz="2000" b="1" dirty="0">
                          <a:solidFill>
                            <a:srgbClr val="C00000"/>
                          </a:solidFill>
                        </a:rPr>
                        <a:t> (V+T)</a:t>
                      </a:r>
                      <a:r>
                        <a:rPr lang="en-US" sz="2000" b="1" baseline="30000" dirty="0">
                          <a:solidFill>
                            <a:srgbClr val="C00000"/>
                          </a:solidFill>
                        </a:rPr>
                        <a:t>+</a:t>
                      </a:r>
                      <a:endParaRPr lang="en-IN" sz="2400" baseline="30000" dirty="0"/>
                    </a:p>
                  </a:txBody>
                  <a:tcPr/>
                </a:tc>
                <a:extLst>
                  <a:ext uri="{0D108BD9-81ED-4DB2-BD59-A6C34878D82A}">
                    <a16:rowId xmlns:a16="http://schemas.microsoft.com/office/drawing/2014/main" val="836864016"/>
                  </a:ext>
                </a:extLst>
              </a:tr>
              <a:tr h="1097280">
                <a:tc>
                  <a:txBody>
                    <a:bodyPr/>
                    <a:lstStyle/>
                    <a:p>
                      <a:r>
                        <a:rPr lang="en-IN" sz="2000" dirty="0"/>
                        <a:t>Type 2</a:t>
                      </a:r>
                    </a:p>
                  </a:txBody>
                  <a:tcPr/>
                </a:tc>
                <a:tc>
                  <a:txBody>
                    <a:bodyPr/>
                    <a:lstStyle/>
                    <a:p>
                      <a:r>
                        <a:rPr lang="en-IN" sz="2000" dirty="0"/>
                        <a:t>Context Free</a:t>
                      </a:r>
                    </a:p>
                  </a:txBody>
                  <a:tcPr/>
                </a:tc>
                <a:tc>
                  <a:txBody>
                    <a:bodyPr/>
                    <a:lstStyle/>
                    <a:p>
                      <a:r>
                        <a:rPr lang="en-IN" sz="2000" dirty="0"/>
                        <a:t>Push down automata</a:t>
                      </a:r>
                    </a:p>
                  </a:txBody>
                  <a:tcPr/>
                </a:tc>
                <a:tc>
                  <a:txBody>
                    <a:bodyPr/>
                    <a:lstStyle/>
                    <a:p>
                      <a:r>
                        <a:rPr lang="en-US" sz="2400" b="1" dirty="0">
                          <a:solidFill>
                            <a:srgbClr val="C00000"/>
                          </a:solidFill>
                        </a:rPr>
                        <a:t>α —&gt; β  </a:t>
                      </a:r>
                      <a:r>
                        <a:rPr lang="en-US" b="1" dirty="0">
                          <a:solidFill>
                            <a:srgbClr val="C00000"/>
                          </a:solidFill>
                        </a:rPr>
                        <a:t>where α is a single non terminal </a:t>
                      </a:r>
                      <a:r>
                        <a:rPr lang="en-US" sz="1800" b="1" dirty="0">
                          <a:solidFill>
                            <a:srgbClr val="C00000"/>
                          </a:solidFill>
                        </a:rPr>
                        <a:t>β </a:t>
                      </a:r>
                      <a:r>
                        <a:rPr lang="az-Cyrl-AZ" sz="1800" b="1" dirty="0">
                          <a:solidFill>
                            <a:srgbClr val="C00000"/>
                          </a:solidFill>
                        </a:rPr>
                        <a:t>Є</a:t>
                      </a:r>
                      <a:r>
                        <a:rPr lang="en-US" sz="1800" b="1" dirty="0">
                          <a:solidFill>
                            <a:srgbClr val="C00000"/>
                          </a:solidFill>
                        </a:rPr>
                        <a:t> (V+T)</a:t>
                      </a:r>
                      <a:r>
                        <a:rPr lang="en-US" sz="1800" b="1" baseline="30000" dirty="0">
                          <a:solidFill>
                            <a:srgbClr val="C00000"/>
                          </a:solidFill>
                        </a:rPr>
                        <a:t>+</a:t>
                      </a:r>
                      <a:endParaRPr lang="en-IN" dirty="0"/>
                    </a:p>
                  </a:txBody>
                  <a:tcPr/>
                </a:tc>
                <a:extLst>
                  <a:ext uri="{0D108BD9-81ED-4DB2-BD59-A6C34878D82A}">
                    <a16:rowId xmlns:a16="http://schemas.microsoft.com/office/drawing/2014/main" val="1304393033"/>
                  </a:ext>
                </a:extLst>
              </a:tr>
              <a:tr h="1097280">
                <a:tc>
                  <a:txBody>
                    <a:bodyPr/>
                    <a:lstStyle/>
                    <a:p>
                      <a:r>
                        <a:rPr lang="en-IN" sz="2000" dirty="0"/>
                        <a:t>Type 3</a:t>
                      </a:r>
                    </a:p>
                  </a:txBody>
                  <a:tcPr/>
                </a:tc>
                <a:tc>
                  <a:txBody>
                    <a:bodyPr/>
                    <a:lstStyle/>
                    <a:p>
                      <a:r>
                        <a:rPr lang="en-IN" sz="2000" dirty="0"/>
                        <a:t>Regular</a:t>
                      </a:r>
                    </a:p>
                  </a:txBody>
                  <a:tcPr/>
                </a:tc>
                <a:tc>
                  <a:txBody>
                    <a:bodyPr/>
                    <a:lstStyle/>
                    <a:p>
                      <a:r>
                        <a:rPr lang="en-IN" sz="2000" dirty="0"/>
                        <a:t>Finite automata</a:t>
                      </a:r>
                    </a:p>
                  </a:txBody>
                  <a:tcPr/>
                </a:tc>
                <a:tc>
                  <a:txBody>
                    <a:bodyPr/>
                    <a:lstStyle/>
                    <a:p>
                      <a:r>
                        <a:rPr lang="en-US" sz="2400" b="0" i="0" kern="1200" dirty="0">
                          <a:solidFill>
                            <a:schemeClr val="dk1"/>
                          </a:solidFill>
                          <a:effectLst/>
                          <a:latin typeface="+mn-lt"/>
                          <a:ea typeface="+mn-ea"/>
                          <a:cs typeface="+mn-cs"/>
                        </a:rPr>
                        <a:t> </a:t>
                      </a:r>
                      <a:r>
                        <a:rPr lang="en-US" sz="2400" b="1" i="0" kern="1200" dirty="0">
                          <a:solidFill>
                            <a:srgbClr val="C00000"/>
                          </a:solidFill>
                          <a:effectLst/>
                          <a:latin typeface="+mn-lt"/>
                          <a:ea typeface="+mn-ea"/>
                          <a:cs typeface="+mn-cs"/>
                        </a:rPr>
                        <a:t>A -&gt; a   </a:t>
                      </a:r>
                      <a:r>
                        <a:rPr lang="en-US" sz="2000" b="1" i="0" kern="1200" dirty="0">
                          <a:solidFill>
                            <a:srgbClr val="C00000"/>
                          </a:solidFill>
                          <a:effectLst/>
                          <a:latin typeface="+mn-lt"/>
                          <a:ea typeface="+mn-ea"/>
                          <a:cs typeface="+mn-cs"/>
                        </a:rPr>
                        <a:t>or</a:t>
                      </a:r>
                      <a:endParaRPr lang="en-US" sz="2400" b="1" i="0" kern="1200" dirty="0">
                        <a:solidFill>
                          <a:srgbClr val="C00000"/>
                        </a:solidFill>
                        <a:effectLst/>
                        <a:latin typeface="+mn-lt"/>
                        <a:ea typeface="+mn-ea"/>
                        <a:cs typeface="+mn-cs"/>
                      </a:endParaRPr>
                    </a:p>
                    <a:p>
                      <a:r>
                        <a:rPr lang="en-US" sz="2400" b="1" i="0" kern="1200" dirty="0">
                          <a:solidFill>
                            <a:srgbClr val="C00000"/>
                          </a:solidFill>
                          <a:effectLst/>
                          <a:latin typeface="+mn-lt"/>
                          <a:ea typeface="+mn-ea"/>
                          <a:cs typeface="+mn-cs"/>
                        </a:rPr>
                        <a:t> A -&gt; </a:t>
                      </a:r>
                      <a:r>
                        <a:rPr lang="en-US" sz="2400" b="1" i="0" kern="1200" dirty="0" err="1">
                          <a:solidFill>
                            <a:srgbClr val="C00000"/>
                          </a:solidFill>
                          <a:effectLst/>
                          <a:latin typeface="+mn-lt"/>
                          <a:ea typeface="+mn-ea"/>
                          <a:cs typeface="+mn-cs"/>
                        </a:rPr>
                        <a:t>aB</a:t>
                      </a:r>
                      <a:r>
                        <a:rPr lang="en-US" sz="2400" b="1" i="0" kern="1200" dirty="0">
                          <a:solidFill>
                            <a:srgbClr val="C00000"/>
                          </a:solidFill>
                          <a:effectLst/>
                          <a:latin typeface="+mn-lt"/>
                          <a:ea typeface="+mn-ea"/>
                          <a:cs typeface="+mn-cs"/>
                        </a:rPr>
                        <a:t>    </a:t>
                      </a:r>
                      <a:r>
                        <a:rPr lang="en-US" sz="2000" b="1" i="0" kern="1200" dirty="0">
                          <a:solidFill>
                            <a:srgbClr val="C00000"/>
                          </a:solidFill>
                          <a:effectLst/>
                          <a:latin typeface="+mn-lt"/>
                          <a:ea typeface="+mn-ea"/>
                          <a:cs typeface="+mn-cs"/>
                        </a:rPr>
                        <a:t>or</a:t>
                      </a:r>
                      <a:r>
                        <a:rPr lang="en-US" sz="2400" b="1" i="0" kern="1200" dirty="0">
                          <a:solidFill>
                            <a:srgbClr val="C00000"/>
                          </a:solidFill>
                          <a:effectLst/>
                          <a:latin typeface="+mn-lt"/>
                          <a:ea typeface="+mn-ea"/>
                          <a:cs typeface="+mn-cs"/>
                        </a:rPr>
                        <a:t>     A -&gt; Ba </a:t>
                      </a:r>
                    </a:p>
                    <a:p>
                      <a:r>
                        <a:rPr lang="en-US" sz="2400" b="1" i="0" kern="1200" dirty="0">
                          <a:solidFill>
                            <a:srgbClr val="C00000"/>
                          </a:solidFill>
                          <a:effectLst/>
                          <a:latin typeface="+mn-lt"/>
                          <a:ea typeface="+mn-ea"/>
                          <a:cs typeface="+mn-cs"/>
                        </a:rPr>
                        <a:t> A -&gt; ɛ</a:t>
                      </a:r>
                      <a:endParaRPr lang="en-IN" sz="2400" b="1" dirty="0">
                        <a:solidFill>
                          <a:srgbClr val="C00000"/>
                        </a:solidFill>
                      </a:endParaRPr>
                    </a:p>
                  </a:txBody>
                  <a:tcPr/>
                </a:tc>
                <a:extLst>
                  <a:ext uri="{0D108BD9-81ED-4DB2-BD59-A6C34878D82A}">
                    <a16:rowId xmlns:a16="http://schemas.microsoft.com/office/drawing/2014/main" val="2193367299"/>
                  </a:ext>
                </a:extLst>
              </a:tr>
            </a:tbl>
          </a:graphicData>
        </a:graphic>
      </p:graphicFrame>
    </p:spTree>
    <p:extLst>
      <p:ext uri="{BB962C8B-B14F-4D97-AF65-F5344CB8AC3E}">
        <p14:creationId xmlns:p14="http://schemas.microsoft.com/office/powerpoint/2010/main" val="41551103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917F8-BB5E-46A5-8ECE-80804A222291}"/>
              </a:ext>
            </a:extLst>
          </p:cNvPr>
          <p:cNvSpPr>
            <a:spLocks noGrp="1"/>
          </p:cNvSpPr>
          <p:nvPr>
            <p:ph idx="1"/>
          </p:nvPr>
        </p:nvSpPr>
        <p:spPr/>
        <p:txBody>
          <a:bodyPr>
            <a:normAutofit/>
          </a:bodyPr>
          <a:lstStyle/>
          <a:p>
            <a:pPr marL="0" indent="0" algn="l" fontAlgn="base">
              <a:buNone/>
            </a:pPr>
            <a:endParaRPr lang="en-US" b="1" i="0" u="sng" dirty="0">
              <a:solidFill>
                <a:srgbClr val="303030"/>
              </a:solidFill>
              <a:effectLst/>
              <a:latin typeface="Roboto Condensed" pitchFamily="2" charset="0"/>
            </a:endParaRPr>
          </a:p>
          <a:p>
            <a:pPr marL="0" indent="0" algn="l" fontAlgn="base">
              <a:buNone/>
            </a:pPr>
            <a:endParaRPr lang="en-US" b="1" u="sng" dirty="0">
              <a:solidFill>
                <a:srgbClr val="303030"/>
              </a:solidFill>
              <a:latin typeface="Roboto Condensed" pitchFamily="2" charset="0"/>
            </a:endParaRPr>
          </a:p>
          <a:p>
            <a:pPr marL="0" indent="0" algn="l" fontAlgn="base">
              <a:buNone/>
            </a:pPr>
            <a:endParaRPr lang="en-US" b="1" i="0" u="sng" dirty="0">
              <a:solidFill>
                <a:srgbClr val="303030"/>
              </a:solidFill>
              <a:effectLst/>
              <a:latin typeface="Roboto Condensed" pitchFamily="2" charset="0"/>
            </a:endParaRPr>
          </a:p>
          <a:p>
            <a:pPr marL="0" indent="0" algn="l" fontAlgn="base">
              <a:buNone/>
            </a:pPr>
            <a:r>
              <a:rPr lang="en-US" b="1" i="0" u="sng" dirty="0">
                <a:solidFill>
                  <a:srgbClr val="303030"/>
                </a:solidFill>
                <a:effectLst/>
                <a:latin typeface="Roboto Condensed" pitchFamily="2" charset="0"/>
              </a:rPr>
              <a:t>1. Ambiguous Grammar-</a:t>
            </a:r>
            <a:endParaRPr lang="en-US" b="1" i="0" dirty="0">
              <a:solidFill>
                <a:srgbClr val="303030"/>
              </a:solidFill>
              <a:effectLst/>
              <a:latin typeface="Roboto Condensed" pitchFamily="2" charset="0"/>
            </a:endParaRPr>
          </a:p>
          <a:p>
            <a:pPr algn="l" fontAlgn="base"/>
            <a:r>
              <a:rPr lang="en-US" b="0" i="0" dirty="0">
                <a:solidFill>
                  <a:srgbClr val="303030"/>
                </a:solidFill>
                <a:effectLst/>
                <a:latin typeface="Arimo"/>
              </a:rPr>
              <a:t>A grammar is said to ambiguous if for any string generated by it, it produces more than one-</a:t>
            </a:r>
          </a:p>
          <a:p>
            <a:pPr lvl="1" fontAlgn="base"/>
            <a:r>
              <a:rPr lang="en-US" b="0" i="0" dirty="0">
                <a:solidFill>
                  <a:srgbClr val="303030"/>
                </a:solidFill>
                <a:effectLst/>
                <a:latin typeface="Arimo"/>
              </a:rPr>
              <a:t>Parse tree</a:t>
            </a:r>
          </a:p>
          <a:p>
            <a:pPr lvl="1" fontAlgn="base"/>
            <a:r>
              <a:rPr lang="en-US" b="0" i="0" dirty="0">
                <a:solidFill>
                  <a:srgbClr val="303030"/>
                </a:solidFill>
                <a:effectLst/>
                <a:latin typeface="Arimo"/>
              </a:rPr>
              <a:t>Or derivation tree</a:t>
            </a:r>
          </a:p>
          <a:p>
            <a:pPr lvl="1" fontAlgn="base"/>
            <a:r>
              <a:rPr lang="en-US" b="0" i="0" dirty="0">
                <a:solidFill>
                  <a:srgbClr val="303030"/>
                </a:solidFill>
                <a:effectLst/>
                <a:latin typeface="Arimo"/>
              </a:rPr>
              <a:t>Or syntax tree</a:t>
            </a:r>
          </a:p>
          <a:p>
            <a:pPr lvl="1" fontAlgn="base"/>
            <a:r>
              <a:rPr lang="en-US" b="0" i="0" dirty="0">
                <a:solidFill>
                  <a:srgbClr val="303030"/>
                </a:solidFill>
                <a:effectLst/>
                <a:latin typeface="Arimo"/>
              </a:rPr>
              <a:t>Or leftmost derivation</a:t>
            </a:r>
          </a:p>
          <a:p>
            <a:pPr lvl="1" fontAlgn="base"/>
            <a:r>
              <a:rPr lang="en-US" b="0" i="0" dirty="0">
                <a:solidFill>
                  <a:srgbClr val="303030"/>
                </a:solidFill>
                <a:effectLst/>
                <a:latin typeface="Arimo"/>
              </a:rPr>
              <a:t>Or rightmost derivation</a:t>
            </a:r>
          </a:p>
          <a:p>
            <a:pPr marL="0" indent="0" algn="l" fontAlgn="base">
              <a:buNone/>
            </a:pPr>
            <a:endParaRPr lang="en-US" b="0" i="0" dirty="0">
              <a:solidFill>
                <a:srgbClr val="303030"/>
              </a:solidFill>
              <a:effectLst/>
              <a:latin typeface="Arimo"/>
            </a:endParaRPr>
          </a:p>
          <a:p>
            <a:endParaRPr lang="en-IN" dirty="0"/>
          </a:p>
        </p:txBody>
      </p:sp>
      <p:pic>
        <p:nvPicPr>
          <p:cNvPr id="4098" name="Picture 2">
            <a:extLst>
              <a:ext uri="{FF2B5EF4-FFF2-40B4-BE49-F238E27FC236}">
                <a16:creationId xmlns:a16="http://schemas.microsoft.com/office/drawing/2014/main" id="{A9918B1D-0222-49DA-BE9B-4A011C17C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0"/>
            <a:ext cx="6633148"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5300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27D74-F581-47C3-A2A0-91B5E040ADE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D5747C6-374B-40E5-81EF-06014F5DE379}"/>
              </a:ext>
            </a:extLst>
          </p:cNvPr>
          <p:cNvSpPr>
            <a:spLocks noGrp="1"/>
          </p:cNvSpPr>
          <p:nvPr>
            <p:ph idx="1"/>
          </p:nvPr>
        </p:nvSpPr>
        <p:spPr/>
        <p:txBody>
          <a:bodyPr/>
          <a:lstStyle/>
          <a:p>
            <a:pPr algn="l" fontAlgn="base"/>
            <a:r>
              <a:rPr lang="en-US" sz="2000" b="0" i="0" dirty="0">
                <a:solidFill>
                  <a:srgbClr val="303030"/>
                </a:solidFill>
                <a:effectLst/>
                <a:latin typeface="Arimo"/>
              </a:rPr>
              <a:t>Consider the following grammar-</a:t>
            </a:r>
          </a:p>
          <a:p>
            <a:pPr algn="ctr" fontAlgn="base"/>
            <a:r>
              <a:rPr lang="en-US" sz="2000" b="0" i="0" dirty="0">
                <a:solidFill>
                  <a:srgbClr val="303030"/>
                </a:solidFill>
                <a:effectLst/>
                <a:latin typeface="Arimo"/>
              </a:rPr>
              <a:t>E → E + E / E x E / id      (</a:t>
            </a:r>
            <a:r>
              <a:rPr lang="en-US" sz="1600" b="1" i="0" dirty="0">
                <a:solidFill>
                  <a:srgbClr val="303030"/>
                </a:solidFill>
                <a:effectLst/>
                <a:latin typeface="Arimo"/>
              </a:rPr>
              <a:t>Ambiguous Grammar)</a:t>
            </a:r>
            <a:endParaRPr lang="en-US" sz="2000" b="0" i="0" dirty="0">
              <a:solidFill>
                <a:srgbClr val="303030"/>
              </a:solidFill>
              <a:effectLst/>
              <a:latin typeface="Arimo"/>
            </a:endParaRPr>
          </a:p>
          <a:p>
            <a:pPr marL="0" indent="0" algn="l" fontAlgn="base">
              <a:buNone/>
            </a:pPr>
            <a:r>
              <a:rPr lang="en-US" sz="2000" b="0" i="0" dirty="0">
                <a:solidFill>
                  <a:srgbClr val="303030"/>
                </a:solidFill>
                <a:effectLst/>
                <a:latin typeface="Arimo"/>
              </a:rPr>
              <a:t> This grammar is an example of ambiguous grammar.</a:t>
            </a:r>
          </a:p>
          <a:p>
            <a:pPr marL="0" indent="0" algn="l" fontAlgn="base">
              <a:buNone/>
            </a:pPr>
            <a:r>
              <a:rPr lang="en-US" sz="2000" b="0" i="0" dirty="0">
                <a:solidFill>
                  <a:srgbClr val="303030"/>
                </a:solidFill>
                <a:effectLst/>
                <a:latin typeface="Arimo"/>
              </a:rPr>
              <a:t>Any of the following reasons can be stated to prove the grammar ambiguous- </a:t>
            </a:r>
          </a:p>
          <a:p>
            <a:pPr marL="0" indent="0" algn="l" fontAlgn="base">
              <a:buNone/>
            </a:pPr>
            <a:r>
              <a:rPr lang="en-US" sz="2000" b="1" i="0" u="sng" dirty="0">
                <a:solidFill>
                  <a:srgbClr val="303030"/>
                </a:solidFill>
                <a:effectLst/>
                <a:latin typeface="Roboto Condensed" pitchFamily="2" charset="0"/>
              </a:rPr>
              <a:t>Reason-01:</a:t>
            </a:r>
            <a:endParaRPr lang="en-US" sz="2000" b="1" i="0" dirty="0">
              <a:solidFill>
                <a:srgbClr val="303030"/>
              </a:solidFill>
              <a:effectLst/>
              <a:latin typeface="Roboto Condensed" pitchFamily="2" charset="0"/>
            </a:endParaRPr>
          </a:p>
          <a:p>
            <a:pPr algn="l" fontAlgn="base"/>
            <a:r>
              <a:rPr lang="en-US" sz="2000" b="0" i="0" dirty="0">
                <a:solidFill>
                  <a:srgbClr val="303030"/>
                </a:solidFill>
                <a:effectLst/>
                <a:latin typeface="Arimo"/>
              </a:rPr>
              <a:t>Let us consider a string w generated by the grammar-</a:t>
            </a:r>
          </a:p>
          <a:p>
            <a:pPr marL="0" indent="0" algn="l" fontAlgn="base">
              <a:buNone/>
            </a:pPr>
            <a:r>
              <a:rPr lang="en-US" sz="2000" b="0" i="0" dirty="0">
                <a:solidFill>
                  <a:srgbClr val="303030"/>
                </a:solidFill>
                <a:effectLst/>
                <a:latin typeface="Arimo"/>
              </a:rPr>
              <a:t>                w = id + id x id</a:t>
            </a:r>
          </a:p>
          <a:p>
            <a:pPr algn="l" fontAlgn="base"/>
            <a:r>
              <a:rPr lang="en-US" sz="2000" b="0" i="0" dirty="0">
                <a:solidFill>
                  <a:srgbClr val="303030"/>
                </a:solidFill>
                <a:effectLst/>
                <a:latin typeface="Arimo"/>
              </a:rPr>
              <a:t>Now, let us draw the parse trees </a:t>
            </a:r>
          </a:p>
          <a:p>
            <a:pPr marL="0" indent="0" algn="l" fontAlgn="base">
              <a:buNone/>
            </a:pPr>
            <a:r>
              <a:rPr lang="en-US" sz="2000" b="0" i="0" dirty="0">
                <a:solidFill>
                  <a:srgbClr val="303030"/>
                </a:solidFill>
                <a:effectLst/>
                <a:latin typeface="Arimo"/>
              </a:rPr>
              <a:t>for this string w.</a:t>
            </a:r>
          </a:p>
          <a:p>
            <a:pPr algn="l" fontAlgn="base"/>
            <a:endParaRPr lang="en-US" sz="2000" b="0" i="0" dirty="0">
              <a:solidFill>
                <a:srgbClr val="303030"/>
              </a:solidFill>
              <a:effectLst/>
              <a:latin typeface="Arimo"/>
            </a:endParaRPr>
          </a:p>
          <a:p>
            <a:pPr marL="0" indent="0">
              <a:buNone/>
            </a:pPr>
            <a:endParaRPr lang="en-IN" dirty="0"/>
          </a:p>
        </p:txBody>
      </p:sp>
      <p:pic>
        <p:nvPicPr>
          <p:cNvPr id="5122" name="Picture 2">
            <a:extLst>
              <a:ext uri="{FF2B5EF4-FFF2-40B4-BE49-F238E27FC236}">
                <a16:creationId xmlns:a16="http://schemas.microsoft.com/office/drawing/2014/main" id="{D842DD22-F10B-4B83-AC54-AD26A3ED6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3551" y="3788027"/>
            <a:ext cx="7738449" cy="3069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98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B2DC-6A3A-46F4-9E0C-6BDC17ABFF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8456C6-CCA4-4B5E-9245-E48130841697}"/>
              </a:ext>
            </a:extLst>
          </p:cNvPr>
          <p:cNvSpPr>
            <a:spLocks noGrp="1"/>
          </p:cNvSpPr>
          <p:nvPr>
            <p:ph idx="1"/>
          </p:nvPr>
        </p:nvSpPr>
        <p:spPr>
          <a:xfrm>
            <a:off x="254000" y="990600"/>
            <a:ext cx="11684000" cy="5638800"/>
          </a:xfrm>
        </p:spPr>
        <p:txBody>
          <a:bodyPr>
            <a:normAutofit/>
          </a:bodyPr>
          <a:lstStyle/>
          <a:p>
            <a:pPr marL="0" indent="0" algn="l" fontAlgn="base">
              <a:buNone/>
            </a:pPr>
            <a:r>
              <a:rPr lang="en-US" b="1" i="0" u="sng" dirty="0">
                <a:solidFill>
                  <a:srgbClr val="303030"/>
                </a:solidFill>
                <a:effectLst/>
                <a:latin typeface="Roboto Condensed" pitchFamily="2" charset="0"/>
              </a:rPr>
              <a:t>Reason-02:</a:t>
            </a:r>
            <a:r>
              <a:rPr lang="en-US" b="0" i="0" dirty="0">
                <a:solidFill>
                  <a:srgbClr val="303030"/>
                </a:solidFill>
                <a:effectLst/>
                <a:latin typeface="Arimo"/>
              </a:rPr>
              <a:t> </a:t>
            </a:r>
          </a:p>
          <a:p>
            <a:pPr algn="l" fontAlgn="base"/>
            <a:r>
              <a:rPr lang="en-US" b="0" i="0" dirty="0">
                <a:solidFill>
                  <a:srgbClr val="303030"/>
                </a:solidFill>
                <a:effectLst/>
                <a:latin typeface="Arimo"/>
              </a:rPr>
              <a:t>Let us consider a string w generated by the grammar-</a:t>
            </a:r>
          </a:p>
          <a:p>
            <a:pPr marL="0" indent="0" algn="ctr" fontAlgn="base">
              <a:buNone/>
            </a:pPr>
            <a:r>
              <a:rPr lang="en-US" b="0" i="0" dirty="0">
                <a:solidFill>
                  <a:srgbClr val="303030"/>
                </a:solidFill>
                <a:effectLst/>
                <a:latin typeface="Arimo"/>
              </a:rPr>
              <a:t>w = id + id x id</a:t>
            </a:r>
          </a:p>
          <a:p>
            <a:pPr algn="l" fontAlgn="base"/>
            <a:r>
              <a:rPr lang="en-US" b="0" i="0" dirty="0">
                <a:solidFill>
                  <a:srgbClr val="303030"/>
                </a:solidFill>
                <a:effectLst/>
                <a:latin typeface="Arimo"/>
              </a:rPr>
              <a:t>Now, let us draw the syntax trees for this string w.</a:t>
            </a: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r>
              <a:rPr lang="en-US" b="0" i="0" dirty="0">
                <a:solidFill>
                  <a:srgbClr val="303030"/>
                </a:solidFill>
                <a:effectLst/>
                <a:latin typeface="Arimo"/>
              </a:rPr>
              <a:t>Since two syntax trees exist for string w, therefore the grammar is ambiguous.</a:t>
            </a:r>
          </a:p>
          <a:p>
            <a:pPr marL="0" indent="0">
              <a:buNone/>
            </a:pPr>
            <a:endParaRPr lang="en-IN" dirty="0"/>
          </a:p>
        </p:txBody>
      </p:sp>
      <p:pic>
        <p:nvPicPr>
          <p:cNvPr id="6146" name="Picture 2">
            <a:extLst>
              <a:ext uri="{FF2B5EF4-FFF2-40B4-BE49-F238E27FC236}">
                <a16:creationId xmlns:a16="http://schemas.microsoft.com/office/drawing/2014/main" id="{25A2CC92-E5B0-46DC-A44C-E5BE5CD24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59265"/>
            <a:ext cx="6477000" cy="2808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88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383E-BD82-4C1C-B91A-EC4BB463E8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4B92AF-5859-448B-BCB7-153A48500D2E}"/>
              </a:ext>
            </a:extLst>
          </p:cNvPr>
          <p:cNvSpPr>
            <a:spLocks noGrp="1"/>
          </p:cNvSpPr>
          <p:nvPr>
            <p:ph idx="1"/>
          </p:nvPr>
        </p:nvSpPr>
        <p:spPr>
          <a:xfrm>
            <a:off x="229135" y="914400"/>
            <a:ext cx="11684000" cy="5638799"/>
          </a:xfrm>
        </p:spPr>
        <p:txBody>
          <a:bodyPr>
            <a:normAutofit lnSpcReduction="10000"/>
          </a:bodyPr>
          <a:lstStyle/>
          <a:p>
            <a:pPr marL="0" indent="0" algn="l" fontAlgn="base">
              <a:buNone/>
            </a:pPr>
            <a:r>
              <a:rPr lang="en-US" b="1" i="0" u="sng" dirty="0">
                <a:solidFill>
                  <a:srgbClr val="303030"/>
                </a:solidFill>
                <a:effectLst/>
                <a:latin typeface="Roboto Condensed" pitchFamily="2" charset="0"/>
              </a:rPr>
              <a:t>Reason-03:</a:t>
            </a:r>
            <a:endParaRPr lang="en-US" b="0" i="0" dirty="0">
              <a:solidFill>
                <a:srgbClr val="303030"/>
              </a:solidFill>
              <a:effectLst/>
              <a:latin typeface="Arimo"/>
            </a:endParaRPr>
          </a:p>
          <a:p>
            <a:pPr algn="l" fontAlgn="base"/>
            <a:r>
              <a:rPr lang="en-US" b="0" i="0" dirty="0">
                <a:solidFill>
                  <a:srgbClr val="303030"/>
                </a:solidFill>
                <a:effectLst/>
                <a:latin typeface="Arimo"/>
              </a:rPr>
              <a:t>Let us consider a string w generated by the grammar-</a:t>
            </a:r>
          </a:p>
          <a:p>
            <a:pPr marL="0" indent="0" algn="ctr" fontAlgn="base">
              <a:buNone/>
            </a:pPr>
            <a:r>
              <a:rPr lang="en-US" b="0" i="0" dirty="0">
                <a:solidFill>
                  <a:srgbClr val="303030"/>
                </a:solidFill>
                <a:effectLst/>
                <a:latin typeface="Arimo"/>
              </a:rPr>
              <a:t>w = id + id x id</a:t>
            </a:r>
          </a:p>
          <a:p>
            <a:pPr algn="l" fontAlgn="base"/>
            <a:r>
              <a:rPr lang="en-US" b="0" i="0" dirty="0">
                <a:solidFill>
                  <a:srgbClr val="303030"/>
                </a:solidFill>
                <a:effectLst/>
                <a:latin typeface="Arimo"/>
              </a:rPr>
              <a:t>Now, let us write the leftmost derivations for this string w.</a:t>
            </a: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r>
              <a:rPr lang="en-US" b="0" i="0" dirty="0">
                <a:solidFill>
                  <a:srgbClr val="303030"/>
                </a:solidFill>
                <a:effectLst/>
                <a:latin typeface="Arimo"/>
              </a:rPr>
              <a:t>Since two leftmost derivations exist for string w, therefore the grammar is ambiguous.</a:t>
            </a:r>
          </a:p>
          <a:p>
            <a:pPr marL="0" indent="0">
              <a:buNone/>
            </a:pPr>
            <a:endParaRPr lang="en-IN" dirty="0"/>
          </a:p>
        </p:txBody>
      </p:sp>
      <p:pic>
        <p:nvPicPr>
          <p:cNvPr id="7170" name="Picture 2">
            <a:extLst>
              <a:ext uri="{FF2B5EF4-FFF2-40B4-BE49-F238E27FC236}">
                <a16:creationId xmlns:a16="http://schemas.microsoft.com/office/drawing/2014/main" id="{8C68E236-AA6E-423B-B4EE-11FD320E2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732129"/>
            <a:ext cx="5486400" cy="3225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95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fade">
                                      <p:cBhvr>
                                        <p:cTn id="2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2719-2D82-49FC-9B06-B81E10B3B4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F3909A-7478-4D98-874A-699D9538A01E}"/>
              </a:ext>
            </a:extLst>
          </p:cNvPr>
          <p:cNvSpPr>
            <a:spLocks noGrp="1"/>
          </p:cNvSpPr>
          <p:nvPr>
            <p:ph idx="1"/>
          </p:nvPr>
        </p:nvSpPr>
        <p:spPr>
          <a:xfrm>
            <a:off x="254000" y="990600"/>
            <a:ext cx="11684000" cy="5638800"/>
          </a:xfrm>
        </p:spPr>
        <p:txBody>
          <a:bodyPr>
            <a:normAutofit lnSpcReduction="10000"/>
          </a:bodyPr>
          <a:lstStyle/>
          <a:p>
            <a:pPr marL="0" indent="0" algn="l" fontAlgn="base">
              <a:buNone/>
            </a:pPr>
            <a:r>
              <a:rPr lang="en-US" b="1" i="0" u="sng" dirty="0">
                <a:solidFill>
                  <a:srgbClr val="303030"/>
                </a:solidFill>
                <a:effectLst/>
                <a:latin typeface="Roboto Condensed" pitchFamily="2" charset="0"/>
              </a:rPr>
              <a:t>Reason-04:</a:t>
            </a:r>
            <a:endParaRPr lang="en-US" b="0" i="0" dirty="0">
              <a:solidFill>
                <a:srgbClr val="303030"/>
              </a:solidFill>
              <a:effectLst/>
              <a:latin typeface="Arimo"/>
            </a:endParaRPr>
          </a:p>
          <a:p>
            <a:pPr algn="l" fontAlgn="base"/>
            <a:r>
              <a:rPr lang="en-US" b="0" i="0" dirty="0">
                <a:solidFill>
                  <a:srgbClr val="303030"/>
                </a:solidFill>
                <a:effectLst/>
                <a:latin typeface="Arimo"/>
              </a:rPr>
              <a:t>Let us consider a string w generated by the grammar-</a:t>
            </a:r>
          </a:p>
          <a:p>
            <a:pPr marL="0" indent="0" algn="ctr" fontAlgn="base">
              <a:buNone/>
            </a:pPr>
            <a:r>
              <a:rPr lang="en-US" b="0" i="0" dirty="0">
                <a:solidFill>
                  <a:srgbClr val="303030"/>
                </a:solidFill>
                <a:effectLst/>
                <a:latin typeface="Arimo"/>
              </a:rPr>
              <a:t>w = id + id x id</a:t>
            </a:r>
          </a:p>
          <a:p>
            <a:pPr algn="l" fontAlgn="base"/>
            <a:r>
              <a:rPr lang="en-US" b="0" i="0" dirty="0">
                <a:solidFill>
                  <a:srgbClr val="303030"/>
                </a:solidFill>
                <a:effectLst/>
                <a:latin typeface="Arimo"/>
              </a:rPr>
              <a:t>Now, let us write the rightmost derivations for this string w.</a:t>
            </a: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endParaRPr lang="en-US" dirty="0">
              <a:solidFill>
                <a:srgbClr val="303030"/>
              </a:solidFill>
              <a:latin typeface="Arimo"/>
            </a:endParaRPr>
          </a:p>
          <a:p>
            <a:pPr algn="l" fontAlgn="base"/>
            <a:endParaRPr lang="en-US" dirty="0">
              <a:solidFill>
                <a:srgbClr val="303030"/>
              </a:solidFill>
              <a:latin typeface="Arimo"/>
            </a:endParaRPr>
          </a:p>
          <a:p>
            <a:pPr algn="l" fontAlgn="base"/>
            <a:endParaRPr lang="en-US" b="0" i="0" dirty="0">
              <a:solidFill>
                <a:srgbClr val="303030"/>
              </a:solidFill>
              <a:effectLst/>
              <a:latin typeface="Arimo"/>
            </a:endParaRPr>
          </a:p>
          <a:p>
            <a:pPr algn="l" fontAlgn="base"/>
            <a:r>
              <a:rPr lang="en-US" b="0" i="0" dirty="0">
                <a:solidFill>
                  <a:srgbClr val="303030"/>
                </a:solidFill>
                <a:effectLst/>
                <a:latin typeface="Arimo"/>
              </a:rPr>
              <a:t>Since two rightmost derivations exist for string w, therefore the grammar is ambiguous.</a:t>
            </a:r>
          </a:p>
          <a:p>
            <a:endParaRPr lang="en-IN" dirty="0"/>
          </a:p>
        </p:txBody>
      </p:sp>
      <p:pic>
        <p:nvPicPr>
          <p:cNvPr id="8194" name="Picture 2">
            <a:extLst>
              <a:ext uri="{FF2B5EF4-FFF2-40B4-BE49-F238E27FC236}">
                <a16:creationId xmlns:a16="http://schemas.microsoft.com/office/drawing/2014/main" id="{C9B0B254-7B28-4047-96BC-6A0E1872D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895600"/>
            <a:ext cx="5427442"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56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fade">
                                      <p:cBhvr>
                                        <p:cTn id="2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F099-C92C-4071-9E82-ABD1734F4607}"/>
              </a:ext>
            </a:extLst>
          </p:cNvPr>
          <p:cNvSpPr>
            <a:spLocks noGrp="1"/>
          </p:cNvSpPr>
          <p:nvPr>
            <p:ph type="title"/>
          </p:nvPr>
        </p:nvSpPr>
        <p:spPr/>
        <p:txBody>
          <a:bodyPr>
            <a:normAutofit/>
          </a:bodyPr>
          <a:lstStyle/>
          <a:p>
            <a:r>
              <a:rPr lang="en-IN" u="sng" dirty="0"/>
              <a:t>2. Unambiguous Grammar-</a:t>
            </a:r>
            <a:endParaRPr lang="en-IN" dirty="0"/>
          </a:p>
        </p:txBody>
      </p:sp>
      <p:sp>
        <p:nvSpPr>
          <p:cNvPr id="3" name="Content Placeholder 2">
            <a:extLst>
              <a:ext uri="{FF2B5EF4-FFF2-40B4-BE49-F238E27FC236}">
                <a16:creationId xmlns:a16="http://schemas.microsoft.com/office/drawing/2014/main" id="{CA711BC7-F344-4857-8734-BBEB8D26B5E8}"/>
              </a:ext>
            </a:extLst>
          </p:cNvPr>
          <p:cNvSpPr>
            <a:spLocks noGrp="1"/>
          </p:cNvSpPr>
          <p:nvPr>
            <p:ph idx="1"/>
          </p:nvPr>
        </p:nvSpPr>
        <p:spPr/>
        <p:txBody>
          <a:bodyPr>
            <a:normAutofit/>
          </a:bodyPr>
          <a:lstStyle/>
          <a:p>
            <a:pPr fontAlgn="base"/>
            <a:r>
              <a:rPr lang="en-US" dirty="0"/>
              <a:t>A grammar is said to unambiguous if for every string generated by it, it produces exactly one-</a:t>
            </a:r>
          </a:p>
          <a:p>
            <a:pPr lvl="1" fontAlgn="base"/>
            <a:r>
              <a:rPr lang="en-US" dirty="0"/>
              <a:t>Parse tree</a:t>
            </a:r>
          </a:p>
          <a:p>
            <a:pPr lvl="1" fontAlgn="base"/>
            <a:r>
              <a:rPr lang="en-US" dirty="0"/>
              <a:t>Or derivation tree</a:t>
            </a:r>
          </a:p>
          <a:p>
            <a:pPr lvl="1" fontAlgn="base"/>
            <a:r>
              <a:rPr lang="en-US" dirty="0"/>
              <a:t>Or syntax tree</a:t>
            </a:r>
          </a:p>
          <a:p>
            <a:pPr lvl="1" fontAlgn="base"/>
            <a:r>
              <a:rPr lang="en-US" dirty="0"/>
              <a:t>Or leftmost derivation</a:t>
            </a:r>
          </a:p>
          <a:p>
            <a:pPr lvl="1" fontAlgn="base"/>
            <a:r>
              <a:rPr lang="en-US" dirty="0"/>
              <a:t>Or rightmost derivation</a:t>
            </a:r>
          </a:p>
          <a:p>
            <a:pPr fontAlgn="base"/>
            <a:r>
              <a:rPr lang="en-IN" b="1" u="sng" dirty="0"/>
              <a:t>Example-</a:t>
            </a:r>
            <a:endParaRPr lang="en-IN" b="1" dirty="0"/>
          </a:p>
          <a:p>
            <a:pPr fontAlgn="base"/>
            <a:r>
              <a:rPr lang="en-IN" dirty="0"/>
              <a:t>Consider the following grammar-</a:t>
            </a:r>
          </a:p>
          <a:p>
            <a:pPr lvl="1" fontAlgn="base"/>
            <a:r>
              <a:rPr lang="en-IN" dirty="0"/>
              <a:t>E → E + T / T</a:t>
            </a:r>
          </a:p>
          <a:p>
            <a:pPr lvl="1" fontAlgn="base"/>
            <a:r>
              <a:rPr lang="en-IN" dirty="0"/>
              <a:t>T → T x F / F</a:t>
            </a:r>
          </a:p>
          <a:p>
            <a:pPr lvl="1" fontAlgn="base"/>
            <a:r>
              <a:rPr lang="en-IN" dirty="0"/>
              <a:t>F → id</a:t>
            </a:r>
          </a:p>
          <a:p>
            <a:endParaRPr lang="en-IN" dirty="0"/>
          </a:p>
        </p:txBody>
      </p:sp>
    </p:spTree>
    <p:extLst>
      <p:ext uri="{BB962C8B-B14F-4D97-AF65-F5344CB8AC3E}">
        <p14:creationId xmlns:p14="http://schemas.microsoft.com/office/powerpoint/2010/main" val="74085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52438</TotalTime>
  <Words>8798</Words>
  <Application>Microsoft Office PowerPoint</Application>
  <PresentationFormat>Widescreen</PresentationFormat>
  <Paragraphs>1445</Paragraphs>
  <Slides>110</Slides>
  <Notes>2</Notes>
  <HiddenSlides>6</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110</vt:i4>
      </vt:variant>
    </vt:vector>
  </HeadingPairs>
  <TitlesOfParts>
    <vt:vector size="131" baseType="lpstr">
      <vt:lpstr>-apple-system</vt:lpstr>
      <vt:lpstr>Arial</vt:lpstr>
      <vt:lpstr>Arial</vt:lpstr>
      <vt:lpstr>Arimo</vt:lpstr>
      <vt:lpstr>Calibri</vt:lpstr>
      <vt:lpstr>Cambria Math</vt:lpstr>
      <vt:lpstr>Droid Serif</vt:lpstr>
      <vt:lpstr>KaTeX_Main</vt:lpstr>
      <vt:lpstr>KaTeX_Math</vt:lpstr>
      <vt:lpstr>Muli</vt:lpstr>
      <vt:lpstr>Nunito Sans</vt:lpstr>
      <vt:lpstr>roboto condensed</vt:lpstr>
      <vt:lpstr>roboto condensed</vt:lpstr>
      <vt:lpstr>Roboto Condensed Light</vt:lpstr>
      <vt:lpstr>Segoe UI</vt:lpstr>
      <vt:lpstr>urw-din</vt:lpstr>
      <vt:lpstr>var(--font-family-body-lesson-markdown,"Droid Serif")</vt:lpstr>
      <vt:lpstr>var(--font-family-heading-lesson-markdown)</vt:lpstr>
      <vt:lpstr>Wingdings</vt:lpstr>
      <vt:lpstr>Wingdings 3</vt:lpstr>
      <vt:lpstr>Office Theme</vt:lpstr>
      <vt:lpstr>PowerPoint Presentation</vt:lpstr>
      <vt:lpstr>Languages</vt:lpstr>
      <vt:lpstr>Language</vt:lpstr>
      <vt:lpstr>Difference between epsilon and phi</vt:lpstr>
      <vt:lpstr>Operations over Language</vt:lpstr>
      <vt:lpstr>Operations over Language</vt:lpstr>
      <vt:lpstr>Operations over Language</vt:lpstr>
      <vt:lpstr>Operations over Language</vt:lpstr>
      <vt:lpstr>Some Basic operations on string</vt:lpstr>
      <vt:lpstr>Q. If Σ={a,b} then, find the following? </vt:lpstr>
      <vt:lpstr>Regular Expression</vt:lpstr>
      <vt:lpstr>Regular expression</vt:lpstr>
      <vt:lpstr>Regular expression</vt:lpstr>
      <vt:lpstr>Regular expression</vt:lpstr>
      <vt:lpstr>Precedence and associativity of operators</vt:lpstr>
      <vt:lpstr>Regular expression examples</vt:lpstr>
      <vt:lpstr>Regular expression examples</vt:lpstr>
      <vt:lpstr>Regular expression examples</vt:lpstr>
      <vt:lpstr>Regular expression examples</vt:lpstr>
      <vt:lpstr>Regular expression examples</vt:lpstr>
      <vt:lpstr>Regular expression examples</vt:lpstr>
      <vt:lpstr>Finite Automata</vt:lpstr>
      <vt:lpstr>Finite Automata</vt:lpstr>
      <vt:lpstr>Types of Finite Automata:</vt:lpstr>
      <vt:lpstr>Finite Automata Model:</vt:lpstr>
      <vt:lpstr>Acceptance by DFA</vt:lpstr>
      <vt:lpstr>Applications of DFA</vt:lpstr>
      <vt:lpstr>Deterministic Finite Automata</vt:lpstr>
      <vt:lpstr>Example: Finite Automata</vt:lpstr>
      <vt:lpstr>Minimum states</vt:lpstr>
      <vt:lpstr>Problem types</vt:lpstr>
      <vt:lpstr>DFA Example: ending with w</vt:lpstr>
      <vt:lpstr>DFA Example: ending with w</vt:lpstr>
      <vt:lpstr>DFA Example: ending with w</vt:lpstr>
      <vt:lpstr>DFA Example: ending with w</vt:lpstr>
      <vt:lpstr>DFA Example: ending with w</vt:lpstr>
      <vt:lpstr>DFA Example: ending with w</vt:lpstr>
      <vt:lpstr>DFA Examples: ends with w</vt:lpstr>
      <vt:lpstr>DFA Examples: ends with w</vt:lpstr>
      <vt:lpstr>DFA Examples: starting with w</vt:lpstr>
      <vt:lpstr>DFA Examples: starting with w</vt:lpstr>
      <vt:lpstr>DFA Examples: starting with w</vt:lpstr>
      <vt:lpstr>DFA Examples: starting with w</vt:lpstr>
      <vt:lpstr>DFA Examples: starting with w</vt:lpstr>
      <vt:lpstr>DFA Examples: starting with w</vt:lpstr>
      <vt:lpstr>DFA Examples: in between</vt:lpstr>
      <vt:lpstr>DFA Examples: starts and ends with</vt:lpstr>
      <vt:lpstr>DFA Examples: starts and ends with</vt:lpstr>
      <vt:lpstr>DFA Examples: starts and ends with</vt:lpstr>
      <vt:lpstr>DFA Examples: starts and ends with</vt:lpstr>
      <vt:lpstr>DFA Examples: of length w</vt:lpstr>
      <vt:lpstr>DFA Examples: of length w</vt:lpstr>
      <vt:lpstr>DFA Examples: of length w</vt:lpstr>
      <vt:lpstr>DFA Examples: even or odd occurrence </vt:lpstr>
      <vt:lpstr>Minimization of DFA</vt:lpstr>
      <vt:lpstr>Minimization of DFA Using Equivalence Theorem-</vt:lpstr>
      <vt:lpstr>PowerPoint Presentation</vt:lpstr>
      <vt:lpstr>Problem 1</vt:lpstr>
      <vt:lpstr>Problem 2</vt:lpstr>
      <vt:lpstr>Problem 3, 4</vt:lpstr>
      <vt:lpstr>Problem 5</vt:lpstr>
      <vt:lpstr>Nondeterministic Finite Automata (NFA)</vt:lpstr>
      <vt:lpstr>Why we need non deterministic</vt:lpstr>
      <vt:lpstr>PowerPoint Presentation</vt:lpstr>
      <vt:lpstr>Acceptance by NFA</vt:lpstr>
      <vt:lpstr>Example</vt:lpstr>
      <vt:lpstr>Example of NFA for 〖{11+110}〗^∗ {0}</vt:lpstr>
      <vt:lpstr>NFA: ending with w</vt:lpstr>
      <vt:lpstr>Examples</vt:lpstr>
      <vt:lpstr>NFA to DFA conversion</vt:lpstr>
      <vt:lpstr>Example 1</vt:lpstr>
      <vt:lpstr>(Epsilon) ∈-NFA</vt:lpstr>
      <vt:lpstr>PowerPoint Presentation</vt:lpstr>
      <vt:lpstr>Example</vt:lpstr>
      <vt:lpstr>epsilon NFA to NFA</vt:lpstr>
      <vt:lpstr>Example</vt:lpstr>
      <vt:lpstr>Converting DFA to regular expression</vt:lpstr>
      <vt:lpstr>Arden’s Theorem-</vt:lpstr>
      <vt:lpstr>Steps-</vt:lpstr>
      <vt:lpstr>Example 1</vt:lpstr>
      <vt:lpstr>Example 2</vt:lpstr>
      <vt:lpstr>Practice problem</vt:lpstr>
      <vt:lpstr>State elimination method</vt:lpstr>
      <vt:lpstr>PowerPoint Presentation</vt:lpstr>
      <vt:lpstr>Example 1</vt:lpstr>
      <vt:lpstr>Short trick</vt:lpstr>
      <vt:lpstr>PowerPoint Presentation</vt:lpstr>
      <vt:lpstr>PowerPoint Presentation</vt:lpstr>
      <vt:lpstr>Grammar</vt:lpstr>
      <vt:lpstr>PowerPoint Presentation</vt:lpstr>
      <vt:lpstr>Example </vt:lpstr>
      <vt:lpstr>PowerPoint Presentation</vt:lpstr>
      <vt:lpstr>PowerPoint Presentation</vt:lpstr>
      <vt:lpstr>PowerPoint Presentation</vt:lpstr>
      <vt:lpstr>PowerPoint Presentation</vt:lpstr>
      <vt:lpstr>Left most and right most derivation</vt:lpstr>
      <vt:lpstr>PowerPoint Presentation</vt:lpstr>
      <vt:lpstr>Types of grammar</vt:lpstr>
      <vt:lpstr>PowerPoint Presentation</vt:lpstr>
      <vt:lpstr>Type 0: Unrestricted Grammar</vt:lpstr>
      <vt:lpstr>Type 1: Context-Sensitive Grammar</vt:lpstr>
      <vt:lpstr>Type 2: Context-Free Grammar</vt:lpstr>
      <vt:lpstr>Type 3: Regular Grammar</vt:lpstr>
      <vt:lpstr>PowerPoint Presentation</vt:lpstr>
      <vt:lpstr>PowerPoint Presentation</vt:lpstr>
      <vt:lpstr>Example</vt:lpstr>
      <vt:lpstr>PowerPoint Presentation</vt:lpstr>
      <vt:lpstr>PowerPoint Presentation</vt:lpstr>
      <vt:lpstr>PowerPoint Presentation</vt:lpstr>
      <vt:lpstr>2. Unambiguous Grammar-</vt:lpstr>
    </vt:vector>
  </TitlesOfParts>
  <Company>Darshan Institute of Engg. &amp;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W5 of Computer Engineering (Why, What, When, Where, How)</dc:title>
  <dc:creator>Darshan Institute of Engg. &amp; Tech.</dc:creator>
  <cp:lastModifiedBy>Tarjni Vyas</cp:lastModifiedBy>
  <cp:revision>3337</cp:revision>
  <dcterms:created xsi:type="dcterms:W3CDTF">2013-05-17T03:00:03Z</dcterms:created>
  <dcterms:modified xsi:type="dcterms:W3CDTF">2026-07-21T10:24:14Z</dcterms:modified>
</cp:coreProperties>
</file>